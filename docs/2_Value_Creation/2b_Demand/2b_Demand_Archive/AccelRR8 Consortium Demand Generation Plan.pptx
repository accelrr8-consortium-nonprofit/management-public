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2"/>
  </p:notesMasterIdLst>
  <p:sldIdLst>
    <p:sldId id="256" r:id="rId2"/>
    <p:sldId id="280" r:id="rId3"/>
    <p:sldId id="272" r:id="rId4"/>
    <p:sldId id="278" r:id="rId5"/>
    <p:sldId id="279" r:id="rId6"/>
    <p:sldId id="281" r:id="rId7"/>
    <p:sldId id="282" r:id="rId8"/>
    <p:sldId id="286" r:id="rId9"/>
    <p:sldId id="287" r:id="rId10"/>
    <p:sldId id="283" r:id="rId11"/>
    <p:sldId id="284" r:id="rId12"/>
    <p:sldId id="285" r:id="rId13"/>
    <p:sldId id="288" r:id="rId14"/>
    <p:sldId id="298" r:id="rId15"/>
    <p:sldId id="295" r:id="rId16"/>
    <p:sldId id="291" r:id="rId17"/>
    <p:sldId id="290" r:id="rId18"/>
    <p:sldId id="296" r:id="rId19"/>
    <p:sldId id="292" r:id="rId20"/>
    <p:sldId id="294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4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9617D-46DF-4E4B-9F2C-B4C8C414E4F2}" v="3" dt="2025-04-23T16:21:37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41"/>
    <p:restoredTop sz="97007"/>
  </p:normalViewPr>
  <p:slideViewPr>
    <p:cSldViewPr snapToGrid="0">
      <p:cViewPr>
        <p:scale>
          <a:sx n="224" d="100"/>
          <a:sy n="224" d="100"/>
        </p:scale>
        <p:origin x="-2320" y="-2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8245d172-5b81-40f1-a13b-b71f02cd6700" providerId="ADAL" clId="{7F1DD2AF-F177-3E44-AD15-2D1C0D36EC2F}"/>
    <pc:docChg chg="undo custSel addSld delSld modSld sldOrd">
      <pc:chgData name="Rich Reba" userId="8245d172-5b81-40f1-a13b-b71f02cd6700" providerId="ADAL" clId="{7F1DD2AF-F177-3E44-AD15-2D1C0D36EC2F}" dt="2025-02-27T01:53:48.262" v="484" actId="20577"/>
      <pc:docMkLst>
        <pc:docMk/>
      </pc:docMkLst>
      <pc:sldChg chg="modSp mod">
        <pc:chgData name="Rich Reba" userId="8245d172-5b81-40f1-a13b-b71f02cd6700" providerId="ADAL" clId="{7F1DD2AF-F177-3E44-AD15-2D1C0D36EC2F}" dt="2025-02-27T01:53:48.262" v="484" actId="20577"/>
        <pc:sldMkLst>
          <pc:docMk/>
          <pc:sldMk cId="0" sldId="256"/>
        </pc:sldMkLst>
        <pc:spChg chg="mod">
          <ac:chgData name="Rich Reba" userId="8245d172-5b81-40f1-a13b-b71f02cd6700" providerId="ADAL" clId="{7F1DD2AF-F177-3E44-AD15-2D1C0D36EC2F}" dt="2025-02-27T01:53:48.262" v="484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Rich Reba" userId="8245d172-5b81-40f1-a13b-b71f02cd6700" providerId="ADAL" clId="{7F1DD2AF-F177-3E44-AD15-2D1C0D36EC2F}" dt="2025-02-23T13:28:45.838" v="389" actId="20577"/>
        <pc:sldMkLst>
          <pc:docMk/>
          <pc:sldMk cId="3938465990" sldId="290"/>
        </pc:sldMkLst>
        <pc:spChg chg="mod">
          <ac:chgData name="Rich Reba" userId="8245d172-5b81-40f1-a13b-b71f02cd6700" providerId="ADAL" clId="{7F1DD2AF-F177-3E44-AD15-2D1C0D36EC2F}" dt="2025-02-23T13:28:45.838" v="389" actId="20577"/>
          <ac:spMkLst>
            <pc:docMk/>
            <pc:sldMk cId="3938465990" sldId="290"/>
            <ac:spMk id="6" creationId="{5ACD3443-8990-F02F-21C9-C05EAD1E1102}"/>
          </ac:spMkLst>
        </pc:spChg>
      </pc:sldChg>
      <pc:sldChg chg="addSp delSp modSp mod">
        <pc:chgData name="Rich Reba" userId="8245d172-5b81-40f1-a13b-b71f02cd6700" providerId="ADAL" clId="{7F1DD2AF-F177-3E44-AD15-2D1C0D36EC2F}" dt="2025-02-23T13:00:54.535" v="185" actId="20577"/>
        <pc:sldMkLst>
          <pc:docMk/>
          <pc:sldMk cId="3571484748" sldId="292"/>
        </pc:sldMkLst>
        <pc:spChg chg="add mod">
          <ac:chgData name="Rich Reba" userId="8245d172-5b81-40f1-a13b-b71f02cd6700" providerId="ADAL" clId="{7F1DD2AF-F177-3E44-AD15-2D1C0D36EC2F}" dt="2025-02-23T12:55:25.356" v="71"/>
          <ac:spMkLst>
            <pc:docMk/>
            <pc:sldMk cId="3571484748" sldId="292"/>
            <ac:spMk id="6" creationId="{5F139CC8-AC9E-040B-1D24-4E99867628E7}"/>
          </ac:spMkLst>
        </pc:spChg>
        <pc:spChg chg="mod">
          <ac:chgData name="Rich Reba" userId="8245d172-5b81-40f1-a13b-b71f02cd6700" providerId="ADAL" clId="{7F1DD2AF-F177-3E44-AD15-2D1C0D36EC2F}" dt="2025-02-23T13:00:54.535" v="185" actId="20577"/>
          <ac:spMkLst>
            <pc:docMk/>
            <pc:sldMk cId="3571484748" sldId="292"/>
            <ac:spMk id="96" creationId="{D96AAC8F-B5DB-3668-BD37-63AA1A21DEBF}"/>
          </ac:spMkLst>
        </pc:spChg>
      </pc:sldChg>
      <pc:sldChg chg="addSp delSp modSp del mod">
        <pc:chgData name="Rich Reba" userId="8245d172-5b81-40f1-a13b-b71f02cd6700" providerId="ADAL" clId="{7F1DD2AF-F177-3E44-AD15-2D1C0D36EC2F}" dt="2025-02-23T13:00:49.734" v="183" actId="2696"/>
        <pc:sldMkLst>
          <pc:docMk/>
          <pc:sldMk cId="4109102089" sldId="293"/>
        </pc:sldMkLst>
      </pc:sldChg>
      <pc:sldChg chg="addSp delSp modSp mod">
        <pc:chgData name="Rich Reba" userId="8245d172-5b81-40f1-a13b-b71f02cd6700" providerId="ADAL" clId="{7F1DD2AF-F177-3E44-AD15-2D1C0D36EC2F}" dt="2025-02-23T13:01:38.768" v="191" actId="1076"/>
        <pc:sldMkLst>
          <pc:docMk/>
          <pc:sldMk cId="4188068166" sldId="294"/>
        </pc:sldMkLst>
        <pc:spChg chg="add mod">
          <ac:chgData name="Rich Reba" userId="8245d172-5b81-40f1-a13b-b71f02cd6700" providerId="ADAL" clId="{7F1DD2AF-F177-3E44-AD15-2D1C0D36EC2F}" dt="2025-02-23T13:01:38.768" v="191" actId="1076"/>
          <ac:spMkLst>
            <pc:docMk/>
            <pc:sldMk cId="4188068166" sldId="294"/>
            <ac:spMk id="2" creationId="{B32D1FAF-FFB3-D65B-C649-02D84C73437F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8" creationId="{81B30E2F-6C88-6798-20D3-2A73261D04C5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9" creationId="{7B417293-32FC-1A9B-E320-B94E02479D81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0" creationId="{F49E93B2-8D4A-EA74-798F-C594F0BC80AE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1" creationId="{166FF39B-ADA4-1036-61CE-1D8B580D27B6}"/>
          </ac:spMkLst>
        </pc:spChg>
        <pc:spChg chg="mod">
          <ac:chgData name="Rich Reba" userId="8245d172-5b81-40f1-a13b-b71f02cd6700" providerId="ADAL" clId="{7F1DD2AF-F177-3E44-AD15-2D1C0D36EC2F}" dt="2025-02-23T12:59:51.499" v="169" actId="14100"/>
          <ac:spMkLst>
            <pc:docMk/>
            <pc:sldMk cId="4188068166" sldId="294"/>
            <ac:spMk id="12" creationId="{902238F5-B361-96D2-3737-33BB56EFCD28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3" creationId="{36007108-9AC0-9DA8-7784-D1EFD5DD6FF5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4" creationId="{60279F11-AE1B-95A5-19EA-897ABA9C5043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5" creationId="{D6BD265D-0CF0-8B9F-F366-E2ECFD767FA7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6" creationId="{1285566D-539E-FA2C-6212-692642E46E46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7" creationId="{A68DC115-AC22-9E9E-F3B3-E0004ED0A708}"/>
          </ac:spMkLst>
        </pc:spChg>
        <pc:spChg chg="mod">
          <ac:chgData name="Rich Reba" userId="8245d172-5b81-40f1-a13b-b71f02cd6700" providerId="ADAL" clId="{7F1DD2AF-F177-3E44-AD15-2D1C0D36EC2F}" dt="2025-02-23T13:00:31.707" v="181" actId="404"/>
          <ac:spMkLst>
            <pc:docMk/>
            <pc:sldMk cId="4188068166" sldId="294"/>
            <ac:spMk id="18" creationId="{C2F2063A-BA21-7168-B3BB-129029B06DF2}"/>
          </ac:spMkLst>
        </pc:spChg>
        <pc:spChg chg="mod">
          <ac:chgData name="Rich Reba" userId="8245d172-5b81-40f1-a13b-b71f02cd6700" providerId="ADAL" clId="{7F1DD2AF-F177-3E44-AD15-2D1C0D36EC2F}" dt="2025-02-23T12:59:55.999" v="176" actId="14100"/>
          <ac:spMkLst>
            <pc:docMk/>
            <pc:sldMk cId="4188068166" sldId="294"/>
            <ac:spMk id="20" creationId="{77131303-8212-EE58-88FE-1B046CE146FE}"/>
          </ac:spMkLst>
        </pc:spChg>
        <pc:spChg chg="mod">
          <ac:chgData name="Rich Reba" userId="8245d172-5b81-40f1-a13b-b71f02cd6700" providerId="ADAL" clId="{7F1DD2AF-F177-3E44-AD15-2D1C0D36EC2F}" dt="2025-02-23T13:00:59.431" v="189" actId="20577"/>
          <ac:spMkLst>
            <pc:docMk/>
            <pc:sldMk cId="4188068166" sldId="294"/>
            <ac:spMk id="96" creationId="{BC12AA9E-C2B8-3BAA-3CE1-AC04F50F1781}"/>
          </ac:spMkLst>
        </pc:spChg>
        <pc:grpChg chg="add mod">
          <ac:chgData name="Rich Reba" userId="8245d172-5b81-40f1-a13b-b71f02cd6700" providerId="ADAL" clId="{7F1DD2AF-F177-3E44-AD15-2D1C0D36EC2F}" dt="2025-02-23T13:01:38.768" v="191" actId="1076"/>
          <ac:grpSpMkLst>
            <pc:docMk/>
            <pc:sldMk cId="4188068166" sldId="294"/>
            <ac:grpSpMk id="3" creationId="{2B3A04F8-1A69-7FD0-0427-55A3D6940516}"/>
          </ac:grpSpMkLst>
        </pc:grpChg>
        <pc:grpChg chg="mod">
          <ac:chgData name="Rich Reba" userId="8245d172-5b81-40f1-a13b-b71f02cd6700" providerId="ADAL" clId="{7F1DD2AF-F177-3E44-AD15-2D1C0D36EC2F}" dt="2025-02-23T13:01:38.768" v="191" actId="1076"/>
          <ac:grpSpMkLst>
            <pc:docMk/>
            <pc:sldMk cId="4188068166" sldId="294"/>
            <ac:grpSpMk id="23" creationId="{25004459-47A8-2F72-7D0C-334F2CEAD1F3}"/>
          </ac:grpSpMkLst>
        </pc:grpChg>
      </pc:sldChg>
      <pc:sldChg chg="addSp delSp modSp del mod ord">
        <pc:chgData name="Rich Reba" userId="8245d172-5b81-40f1-a13b-b71f02cd6700" providerId="ADAL" clId="{7F1DD2AF-F177-3E44-AD15-2D1C0D36EC2F}" dt="2025-02-27T01:36:25.281" v="399" actId="2696"/>
        <pc:sldMkLst>
          <pc:docMk/>
          <pc:sldMk cId="942714957" sldId="297"/>
        </pc:sldMkLst>
      </pc:sldChg>
      <pc:sldChg chg="addSp delSp modSp add mod">
        <pc:chgData name="Rich Reba" userId="8245d172-5b81-40f1-a13b-b71f02cd6700" providerId="ADAL" clId="{7F1DD2AF-F177-3E44-AD15-2D1C0D36EC2F}" dt="2025-02-27T01:49:33.301" v="482" actId="207"/>
        <pc:sldMkLst>
          <pc:docMk/>
          <pc:sldMk cId="3952622843" sldId="298"/>
        </pc:sldMkLst>
        <pc:spChg chg="add del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2" creationId="{FE1CFE76-2344-AB76-2BB2-9976B777AA40}"/>
          </ac:spMkLst>
        </pc:spChg>
        <pc:spChg chg="add del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3" creationId="{C0C6F95B-513F-0B5F-ECB2-054AFA94C7AA}"/>
          </ac:spMkLst>
        </pc:spChg>
        <pc:spChg chg="add del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4" creationId="{4857A4E2-36EB-81F1-C7A8-6EE447269CAA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7" creationId="{351C5BCA-B035-CBAD-C802-A70F82750F47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8" creationId="{B1AE4557-102B-3F38-36DA-7A8E7EC81E05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19" creationId="{BBF5376B-0F45-3346-802E-76C9E7D95E8E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20" creationId="{439FF4FE-ECD3-7122-AAAB-1D019305364A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22" creationId="{6562B3EA-99A7-5533-F1DF-321B1E5FBF37}"/>
          </ac:spMkLst>
        </pc:spChg>
        <pc:spChg chg="add mod">
          <ac:chgData name="Rich Reba" userId="8245d172-5b81-40f1-a13b-b71f02cd6700" providerId="ADAL" clId="{7F1DD2AF-F177-3E44-AD15-2D1C0D36EC2F}" dt="2025-02-27T01:49:24.466" v="481" actId="207"/>
          <ac:spMkLst>
            <pc:docMk/>
            <pc:sldMk cId="3952622843" sldId="298"/>
            <ac:spMk id="23" creationId="{A006553B-CFEB-E97E-0339-ABF9240C6BE9}"/>
          </ac:spMkLst>
        </pc:spChg>
        <pc:spChg chg="add mod">
          <ac:chgData name="Rich Reba" userId="8245d172-5b81-40f1-a13b-b71f02cd6700" providerId="ADAL" clId="{7F1DD2AF-F177-3E44-AD15-2D1C0D36EC2F}" dt="2025-02-27T01:49:33.301" v="482" actId="207"/>
          <ac:spMkLst>
            <pc:docMk/>
            <pc:sldMk cId="3952622843" sldId="298"/>
            <ac:spMk id="27" creationId="{B30972BF-A3D8-8DD8-A4FD-58ED93D4AF90}"/>
          </ac:spMkLst>
        </pc:spChg>
        <pc:spChg chg="add mod">
          <ac:chgData name="Rich Reba" userId="8245d172-5b81-40f1-a13b-b71f02cd6700" providerId="ADAL" clId="{7F1DD2AF-F177-3E44-AD15-2D1C0D36EC2F}" dt="2025-02-27T01:49:33.301" v="482" actId="207"/>
          <ac:spMkLst>
            <pc:docMk/>
            <pc:sldMk cId="3952622843" sldId="298"/>
            <ac:spMk id="28" creationId="{3D7BF537-66E8-E4B3-E12E-3BDD42A34E8B}"/>
          </ac:spMkLst>
        </pc:spChg>
        <pc:spChg chg="add mod">
          <ac:chgData name="Rich Reba" userId="8245d172-5b81-40f1-a13b-b71f02cd6700" providerId="ADAL" clId="{7F1DD2AF-F177-3E44-AD15-2D1C0D36EC2F}" dt="2025-02-27T01:49:33.301" v="482" actId="207"/>
          <ac:spMkLst>
            <pc:docMk/>
            <pc:sldMk cId="3952622843" sldId="298"/>
            <ac:spMk id="32" creationId="{A94118E2-8D8E-4AC6-DA64-5E4DBAE15E26}"/>
          </ac:spMkLst>
        </pc:spChg>
        <pc:cxnChg chg="mod">
          <ac:chgData name="Rich Reba" userId="8245d172-5b81-40f1-a13b-b71f02cd6700" providerId="ADAL" clId="{7F1DD2AF-F177-3E44-AD15-2D1C0D36EC2F}" dt="2025-02-27T01:37:26.374" v="404" actId="14100"/>
          <ac:cxnSpMkLst>
            <pc:docMk/>
            <pc:sldMk cId="3952622843" sldId="298"/>
            <ac:cxnSpMk id="2" creationId="{67F28BF8-1097-694D-DC54-03C752B34D9C}"/>
          </ac:cxnSpMkLst>
        </pc:cxnChg>
      </pc:sldChg>
    </pc:docChg>
  </pc:docChgLst>
  <pc:docChgLst>
    <pc:chgData name="Rich Reba" userId="8245d172-5b81-40f1-a13b-b71f02cd6700" providerId="ADAL" clId="{45A5E713-FCD9-2044-B8D0-D97B08BF0BF5}"/>
    <pc:docChg chg="custSel modSld">
      <pc:chgData name="Rich Reba" userId="8245d172-5b81-40f1-a13b-b71f02cd6700" providerId="ADAL" clId="{45A5E713-FCD9-2044-B8D0-D97B08BF0BF5}" dt="2025-04-05T20:05:14.500" v="1" actId="21"/>
      <pc:docMkLst>
        <pc:docMk/>
      </pc:docMkLst>
      <pc:sldChg chg="addSp delSp modSp mod">
        <pc:chgData name="Rich Reba" userId="8245d172-5b81-40f1-a13b-b71f02cd6700" providerId="ADAL" clId="{45A5E713-FCD9-2044-B8D0-D97B08BF0BF5}" dt="2025-04-05T20:05:14.500" v="1" actId="21"/>
        <pc:sldMkLst>
          <pc:docMk/>
          <pc:sldMk cId="3952622843" sldId="298"/>
        </pc:sldMkLst>
      </pc:sldChg>
    </pc:docChg>
  </pc:docChgLst>
  <pc:docChgLst>
    <pc:chgData name="Rich Reba" userId="8245d172-5b81-40f1-a13b-b71f02cd6700" providerId="ADAL" clId="{5D89617D-46DF-4E4B-9F2C-B4C8C414E4F2}"/>
    <pc:docChg chg="custSel modSld">
      <pc:chgData name="Rich Reba" userId="8245d172-5b81-40f1-a13b-b71f02cd6700" providerId="ADAL" clId="{5D89617D-46DF-4E4B-9F2C-B4C8C414E4F2}" dt="2025-04-23T16:24:39.439" v="30" actId="14100"/>
      <pc:docMkLst>
        <pc:docMk/>
      </pc:docMkLst>
      <pc:sldChg chg="modSp mod">
        <pc:chgData name="Rich Reba" userId="8245d172-5b81-40f1-a13b-b71f02cd6700" providerId="ADAL" clId="{5D89617D-46DF-4E4B-9F2C-B4C8C414E4F2}" dt="2025-04-23T16:20:21.121" v="1" actId="14100"/>
        <pc:sldMkLst>
          <pc:docMk/>
          <pc:sldMk cId="4261285587" sldId="291"/>
        </pc:sldMkLst>
        <pc:spChg chg="mod">
          <ac:chgData name="Rich Reba" userId="8245d172-5b81-40f1-a13b-b71f02cd6700" providerId="ADAL" clId="{5D89617D-46DF-4E4B-9F2C-B4C8C414E4F2}" dt="2025-04-23T16:20:21.121" v="1" actId="14100"/>
          <ac:spMkLst>
            <pc:docMk/>
            <pc:sldMk cId="4261285587" sldId="291"/>
            <ac:spMk id="13" creationId="{FBC2FEAB-52D6-6904-21B2-9B30A2E34532}"/>
          </ac:spMkLst>
        </pc:spChg>
      </pc:sldChg>
      <pc:sldChg chg="addSp delSp modSp mod">
        <pc:chgData name="Rich Reba" userId="8245d172-5b81-40f1-a13b-b71f02cd6700" providerId="ADAL" clId="{5D89617D-46DF-4E4B-9F2C-B4C8C414E4F2}" dt="2025-04-23T16:24:39.439" v="30" actId="14100"/>
        <pc:sldMkLst>
          <pc:docMk/>
          <pc:sldMk cId="3952622843" sldId="298"/>
        </pc:sldMkLst>
        <pc:spChg chg="add mod">
          <ac:chgData name="Rich Reba" userId="8245d172-5b81-40f1-a13b-b71f02cd6700" providerId="ADAL" clId="{5D89617D-46DF-4E4B-9F2C-B4C8C414E4F2}" dt="2025-04-23T16:22:59.156" v="24" actId="1582"/>
          <ac:spMkLst>
            <pc:docMk/>
            <pc:sldMk cId="3952622843" sldId="298"/>
            <ac:spMk id="5" creationId="{8A58717C-C139-CA87-9827-286531B1866B}"/>
          </ac:spMkLst>
        </pc:spChg>
        <pc:spChg chg="mod">
          <ac:chgData name="Rich Reba" userId="8245d172-5b81-40f1-a13b-b71f02cd6700" providerId="ADAL" clId="{5D89617D-46DF-4E4B-9F2C-B4C8C414E4F2}" dt="2025-04-23T16:24:18.857" v="28" actId="14100"/>
          <ac:spMkLst>
            <pc:docMk/>
            <pc:sldMk cId="3952622843" sldId="298"/>
            <ac:spMk id="7" creationId="{BE6FF4EE-979B-6F6E-9325-A3C6AD0746F0}"/>
          </ac:spMkLst>
        </pc:spChg>
        <pc:spChg chg="mod">
          <ac:chgData name="Rich Reba" userId="8245d172-5b81-40f1-a13b-b71f02cd6700" providerId="ADAL" clId="{5D89617D-46DF-4E4B-9F2C-B4C8C414E4F2}" dt="2025-04-23T16:21:42.522" v="11" actId="1076"/>
          <ac:spMkLst>
            <pc:docMk/>
            <pc:sldMk cId="3952622843" sldId="298"/>
            <ac:spMk id="12" creationId="{FE1CFE76-2344-AB76-2BB2-9976B777AA40}"/>
          </ac:spMkLst>
        </pc:spChg>
        <pc:spChg chg="mod">
          <ac:chgData name="Rich Reba" userId="8245d172-5b81-40f1-a13b-b71f02cd6700" providerId="ADAL" clId="{5D89617D-46DF-4E4B-9F2C-B4C8C414E4F2}" dt="2025-04-23T16:21:42.522" v="11" actId="1076"/>
          <ac:spMkLst>
            <pc:docMk/>
            <pc:sldMk cId="3952622843" sldId="298"/>
            <ac:spMk id="14" creationId="{4857A4E2-36EB-81F1-C7A8-6EE447269CAA}"/>
          </ac:spMkLst>
        </pc:spChg>
        <pc:spChg chg="mod">
          <ac:chgData name="Rich Reba" userId="8245d172-5b81-40f1-a13b-b71f02cd6700" providerId="ADAL" clId="{5D89617D-46DF-4E4B-9F2C-B4C8C414E4F2}" dt="2025-04-23T16:21:42.522" v="11" actId="1076"/>
          <ac:spMkLst>
            <pc:docMk/>
            <pc:sldMk cId="3952622843" sldId="298"/>
            <ac:spMk id="20" creationId="{439FF4FE-ECD3-7122-AAAB-1D019305364A}"/>
          </ac:spMkLst>
        </pc:spChg>
        <pc:spChg chg="mod">
          <ac:chgData name="Rich Reba" userId="8245d172-5b81-40f1-a13b-b71f02cd6700" providerId="ADAL" clId="{5D89617D-46DF-4E4B-9F2C-B4C8C414E4F2}" dt="2025-04-23T16:23:41.156" v="25" actId="1076"/>
          <ac:spMkLst>
            <pc:docMk/>
            <pc:sldMk cId="3952622843" sldId="298"/>
            <ac:spMk id="27" creationId="{B30972BF-A3D8-8DD8-A4FD-58ED93D4AF90}"/>
          </ac:spMkLst>
        </pc:spChg>
        <pc:spChg chg="mod">
          <ac:chgData name="Rich Reba" userId="8245d172-5b81-40f1-a13b-b71f02cd6700" providerId="ADAL" clId="{5D89617D-46DF-4E4B-9F2C-B4C8C414E4F2}" dt="2025-04-23T16:23:41.156" v="25" actId="1076"/>
          <ac:spMkLst>
            <pc:docMk/>
            <pc:sldMk cId="3952622843" sldId="298"/>
            <ac:spMk id="28" creationId="{3D7BF537-66E8-E4B3-E12E-3BDD42A34E8B}"/>
          </ac:spMkLst>
        </pc:spChg>
        <pc:spChg chg="mod">
          <ac:chgData name="Rich Reba" userId="8245d172-5b81-40f1-a13b-b71f02cd6700" providerId="ADAL" clId="{5D89617D-46DF-4E4B-9F2C-B4C8C414E4F2}" dt="2025-04-23T16:21:22.938" v="8" actId="14100"/>
          <ac:spMkLst>
            <pc:docMk/>
            <pc:sldMk cId="3952622843" sldId="298"/>
            <ac:spMk id="30" creationId="{C690571F-B3DF-C820-1DB3-78EF0049B24A}"/>
          </ac:spMkLst>
        </pc:spChg>
        <pc:spChg chg="mod">
          <ac:chgData name="Rich Reba" userId="8245d172-5b81-40f1-a13b-b71f02cd6700" providerId="ADAL" clId="{5D89617D-46DF-4E4B-9F2C-B4C8C414E4F2}" dt="2025-04-23T16:23:41.156" v="25" actId="1076"/>
          <ac:spMkLst>
            <pc:docMk/>
            <pc:sldMk cId="3952622843" sldId="298"/>
            <ac:spMk id="32" creationId="{A94118E2-8D8E-4AC6-DA64-5E4DBAE15E26}"/>
          </ac:spMkLst>
        </pc:spChg>
        <pc:spChg chg="mod">
          <ac:chgData name="Rich Reba" userId="8245d172-5b81-40f1-a13b-b71f02cd6700" providerId="ADAL" clId="{5D89617D-46DF-4E4B-9F2C-B4C8C414E4F2}" dt="2025-04-23T16:23:41.156" v="25" actId="1076"/>
          <ac:spMkLst>
            <pc:docMk/>
            <pc:sldMk cId="3952622843" sldId="298"/>
            <ac:spMk id="43" creationId="{6807135F-0E7A-493F-0A12-B161E4F0EC62}"/>
          </ac:spMkLst>
        </pc:spChg>
        <pc:picChg chg="add mod">
          <ac:chgData name="Rich Reba" userId="8245d172-5b81-40f1-a13b-b71f02cd6700" providerId="ADAL" clId="{5D89617D-46DF-4E4B-9F2C-B4C8C414E4F2}" dt="2025-04-23T16:21:18.005" v="6" actId="1076"/>
          <ac:picMkLst>
            <pc:docMk/>
            <pc:sldMk cId="3952622843" sldId="298"/>
            <ac:picMk id="3" creationId="{6EA2B085-620D-4BAD-B424-35E0940BDC79}"/>
          </ac:picMkLst>
        </pc:picChg>
        <pc:picChg chg="mod">
          <ac:chgData name="Rich Reba" userId="8245d172-5b81-40f1-a13b-b71f02cd6700" providerId="ADAL" clId="{5D89617D-46DF-4E4B-9F2C-B4C8C414E4F2}" dt="2025-04-23T16:23:41.156" v="25" actId="1076"/>
          <ac:picMkLst>
            <pc:docMk/>
            <pc:sldMk cId="3952622843" sldId="298"/>
            <ac:picMk id="24" creationId="{7CDCAE5D-8354-CA0B-B956-9063E2C31E6C}"/>
          </ac:picMkLst>
        </pc:picChg>
        <pc:picChg chg="mod">
          <ac:chgData name="Rich Reba" userId="8245d172-5b81-40f1-a13b-b71f02cd6700" providerId="ADAL" clId="{5D89617D-46DF-4E4B-9F2C-B4C8C414E4F2}" dt="2025-04-23T16:23:41.156" v="25" actId="1076"/>
          <ac:picMkLst>
            <pc:docMk/>
            <pc:sldMk cId="3952622843" sldId="298"/>
            <ac:picMk id="25" creationId="{4912665B-24C9-AFAB-9E23-43FFE87EC9F8}"/>
          </ac:picMkLst>
        </pc:picChg>
        <pc:picChg chg="del">
          <ac:chgData name="Rich Reba" userId="8245d172-5b81-40f1-a13b-b71f02cd6700" providerId="ADAL" clId="{5D89617D-46DF-4E4B-9F2C-B4C8C414E4F2}" dt="2025-04-23T16:21:47.086" v="12" actId="478"/>
          <ac:picMkLst>
            <pc:docMk/>
            <pc:sldMk cId="3952622843" sldId="298"/>
            <ac:picMk id="29" creationId="{DF559D48-B338-3D80-63B5-0D046513D1E0}"/>
          </ac:picMkLst>
        </pc:picChg>
        <pc:cxnChg chg="mod">
          <ac:chgData name="Rich Reba" userId="8245d172-5b81-40f1-a13b-b71f02cd6700" providerId="ADAL" clId="{5D89617D-46DF-4E4B-9F2C-B4C8C414E4F2}" dt="2025-04-23T16:24:18.857" v="28" actId="14100"/>
          <ac:cxnSpMkLst>
            <pc:docMk/>
            <pc:sldMk cId="3952622843" sldId="298"/>
            <ac:cxnSpMk id="2" creationId="{67F28BF8-1097-694D-DC54-03C752B34D9C}"/>
          </ac:cxnSpMkLst>
        </pc:cxnChg>
        <pc:cxnChg chg="mod">
          <ac:chgData name="Rich Reba" userId="8245d172-5b81-40f1-a13b-b71f02cd6700" providerId="ADAL" clId="{5D89617D-46DF-4E4B-9F2C-B4C8C414E4F2}" dt="2025-04-23T16:23:49.573" v="26" actId="14100"/>
          <ac:cxnSpMkLst>
            <pc:docMk/>
            <pc:sldMk cId="3952622843" sldId="298"/>
            <ac:cxnSpMk id="38" creationId="{0E9D6F6E-1FCB-AE52-DDFF-494224B5474B}"/>
          </ac:cxnSpMkLst>
        </pc:cxnChg>
        <pc:cxnChg chg="mod">
          <ac:chgData name="Rich Reba" userId="8245d172-5b81-40f1-a13b-b71f02cd6700" providerId="ADAL" clId="{5D89617D-46DF-4E4B-9F2C-B4C8C414E4F2}" dt="2025-04-23T16:24:39.439" v="30" actId="14100"/>
          <ac:cxnSpMkLst>
            <pc:docMk/>
            <pc:sldMk cId="3952622843" sldId="298"/>
            <ac:cxnSpMk id="40" creationId="{E5D1A46A-4EA0-9D3E-C15A-286AFA385F7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0133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48AAAB9-469F-A020-9E77-5B0ACC03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86DB134-B410-9F2B-E398-EF535C8FD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AD98F16-833D-0F8D-7770-7BE855B1C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146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E81881E-76DD-3475-D58B-4AD166AA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4C4C4A3-629D-364B-A063-D8A990AAA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159D27B-E089-10F0-4F8D-A6772A7A0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4477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81EB05D-1763-90D8-1952-83D10331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5418139-4676-8343-2C86-F4DBE6AB1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76F465B-17FB-5A04-B798-44EBF2805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2267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2A406A9-F363-6234-C615-9344E715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AA29EF4-DB52-0FA9-D885-34DC48AEC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1327299-17DF-6007-96CF-91155DBBD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672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22AC1CD-96F1-40F1-4A2F-A4F764EF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DDEE0F8-ABAE-38E8-D59C-5B007111B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AD2697F-7D30-35DB-7EF6-B19C17818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6948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1579AF9-3A6E-5AEE-A693-4FF2097D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F28318F-FFF9-EFD0-CE11-8801882FE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22F8496-781E-2227-AB56-104F30CFF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8787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B8CABD9-6E97-FB7A-3582-05657DDD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900D8C0-3ABE-9D5A-3540-D764420AB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882B71B-4452-9132-6F62-84FE23F92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96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6C3BBF9-EC24-E8A0-03C3-31E07AD0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1ED181D-7A31-D899-026A-CBCDCFCC0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AA9A618-32D2-10DA-78FA-5C70AA0FA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327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91D2BF1-0BC8-7EF7-A2A4-27D155E2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AC5EFD9-A93D-D5C1-2EDB-868212BE4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9FCAD0A-A56F-A9C9-EA1F-7A9CE898E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0698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1FAE7BB-2755-048C-3510-BD5D59B4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276C82A-3FA9-7F2C-7DAA-D8D7EB4C8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BC1391C-D2A1-2455-82F2-536EEC22C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9506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F45E209-6819-402D-B684-DBB910D0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DF86E51-DD90-F58E-917A-78A0D35A8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A855BE4-8D28-467F-58FC-1B052BE5D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148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BF73756-58E6-3E9D-E49A-7FDB07C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8B56797-F53B-6A29-87FE-366598995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C8E43B3-4BB5-AEC5-7D05-C9A2A7F34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082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C88EE2A-B3B1-E4AE-E561-C43A74B6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AF7AF3A-40E6-1F15-CE85-31EC619A7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BB44629-D7B3-16CD-E9C4-9D521CE05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2510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AA34CE0-6133-63AD-5A4A-2814306C7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440BF8C-C181-6315-F02F-9D7296001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161F6F8-9F03-618C-032E-548F7AAB7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78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CCF5610-BB52-10CB-E4DF-93AB5695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3187957-C320-615E-9344-8144B70D6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3633443-D402-1B7B-043D-842193D2F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798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471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82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853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122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19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64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93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825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86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05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01205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ucsusa.org/doug-boucher/world-population-growth-exponential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Demand Generation Plan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February 26, 2025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AD78C72-379A-E1B5-EFA1-9131465029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9892-8F0D-45B4-AC0A-9AE59C6E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our Professional Network of Collaborators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0D092-35F8-517C-30BF-46AD09D11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Outreach to Potential Collaborators</a:t>
            </a:r>
          </a:p>
        </p:txBody>
      </p:sp>
    </p:spTree>
    <p:extLst>
      <p:ext uri="{BB962C8B-B14F-4D97-AF65-F5344CB8AC3E}">
        <p14:creationId xmlns:p14="http://schemas.microsoft.com/office/powerpoint/2010/main" val="1901265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Collaborators</a:t>
            </a:r>
            <a:br>
              <a:rPr lang="en-US" dirty="0"/>
            </a:br>
            <a:r>
              <a:rPr lang="en-US" sz="2800" dirty="0"/>
              <a:t>Elevator Pitch / FAQs – The Basics 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80ABFF8-4C01-7B33-27D3-75C1CC40892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57198-E60F-5A38-571D-9A3D70C9A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79865"/>
              </p:ext>
            </p:extLst>
          </p:nvPr>
        </p:nvGraphicFramePr>
        <p:xfrm>
          <a:off x="1585331" y="1929162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070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6323360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AccelRR8 Consortium?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US-based non-profit</a:t>
                      </a:r>
                      <a:r>
                        <a:rPr lang="en-US" dirty="0"/>
                        <a:t>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Tech Services leaders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accelerate success </a:t>
                      </a:r>
                      <a:r>
                        <a:rPr lang="en-US" dirty="0"/>
                        <a:t>for themselves, their industry, and all humanity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does it do that?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Connecting Tech Services leaders and sharing knowledge that helps them </a:t>
                      </a:r>
                      <a:br>
                        <a:rPr lang="en-US" dirty="0"/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do we need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leaders want to grow value exponentially, yet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know how to do it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systematically</a:t>
                      </a:r>
                      <a:r>
                        <a:rPr lang="en-US" dirty="0"/>
                        <a:t> – leaving so much value on the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it for 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Join us if you want to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meet other Tech Services leaders and learn more together</a:t>
                      </a:r>
                      <a:r>
                        <a:rPr lang="en-US" dirty="0"/>
                        <a:t> about how to 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93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747EAB6-AB44-7CC2-812B-E56BAA5C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F6FA6DB-FE7A-703A-C238-17DF34E41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Collaborators</a:t>
            </a:r>
            <a:br>
              <a:rPr lang="en-US" dirty="0"/>
            </a:br>
            <a:r>
              <a:rPr lang="en-US" sz="2800" dirty="0"/>
              <a:t>Elevator Pitch / FAQs – The Core Premise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8AFEEE01-8CFA-EB97-0868-E085455DC6C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F6D2DD-C564-F70E-734B-A79A1D1D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831880"/>
              </p:ext>
            </p:extLst>
          </p:nvPr>
        </p:nvGraphicFramePr>
        <p:xfrm>
          <a:off x="1418063" y="1984918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mean to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“grow value exponentially”?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means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growth accelerates over time</a:t>
                      </a:r>
                      <a:r>
                        <a:rPr lang="en-US" dirty="0"/>
                        <a:t>, so it curves up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Isn’t all growth the same?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 all growth is good,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most growth is linear</a:t>
                      </a:r>
                      <a:r>
                        <a:rPr lang="en-US" dirty="0"/>
                        <a:t>, which means it goes up in a straight line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 most growth linear?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many things you can do to grow in a straight line</a:t>
                      </a:r>
                      <a:r>
                        <a:rPr lang="en-US" dirty="0"/>
                        <a:t>, like hire more sellers to get proportionally more revenue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isn’t most growth exponential?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only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accelerators mathematically capable </a:t>
                      </a:r>
                      <a:r>
                        <a:rPr lang="en-US" dirty="0"/>
                        <a:t>of growing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are these accelerators?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Compounding Innovation, Network Effects, Viral Ideation, and Generative Learning, all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“Powered By” Artificial 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47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1815B9D-5CEE-E19E-210B-C00080D9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CF84931-9256-98BF-24B8-28FB306C7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Collaborators</a:t>
            </a:r>
            <a:br>
              <a:rPr lang="en-US" dirty="0"/>
            </a:br>
            <a:r>
              <a:rPr lang="en-US" sz="2800" dirty="0"/>
              <a:t>Elevator Pitch / FAQs – The Value of Joining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10848D36-1099-426B-8FDF-F0A4AFEB1B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52AF2C-F28A-A798-F0EA-56EA95A8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868418"/>
              </p:ext>
            </p:extLst>
          </p:nvPr>
        </p:nvGraphicFramePr>
        <p:xfrm>
          <a:off x="1418063" y="1984918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 AccelRR8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Consortium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We’re at the beginning of our journey – and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we intend to grow value exponentially</a:t>
                      </a:r>
                      <a:r>
                        <a:rPr lang="en-US" dirty="0"/>
                        <a:t> for our collaborators and patrons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will it know it’s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collaborators and patrons will be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net promoters</a:t>
                      </a:r>
                      <a:r>
                        <a:rPr lang="en-US" dirty="0"/>
                        <a:t> in survey results we will publish from time to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will I get if I join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as a collaborator?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You’ll expand your professional network, ideate with other collaborators, and gain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access to the AccelRR8 Body of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AccelRR8 Body of Knowledge?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digital collection of knowledge</a:t>
                      </a:r>
                      <a:r>
                        <a:rPr lang="en-US" dirty="0"/>
                        <a:t> proven to help Tech Services leaders 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413567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there a fee?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Our initial services are free!  </a:t>
                      </a:r>
                      <a:r>
                        <a:rPr lang="en-US" dirty="0"/>
                        <a:t>As we grow, we may offer future services such as joining a local chapter, taking a certification exam, or shaping the AccelRR8 Body of Knowledge, which may be fee-based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52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FE77-405F-8FA5-CA97-39B22BEA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FB8B-3E20-7BA4-43CB-3AB714C0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our Patrons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F09B5-5BEA-1235-A0AC-9E9035FC1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Outreach to Potential Patrons</a:t>
            </a:r>
          </a:p>
        </p:txBody>
      </p:sp>
    </p:spTree>
    <p:extLst>
      <p:ext uri="{BB962C8B-B14F-4D97-AF65-F5344CB8AC3E}">
        <p14:creationId xmlns:p14="http://schemas.microsoft.com/office/powerpoint/2010/main" val="2581786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3DA6500-59B0-2DB1-7094-D2306BAD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D706B277-3E20-E842-D19D-E8DBF3F82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Patrons</a:t>
            </a:r>
            <a:br>
              <a:rPr lang="en-US" dirty="0"/>
            </a:br>
            <a:r>
              <a:rPr lang="en-US" sz="2800" dirty="0"/>
              <a:t>Elevator Pitch / FAQs – The Basics 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C696403-CD24-E7FF-EC6A-3CAC806EE23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A72F05-74CE-DF46-9BF1-6172E9653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01938"/>
              </p:ext>
            </p:extLst>
          </p:nvPr>
        </p:nvGraphicFramePr>
        <p:xfrm>
          <a:off x="1585331" y="1929162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070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6323360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AccelRR8 Consortium?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US-based non-profit</a:t>
                      </a:r>
                      <a:r>
                        <a:rPr lang="en-US" dirty="0"/>
                        <a:t>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Tech Services leaders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accelerate success </a:t>
                      </a:r>
                      <a:r>
                        <a:rPr lang="en-US" dirty="0"/>
                        <a:t>for themselves, their industry, and all humanity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does it do that?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Connecting Tech Services leaders and sharing knowledge that helps them </a:t>
                      </a:r>
                      <a:br>
                        <a:rPr lang="en-US" dirty="0"/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do we need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leaders want to grow value exponentially, yet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know how to do it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systematically</a:t>
                      </a:r>
                      <a:r>
                        <a:rPr lang="en-US" dirty="0"/>
                        <a:t> – leaving so much value on the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it for my organization?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Join us if you want to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connect to and influence a growing community of Tech Services leaders </a:t>
                      </a:r>
                      <a:r>
                        <a:rPr lang="en-US" dirty="0"/>
                        <a:t>intent on growing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23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758DBFD-61E6-D40D-A66F-86888409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D1098FF-28B1-7243-44FD-41123CFE7C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Patrons</a:t>
            </a:r>
            <a:br>
              <a:rPr lang="en-US" dirty="0"/>
            </a:br>
            <a:r>
              <a:rPr lang="en-US" sz="2800" dirty="0"/>
              <a:t>Elevator Pitch / FAQs – The Core Premise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184796EF-FFE5-521C-A4CF-B3A42920D6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62D01C-7ACC-BD2C-B55D-B83B5DD5B3EE}"/>
              </a:ext>
            </a:extLst>
          </p:cNvPr>
          <p:cNvGraphicFramePr>
            <a:graphicFrameLocks noGrp="1"/>
          </p:cNvGraphicFramePr>
          <p:nvPr/>
        </p:nvGraphicFramePr>
        <p:xfrm>
          <a:off x="1418063" y="1984918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mean to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“grow value exponentially”?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means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growth accelerates over time</a:t>
                      </a:r>
                      <a:r>
                        <a:rPr lang="en-US" dirty="0"/>
                        <a:t>, so it curves up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Isn’t all growth the same?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 all growth is good,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most growth is linear</a:t>
                      </a:r>
                      <a:r>
                        <a:rPr lang="en-US" dirty="0"/>
                        <a:t>, which means it goes up in a straight line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 most growth linear?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many things you can do to grow in a straight line</a:t>
                      </a:r>
                      <a:r>
                        <a:rPr lang="en-US" dirty="0"/>
                        <a:t>, like hire more sellers to get proportionally more revenue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isn’t most growth exponential?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only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accelerators mathematically capable </a:t>
                      </a:r>
                      <a:r>
                        <a:rPr lang="en-US" dirty="0"/>
                        <a:t>of growing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are these accelerators?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Compounding Innovation, Network Effects, Viral Ideation, and Generative Learning, all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“Powered By” Artificial 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39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01ADEF4-2E27-CBD6-2F72-4E1D52F3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FAA8ADED-E5F7-47E5-C530-6F550B7444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Patrons</a:t>
            </a:r>
            <a:br>
              <a:rPr lang="en-US" dirty="0"/>
            </a:br>
            <a:r>
              <a:rPr lang="en-US" sz="2800" dirty="0"/>
              <a:t>Elevator Pitch / FAQs – The Value of Joining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80A25F64-3A8A-B0AA-D20A-DDCFB50A682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0718E5-2CAA-A0C5-855F-4B2C1B5B5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36785"/>
              </p:ext>
            </p:extLst>
          </p:nvPr>
        </p:nvGraphicFramePr>
        <p:xfrm>
          <a:off x="1418063" y="1984918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 AccelRR8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Consortium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We’re at the beginning of our journey – and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we intend to grow value exponentially</a:t>
                      </a:r>
                      <a:r>
                        <a:rPr lang="en-US" dirty="0"/>
                        <a:t> for our collaborators and patrons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will it know it’s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collaborators and patrons will be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net promoters</a:t>
                      </a:r>
                      <a:r>
                        <a:rPr lang="en-US" dirty="0"/>
                        <a:t> in survey results we will publish from time to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will I get if I join as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as a patron?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Your organization will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raise brand awareness with our network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, and your organization’s members will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gain access to our network and the AccelRR8 Body of Knowledge</a:t>
                      </a:r>
                      <a:endParaRPr lang="en-US" b="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AccelRR8 Body of Knowledge?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digital collection of knowledge</a:t>
                      </a:r>
                      <a:r>
                        <a:rPr lang="en-US" dirty="0"/>
                        <a:t> proven to help Tech Services leaders 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413567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there a fee?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Joining as an Innovator (Bronze) is free!  </a:t>
                      </a:r>
                      <a:r>
                        <a:rPr lang="en-US" dirty="0"/>
                        <a:t>As we grow, we may offer future fee-based services such as local chapters, certification exams, AccelRR8 Body of Knowledge governance, and sponsored co-innovation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61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4B3F-AD7E-D6F4-DDBF-55D90B56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ECDE-F65F-F494-0375-03FD3C11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our Leaders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75EAE-F308-7944-F690-ED2E12AF1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Outreach to Potential Consortium Leaders</a:t>
            </a:r>
          </a:p>
        </p:txBody>
      </p:sp>
    </p:spTree>
    <p:extLst>
      <p:ext uri="{BB962C8B-B14F-4D97-AF65-F5344CB8AC3E}">
        <p14:creationId xmlns:p14="http://schemas.microsoft.com/office/powerpoint/2010/main" val="143092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DF74305-75FD-4020-DD85-27F3BFCD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A3FEF01-76C7-9AD8-1115-27BD7AFCD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The Basics 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502E2739-000E-E662-3E31-E5182ACFD9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F06FF9-C831-4AA4-0C17-82A2B834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710263"/>
              </p:ext>
            </p:extLst>
          </p:nvPr>
        </p:nvGraphicFramePr>
        <p:xfrm>
          <a:off x="1585331" y="1929162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070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6323360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AccelRR8 Consortium?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US-based non-profit</a:t>
                      </a:r>
                      <a:r>
                        <a:rPr lang="en-US" dirty="0"/>
                        <a:t>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Tech Services leaders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accelerate success </a:t>
                      </a:r>
                      <a:r>
                        <a:rPr lang="en-US" dirty="0"/>
                        <a:t>for themselves, their industry, and all humanity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does it do that?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Connecting Tech Services leaders and sharing knowledge that helps them </a:t>
                      </a:r>
                      <a:br>
                        <a:rPr lang="en-US" dirty="0"/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do we need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leaders want to grow value exponentially, yet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know how to do it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systematically</a:t>
                      </a:r>
                      <a:r>
                        <a:rPr lang="en-US" dirty="0"/>
                        <a:t> – leaving so much value on the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Should I become a Consortium leader?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Join us if you want to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help the entire Tech Services industry get good at growing value exponentially</a:t>
                      </a:r>
                      <a:r>
                        <a:rPr lang="en-US" dirty="0"/>
                        <a:t> – unleashing its full potential and accelerating exponential benefits for humanity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59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4F44D49-9FEE-17CD-B5AF-B67D394A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F5BEE40B-050A-E90F-312C-F84EBBA3E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The Core Premise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CF41332C-03A2-D1F1-8CD1-838913EC642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93F992-C4F4-3AF7-A080-D15ECEC7757B}"/>
              </a:ext>
            </a:extLst>
          </p:cNvPr>
          <p:cNvGraphicFramePr>
            <a:graphicFrameLocks noGrp="1"/>
          </p:cNvGraphicFramePr>
          <p:nvPr/>
        </p:nvGraphicFramePr>
        <p:xfrm>
          <a:off x="1418063" y="1984918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does it mean to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“grow value exponentially”?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means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growth accelerates over time</a:t>
                      </a:r>
                      <a:r>
                        <a:rPr lang="en-US" dirty="0"/>
                        <a:t>, so it curves up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Isn’t all growth the same?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 all growth is good,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most growth is linear</a:t>
                      </a:r>
                      <a:r>
                        <a:rPr lang="en-US" dirty="0"/>
                        <a:t>, which means it goes up in a straight line on a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 most growth linear?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many things you can do to grow in a straight line</a:t>
                      </a:r>
                      <a:r>
                        <a:rPr lang="en-US" dirty="0"/>
                        <a:t>, like hire more sellers to get proportionally more revenue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Why isn’t most growth exponential?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only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few accelerators mathematically capable </a:t>
                      </a:r>
                      <a:r>
                        <a:rPr lang="en-US" dirty="0"/>
                        <a:t>of growing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are these accelerators?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Compounding Innovation, Network Effects, Viral Ideation, and Generative Learning, all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“Powered By” Artificial 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905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305886B-F4C5-60E7-51B5-69C93DFF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1D4B8A96-9267-69A6-AAA8-A9CB43061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The Value of Joining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0F3C55A-F8A5-554B-3FCF-17AA7C8E7A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0A0DDF-4989-7A78-065C-1D6112BEB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47196"/>
              </p:ext>
            </p:extLst>
          </p:nvPr>
        </p:nvGraphicFramePr>
        <p:xfrm>
          <a:off x="1418063" y="1984918"/>
          <a:ext cx="8573430" cy="3915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2132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5921298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 AccelRR8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Consortium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We’re at the beginning of our journey – and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we intend to grow value exponentially</a:t>
                      </a:r>
                      <a:r>
                        <a:rPr lang="en-US" dirty="0"/>
                        <a:t> for our collaborators and patrons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How will it know it’s succeeding?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collaborators and patrons will be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net promoters</a:t>
                      </a:r>
                      <a:r>
                        <a:rPr lang="en-US" dirty="0"/>
                        <a:t> in survey results we will publish from time to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will I get if I join as </a:t>
                      </a:r>
                      <a:br>
                        <a:rPr lang="en-U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as a leader?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You will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raise your personal brand profile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with our network and patrons,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gain mentorship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from industry experts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, gain experience using the AccelRR8 Body of Knowledge to grow value exponentially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, and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 help change the Tech Services industry to help humanity</a:t>
                      </a:r>
                      <a:endParaRPr lang="en-US" b="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is the AccelRR8 Body of Knowledge?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digital collection of knowledge</a:t>
                      </a:r>
                      <a:r>
                        <a:rPr lang="en-US" dirty="0"/>
                        <a:t> proven to help Tech Services leaders grow value exponentially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413567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Is there compensation?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Initially there is no compensation.  </a:t>
                      </a:r>
                      <a:r>
                        <a:rPr lang="en-US" dirty="0"/>
                        <a:t>As we grow and provide fee-based services, some leadership positions will likely receive compensation.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48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A01ABBE-72F6-C7CD-55BD-31E04CD6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B079311-FAEC-4E69-7D73-2E10406A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846" y="2248953"/>
            <a:ext cx="2344873" cy="1371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912665B-24C9-AFAB-9E23-43FFE87EC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863" y="4743800"/>
            <a:ext cx="3498520" cy="1371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2256E9-AB50-A8CC-67EB-199128602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954" y="2248953"/>
            <a:ext cx="3492708" cy="13716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2C0BF7F-5200-872D-4164-B3044EA70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Foundational Concepts Summary</a:t>
            </a:r>
            <a:endParaRPr sz="2200" i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DCAE5D-8354-CA0B-B956-9063E2C31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862" y="4743800"/>
            <a:ext cx="3483193" cy="13716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690571F-B3DF-C820-1DB3-78EF0049B24A}"/>
              </a:ext>
            </a:extLst>
          </p:cNvPr>
          <p:cNvSpPr/>
          <p:nvPr/>
        </p:nvSpPr>
        <p:spPr>
          <a:xfrm>
            <a:off x="873086" y="1934678"/>
            <a:ext cx="3447972" cy="1828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1 - Our Center of Gravity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9A808E-D7B2-88D4-2283-54B79B593555}"/>
              </a:ext>
            </a:extLst>
          </p:cNvPr>
          <p:cNvSpPr/>
          <p:nvPr/>
        </p:nvSpPr>
        <p:spPr>
          <a:xfrm>
            <a:off x="4781845" y="1934678"/>
            <a:ext cx="5686130" cy="1828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2 - Our Purpose and Intent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E9D6F6E-1FCB-AE52-DDFF-494224B547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6841" y="3973651"/>
            <a:ext cx="1129935" cy="40760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5D1A46A-4EA0-9D3E-C15A-286AFA385F79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rot="5400000">
            <a:off x="5375761" y="3596252"/>
            <a:ext cx="1123247" cy="1171849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807135F-0E7A-493F-0A12-B161E4F0EC62}"/>
              </a:ext>
            </a:extLst>
          </p:cNvPr>
          <p:cNvSpPr/>
          <p:nvPr/>
        </p:nvSpPr>
        <p:spPr>
          <a:xfrm>
            <a:off x="5909241" y="4463274"/>
            <a:ext cx="4524612" cy="1828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3 - Our Curated Knowledge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67F28BF8-1097-694D-DC54-03C752B34D9C}"/>
              </a:ext>
            </a:extLst>
          </p:cNvPr>
          <p:cNvCxnSpPr>
            <a:cxnSpLocks/>
            <a:stCxn id="7" idx="2"/>
            <a:endCxn id="43" idx="0"/>
          </p:cNvCxnSpPr>
          <p:nvPr/>
        </p:nvCxnSpPr>
        <p:spPr>
          <a:xfrm rot="5400000">
            <a:off x="8640443" y="3143591"/>
            <a:ext cx="850788" cy="1788579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E6FF4EE-979B-6F6E-9325-A3C6AD0746F0}"/>
              </a:ext>
            </a:extLst>
          </p:cNvPr>
          <p:cNvSpPr/>
          <p:nvPr/>
        </p:nvSpPr>
        <p:spPr>
          <a:xfrm>
            <a:off x="9403683" y="3475110"/>
            <a:ext cx="1112885" cy="137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C6F95B-513F-0B5F-ECB2-054AFA94C7AA}"/>
              </a:ext>
            </a:extLst>
          </p:cNvPr>
          <p:cNvSpPr/>
          <p:nvPr/>
        </p:nvSpPr>
        <p:spPr>
          <a:xfrm>
            <a:off x="5953125" y="3377464"/>
            <a:ext cx="1140151" cy="212797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C5BCA-B035-CBAD-C802-A70F82750F47}"/>
              </a:ext>
            </a:extLst>
          </p:cNvPr>
          <p:cNvSpPr/>
          <p:nvPr/>
        </p:nvSpPr>
        <p:spPr>
          <a:xfrm>
            <a:off x="5946785" y="2960278"/>
            <a:ext cx="1146492" cy="180121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AE4557-102B-3F38-36DA-7A8E7EC81E05}"/>
              </a:ext>
            </a:extLst>
          </p:cNvPr>
          <p:cNvSpPr/>
          <p:nvPr/>
        </p:nvSpPr>
        <p:spPr>
          <a:xfrm>
            <a:off x="7089775" y="2995204"/>
            <a:ext cx="3461608" cy="145196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5376B-0F45-3346-802E-76C9E7D95E8E}"/>
              </a:ext>
            </a:extLst>
          </p:cNvPr>
          <p:cNvSpPr/>
          <p:nvPr/>
        </p:nvSpPr>
        <p:spPr>
          <a:xfrm>
            <a:off x="7089775" y="3433353"/>
            <a:ext cx="3378200" cy="156907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62B3EA-99A7-5533-F1DF-321B1E5FBF37}"/>
              </a:ext>
            </a:extLst>
          </p:cNvPr>
          <p:cNvSpPr/>
          <p:nvPr/>
        </p:nvSpPr>
        <p:spPr>
          <a:xfrm>
            <a:off x="5946785" y="2525303"/>
            <a:ext cx="1146492" cy="186954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06553B-CFEB-E97E-0339-ABF9240C6BE9}"/>
              </a:ext>
            </a:extLst>
          </p:cNvPr>
          <p:cNvSpPr/>
          <p:nvPr/>
        </p:nvSpPr>
        <p:spPr>
          <a:xfrm>
            <a:off x="7089775" y="2560229"/>
            <a:ext cx="3426793" cy="152028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0972BF-A3D8-8DD8-A4FD-58ED93D4AF90}"/>
              </a:ext>
            </a:extLst>
          </p:cNvPr>
          <p:cNvSpPr/>
          <p:nvPr/>
        </p:nvSpPr>
        <p:spPr>
          <a:xfrm>
            <a:off x="3609862" y="5400028"/>
            <a:ext cx="3461608" cy="145196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7BF537-66E8-E4B3-E12E-3BDD42A34E8B}"/>
              </a:ext>
            </a:extLst>
          </p:cNvPr>
          <p:cNvSpPr/>
          <p:nvPr/>
        </p:nvSpPr>
        <p:spPr>
          <a:xfrm>
            <a:off x="3609862" y="5828171"/>
            <a:ext cx="3378200" cy="263536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4118E2-8D8E-4AC6-DA64-5E4DBAE15E26}"/>
              </a:ext>
            </a:extLst>
          </p:cNvPr>
          <p:cNvSpPr/>
          <p:nvPr/>
        </p:nvSpPr>
        <p:spPr>
          <a:xfrm>
            <a:off x="3609862" y="4965053"/>
            <a:ext cx="3426793" cy="152028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2B085-620D-4BAD-B424-35E0940BD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02" y="2247571"/>
            <a:ext cx="3449556" cy="1371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1CFE76-2344-AB76-2BB2-9976B777AA40}"/>
              </a:ext>
            </a:extLst>
          </p:cNvPr>
          <p:cNvSpPr/>
          <p:nvPr/>
        </p:nvSpPr>
        <p:spPr>
          <a:xfrm>
            <a:off x="3177284" y="3333158"/>
            <a:ext cx="1135229" cy="257103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4E2-36EB-81F1-C7A8-6EE447269CAA}"/>
              </a:ext>
            </a:extLst>
          </p:cNvPr>
          <p:cNvSpPr/>
          <p:nvPr/>
        </p:nvSpPr>
        <p:spPr>
          <a:xfrm>
            <a:off x="3177284" y="2886075"/>
            <a:ext cx="1135229" cy="189836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9FF4FE-ECD3-7122-AAAB-1D019305364A}"/>
              </a:ext>
            </a:extLst>
          </p:cNvPr>
          <p:cNvSpPr/>
          <p:nvPr/>
        </p:nvSpPr>
        <p:spPr>
          <a:xfrm>
            <a:off x="3177284" y="2454275"/>
            <a:ext cx="1135229" cy="189836"/>
          </a:xfrm>
          <a:prstGeom prst="rect">
            <a:avLst/>
          </a:prstGeom>
          <a:solidFill>
            <a:schemeClr val="bg1">
              <a:lumMod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8A58717C-C139-CA87-9827-286531B1866B}"/>
              </a:ext>
            </a:extLst>
          </p:cNvPr>
          <p:cNvSpPr/>
          <p:nvPr/>
        </p:nvSpPr>
        <p:spPr>
          <a:xfrm rot="5400000">
            <a:off x="4018654" y="2892131"/>
            <a:ext cx="1060704" cy="82480"/>
          </a:xfrm>
          <a:prstGeom prst="triangle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22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190D357-4478-651F-412F-6703212F2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C711C-79C3-44D5-E712-5612EEF40922}"/>
              </a:ext>
            </a:extLst>
          </p:cNvPr>
          <p:cNvSpPr/>
          <p:nvPr/>
        </p:nvSpPr>
        <p:spPr>
          <a:xfrm>
            <a:off x="8112642" y="1756070"/>
            <a:ext cx="3753293" cy="460028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Our Curated Knowledge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Given 5 accelerators are capable of growing value exponentially…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…but culture thwarts attempts to grow value exponentially at scale…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…we are curating solutions that systematize exponential growth…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…and packaging them into the AccelRR8 Framework…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…which is at the heart of our AccelRR8 Body of Knowledge.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36AF7182-32FA-0645-3110-40977FD50BD6}"/>
              </a:ext>
            </a:extLst>
          </p:cNvPr>
          <p:cNvSpPr/>
          <p:nvPr/>
        </p:nvSpPr>
        <p:spPr>
          <a:xfrm>
            <a:off x="4210493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Our Purpose and Intent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Humanity is underserved by the Tech Services industry today…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…apart from a few hyper-scalers,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Tech Services enterprises struggle to grow value exponentially…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…because Tech Services industry culture thwarts most attempts to grow value exponentially at scale.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We will help change the Tech Services industry’s culture and unleash its full potential.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84D69BB8-8B8F-07E0-6672-995274CA5531}"/>
              </a:ext>
            </a:extLst>
          </p:cNvPr>
          <p:cNvSpPr/>
          <p:nvPr/>
        </p:nvSpPr>
        <p:spPr>
          <a:xfrm>
            <a:off x="297190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525" lvl="3"/>
            <a:r>
              <a:rPr lang="en-US" sz="1600" b="1" dirty="0">
                <a:solidFill>
                  <a:schemeClr val="tx1"/>
                </a:solidFill>
              </a:rPr>
              <a:t>Our Center of Gravity</a:t>
            </a:r>
            <a:endParaRPr lang="en-US" sz="1600" i="1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endParaRPr lang="en-US" sz="1200" i="1" dirty="0">
              <a:solidFill>
                <a:schemeClr val="tx1"/>
              </a:solidFill>
              <a:latin typeface="Helvetica Neue" panose="02000503000000020004" pitchFamily="2" charset="0"/>
            </a:endParaRPr>
          </a:p>
          <a:p>
            <a:pPr marL="179388" lvl="3"/>
            <a:r>
              <a:rPr lang="en-US" sz="1600" b="1" dirty="0">
                <a:solidFill>
                  <a:schemeClr val="tx1"/>
                </a:solidFill>
              </a:rPr>
              <a:t>In our research we have identified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proven accelerators capable of growing value exponentially…</a:t>
            </a:r>
          </a:p>
          <a:p>
            <a:pPr marL="179388" lvl="3"/>
            <a:endParaRPr lang="en-US" sz="1600" b="1" dirty="0">
              <a:solidFill>
                <a:schemeClr val="tx1"/>
              </a:solidFill>
            </a:endParaRPr>
          </a:p>
          <a:p>
            <a:pPr marL="179388" lvl="3"/>
            <a:r>
              <a:rPr lang="en-US" sz="1600" b="1" dirty="0">
                <a:solidFill>
                  <a:schemeClr val="tx1"/>
                </a:solidFill>
              </a:rPr>
              <a:t>…these 5 accelerators include:</a:t>
            </a:r>
          </a:p>
          <a:p>
            <a:pPr marL="519113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Compounding Innovation</a:t>
            </a:r>
          </a:p>
          <a:p>
            <a:pPr marL="519113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Network Effects</a:t>
            </a:r>
          </a:p>
          <a:p>
            <a:pPr marL="519113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Viral Ideation</a:t>
            </a:r>
          </a:p>
          <a:p>
            <a:pPr marL="519113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Generative Learning</a:t>
            </a:r>
          </a:p>
          <a:p>
            <a:pPr marL="519113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Artificial Intelligence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EC0A70F5-2C08-8427-903D-51F9D9A42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Foundational Concepts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E6F011D2-3D6B-141F-EB24-33769E792A6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0B6EFF-9AED-AA53-B93F-F4FACE5C37F6}"/>
              </a:ext>
            </a:extLst>
          </p:cNvPr>
          <p:cNvSpPr txBox="1"/>
          <p:nvPr/>
        </p:nvSpPr>
        <p:spPr>
          <a:xfrm>
            <a:off x="422636" y="2483314"/>
            <a:ext cx="3263819" cy="1283119"/>
          </a:xfrm>
          <a:prstGeom prst="roundRect">
            <a:avLst>
              <a:gd name="adj" fmla="val 6105"/>
            </a:avLst>
          </a:prstGeom>
          <a:solidFill>
            <a:srgbClr val="00B050"/>
          </a:solidFill>
        </p:spPr>
        <p:txBody>
          <a:bodyPr wrap="square"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CORE PREMISE</a:t>
            </a:r>
          </a:p>
          <a:p>
            <a:pPr algn="ctr"/>
            <a:endParaRPr lang="en-US" sz="1000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Harnessing 5 proven accelerators makes it mathematically feasible to grow value exponentially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C7726D-14BF-2C0B-FAA7-C5DBD4BA82E0}"/>
              </a:ext>
            </a:extLst>
          </p:cNvPr>
          <p:cNvSpPr/>
          <p:nvPr/>
        </p:nvSpPr>
        <p:spPr>
          <a:xfrm>
            <a:off x="107467" y="1566347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C209F82-14AB-1D02-9C03-E7A3B5EF475F}"/>
              </a:ext>
            </a:extLst>
          </p:cNvPr>
          <p:cNvSpPr/>
          <p:nvPr/>
        </p:nvSpPr>
        <p:spPr>
          <a:xfrm>
            <a:off x="4006228" y="1566347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75B7AD-DBB5-5284-3F6B-8B946B9CE8DF}"/>
              </a:ext>
            </a:extLst>
          </p:cNvPr>
          <p:cNvSpPr/>
          <p:nvPr/>
        </p:nvSpPr>
        <p:spPr>
          <a:xfrm>
            <a:off x="7915037" y="1566347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024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466B099-5F4B-27F7-998D-EBAF4BD4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BC2FEAB-52D6-6904-21B2-9B30A2E34532}"/>
              </a:ext>
            </a:extLst>
          </p:cNvPr>
          <p:cNvSpPr/>
          <p:nvPr/>
        </p:nvSpPr>
        <p:spPr>
          <a:xfrm>
            <a:off x="8110140" y="1756070"/>
            <a:ext cx="3857447" cy="460028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…these 5 accelerators include:</a:t>
            </a:r>
            <a:br>
              <a:rPr lang="en-US" sz="1600" b="1" dirty="0">
                <a:solidFill>
                  <a:schemeClr val="tx1"/>
                </a:solidFill>
              </a:rPr>
            </a:br>
            <a:br>
              <a:rPr lang="en-US" sz="1600" b="1" dirty="0">
                <a:solidFill>
                  <a:schemeClr val="tx1"/>
                </a:solidFill>
              </a:rPr>
            </a:br>
            <a:endParaRPr lang="en-US" sz="1200" b="1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Compounding Innovation: </a:t>
            </a:r>
            <a:r>
              <a:rPr lang="en-US" sz="1200" dirty="0">
                <a:solidFill>
                  <a:schemeClr val="tx1"/>
                </a:solidFill>
              </a:rPr>
              <a:t>continuous reinvestment of returns in innovation accelerates ROI via the compound interest formula 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Network Effects: </a:t>
            </a:r>
            <a:r>
              <a:rPr lang="en-US" sz="1200" dirty="0">
                <a:solidFill>
                  <a:schemeClr val="tx1"/>
                </a:solidFill>
              </a:rPr>
              <a:t>increases in participants in a network increase the value of the network for each user via Reed’s law which is 2</a:t>
            </a:r>
            <a:r>
              <a:rPr lang="en-US" sz="1200" baseline="30000" dirty="0">
                <a:solidFill>
                  <a:schemeClr val="tx1"/>
                </a:solidFill>
              </a:rPr>
              <a:t>n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Viral Ideation: </a:t>
            </a:r>
            <a:r>
              <a:rPr lang="en-US" sz="1200" dirty="0">
                <a:solidFill>
                  <a:schemeClr val="tx1"/>
                </a:solidFill>
              </a:rPr>
              <a:t>rapid and broad sharing of ideas among individuals through networks via the virality equation where the coefficient of virality &gt; 1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Generative Learning: </a:t>
            </a:r>
            <a:r>
              <a:rPr lang="en-US" sz="1200" dirty="0">
                <a:solidFill>
                  <a:schemeClr val="tx1"/>
                </a:solidFill>
              </a:rPr>
              <a:t>continuous reinvestment of learnings in teams’ improvements accelerates productivity via the compound interest formula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Artificial Intelligence:</a:t>
            </a:r>
            <a:r>
              <a:rPr lang="en-US" sz="1200" dirty="0">
                <a:solidFill>
                  <a:schemeClr val="tx1"/>
                </a:solidFill>
              </a:rPr>
              <a:t> continuous reinvestment of machine learnings in AI model improvements accelerates productivity via the compound interest formula, used to further grow the value produced by all the above accelerators exponentially 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CBC1E880-CB17-5519-EF06-355868FF7F38}"/>
              </a:ext>
            </a:extLst>
          </p:cNvPr>
          <p:cNvSpPr/>
          <p:nvPr/>
        </p:nvSpPr>
        <p:spPr>
          <a:xfrm>
            <a:off x="4210493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525" lvl="3"/>
            <a:r>
              <a:rPr lang="en-US" sz="1600" b="1" dirty="0">
                <a:solidFill>
                  <a:schemeClr val="tx1"/>
                </a:solidFill>
              </a:rPr>
              <a:t>In our research we have identified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proven accelerators capable of growing value exponentially…</a:t>
            </a: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Existing research on how to grow value exponentially is fragmented</a:t>
            </a:r>
            <a:b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</a:br>
            <a:endParaRPr lang="en-US" sz="1200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Using Chain of Thought prompts with ChatGPT4, we isolated 5 accelerators mathematically capable of growing value exponentially</a:t>
            </a:r>
            <a:b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</a:br>
            <a:endParaRPr lang="en-US" sz="1200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Each accelerator is a technique that transforms linear changes in production inputs into exponential changes in outputs and outcomes</a:t>
            </a:r>
            <a:b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</a:br>
            <a:endParaRPr lang="en-US" sz="1200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The mathematical basis for each accelerator is a transformation equation which performs exponential operations on production inputs. </a:t>
            </a:r>
            <a:b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</a:br>
            <a:endParaRPr lang="en-US" sz="1200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These exponential mathematical operations are what make it possible to systematize growing value exponentially; </a:t>
            </a:r>
            <a:r>
              <a:rPr lang="en-US" sz="1200" b="1" i="1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without these, any exponential growth happens by chance  </a:t>
            </a: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D90EA701-3746-1031-80D8-6EAA09923AA7}"/>
              </a:ext>
            </a:extLst>
          </p:cNvPr>
          <p:cNvSpPr/>
          <p:nvPr/>
        </p:nvSpPr>
        <p:spPr>
          <a:xfrm>
            <a:off x="297190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525" lvl="3"/>
            <a:r>
              <a:rPr lang="en-US" sz="1200" i="1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 </a:t>
            </a: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6" name="Picture 2" descr="The World's Population Hasn't Grown Exponentially for at Least Half a  Century - Union of Concerned Scientists">
            <a:extLst>
              <a:ext uri="{FF2B5EF4-FFF2-40B4-BE49-F238E27FC236}">
                <a16:creationId xmlns:a16="http://schemas.microsoft.com/office/drawing/2014/main" id="{8F87AB73-1EF5-4337-B190-5A6123506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5" t="12786" r="16346" b="10503"/>
          <a:stretch/>
        </p:blipFill>
        <p:spPr bwMode="auto">
          <a:xfrm>
            <a:off x="410445" y="3563637"/>
            <a:ext cx="3366763" cy="227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4B996A-4014-F0A5-E687-EB74A66195FD}"/>
              </a:ext>
            </a:extLst>
          </p:cNvPr>
          <p:cNvSpPr txBox="1"/>
          <p:nvPr/>
        </p:nvSpPr>
        <p:spPr>
          <a:xfrm>
            <a:off x="422637" y="5951512"/>
            <a:ext cx="3230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hlinkClick r:id="rId4"/>
              </a:rPr>
              <a:t>https://blog.ucsusa.org/doug-boucher/world-population-growth-exponential/</a:t>
            </a:r>
            <a:r>
              <a:rPr lang="en-US" sz="7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CE6D6-9E20-4A5D-F32D-AC9B143719BF}"/>
              </a:ext>
            </a:extLst>
          </p:cNvPr>
          <p:cNvSpPr txBox="1"/>
          <p:nvPr/>
        </p:nvSpPr>
        <p:spPr>
          <a:xfrm>
            <a:off x="2804835" y="3730766"/>
            <a:ext cx="9845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Exponential</a:t>
            </a:r>
          </a:p>
          <a:p>
            <a:r>
              <a:rPr lang="en-US" sz="1200" dirty="0">
                <a:solidFill>
                  <a:srgbClr val="00B050"/>
                </a:solidFill>
              </a:rPr>
              <a:t>growth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7F457-5969-CAC3-F238-39C0F055ABE7}"/>
              </a:ext>
            </a:extLst>
          </p:cNvPr>
          <p:cNvSpPr txBox="1"/>
          <p:nvPr/>
        </p:nvSpPr>
        <p:spPr>
          <a:xfrm>
            <a:off x="491823" y="3515024"/>
            <a:ext cx="491645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</a:rPr>
              <a:t>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9EE47-E0A3-57F4-9618-1ADDD39A73FB}"/>
              </a:ext>
            </a:extLst>
          </p:cNvPr>
          <p:cNvSpPr txBox="1"/>
          <p:nvPr/>
        </p:nvSpPr>
        <p:spPr>
          <a:xfrm>
            <a:off x="422636" y="2090470"/>
            <a:ext cx="3263819" cy="1283119"/>
          </a:xfrm>
          <a:prstGeom prst="roundRect">
            <a:avLst>
              <a:gd name="adj" fmla="val 6105"/>
            </a:avLst>
          </a:prstGeom>
          <a:solidFill>
            <a:srgbClr val="00B050"/>
          </a:solidFill>
        </p:spPr>
        <p:txBody>
          <a:bodyPr wrap="square"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CORE PREMISE</a:t>
            </a:r>
          </a:p>
          <a:p>
            <a:pPr algn="ctr"/>
            <a:endParaRPr lang="en-US" sz="1000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Harnessing 5 proven accelerators makes it mathematically feasible to grow value exponentially </a:t>
            </a: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C779C24-720D-6CE1-7CD9-435118476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     Our Center of Gravity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CD994921-CA85-D524-D4AC-39A78EB65D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5D6991A-CA6C-E524-852A-A4ACE43E8B89}"/>
              </a:ext>
            </a:extLst>
          </p:cNvPr>
          <p:cNvSpPr/>
          <p:nvPr/>
        </p:nvSpPr>
        <p:spPr>
          <a:xfrm rot="5400000">
            <a:off x="-1421109" y="1289576"/>
            <a:ext cx="3879503" cy="4681728"/>
          </a:xfrm>
          <a:prstGeom prst="arc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849EBF-09E3-DCB1-BC15-20CCA74489D7}"/>
              </a:ext>
            </a:extLst>
          </p:cNvPr>
          <p:cNvSpPr/>
          <p:nvPr/>
        </p:nvSpPr>
        <p:spPr>
          <a:xfrm>
            <a:off x="4303911" y="1134114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1285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991A179-561D-8C23-34A6-FE924993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>
            <a:extLst>
              <a:ext uri="{FF2B5EF4-FFF2-40B4-BE49-F238E27FC236}">
                <a16:creationId xmlns:a16="http://schemas.microsoft.com/office/drawing/2014/main" id="{5ACD3443-8990-F02F-21C9-C05EAD1E1102}"/>
              </a:ext>
            </a:extLst>
          </p:cNvPr>
          <p:cNvSpPr/>
          <p:nvPr/>
        </p:nvSpPr>
        <p:spPr>
          <a:xfrm>
            <a:off x="8110140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We will help change the Tech Services industry’s culture and unleash its full potential…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Lead by example</a:t>
            </a:r>
            <a:r>
              <a:rPr lang="en-US" sz="1200" dirty="0">
                <a:solidFill>
                  <a:schemeClr val="tx1"/>
                </a:solidFill>
              </a:rPr>
              <a:t> – via the Consortium, ignite </a:t>
            </a:r>
            <a:r>
              <a:rPr lang="en-US" sz="1200" b="1" dirty="0">
                <a:solidFill>
                  <a:srgbClr val="00B050"/>
                </a:solidFill>
              </a:rPr>
              <a:t>compounding innovation </a:t>
            </a:r>
            <a:r>
              <a:rPr lang="en-US" sz="1200" dirty="0">
                <a:solidFill>
                  <a:schemeClr val="tx1"/>
                </a:solidFill>
              </a:rPr>
              <a:t>and show Tech Services leaders how to grow value exponentially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Start a movement</a:t>
            </a:r>
            <a:r>
              <a:rPr lang="en-US" sz="1200" dirty="0">
                <a:solidFill>
                  <a:schemeClr val="tx1"/>
                </a:solidFill>
              </a:rPr>
              <a:t> - inspire Tech Services leaders about the possibilities and mobilize them to collective action, creating </a:t>
            </a:r>
            <a:r>
              <a:rPr lang="en-US" sz="1200" b="1" dirty="0">
                <a:solidFill>
                  <a:srgbClr val="00B050"/>
                </a:solidFill>
              </a:rPr>
              <a:t>network effects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Build momentum</a:t>
            </a:r>
            <a:r>
              <a:rPr lang="en-US" sz="1200" dirty="0">
                <a:solidFill>
                  <a:schemeClr val="tx1"/>
                </a:solidFill>
              </a:rPr>
              <a:t> - as they </a:t>
            </a:r>
            <a:r>
              <a:rPr lang="en-US" sz="1200" b="1" dirty="0">
                <a:solidFill>
                  <a:srgbClr val="00B050"/>
                </a:solidFill>
              </a:rPr>
              <a:t>ideate virally</a:t>
            </a:r>
            <a:r>
              <a:rPr lang="en-US" sz="1200" dirty="0">
                <a:solidFill>
                  <a:schemeClr val="tx1"/>
                </a:solidFill>
              </a:rPr>
              <a:t>, help Tech Services leaders codify how to grow value exponentially (e.g., in a Body of Knowledge)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Cross the chasm</a:t>
            </a:r>
            <a:r>
              <a:rPr lang="en-US" sz="1200" dirty="0">
                <a:solidFill>
                  <a:schemeClr val="tx1"/>
                </a:solidFill>
              </a:rPr>
              <a:t> - help enough Tech Services industry organizations </a:t>
            </a:r>
            <a:r>
              <a:rPr lang="en-US" sz="1200" b="1" dirty="0">
                <a:solidFill>
                  <a:srgbClr val="00B050"/>
                </a:solidFill>
              </a:rPr>
              <a:t>learn generatively </a:t>
            </a:r>
            <a:r>
              <a:rPr lang="en-US" sz="1200" dirty="0">
                <a:solidFill>
                  <a:schemeClr val="tx1"/>
                </a:solidFill>
              </a:rPr>
              <a:t>how to change their culture and grow value exponentially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Change the world</a:t>
            </a:r>
            <a:r>
              <a:rPr lang="en-US" sz="1200" dirty="0">
                <a:solidFill>
                  <a:schemeClr val="tx1"/>
                </a:solidFill>
              </a:rPr>
              <a:t> – using </a:t>
            </a:r>
            <a:r>
              <a:rPr lang="en-US" sz="1200" b="1" dirty="0">
                <a:solidFill>
                  <a:schemeClr val="accent2"/>
                </a:solidFill>
              </a:rPr>
              <a:t>AI</a:t>
            </a:r>
            <a:r>
              <a:rPr lang="en-US" sz="1200" dirty="0">
                <a:solidFill>
                  <a:schemeClr val="tx1"/>
                </a:solidFill>
              </a:rPr>
              <a:t> to accelerate the Tech Services industry past the tipping point, the cultural change becomes self-sustaining 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EC5EA4B5-1B8C-60BD-518D-0328ACB71A1C}"/>
              </a:ext>
            </a:extLst>
          </p:cNvPr>
          <p:cNvSpPr/>
          <p:nvPr/>
        </p:nvSpPr>
        <p:spPr>
          <a:xfrm>
            <a:off x="4210493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525" lvl="3"/>
            <a:r>
              <a:rPr lang="en-US" sz="1600" b="1" dirty="0">
                <a:solidFill>
                  <a:schemeClr val="tx1"/>
                </a:solidFill>
              </a:rPr>
              <a:t>…because Tech Services industry culture thwarts most attempts to grow value exponentially at scale.</a:t>
            </a:r>
            <a:br>
              <a:rPr lang="en-US" sz="1600" b="1" dirty="0">
                <a:solidFill>
                  <a:schemeClr val="tx1"/>
                </a:solidFill>
              </a:rPr>
            </a:br>
            <a:endParaRPr lang="en-US" sz="7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Compounding Innovation </a:t>
            </a:r>
            <a:r>
              <a:rPr lang="en-US" sz="1200" dirty="0">
                <a:solidFill>
                  <a:schemeClr val="tx1"/>
                </a:solidFill>
              </a:rPr>
              <a:t>is often stymied by organizational silos that inhibit the free flow of value and feedback across value chains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Network Effects </a:t>
            </a:r>
            <a:r>
              <a:rPr lang="en-US" sz="1200" dirty="0">
                <a:solidFill>
                  <a:schemeClr val="tx1"/>
                </a:solidFill>
              </a:rPr>
              <a:t>are often constrained by organization and technology silos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that prevent meaningful collaboration across ecosystems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Viral Ideation </a:t>
            </a:r>
            <a:r>
              <a:rPr lang="en-US" sz="1200" dirty="0">
                <a:solidFill>
                  <a:schemeClr val="tx1"/>
                </a:solidFill>
              </a:rPr>
              <a:t>is often inhibited by fears and insecurities that ideating publicly creates unacceptable career risks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Generative Learning</a:t>
            </a:r>
            <a:r>
              <a:rPr lang="en-US" sz="1200" dirty="0">
                <a:solidFill>
                  <a:schemeClr val="tx1"/>
                </a:solidFill>
              </a:rPr>
              <a:t> is often unrealized because many leaders don’t harness scaled agile practices resulting in misalignment among teams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Artificial Intelligence</a:t>
            </a:r>
            <a:r>
              <a:rPr lang="en-US" sz="1200" dirty="0">
                <a:solidFill>
                  <a:schemeClr val="tx1"/>
                </a:solidFill>
              </a:rPr>
              <a:t> isn’t often used effectively at scale because leaders don’t champion the necessary experimentation and learning resulting in a scarcity of skills and expertise</a:t>
            </a: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BB0B348-4B53-9A7D-8FBA-9B9E13454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     Our Purpose and Intent (1/2) 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28E2F8D8-D922-C554-E1FE-9AF140EBF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BB34475E-D152-DD2C-9EDF-89FB5E9AF7C7}"/>
              </a:ext>
            </a:extLst>
          </p:cNvPr>
          <p:cNvSpPr/>
          <p:nvPr/>
        </p:nvSpPr>
        <p:spPr>
          <a:xfrm>
            <a:off x="297712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Humanity is underserved by the Tech Services industry today…</a:t>
            </a:r>
          </a:p>
          <a:p>
            <a:endParaRPr lang="en-US" sz="18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Tech Services industry generates $1T+ revenues each year worldwide…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/>
            <a:r>
              <a:rPr lang="en-US" sz="1200" dirty="0">
                <a:solidFill>
                  <a:schemeClr val="tx1"/>
                </a:solidFill>
              </a:rPr>
              <a:t>…and collectively the industry helps all major enterprises use technology to serve humanity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Tech Services enterprise investments are often constrained (e.g., due to lower margins than other product industries)…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/>
            <a:r>
              <a:rPr lang="en-US" sz="1200" dirty="0">
                <a:solidFill>
                  <a:schemeClr val="tx1"/>
                </a:solidFill>
              </a:rPr>
              <a:t>…thus, it behooves these enterprises to </a:t>
            </a:r>
            <a:r>
              <a:rPr lang="en-US" sz="1200" b="1" i="1" dirty="0">
                <a:solidFill>
                  <a:srgbClr val="00B050"/>
                </a:solidFill>
              </a:rPr>
              <a:t>choose investments that grow value exponentially</a:t>
            </a:r>
            <a:r>
              <a:rPr lang="en-US" sz="1200" dirty="0">
                <a:solidFill>
                  <a:schemeClr val="tx1"/>
                </a:solidFill>
              </a:rPr>
              <a:t>, so they get the most “bang for their buck”, and yet…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9525" lvl="3"/>
            <a:r>
              <a:rPr lang="en-US" sz="1600" b="1" dirty="0">
                <a:solidFill>
                  <a:schemeClr val="tx1"/>
                </a:solidFill>
              </a:rPr>
              <a:t>…apart from a few hyper-scalers,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Tech Services enterprises struggle to grow value exponentially…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4B952C-778A-853D-3AB4-471F446FBB4C}"/>
              </a:ext>
            </a:extLst>
          </p:cNvPr>
          <p:cNvSpPr/>
          <p:nvPr/>
        </p:nvSpPr>
        <p:spPr>
          <a:xfrm>
            <a:off x="4303911" y="1134114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3846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990FA48-61DA-616A-C41A-300E6BF4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>
            <a:extLst>
              <a:ext uri="{FF2B5EF4-FFF2-40B4-BE49-F238E27FC236}">
                <a16:creationId xmlns:a16="http://schemas.microsoft.com/office/drawing/2014/main" id="{530847AE-A8CF-6FE5-10D3-53C9926F200D}"/>
              </a:ext>
            </a:extLst>
          </p:cNvPr>
          <p:cNvSpPr/>
          <p:nvPr/>
        </p:nvSpPr>
        <p:spPr>
          <a:xfrm>
            <a:off x="292148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We will help change the Tech Services industry’s culture and unleash its full potential…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Lead by example</a:t>
            </a:r>
            <a:r>
              <a:rPr lang="en-US" sz="1200" dirty="0">
                <a:solidFill>
                  <a:schemeClr val="tx1"/>
                </a:solidFill>
              </a:rPr>
              <a:t> - use the Consortium to ignite </a:t>
            </a:r>
            <a:r>
              <a:rPr lang="en-US" sz="1200" b="1" dirty="0">
                <a:solidFill>
                  <a:srgbClr val="00B050"/>
                </a:solidFill>
              </a:rPr>
              <a:t>compounding innovation </a:t>
            </a:r>
            <a:r>
              <a:rPr lang="en-US" sz="1200" dirty="0">
                <a:solidFill>
                  <a:schemeClr val="tx1"/>
                </a:solidFill>
              </a:rPr>
              <a:t>and show Tech Services leaders how to grow value exponentially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Start a movement</a:t>
            </a:r>
            <a:r>
              <a:rPr lang="en-US" sz="1200" dirty="0">
                <a:solidFill>
                  <a:schemeClr val="tx1"/>
                </a:solidFill>
              </a:rPr>
              <a:t> - inspire Tech Services leaders about the possibilities and mobilize them to collective action, creating </a:t>
            </a:r>
            <a:r>
              <a:rPr lang="en-US" sz="1200" b="1" dirty="0">
                <a:solidFill>
                  <a:srgbClr val="00B050"/>
                </a:solidFill>
              </a:rPr>
              <a:t>network effects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Build momentum</a:t>
            </a:r>
            <a:r>
              <a:rPr lang="en-US" sz="1200" dirty="0">
                <a:solidFill>
                  <a:schemeClr val="tx1"/>
                </a:solidFill>
              </a:rPr>
              <a:t> - as they </a:t>
            </a:r>
            <a:r>
              <a:rPr lang="en-US" sz="1200" b="1" dirty="0">
                <a:solidFill>
                  <a:srgbClr val="00B050"/>
                </a:solidFill>
              </a:rPr>
              <a:t>ideate virally</a:t>
            </a:r>
            <a:r>
              <a:rPr lang="en-US" sz="1200" dirty="0">
                <a:solidFill>
                  <a:schemeClr val="tx1"/>
                </a:solidFill>
              </a:rPr>
              <a:t>, help Tech Services leaders codify how to grow value exponentially (e.g., in a Body of Knowledge)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Cross the chasm</a:t>
            </a:r>
            <a:r>
              <a:rPr lang="en-US" sz="1200" dirty="0">
                <a:solidFill>
                  <a:schemeClr val="tx1"/>
                </a:solidFill>
              </a:rPr>
              <a:t> - help enough Tech Services industry organizations </a:t>
            </a:r>
            <a:r>
              <a:rPr lang="en-US" sz="1200" b="1" dirty="0">
                <a:solidFill>
                  <a:srgbClr val="00B050"/>
                </a:solidFill>
              </a:rPr>
              <a:t>learn generatively </a:t>
            </a:r>
            <a:r>
              <a:rPr lang="en-US" sz="1200" dirty="0">
                <a:solidFill>
                  <a:schemeClr val="tx1"/>
                </a:solidFill>
              </a:rPr>
              <a:t>how to change their culture and grow value exponentially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Change the world</a:t>
            </a:r>
            <a:r>
              <a:rPr lang="en-US" sz="1200" dirty="0">
                <a:solidFill>
                  <a:schemeClr val="tx1"/>
                </a:solidFill>
              </a:rPr>
              <a:t> – using </a:t>
            </a:r>
            <a:r>
              <a:rPr lang="en-US" sz="1200" b="1" dirty="0">
                <a:solidFill>
                  <a:schemeClr val="accent2"/>
                </a:solidFill>
              </a:rPr>
              <a:t>AI</a:t>
            </a:r>
            <a:r>
              <a:rPr lang="en-US" sz="1200" dirty="0">
                <a:solidFill>
                  <a:schemeClr val="tx1"/>
                </a:solidFill>
              </a:rPr>
              <a:t> to accelerate the Tech Services industry past the tipping point, the cultural change becomes self-sustaining </a:t>
            </a: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6CC6DEE-1C1A-FD7D-39C1-470F702A6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     Our Purpose and Intent (2/2) 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77C2221C-5C42-FC68-37C4-F053047F199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96143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C6F399-318E-1535-A313-3088CFEBEF01}"/>
              </a:ext>
            </a:extLst>
          </p:cNvPr>
          <p:cNvSpPr/>
          <p:nvPr/>
        </p:nvSpPr>
        <p:spPr>
          <a:xfrm>
            <a:off x="4303911" y="1134114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63778D66-56E9-D610-039C-7987558EBBBF}"/>
              </a:ext>
            </a:extLst>
          </p:cNvPr>
          <p:cNvSpPr/>
          <p:nvPr/>
        </p:nvSpPr>
        <p:spPr>
          <a:xfrm>
            <a:off x="8110140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…learning lessons from similar and successful non-profit organizations as we grow and mature…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Like the World Wide Web Consortium (W3C) </a:t>
            </a:r>
            <a:r>
              <a:rPr lang="en-US" sz="1200" dirty="0">
                <a:solidFill>
                  <a:schemeClr val="tx1"/>
                </a:solidFill>
              </a:rPr>
              <a:t>– we bring together stakeholders to connect and empower humanity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Like Toastmasters </a:t>
            </a:r>
            <a:r>
              <a:rPr lang="en-US" sz="1200" dirty="0">
                <a:solidFill>
                  <a:schemeClr val="tx1"/>
                </a:solidFill>
              </a:rPr>
              <a:t>- We help leaders network and develop important skills that can help them advance in their career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Like the Project Management Institute (PMI) </a:t>
            </a:r>
            <a:r>
              <a:rPr lang="en-US" sz="1200" dirty="0">
                <a:solidFill>
                  <a:schemeClr val="tx1"/>
                </a:solidFill>
              </a:rPr>
              <a:t>- We </a:t>
            </a:r>
            <a:r>
              <a:rPr lang="en-US" sz="1200" b="1" i="1" dirty="0">
                <a:solidFill>
                  <a:srgbClr val="00B050"/>
                </a:solidFill>
              </a:rPr>
              <a:t>curate a Body of Knowledge </a:t>
            </a:r>
            <a:r>
              <a:rPr lang="en-US" sz="1200" dirty="0">
                <a:solidFill>
                  <a:schemeClr val="tx1"/>
                </a:solidFill>
              </a:rPr>
              <a:t>proven helpful in doing complex work most leaders must do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Like Americas’ SAP Users’ Group (ASUG) </a:t>
            </a:r>
            <a:r>
              <a:rPr lang="en-US" sz="1200" dirty="0">
                <a:solidFill>
                  <a:schemeClr val="tx1"/>
                </a:solidFill>
              </a:rPr>
              <a:t>– we help people and organizations get the most value out of their investments.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Like AI for Good </a:t>
            </a:r>
            <a:r>
              <a:rPr lang="en-US" sz="1200" dirty="0">
                <a:solidFill>
                  <a:schemeClr val="tx1"/>
                </a:solidFill>
              </a:rPr>
              <a:t>– We help leaders use Artificial Intelligence technologies and know-how to help humanity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F9561CFC-2EC1-1900-1EA3-9B866C9D24A0}"/>
              </a:ext>
            </a:extLst>
          </p:cNvPr>
          <p:cNvSpPr/>
          <p:nvPr/>
        </p:nvSpPr>
        <p:spPr>
          <a:xfrm>
            <a:off x="4210493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…by providing services that themselves demonstrate how to grow value exponentially…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Consortium Leadership </a:t>
            </a:r>
            <a:r>
              <a:rPr lang="en-US" sz="1200" dirty="0">
                <a:solidFill>
                  <a:schemeClr val="tx1"/>
                </a:solidFill>
              </a:rPr>
              <a:t>- mentor a critical mass of Tech Services industry leaders on how to lead a movement that grows value exponentially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Professional Networking</a:t>
            </a:r>
            <a:r>
              <a:rPr lang="en-US" sz="1200" dirty="0">
                <a:solidFill>
                  <a:schemeClr val="tx1"/>
                </a:solidFill>
              </a:rPr>
              <a:t> - help Tech Services leaders to network with one another and practice growing value exponentially at scale together</a:t>
            </a:r>
            <a:endParaRPr lang="en-US" sz="12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Open Knowledge Sharing </a:t>
            </a:r>
            <a:r>
              <a:rPr lang="en-US" sz="1200" dirty="0">
                <a:solidFill>
                  <a:schemeClr val="tx1"/>
                </a:solidFill>
              </a:rPr>
              <a:t>- help leaders rapidly share ideas and align on authoritative practices for growing value exponentially at scale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Industry Innovation </a:t>
            </a:r>
            <a:r>
              <a:rPr lang="en-US" sz="1200" dirty="0">
                <a:solidFill>
                  <a:schemeClr val="tx1"/>
                </a:solidFill>
              </a:rPr>
              <a:t>– help Tech Services enterprises learn generatively how to solve vexing culture challenges and grow value exponentially</a:t>
            </a:r>
            <a:br>
              <a:rPr lang="en-US" sz="1200" b="1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AI for Good, Tech Services Chapter </a:t>
            </a:r>
            <a:r>
              <a:rPr lang="en-US" sz="1200" dirty="0">
                <a:solidFill>
                  <a:schemeClr val="tx1"/>
                </a:solidFill>
              </a:rPr>
              <a:t>– help Tech Services leaders and enterprises use AI ethically and responsibly to serve humanity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13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2BE05C8-44C4-650E-6C38-7261AB7C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>
            <a:extLst>
              <a:ext uri="{FF2B5EF4-FFF2-40B4-BE49-F238E27FC236}">
                <a16:creationId xmlns:a16="http://schemas.microsoft.com/office/drawing/2014/main" id="{5F139CC8-AC9E-040B-1D24-4E99867628E7}"/>
              </a:ext>
            </a:extLst>
          </p:cNvPr>
          <p:cNvSpPr/>
          <p:nvPr/>
        </p:nvSpPr>
        <p:spPr>
          <a:xfrm>
            <a:off x="8110140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…so, we are curating solutions that systematize exponential growth…</a:t>
            </a: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Lean </a:t>
            </a:r>
            <a:r>
              <a:rPr lang="en-US" sz="1200" b="1" dirty="0">
                <a:solidFill>
                  <a:srgbClr val="00B050"/>
                </a:solidFill>
              </a:rPr>
              <a:t>Product</a:t>
            </a:r>
            <a:r>
              <a:rPr lang="en-US" sz="1200" b="1" dirty="0">
                <a:solidFill>
                  <a:schemeClr val="tx1"/>
                </a:solidFill>
              </a:rPr>
              <a:t> Management </a:t>
            </a:r>
            <a:r>
              <a:rPr lang="en-US" sz="1200" dirty="0">
                <a:solidFill>
                  <a:schemeClr val="tx1"/>
                </a:solidFill>
              </a:rPr>
              <a:t>– systematically driving continuous flow of value to, and feedback from, customers and stakeholders at scale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Collaboration </a:t>
            </a:r>
            <a:r>
              <a:rPr lang="en-US" sz="1200" b="1" dirty="0">
                <a:solidFill>
                  <a:srgbClr val="00B050"/>
                </a:solidFill>
              </a:rPr>
              <a:t>Platforms</a:t>
            </a:r>
            <a:r>
              <a:rPr lang="en-US" sz="1200" dirty="0">
                <a:solidFill>
                  <a:schemeClr val="tx1"/>
                </a:solidFill>
              </a:rPr>
              <a:t> – connecting collaborators across ecosystems who benefit from participation in the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B050"/>
                </a:solidFill>
              </a:rPr>
              <a:t>Participation</a:t>
            </a:r>
            <a:r>
              <a:rPr lang="en-US" sz="1200" b="1" dirty="0">
                <a:solidFill>
                  <a:schemeClr val="tx1"/>
                </a:solidFill>
              </a:rPr>
              <a:t> Incentives </a:t>
            </a:r>
            <a:r>
              <a:rPr lang="en-US" sz="1200" dirty="0">
                <a:solidFill>
                  <a:schemeClr val="tx1"/>
                </a:solidFill>
              </a:rPr>
              <a:t>– overcoming the fear and insecurity network participants experience when sharing their ideas with large networks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Scaled Agile </a:t>
            </a:r>
            <a:r>
              <a:rPr lang="en-US" sz="1200" b="1" dirty="0">
                <a:solidFill>
                  <a:srgbClr val="00B050"/>
                </a:solidFill>
              </a:rPr>
              <a:t>Practitioners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– training leaders on proven ways to align activity and learning across teams to avoid teams tripping all over one another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Experimentation and </a:t>
            </a:r>
            <a:r>
              <a:rPr lang="en-US" sz="1200" b="1" dirty="0">
                <a:solidFill>
                  <a:srgbClr val="00B050"/>
                </a:solidFill>
              </a:rPr>
              <a:t>Practice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– getting good at using AI throughout the enterprise, and at using AI to further grow the value produced by all the above accelerators exponentially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0EF554F1-EE7A-536C-6D7C-E09FE6A73604}"/>
              </a:ext>
            </a:extLst>
          </p:cNvPr>
          <p:cNvSpPr/>
          <p:nvPr/>
        </p:nvSpPr>
        <p:spPr>
          <a:xfrm>
            <a:off x="4210493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525" lvl="3"/>
            <a:r>
              <a:rPr lang="en-US" sz="1600" b="1" dirty="0">
                <a:solidFill>
                  <a:schemeClr val="tx1"/>
                </a:solidFill>
              </a:rPr>
              <a:t>…but culture thwarts attempts to grow value exponentially at scale…</a:t>
            </a:r>
          </a:p>
          <a:p>
            <a:pPr marL="9525" lvl="3"/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Compounding Innovation </a:t>
            </a:r>
            <a:r>
              <a:rPr lang="en-US" sz="1200" dirty="0">
                <a:solidFill>
                  <a:schemeClr val="tx1"/>
                </a:solidFill>
              </a:rPr>
              <a:t>is often stymied by organizational silos that inhibit the </a:t>
            </a:r>
            <a:r>
              <a:rPr lang="en-US" sz="1200" b="1" dirty="0">
                <a:solidFill>
                  <a:srgbClr val="FF0000"/>
                </a:solidFill>
              </a:rPr>
              <a:t>free flow of value and feedback </a:t>
            </a:r>
            <a:r>
              <a:rPr lang="en-US" sz="1200" dirty="0">
                <a:solidFill>
                  <a:schemeClr val="tx1"/>
                </a:solidFill>
              </a:rPr>
              <a:t>across value chains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Network Effects </a:t>
            </a:r>
            <a:r>
              <a:rPr lang="en-US" sz="1200" dirty="0">
                <a:solidFill>
                  <a:schemeClr val="tx1"/>
                </a:solidFill>
              </a:rPr>
              <a:t>are often constrained by </a:t>
            </a:r>
            <a:r>
              <a:rPr lang="en-US" sz="1200" b="1" dirty="0">
                <a:solidFill>
                  <a:srgbClr val="FF0000"/>
                </a:solidFill>
              </a:rPr>
              <a:t>organization and technology silos </a:t>
            </a:r>
            <a:r>
              <a:rPr lang="en-US" sz="1200" dirty="0">
                <a:solidFill>
                  <a:schemeClr val="tx1"/>
                </a:solidFill>
              </a:rPr>
              <a:t>that prevent meaningful collaboration across ecosystems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Viral Ideation </a:t>
            </a:r>
            <a:r>
              <a:rPr lang="en-US" sz="1200" dirty="0">
                <a:solidFill>
                  <a:schemeClr val="tx1"/>
                </a:solidFill>
              </a:rPr>
              <a:t>is often inhibited by </a:t>
            </a:r>
            <a:r>
              <a:rPr lang="en-US" sz="1200" b="1" dirty="0">
                <a:solidFill>
                  <a:srgbClr val="FF0000"/>
                </a:solidFill>
              </a:rPr>
              <a:t>fears and insecurities</a:t>
            </a:r>
            <a:r>
              <a:rPr lang="en-US" sz="1200" dirty="0">
                <a:solidFill>
                  <a:schemeClr val="tx1"/>
                </a:solidFill>
              </a:rPr>
              <a:t> that ideating publicly creates unacceptable career risks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Generative Learning</a:t>
            </a:r>
            <a:r>
              <a:rPr lang="en-US" sz="1200" dirty="0">
                <a:solidFill>
                  <a:schemeClr val="tx1"/>
                </a:solidFill>
              </a:rPr>
              <a:t> is often unrealized because many leaders don’t harness scaled agile practices resulting in </a:t>
            </a:r>
            <a:r>
              <a:rPr lang="en-US" sz="1200" b="1" dirty="0">
                <a:solidFill>
                  <a:srgbClr val="FF0000"/>
                </a:solidFill>
              </a:rPr>
              <a:t>misalignment among teams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Artificial Intelligence</a:t>
            </a:r>
            <a:r>
              <a:rPr lang="en-US" sz="1200" dirty="0">
                <a:solidFill>
                  <a:schemeClr val="tx1"/>
                </a:solidFill>
              </a:rPr>
              <a:t> isn’t often used effectively at scale because leaders don’t champion the necessary experimentation and learning resulting in a </a:t>
            </a:r>
            <a:r>
              <a:rPr lang="en-US" sz="1200" b="1" dirty="0">
                <a:solidFill>
                  <a:srgbClr val="FF0000"/>
                </a:solidFill>
              </a:rPr>
              <a:t>scarcity of skills and expertise</a:t>
            </a:r>
          </a:p>
          <a:p>
            <a:pPr marL="179388" lvl="3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D96AAC8F-B5DB-3668-BD37-63AA1A21D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     Our Curated Knowledge (1/2)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0CDFB971-5834-EF9D-C3F0-D416CCC11F8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0228CE47-CB7A-376E-7FE8-874C0B4708FA}"/>
              </a:ext>
            </a:extLst>
          </p:cNvPr>
          <p:cNvSpPr/>
          <p:nvPr/>
        </p:nvSpPr>
        <p:spPr>
          <a:xfrm>
            <a:off x="297712" y="1756070"/>
            <a:ext cx="3976577" cy="4600280"/>
          </a:xfrm>
          <a:prstGeom prst="homePlate">
            <a:avLst>
              <a:gd name="adj" fmla="val 989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5 proven accelerators are capable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of growing value exponentially…</a:t>
            </a:r>
          </a:p>
          <a:p>
            <a:endParaRPr lang="en-US" sz="1200" b="1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B050"/>
                </a:solidFill>
              </a:rPr>
              <a:t>Compounding Innovation: </a:t>
            </a:r>
            <a:r>
              <a:rPr lang="en-US" sz="1200" dirty="0">
                <a:solidFill>
                  <a:schemeClr val="tx1"/>
                </a:solidFill>
              </a:rPr>
              <a:t>continuous reinvestment of returns in innovation accelerates ROI via the compound interest formula 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B050"/>
                </a:solidFill>
              </a:rPr>
              <a:t>Network Effects: </a:t>
            </a:r>
            <a:r>
              <a:rPr lang="en-US" sz="1200" dirty="0">
                <a:solidFill>
                  <a:schemeClr val="tx1"/>
                </a:solidFill>
              </a:rPr>
              <a:t>increases in participants in a network increase the value of the network for each user via Reed’s law which is 2</a:t>
            </a:r>
            <a:r>
              <a:rPr lang="en-US" sz="1200" baseline="30000" dirty="0">
                <a:solidFill>
                  <a:schemeClr val="tx1"/>
                </a:solidFill>
              </a:rPr>
              <a:t>n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B050"/>
                </a:solidFill>
              </a:rPr>
              <a:t>Viral Ideation: </a:t>
            </a:r>
            <a:r>
              <a:rPr lang="en-US" sz="1200" dirty="0">
                <a:solidFill>
                  <a:schemeClr val="tx1"/>
                </a:solidFill>
              </a:rPr>
              <a:t>rapid and broad sharing of ideas among individuals through networks via the virality equation where the coefficient of virality &gt; 1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B050"/>
                </a:solidFill>
              </a:rPr>
              <a:t>Generative Learning: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continuous reinvestment of learnings in teams’ improvements accelerates productivity via the compound interest formula</a:t>
            </a:r>
          </a:p>
          <a:p>
            <a:pPr marL="179388" lvl="3" indent="-169863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9388" lvl="3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Artificial Intelligence: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continuous reinvestment of machine learnings in AI model improvements accelerates productivity via the compound interest formula, used to further grow the value produced by all the above accelerators exponentially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6EFF3A-2338-211B-2110-5F1362CC3DE3}"/>
              </a:ext>
            </a:extLst>
          </p:cNvPr>
          <p:cNvSpPr/>
          <p:nvPr/>
        </p:nvSpPr>
        <p:spPr>
          <a:xfrm>
            <a:off x="4303911" y="1134114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71484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6E166C6-8552-09C8-3358-4A26091B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1">
            <a:extLst>
              <a:ext uri="{FF2B5EF4-FFF2-40B4-BE49-F238E27FC236}">
                <a16:creationId xmlns:a16="http://schemas.microsoft.com/office/drawing/2014/main" id="{B32D1FAF-FFB3-D65B-C649-02D84C73437F}"/>
              </a:ext>
            </a:extLst>
          </p:cNvPr>
          <p:cNvSpPr/>
          <p:nvPr/>
        </p:nvSpPr>
        <p:spPr>
          <a:xfrm>
            <a:off x="297712" y="1756070"/>
            <a:ext cx="11789005" cy="4600280"/>
          </a:xfrm>
          <a:prstGeom prst="homePlate">
            <a:avLst>
              <a:gd name="adj" fmla="val 8582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…and packaging these solutions into the AccelRR8 Framework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at the heart of our AccelRR8 Body of Knowledge</a:t>
            </a:r>
          </a:p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C12AA9E-C2B8-3BAA-3CE1-AC04F50F1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Leaders</a:t>
            </a:r>
            <a:br>
              <a:rPr lang="en-US" dirty="0"/>
            </a:br>
            <a:r>
              <a:rPr lang="en-US" sz="2800" dirty="0"/>
              <a:t>Elevator Pitch / FAQs –      Our Curated Knowledge (2/2)</a:t>
            </a:r>
            <a:endParaRPr sz="2200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3A04F8-1A69-7FD0-0427-55A3D6940516}"/>
              </a:ext>
            </a:extLst>
          </p:cNvPr>
          <p:cNvGrpSpPr/>
          <p:nvPr/>
        </p:nvGrpSpPr>
        <p:grpSpPr>
          <a:xfrm>
            <a:off x="1270077" y="2531528"/>
            <a:ext cx="9612288" cy="3606162"/>
            <a:chOff x="287518" y="2484456"/>
            <a:chExt cx="11577406" cy="43434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BA284BD-B258-6C57-F915-C188A08E4CC1}"/>
                </a:ext>
              </a:extLst>
            </p:cNvPr>
            <p:cNvSpPr/>
            <p:nvPr/>
          </p:nvSpPr>
          <p:spPr>
            <a:xfrm>
              <a:off x="1041968" y="3267529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Webinars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1B30E2F-6C88-6798-20D3-2A73261D04C5}"/>
                </a:ext>
              </a:extLst>
            </p:cNvPr>
            <p:cNvSpPr/>
            <p:nvPr/>
          </p:nvSpPr>
          <p:spPr>
            <a:xfrm>
              <a:off x="287518" y="4191977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Podcasts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417293-32FC-1A9B-E320-B94E02479D81}"/>
                </a:ext>
              </a:extLst>
            </p:cNvPr>
            <p:cNvSpPr/>
            <p:nvPr/>
          </p:nvSpPr>
          <p:spPr>
            <a:xfrm>
              <a:off x="1041968" y="5116374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Blogs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9E93B2-8D4A-EA74-798F-C594F0BC80AE}"/>
                </a:ext>
              </a:extLst>
            </p:cNvPr>
            <p:cNvSpPr/>
            <p:nvPr/>
          </p:nvSpPr>
          <p:spPr>
            <a:xfrm>
              <a:off x="2546359" y="2737478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Case</a:t>
              </a:r>
              <a:br>
                <a:rPr lang="en-US" sz="1050" dirty="0"/>
              </a:br>
              <a:r>
                <a:rPr lang="en-US" sz="1050" dirty="0"/>
                <a:t>Studies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66FF39B-ADA4-1036-61CE-1D8B580D27B6}"/>
                </a:ext>
              </a:extLst>
            </p:cNvPr>
            <p:cNvSpPr/>
            <p:nvPr/>
          </p:nvSpPr>
          <p:spPr>
            <a:xfrm>
              <a:off x="4294775" y="2484456"/>
              <a:ext cx="1709896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Practice Guides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2238F5-B361-96D2-3737-33BB56EFCD28}"/>
                </a:ext>
              </a:extLst>
            </p:cNvPr>
            <p:cNvSpPr/>
            <p:nvPr/>
          </p:nvSpPr>
          <p:spPr>
            <a:xfrm>
              <a:off x="6113527" y="2484456"/>
              <a:ext cx="1709896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FAQs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007108-9AC0-9DA8-7784-D1EFD5DD6FF5}"/>
                </a:ext>
              </a:extLst>
            </p:cNvPr>
            <p:cNvSpPr/>
            <p:nvPr/>
          </p:nvSpPr>
          <p:spPr>
            <a:xfrm>
              <a:off x="7863806" y="2737478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Thought Leader Profiles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0279F11-AE1B-95A5-19EA-897ABA9C5043}"/>
                </a:ext>
              </a:extLst>
            </p:cNvPr>
            <p:cNvSpPr/>
            <p:nvPr/>
          </p:nvSpPr>
          <p:spPr>
            <a:xfrm>
              <a:off x="9363324" y="3267529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Provider Solutions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6BD265D-0CF0-8B9F-F366-E2ECFD767FA7}"/>
                </a:ext>
              </a:extLst>
            </p:cNvPr>
            <p:cNvSpPr/>
            <p:nvPr/>
          </p:nvSpPr>
          <p:spPr>
            <a:xfrm>
              <a:off x="10154996" y="4191977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Training Courses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285566D-539E-FA2C-6212-692642E46E46}"/>
                </a:ext>
              </a:extLst>
            </p:cNvPr>
            <p:cNvSpPr/>
            <p:nvPr/>
          </p:nvSpPr>
          <p:spPr>
            <a:xfrm>
              <a:off x="9363324" y="5131847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Certification Study Guides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68DC115-AC22-9E9E-F3B3-E0004ED0A708}"/>
                </a:ext>
              </a:extLst>
            </p:cNvPr>
            <p:cNvSpPr/>
            <p:nvPr/>
          </p:nvSpPr>
          <p:spPr>
            <a:xfrm>
              <a:off x="2546359" y="5651501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Industry Challenges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2F2063A-BA21-7168-B3BB-129029B06DF2}"/>
                </a:ext>
              </a:extLst>
            </p:cNvPr>
            <p:cNvSpPr/>
            <p:nvPr/>
          </p:nvSpPr>
          <p:spPr>
            <a:xfrm>
              <a:off x="4294775" y="5913456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Conference Materials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D783A3D-C792-7A3C-1BCF-0D92DC32939F}"/>
                </a:ext>
              </a:extLst>
            </p:cNvPr>
            <p:cNvSpPr/>
            <p:nvPr/>
          </p:nvSpPr>
          <p:spPr>
            <a:xfrm>
              <a:off x="6113527" y="5913456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Indexes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131303-8212-EE58-88FE-1B046CE146FE}"/>
                </a:ext>
              </a:extLst>
            </p:cNvPr>
            <p:cNvSpPr/>
            <p:nvPr/>
          </p:nvSpPr>
          <p:spPr>
            <a:xfrm>
              <a:off x="7863806" y="5661549"/>
              <a:ext cx="1709928" cy="914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Sample AI Prompts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004459-47A8-2F72-7D0C-334F2CEAD1F3}"/>
              </a:ext>
            </a:extLst>
          </p:cNvPr>
          <p:cNvGrpSpPr/>
          <p:nvPr/>
        </p:nvGrpSpPr>
        <p:grpSpPr>
          <a:xfrm>
            <a:off x="3415694" y="3631085"/>
            <a:ext cx="5158156" cy="1371302"/>
            <a:chOff x="566481" y="2966954"/>
            <a:chExt cx="10978655" cy="29186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F37A43B-F2F1-0C77-15FF-AEA3FE387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5033" y="2966954"/>
              <a:ext cx="5390103" cy="291869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FFB89BF-8F69-46A2-BC7B-15FCF98CD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481" y="2966954"/>
              <a:ext cx="4939455" cy="2778443"/>
            </a:xfrm>
            <a:prstGeom prst="rect">
              <a:avLst/>
            </a:prstGeom>
          </p:spPr>
        </p:pic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3A8393E-238C-0D84-7723-62D614C56030}"/>
              </a:ext>
            </a:extLst>
          </p:cNvPr>
          <p:cNvSpPr/>
          <p:nvPr/>
        </p:nvSpPr>
        <p:spPr>
          <a:xfrm>
            <a:off x="4303911" y="1134114"/>
            <a:ext cx="379446" cy="3794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80681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19113</TotalTime>
  <Words>3050</Words>
  <Application>Microsoft Macintosh PowerPoint</Application>
  <PresentationFormat>Widescreen</PresentationFormat>
  <Paragraphs>323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Helvetica Neue</vt:lpstr>
      <vt:lpstr>1_Office Theme</vt:lpstr>
      <vt:lpstr>  AccelRR8 Consortium NonProfit Demand Generation Plan </vt:lpstr>
      <vt:lpstr>Growing our Professional Network of Collaborators</vt:lpstr>
      <vt:lpstr>Messages to Collaborators Elevator Pitch / FAQs – The Basics </vt:lpstr>
      <vt:lpstr>Messages to Collaborators Elevator Pitch / FAQs – The Core Premise</vt:lpstr>
      <vt:lpstr>Messages to Collaborators Elevator Pitch / FAQs – The Value of Joining</vt:lpstr>
      <vt:lpstr>Growing our Patrons</vt:lpstr>
      <vt:lpstr>Messages to Patrons Elevator Pitch / FAQs – The Basics </vt:lpstr>
      <vt:lpstr>Messages to Patrons Elevator Pitch / FAQs – The Core Premise</vt:lpstr>
      <vt:lpstr>Messages to Patrons Elevator Pitch / FAQs – The Value of Joining</vt:lpstr>
      <vt:lpstr>Growing our Leaders</vt:lpstr>
      <vt:lpstr>Messages to Leaders Elevator Pitch / FAQs – The Basics </vt:lpstr>
      <vt:lpstr>Messages to Leaders Elevator Pitch / FAQs – The Core Premise</vt:lpstr>
      <vt:lpstr>Messages to Leaders Elevator Pitch / FAQs – The Value of Joining</vt:lpstr>
      <vt:lpstr>Messages to Leaders Elevator Pitch / FAQs – Foundational Concepts Summary</vt:lpstr>
      <vt:lpstr>Messages to Leaders Elevator Pitch / FAQs – Foundational Concepts</vt:lpstr>
      <vt:lpstr>Messages to Leaders Elevator Pitch / FAQs –      Our Center of Gravity</vt:lpstr>
      <vt:lpstr>Messages to Leaders Elevator Pitch / FAQs –      Our Purpose and Intent (1/2) </vt:lpstr>
      <vt:lpstr>Messages to Leaders Elevator Pitch / FAQs –      Our Purpose and Intent (2/2) </vt:lpstr>
      <vt:lpstr>Messages to Leaders Elevator Pitch / FAQs –      Our Curated Knowledge (1/2)</vt:lpstr>
      <vt:lpstr>Messages to Leaders Elevator Pitch / FAQs –      Our Curated Knowledge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138</cp:revision>
  <cp:lastPrinted>2024-04-08T14:25:23Z</cp:lastPrinted>
  <dcterms:created xsi:type="dcterms:W3CDTF">2023-08-22T19:09:59Z</dcterms:created>
  <dcterms:modified xsi:type="dcterms:W3CDTF">2025-04-23T16:24:41Z</dcterms:modified>
</cp:coreProperties>
</file>