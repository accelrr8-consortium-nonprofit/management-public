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8" r:id="rId3"/>
    <p:sldId id="264" r:id="rId4"/>
    <p:sldId id="266" r:id="rId5"/>
    <p:sldId id="279" r:id="rId6"/>
    <p:sldId id="276" r:id="rId7"/>
    <p:sldId id="277" r:id="rId8"/>
    <p:sldId id="281" r:id="rId9"/>
    <p:sldId id="268" r:id="rId10"/>
    <p:sldId id="269" r:id="rId11"/>
    <p:sldId id="270" r:id="rId12"/>
    <p:sldId id="271" r:id="rId13"/>
    <p:sldId id="272" r:id="rId14"/>
    <p:sldId id="280" r:id="rId15"/>
    <p:sldId id="282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hwEp+Eio5qReXqYqUwMP31HB0A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B6A9B9-63BC-E044-9068-C3BBD160FB5D}" v="6" dt="2024-10-24T18:20:37.6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49"/>
    <p:restoredTop sz="95810"/>
  </p:normalViewPr>
  <p:slideViewPr>
    <p:cSldViewPr snapToGrid="0">
      <p:cViewPr varScale="1">
        <p:scale>
          <a:sx n="115" d="100"/>
          <a:sy n="115" d="100"/>
        </p:scale>
        <p:origin x="240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 Reba" userId="8245d172-5b81-40f1-a13b-b71f02cd6700" providerId="ADAL" clId="{60B6A9B9-63BC-E044-9068-C3BBD160FB5D}"/>
    <pc:docChg chg="custSel addSld delSld modSld">
      <pc:chgData name="Rich Reba" userId="8245d172-5b81-40f1-a13b-b71f02cd6700" providerId="ADAL" clId="{60B6A9B9-63BC-E044-9068-C3BBD160FB5D}" dt="2024-10-24T18:21:51.171" v="479" actId="20577"/>
      <pc:docMkLst>
        <pc:docMk/>
      </pc:docMkLst>
      <pc:sldChg chg="modSp mod">
        <pc:chgData name="Rich Reba" userId="8245d172-5b81-40f1-a13b-b71f02cd6700" providerId="ADAL" clId="{60B6A9B9-63BC-E044-9068-C3BBD160FB5D}" dt="2024-10-24T18:18:44.328" v="296" actId="20577"/>
        <pc:sldMkLst>
          <pc:docMk/>
          <pc:sldMk cId="0" sldId="256"/>
        </pc:sldMkLst>
        <pc:spChg chg="mod">
          <ac:chgData name="Rich Reba" userId="8245d172-5b81-40f1-a13b-b71f02cd6700" providerId="ADAL" clId="{60B6A9B9-63BC-E044-9068-C3BBD160FB5D}" dt="2024-10-24T18:18:44.328" v="296" actId="20577"/>
          <ac:spMkLst>
            <pc:docMk/>
            <pc:sldMk cId="0" sldId="256"/>
            <ac:spMk id="90" creationId="{00000000-0000-0000-0000-000000000000}"/>
          </ac:spMkLst>
        </pc:spChg>
      </pc:sldChg>
      <pc:sldChg chg="modSp mod">
        <pc:chgData name="Rich Reba" userId="8245d172-5b81-40f1-a13b-b71f02cd6700" providerId="ADAL" clId="{60B6A9B9-63BC-E044-9068-C3BBD160FB5D}" dt="2024-10-24T18:21:22.563" v="458" actId="20577"/>
        <pc:sldMkLst>
          <pc:docMk/>
          <pc:sldMk cId="1272635936" sldId="264"/>
        </pc:sldMkLst>
        <pc:spChg chg="mod">
          <ac:chgData name="Rich Reba" userId="8245d172-5b81-40f1-a13b-b71f02cd6700" providerId="ADAL" clId="{60B6A9B9-63BC-E044-9068-C3BBD160FB5D}" dt="2024-10-24T18:20:51.804" v="402" actId="20577"/>
          <ac:spMkLst>
            <pc:docMk/>
            <pc:sldMk cId="1272635936" sldId="264"/>
            <ac:spMk id="96" creationId="{00000000-0000-0000-0000-000000000000}"/>
          </ac:spMkLst>
        </pc:spChg>
        <pc:graphicFrameChg chg="modGraphic">
          <ac:chgData name="Rich Reba" userId="8245d172-5b81-40f1-a13b-b71f02cd6700" providerId="ADAL" clId="{60B6A9B9-63BC-E044-9068-C3BBD160FB5D}" dt="2024-10-24T18:21:22.563" v="458" actId="20577"/>
          <ac:graphicFrameMkLst>
            <pc:docMk/>
            <pc:sldMk cId="1272635936" sldId="264"/>
            <ac:graphicFrameMk id="5" creationId="{4B70F3A5-8062-29A2-30D0-2783CB3DFCCA}"/>
          </ac:graphicFrameMkLst>
        </pc:graphicFrameChg>
      </pc:sldChg>
      <pc:sldChg chg="modSp mod">
        <pc:chgData name="Rich Reba" userId="8245d172-5b81-40f1-a13b-b71f02cd6700" providerId="ADAL" clId="{60B6A9B9-63BC-E044-9068-C3BBD160FB5D}" dt="2024-10-24T18:21:51.171" v="479" actId="20577"/>
        <pc:sldMkLst>
          <pc:docMk/>
          <pc:sldMk cId="1243007551" sldId="268"/>
        </pc:sldMkLst>
        <pc:graphicFrameChg chg="modGraphic">
          <ac:chgData name="Rich Reba" userId="8245d172-5b81-40f1-a13b-b71f02cd6700" providerId="ADAL" clId="{60B6A9B9-63BC-E044-9068-C3BBD160FB5D}" dt="2024-10-24T18:21:51.171" v="479" actId="20577"/>
          <ac:graphicFrameMkLst>
            <pc:docMk/>
            <pc:sldMk cId="1243007551" sldId="268"/>
            <ac:graphicFrameMk id="2" creationId="{849548E0-A616-4177-21C8-C63119ADCD53}"/>
          </ac:graphicFrameMkLst>
        </pc:graphicFrameChg>
      </pc:sldChg>
      <pc:sldChg chg="del">
        <pc:chgData name="Rich Reba" userId="8245d172-5b81-40f1-a13b-b71f02cd6700" providerId="ADAL" clId="{60B6A9B9-63BC-E044-9068-C3BBD160FB5D}" dt="2024-10-22T01:01:40.198" v="117" actId="2696"/>
        <pc:sldMkLst>
          <pc:docMk/>
          <pc:sldMk cId="3864669982" sldId="274"/>
        </pc:sldMkLst>
      </pc:sldChg>
      <pc:sldChg chg="del">
        <pc:chgData name="Rich Reba" userId="8245d172-5b81-40f1-a13b-b71f02cd6700" providerId="ADAL" clId="{60B6A9B9-63BC-E044-9068-C3BBD160FB5D}" dt="2024-10-22T01:02:14.650" v="121" actId="2696"/>
        <pc:sldMkLst>
          <pc:docMk/>
          <pc:sldMk cId="2639682451" sldId="275"/>
        </pc:sldMkLst>
      </pc:sldChg>
      <pc:sldChg chg="modSp add mod">
        <pc:chgData name="Rich Reba" userId="8245d172-5b81-40f1-a13b-b71f02cd6700" providerId="ADAL" clId="{60B6A9B9-63BC-E044-9068-C3BBD160FB5D}" dt="2024-10-24T18:20:22.302" v="386" actId="20577"/>
        <pc:sldMkLst>
          <pc:docMk/>
          <pc:sldMk cId="4159369405" sldId="281"/>
        </pc:sldMkLst>
        <pc:spChg chg="mod">
          <ac:chgData name="Rich Reba" userId="8245d172-5b81-40f1-a13b-b71f02cd6700" providerId="ADAL" clId="{60B6A9B9-63BC-E044-9068-C3BBD160FB5D}" dt="2024-10-24T18:18:57.257" v="303" actId="20577"/>
          <ac:spMkLst>
            <pc:docMk/>
            <pc:sldMk cId="4159369405" sldId="281"/>
            <ac:spMk id="96" creationId="{00000000-0000-0000-0000-000000000000}"/>
          </ac:spMkLst>
        </pc:spChg>
        <pc:graphicFrameChg chg="mod modGraphic">
          <ac:chgData name="Rich Reba" userId="8245d172-5b81-40f1-a13b-b71f02cd6700" providerId="ADAL" clId="{60B6A9B9-63BC-E044-9068-C3BBD160FB5D}" dt="2024-10-24T18:20:22.302" v="386" actId="20577"/>
          <ac:graphicFrameMkLst>
            <pc:docMk/>
            <pc:sldMk cId="4159369405" sldId="281"/>
            <ac:graphicFrameMk id="5" creationId="{4B70F3A5-8062-29A2-30D0-2783CB3DFCCA}"/>
          </ac:graphicFrameMkLst>
        </pc:graphicFrameChg>
      </pc:sldChg>
      <pc:sldChg chg="addSp delSp modSp add mod">
        <pc:chgData name="Rich Reba" userId="8245d172-5b81-40f1-a13b-b71f02cd6700" providerId="ADAL" clId="{60B6A9B9-63BC-E044-9068-C3BBD160FB5D}" dt="2024-10-24T18:20:41.933" v="395" actId="20577"/>
        <pc:sldMkLst>
          <pc:docMk/>
          <pc:sldMk cId="854758414" sldId="282"/>
        </pc:sldMkLst>
        <pc:spChg chg="add mod">
          <ac:chgData name="Rich Reba" userId="8245d172-5b81-40f1-a13b-b71f02cd6700" providerId="ADAL" clId="{60B6A9B9-63BC-E044-9068-C3BBD160FB5D}" dt="2024-10-22T01:02:11.694" v="120"/>
          <ac:spMkLst>
            <pc:docMk/>
            <pc:sldMk cId="854758414" sldId="282"/>
            <ac:spMk id="2" creationId="{F31E2F1F-7A40-2976-9520-0A5F2368363C}"/>
          </ac:spMkLst>
        </pc:spChg>
        <pc:spChg chg="add mod">
          <ac:chgData name="Rich Reba" userId="8245d172-5b81-40f1-a13b-b71f02cd6700" providerId="ADAL" clId="{60B6A9B9-63BC-E044-9068-C3BBD160FB5D}" dt="2024-10-22T01:02:11.694" v="120"/>
          <ac:spMkLst>
            <pc:docMk/>
            <pc:sldMk cId="854758414" sldId="282"/>
            <ac:spMk id="3" creationId="{3D5988C5-4403-D8F2-87DC-5A5E37CC142C}"/>
          </ac:spMkLst>
        </pc:spChg>
        <pc:spChg chg="add mod">
          <ac:chgData name="Rich Reba" userId="8245d172-5b81-40f1-a13b-b71f02cd6700" providerId="ADAL" clId="{60B6A9B9-63BC-E044-9068-C3BBD160FB5D}" dt="2024-10-22T01:02:11.694" v="120"/>
          <ac:spMkLst>
            <pc:docMk/>
            <pc:sldMk cId="854758414" sldId="282"/>
            <ac:spMk id="4" creationId="{1CAD6E97-BCEA-3494-CC4E-A10053C87D33}"/>
          </ac:spMkLst>
        </pc:spChg>
        <pc:spChg chg="del">
          <ac:chgData name="Rich Reba" userId="8245d172-5b81-40f1-a13b-b71f02cd6700" providerId="ADAL" clId="{60B6A9B9-63BC-E044-9068-C3BBD160FB5D}" dt="2024-10-22T01:02:11.326" v="119" actId="478"/>
          <ac:spMkLst>
            <pc:docMk/>
            <pc:sldMk cId="854758414" sldId="282"/>
            <ac:spMk id="6" creationId="{5279D5C8-3CA0-6F0E-E63A-2FAC8D82B471}"/>
          </ac:spMkLst>
        </pc:spChg>
        <pc:spChg chg="del">
          <ac:chgData name="Rich Reba" userId="8245d172-5b81-40f1-a13b-b71f02cd6700" providerId="ADAL" clId="{60B6A9B9-63BC-E044-9068-C3BBD160FB5D}" dt="2024-10-22T01:02:11.326" v="119" actId="478"/>
          <ac:spMkLst>
            <pc:docMk/>
            <pc:sldMk cId="854758414" sldId="282"/>
            <ac:spMk id="7" creationId="{A675D971-A82C-6056-CB35-2EB7ED8A4493}"/>
          </ac:spMkLst>
        </pc:spChg>
        <pc:spChg chg="del">
          <ac:chgData name="Rich Reba" userId="8245d172-5b81-40f1-a13b-b71f02cd6700" providerId="ADAL" clId="{60B6A9B9-63BC-E044-9068-C3BBD160FB5D}" dt="2024-10-22T01:02:11.326" v="119" actId="478"/>
          <ac:spMkLst>
            <pc:docMk/>
            <pc:sldMk cId="854758414" sldId="282"/>
            <ac:spMk id="8" creationId="{A66AAABA-5FC8-24B8-7051-B8732C16F220}"/>
          </ac:spMkLst>
        </pc:spChg>
        <pc:spChg chg="mod">
          <ac:chgData name="Rich Reba" userId="8245d172-5b81-40f1-a13b-b71f02cd6700" providerId="ADAL" clId="{60B6A9B9-63BC-E044-9068-C3BBD160FB5D}" dt="2024-10-24T18:20:41.933" v="395" actId="20577"/>
          <ac:spMkLst>
            <pc:docMk/>
            <pc:sldMk cId="854758414" sldId="282"/>
            <ac:spMk id="96" creationId="{A3AD9FA8-A9A3-5D73-F922-2349E1890BD9}"/>
          </ac:spMkLst>
        </pc:spChg>
        <pc:graphicFrameChg chg="del">
          <ac:chgData name="Rich Reba" userId="8245d172-5b81-40f1-a13b-b71f02cd6700" providerId="ADAL" clId="{60B6A9B9-63BC-E044-9068-C3BBD160FB5D}" dt="2024-10-22T01:04:21.361" v="257" actId="478"/>
          <ac:graphicFrameMkLst>
            <pc:docMk/>
            <pc:sldMk cId="854758414" sldId="282"/>
            <ac:graphicFrameMk id="5" creationId="{4D2D5F9B-BC88-207F-F0BE-24EAEA47CC37}"/>
          </ac:graphicFrameMkLst>
        </pc:graphicFrameChg>
        <pc:graphicFrameChg chg="add mod">
          <ac:chgData name="Rich Reba" userId="8245d172-5b81-40f1-a13b-b71f02cd6700" providerId="ADAL" clId="{60B6A9B9-63BC-E044-9068-C3BBD160FB5D}" dt="2024-10-24T18:20:37.691" v="388"/>
          <ac:graphicFrameMkLst>
            <pc:docMk/>
            <pc:sldMk cId="854758414" sldId="282"/>
            <ac:graphicFrameMk id="5" creationId="{66489242-7A76-D9F3-97D3-0EF315F2ED5C}"/>
          </ac:graphicFrameMkLst>
        </pc:graphicFrameChg>
        <pc:graphicFrameChg chg="add del mod modGraphic">
          <ac:chgData name="Rich Reba" userId="8245d172-5b81-40f1-a13b-b71f02cd6700" providerId="ADAL" clId="{60B6A9B9-63BC-E044-9068-C3BBD160FB5D}" dt="2024-10-24T18:20:37.204" v="387" actId="478"/>
          <ac:graphicFrameMkLst>
            <pc:docMk/>
            <pc:sldMk cId="854758414" sldId="282"/>
            <ac:graphicFrameMk id="9" creationId="{A30C98BF-1117-E229-8678-F7B018B2FD51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2669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3178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6034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0382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7301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9114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0197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56342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50657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6330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106CC7AE-EB59-1468-86DA-35FFE4609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F88BA8D7-3366-40DB-6F43-3E1A24F5A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1361A01C-75D9-BE9F-61EC-5E2ED048FB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5224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724" y="-27804"/>
            <a:ext cx="12252960" cy="22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/>
          <p:nvPr/>
        </p:nvSpPr>
        <p:spPr>
          <a:xfrm>
            <a:off x="10036908" y="136525"/>
            <a:ext cx="1914769" cy="131640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ctrTitle"/>
          </p:nvPr>
        </p:nvSpPr>
        <p:spPr>
          <a:xfrm>
            <a:off x="1524000" y="2215660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ubTitle" idx="1"/>
          </p:nvPr>
        </p:nvSpPr>
        <p:spPr>
          <a:xfrm>
            <a:off x="1524000" y="422336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6095" y="227868"/>
            <a:ext cx="1649044" cy="11337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1594339"/>
            <a:ext cx="6172200" cy="42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5183188" y="1594338"/>
            <a:ext cx="6172200" cy="4266712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841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23232" y="136525"/>
            <a:ext cx="1914769" cy="13164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8" r:id="rId4"/>
    <p:sldLayoutId id="2147483659" r:id="rId5"/>
    <p:sldLayoutId id="2147483660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scaledagileframework.com/guidance-applied-innovation-accounting-in-safe/" TargetMode="External"/><Relationship Id="rId3" Type="http://schemas.openxmlformats.org/officeDocument/2006/relationships/hyperlink" Target="https://scaledagileframework.com/portfolio-backlog/" TargetMode="External"/><Relationship Id="rId7" Type="http://schemas.openxmlformats.org/officeDocument/2006/relationships/hyperlink" Target="https://scaledagileframework.com/okr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scaledagileframework.com/solution/" TargetMode="External"/><Relationship Id="rId5" Type="http://schemas.openxmlformats.org/officeDocument/2006/relationships/hyperlink" Target="https://scaledagileframework.com/epic-owner/" TargetMode="External"/><Relationship Id="rId4" Type="http://schemas.openxmlformats.org/officeDocument/2006/relationships/hyperlink" Target="https://scaledagileframework.com/epic/" TargetMode="External"/><Relationship Id="rId9" Type="http://schemas.openxmlformats.org/officeDocument/2006/relationships/hyperlink" Target="https://scaledagileframework.com/nonfunctional-requirements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wsjf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solution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wsjf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solution-context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caledagileframework.com/solution-intent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epic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epic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epic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caledagileframework.com/implementation-strategies-for-business-epics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caledagileframework.com/epic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epic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solution-context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caledagileframework.com/solution-inten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308410" y="2785676"/>
            <a:ext cx="957518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AccelRR8 Consortium NonProfit</a:t>
            </a:r>
            <a:br>
              <a:rPr lang="en-US" dirty="0"/>
            </a:br>
            <a:r>
              <a:rPr lang="en-US" dirty="0"/>
              <a:t>&lt;Service Name&gt; Service</a:t>
            </a:r>
            <a:br>
              <a:rPr lang="en-US" dirty="0"/>
            </a:br>
            <a:endParaRPr sz="40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479337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Month, DD, YYYY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EB244C-C85F-010E-A084-D8B6D90C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Produced During the Review 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7596B8-DA7D-1389-CC1D-C0EF98524A91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Reviewing Stage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965822-0847-B892-7BF1-00B31C259B5C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Analysis Stage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7354B4-F67E-5C6D-DE69-888030925B00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388811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Hypothesis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70F3A5-8062-29A2-30D0-2783CB3DF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479609"/>
              </p:ext>
            </p:extLst>
          </p:nvPr>
        </p:nvGraphicFramePr>
        <p:xfrm>
          <a:off x="969319" y="1477745"/>
          <a:ext cx="9991124" cy="484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5795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7735329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Funnel Entry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&lt;Month, DD, YYYY&gt;.   &lt;See SAFe Portfolio Backlog at </a:t>
                      </a:r>
                      <a:r>
                        <a:rPr lang="en-US" dirty="0">
                          <a:hlinkClick r:id="rId3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/>
                        <a:t>Service Name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/>
                        <a:t>&lt;Name of the Service&gt;  &lt;See SAFe Epics at </a:t>
                      </a:r>
                      <a:r>
                        <a:rPr lang="en-US">
                          <a:hlinkClick r:id="rId4"/>
                        </a:rPr>
                        <a:t>this link</a:t>
                      </a:r>
                      <a:r>
                        <a:rPr lang="en-US"/>
                        <a:t>&gt;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/>
                        <a:t>Service Owner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&lt;Owner of the Service&gt;. &lt;See SAFe Epic Owner at </a:t>
                      </a:r>
                      <a:r>
                        <a:rPr lang="en-US">
                          <a:hlinkClick r:id="rId5"/>
                        </a:rPr>
                        <a:t>this link</a:t>
                      </a:r>
                      <a:r>
                        <a:rPr lang="en-US"/>
                        <a:t>&gt;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871046">
                <a:tc>
                  <a:txBody>
                    <a:bodyPr/>
                    <a:lstStyle/>
                    <a:p>
                      <a:r>
                        <a:rPr lang="en-US" sz="1600" b="0"/>
                        <a:t>Service Description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&lt;An elevator pitch (value statement) that describes the service in a clear and concise way&gt;</a:t>
                      </a:r>
                    </a:p>
                    <a:p>
                      <a:pPr lvl="2"/>
                      <a:r>
                        <a:rPr lang="en-US" sz="1400" b="1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FOR</a:t>
                      </a:r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&lt;customers&gt;</a:t>
                      </a:r>
                    </a:p>
                    <a:p>
                      <a:pPr lvl="2"/>
                      <a:r>
                        <a:rPr lang="en-US" sz="1400" b="1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WHO</a:t>
                      </a:r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&lt;do something&gt;</a:t>
                      </a:r>
                    </a:p>
                    <a:p>
                      <a:pPr lvl="2"/>
                      <a:r>
                        <a:rPr lang="en-US" sz="1400" b="1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THE</a:t>
                      </a:r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&lt;offering&gt;</a:t>
                      </a:r>
                    </a:p>
                    <a:p>
                      <a:pPr lvl="2"/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</a:t>
                      </a:r>
                      <a:r>
                        <a:rPr lang="en-US" sz="1400" b="1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 A</a:t>
                      </a:r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&lt;something – the ‘how’&gt;</a:t>
                      </a:r>
                    </a:p>
                    <a:p>
                      <a:pPr lvl="2"/>
                      <a:r>
                        <a:rPr lang="en-US" sz="1400" b="1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THAT</a:t>
                      </a:r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&lt;provides this value&gt;</a:t>
                      </a:r>
                    </a:p>
                    <a:p>
                      <a:pPr lvl="2"/>
                      <a:r>
                        <a:rPr lang="en-US" sz="1400" b="1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UNLIKE</a:t>
                      </a:r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&lt;competitor, current solution, or non-existent solution&gt;</a:t>
                      </a:r>
                    </a:p>
                    <a:p>
                      <a:pPr lvl="2"/>
                      <a:r>
                        <a:rPr lang="en-US" sz="1400" b="1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OUR SERVICE</a:t>
                      </a:r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 &lt;does something better – the ‘why’&gt;</a:t>
                      </a:r>
                    </a:p>
                    <a:p>
                      <a:pPr lvl="2"/>
                      <a:endParaRPr lang="en-US" sz="1400" b="0" i="0" u="none" strike="noStrike" cap="non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lvl="2"/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&lt;See SAFe Solution at </a:t>
                      </a:r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  <a:hlinkClick r:id="rId6"/>
                        </a:rPr>
                        <a:t>this link</a:t>
                      </a:r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&gt;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Business Outcomes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&lt;The measurable benefits that the consortium can anticipate if the offering hypothesis is proven to be correct.&gt;.  &lt;See SAFe OKRs at </a:t>
                      </a:r>
                      <a:r>
                        <a:rPr lang="en-US" dirty="0">
                          <a:hlinkClick r:id="rId7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47728"/>
                  </a:ext>
                </a:extLst>
              </a:tr>
              <a:tr h="219645">
                <a:tc>
                  <a:txBody>
                    <a:bodyPr/>
                    <a:lstStyle/>
                    <a:p>
                      <a:r>
                        <a:rPr lang="en-US" sz="1600" b="0" dirty="0"/>
                        <a:t>Leading Indicators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&lt;The early measures that will help predict the business outcome hypothesis.  For more on this topic, see the </a:t>
                      </a:r>
                      <a:r>
                        <a:rPr lang="en-US" dirty="0">
                          <a:hlinkClick r:id="rId8"/>
                        </a:rPr>
                        <a:t>Innovation Accounting advanced topic article</a:t>
                      </a:r>
                      <a:r>
                        <a:rPr lang="en-US" dirty="0"/>
                        <a:t>.&gt;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022269"/>
                  </a:ext>
                </a:extLst>
              </a:tr>
              <a:tr h="206873">
                <a:tc>
                  <a:txBody>
                    <a:bodyPr/>
                    <a:lstStyle/>
                    <a:p>
                      <a:r>
                        <a:rPr lang="en-US" sz="1600" b="0" dirty="0"/>
                        <a:t>Non-functional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&lt;NFRs associated with the service.&gt;. &lt;See SAFe NFRs at </a:t>
                      </a:r>
                      <a:r>
                        <a:rPr lang="en-US">
                          <a:hlinkClick r:id="rId9"/>
                        </a:rPr>
                        <a:t>this link</a:t>
                      </a:r>
                      <a:r>
                        <a:rPr lang="en-US"/>
                        <a:t>&gt;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456919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82989B31-3419-2492-D5BA-841085EFFD20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FC860D-600B-CFAA-AA67-87D20B2848A4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E98312-7BF3-634D-DE2E-782C5EA05BB7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1272635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Preliminary Cost Estimates and WSJF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ADFCCD-21B2-3785-8E68-1D6E82E2DA76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3EA3BE-F73F-61F7-3F9D-5A3302400620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9D7C28-1555-09D1-4AEE-8F09AA4FB520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Implementing - MVP Stage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3B7C68-A7A8-1CF8-C46B-DD7B5A056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357946"/>
              </p:ext>
            </p:extLst>
          </p:nvPr>
        </p:nvGraphicFramePr>
        <p:xfrm>
          <a:off x="969319" y="1690688"/>
          <a:ext cx="999112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5795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7735329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Preliminary Cost Estimates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&lt;Estimate Costs&gt;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WSJF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&lt;Estimate Weighted Shortest Job First&gt;. 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&lt;See WSJF at 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  <a:hlinkClick r:id="rId3"/>
                        </a:rPr>
                        <a:t>this link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&gt;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8122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EB244C-C85F-010E-A084-D8B6D90C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Produced During the</a:t>
            </a:r>
            <a:br>
              <a:rPr lang="en-US" dirty="0"/>
            </a:br>
            <a:r>
              <a:rPr lang="en-US" dirty="0"/>
              <a:t>Analysis Stage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7D92EC-B5B2-F4BF-5DE9-95612E9E3BED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B6C110-0BBD-1173-FD61-0D99BC146576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C5FF28-EDA5-D92B-FEB5-078711BC8358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4099550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Offering Alternatives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70F3A5-8062-29A2-30D0-2783CB3DF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933187"/>
              </p:ext>
            </p:extLst>
          </p:nvPr>
        </p:nvGraphicFramePr>
        <p:xfrm>
          <a:off x="969319" y="1690688"/>
          <a:ext cx="9991124" cy="1341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5795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7735329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Alternative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&lt;Describe the Alternative&gt;  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&lt;See SAFe Solution at 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  <a:hlinkClick r:id="rId3"/>
                        </a:rPr>
                        <a:t>this link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&gt;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Alternative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&lt;Describe the Alternative&gt;  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&lt;See SAFe Solution at 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  <a:hlinkClick r:id="rId3"/>
                        </a:rPr>
                        <a:t>this link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&gt;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Alternative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&lt;Describe the Alternative&gt;  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&lt;See SAFe Solution at 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  <a:hlinkClick r:id="rId3"/>
                        </a:rPr>
                        <a:t>this link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&gt;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47172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3589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EEA9109-11FD-F460-0725-95712E9F1A03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Reviewing Stage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ACE2DB-9695-6846-EBC0-CDDAB593C84D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Analysis 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25B23-224F-30BC-1255-BD6819F53A15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3191730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Refined Cost Estimates and WSJF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70F3A5-8062-29A2-30D0-2783CB3DF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695482"/>
              </p:ext>
            </p:extLst>
          </p:nvPr>
        </p:nvGraphicFramePr>
        <p:xfrm>
          <a:off x="969319" y="1690688"/>
          <a:ext cx="999112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5795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7735329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Refined Cost Estimates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&lt;Estimate Costs&gt;  &lt;See Lean Business Case in subsequent slides&gt;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WSJF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&lt;Estimate Weighted Shortest Job First&gt;. 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&lt;See WSJF at 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  <a:hlinkClick r:id="rId3"/>
                        </a:rPr>
                        <a:t>this link</a:t>
                      </a:r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&gt;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5E44920-E1DB-DBA8-39D2-0F97A8DAB792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Reviewing Stage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465CE0-9D8F-416A-DC1E-6FAA36024E82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Analysis Stage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93366-078D-A801-5B4A-525F4CD74719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368434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MVP </a:t>
            </a:r>
            <a:br>
              <a:rPr lang="en-US" dirty="0"/>
            </a:br>
            <a:r>
              <a:rPr lang="en-US" dirty="0"/>
              <a:t>Component Descriptions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70F3A5-8062-29A2-30D0-2783CB3DF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956213"/>
              </p:ext>
            </p:extLst>
          </p:nvPr>
        </p:nvGraphicFramePr>
        <p:xfrm>
          <a:off x="969319" y="1690687"/>
          <a:ext cx="8324993" cy="43755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5795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6069198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407893">
                <a:tc>
                  <a:txBody>
                    <a:bodyPr/>
                    <a:lstStyle/>
                    <a:p>
                      <a:r>
                        <a:rPr lang="en-US" sz="1600" b="0"/>
                        <a:t>Service Name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&lt;From Offering Hypothesis&gt;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780345"/>
                  </a:ext>
                </a:extLst>
              </a:tr>
              <a:tr h="407893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&lt;3-Horizon Strategy for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030048"/>
                  </a:ext>
                </a:extLst>
              </a:tr>
              <a:tr h="407893">
                <a:tc>
                  <a:txBody>
                    <a:bodyPr/>
                    <a:lstStyle/>
                    <a:p>
                      <a:r>
                        <a:rPr lang="en-US" sz="1600" b="0"/>
                        <a:t>Service Context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Context at </a:t>
                      </a:r>
                      <a:r>
                        <a:rPr lang="en-US" dirty="0">
                          <a:hlinkClick r:id="rId3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407893">
                <a:tc>
                  <a:txBody>
                    <a:bodyPr/>
                    <a:lstStyle/>
                    <a:p>
                      <a:r>
                        <a:rPr lang="en-US" sz="1600" b="0"/>
                        <a:t>Service Intent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Intent at </a:t>
                      </a:r>
                      <a:r>
                        <a:rPr lang="en-US" dirty="0">
                          <a:hlinkClick r:id="rId4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  <a:tr h="630379">
                <a:tc>
                  <a:txBody>
                    <a:bodyPr/>
                    <a:lstStyle/>
                    <a:p>
                      <a:r>
                        <a:rPr lang="en-US" sz="1600" b="0"/>
                        <a:t>Development Kit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&lt;Descriptions of Collateral and Tools used by the Products team to develop the service&gt;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04956"/>
                  </a:ext>
                </a:extLst>
              </a:tr>
              <a:tr h="704542">
                <a:tc>
                  <a:txBody>
                    <a:bodyPr/>
                    <a:lstStyle/>
                    <a:p>
                      <a:r>
                        <a:rPr lang="en-US" sz="1600" b="0" dirty="0"/>
                        <a:t>Demand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Generation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&lt;Descriptions of Collateral and Tools used by Demand Generation to engage with potential Customers in market segments about the service&gt;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704542">
                <a:tc>
                  <a:txBody>
                    <a:bodyPr/>
                    <a:lstStyle/>
                    <a:p>
                      <a:r>
                        <a:rPr lang="en-US" sz="1600" b="0" dirty="0"/>
                        <a:t>Customer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Acquisition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r>
                        <a:rPr lang="en-US"/>
                        <a:t>&lt;Descriptions of Collateral and Tools used by Customer Acquisition to engage with specific potential Customers about the service&gt;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  <a:tr h="704542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Fulfillment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&lt;Descriptions of Collateral and Tools used by Service Fulfillment to engage with Customers about the service&gt;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4772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7372D81-FEF0-F693-D686-F9DF46C1643F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Reviewing Stage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C5A52-20CA-F258-B608-01820FE0C522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Analysis 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08F55C-5399-5D3A-6145-A00CC01B7E5F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4159369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Lean Business Case (1/5)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9548E0-A616-4177-21C8-C63119ADC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657827"/>
              </p:ext>
            </p:extLst>
          </p:nvPr>
        </p:nvGraphicFramePr>
        <p:xfrm>
          <a:off x="976428" y="1690688"/>
          <a:ext cx="9971321" cy="4597378"/>
        </p:xfrm>
        <a:graphic>
          <a:graphicData uri="http://schemas.openxmlformats.org/drawingml/2006/table">
            <a:tbl>
              <a:tblPr firstRow="1" firstCol="1" bandRow="1" bandCol="1">
                <a:tableStyleId>{5940675A-B579-460E-94D1-54222C63F5DA}</a:tableStyleId>
              </a:tblPr>
              <a:tblGrid>
                <a:gridCol w="3911088">
                  <a:extLst>
                    <a:ext uri="{9D8B030D-6E8A-4147-A177-3AD203B41FA5}">
                      <a16:colId xmlns:a16="http://schemas.microsoft.com/office/drawing/2014/main" val="335540143"/>
                    </a:ext>
                  </a:extLst>
                </a:gridCol>
                <a:gridCol w="618416">
                  <a:extLst>
                    <a:ext uri="{9D8B030D-6E8A-4147-A177-3AD203B41FA5}">
                      <a16:colId xmlns:a16="http://schemas.microsoft.com/office/drawing/2014/main" val="3520678859"/>
                    </a:ext>
                  </a:extLst>
                </a:gridCol>
                <a:gridCol w="206139">
                  <a:extLst>
                    <a:ext uri="{9D8B030D-6E8A-4147-A177-3AD203B41FA5}">
                      <a16:colId xmlns:a16="http://schemas.microsoft.com/office/drawing/2014/main" val="4207968209"/>
                    </a:ext>
                  </a:extLst>
                </a:gridCol>
                <a:gridCol w="5235678">
                  <a:extLst>
                    <a:ext uri="{9D8B030D-6E8A-4147-A177-3AD203B41FA5}">
                      <a16:colId xmlns:a16="http://schemas.microsoft.com/office/drawing/2014/main" val="1867107964"/>
                    </a:ext>
                  </a:extLst>
                </a:gridCol>
              </a:tblGrid>
              <a:tr h="201077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Funnel Entry Date: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(Use for tracking, aging and analysis in the Kanban)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793" marR="40793" marT="0" marB="0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Service Owner: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(Who is the service owner?)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793" marR="40793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Key Stakeholders: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(List the names of key stakeholders)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793" marR="40793" marT="0" marB="0"/>
                </a:tc>
                <a:extLst>
                  <a:ext uri="{0D108BD9-81ED-4DB2-BD59-A6C34878D82A}">
                    <a16:rowId xmlns:a16="http://schemas.microsoft.com/office/drawing/2014/main" val="3298821640"/>
                  </a:ext>
                </a:extLst>
              </a:tr>
              <a:tr h="1024138"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Service Description: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(Consider using the epic Hypothesis Statement in the epic article as a starting point for a description of the epic.)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793" marR="40793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933647"/>
                  </a:ext>
                </a:extLst>
              </a:tr>
              <a:tr h="1562466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Business Outcome Hypothesis: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(Describe how the success of the epic will be measured: for example, 50% increase in shoppers under 25; Availability increases from 95% to 99.7%, etc. 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793" marR="40793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Leading Indicators: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(Establish innovation accounting metrics to provide leading indicators of the outcomes hypothesis: for example, a measurable change in purchaser demographics within 30 days of feature release)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793" marR="40793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61467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FC16F5D-3110-F78F-4BCE-2771F94F23F4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Reviewing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B45135-FB35-B334-1389-8F4FC41447E6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Analysis Stage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952194-1B19-D864-7329-44E737966261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Implementing - MVP Stage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C944FD-AEE1-8728-DE6D-270EAB746497}"/>
              </a:ext>
            </a:extLst>
          </p:cNvPr>
          <p:cNvSpPr txBox="1"/>
          <p:nvPr/>
        </p:nvSpPr>
        <p:spPr>
          <a:xfrm>
            <a:off x="875777" y="6300592"/>
            <a:ext cx="6100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&lt;See SAFe Epics at </a:t>
            </a:r>
            <a:r>
              <a:rPr lang="en-US" dirty="0">
                <a:hlinkClick r:id="rId3"/>
              </a:rPr>
              <a:t>this link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243007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Lean Business Case (2/5)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9548E0-A616-4177-21C8-C63119ADC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04951"/>
              </p:ext>
            </p:extLst>
          </p:nvPr>
        </p:nvGraphicFramePr>
        <p:xfrm>
          <a:off x="838199" y="1591460"/>
          <a:ext cx="10515603" cy="4771762"/>
        </p:xfrm>
        <a:graphic>
          <a:graphicData uri="http://schemas.openxmlformats.org/drawingml/2006/table">
            <a:tbl>
              <a:tblPr firstRow="1" firstCol="1" bandRow="1" bandCol="1">
                <a:tableStyleId>{5940675A-B579-460E-94D1-54222C63F5DA}</a:tableStyleId>
              </a:tblPr>
              <a:tblGrid>
                <a:gridCol w="4341964">
                  <a:extLst>
                    <a:ext uri="{9D8B030D-6E8A-4147-A177-3AD203B41FA5}">
                      <a16:colId xmlns:a16="http://schemas.microsoft.com/office/drawing/2014/main" val="335540143"/>
                    </a:ext>
                  </a:extLst>
                </a:gridCol>
                <a:gridCol w="217391">
                  <a:extLst>
                    <a:ext uri="{9D8B030D-6E8A-4147-A177-3AD203B41FA5}">
                      <a16:colId xmlns:a16="http://schemas.microsoft.com/office/drawing/2014/main" val="298461284"/>
                    </a:ext>
                  </a:extLst>
                </a:gridCol>
                <a:gridCol w="434781">
                  <a:extLst>
                    <a:ext uri="{9D8B030D-6E8A-4147-A177-3AD203B41FA5}">
                      <a16:colId xmlns:a16="http://schemas.microsoft.com/office/drawing/2014/main" val="3179076574"/>
                    </a:ext>
                  </a:extLst>
                </a:gridCol>
                <a:gridCol w="217391">
                  <a:extLst>
                    <a:ext uri="{9D8B030D-6E8A-4147-A177-3AD203B41FA5}">
                      <a16:colId xmlns:a16="http://schemas.microsoft.com/office/drawing/2014/main" val="1867107964"/>
                    </a:ext>
                  </a:extLst>
                </a:gridCol>
                <a:gridCol w="5304076">
                  <a:extLst>
                    <a:ext uri="{9D8B030D-6E8A-4147-A177-3AD203B41FA5}">
                      <a16:colId xmlns:a16="http://schemas.microsoft.com/office/drawing/2014/main" val="109514380"/>
                    </a:ext>
                  </a:extLst>
                </a:gridCol>
              </a:tblGrid>
              <a:tr h="18790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In Scope: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Symbol" pitchFamily="2" charset="2"/>
                        <a:buChar char=""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793" marR="40793" marT="0" marB="0"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Out of Scope: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Symbol" pitchFamily="2" charset="2"/>
                        <a:buChar char=""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793" marR="40793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Nonfunctional Requirements: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Symbol" pitchFamily="2" charset="2"/>
                        <a:buChar char=""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793" marR="40793" marT="0" marB="0"/>
                </a:tc>
                <a:extLst>
                  <a:ext uri="{0D108BD9-81ED-4DB2-BD59-A6C34878D82A}">
                    <a16:rowId xmlns:a16="http://schemas.microsoft.com/office/drawing/2014/main" val="1803020786"/>
                  </a:ext>
                </a:extLst>
              </a:tr>
              <a:tr h="1887387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Minimum Viable Product (MVP) Features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(Feature or Capability)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Symbol" pitchFamily="2" charset="2"/>
                        <a:buChar char=""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793" marR="40793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Additional Potential Features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(Feature or Capability)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itchFamily="2" charset="2"/>
                        <a:buChar char=""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Symbol" pitchFamily="2" charset="2"/>
                        <a:buChar char=""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…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793" marR="40793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873087"/>
                  </a:ext>
                </a:extLst>
              </a:tr>
              <a:tr h="1005286"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Analysis Summary: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(Brief summary of the analysis that has been formed to create the business case.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793" marR="40793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Go / No-Go: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(Go, or No-Go recommendation)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0793" marR="40793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7905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E23F6AA-4D57-B5E8-FD4A-210108E1ABAD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Reviewing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E8032F-651C-8A52-1D58-700E366B6B54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Analysis Stage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75ACFC-BED3-CE2E-BF13-5AF5D03D4A75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Implementing - MVP Stage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AC0157-6343-D56D-5D76-3AAA75837A76}"/>
              </a:ext>
            </a:extLst>
          </p:cNvPr>
          <p:cNvSpPr txBox="1"/>
          <p:nvPr/>
        </p:nvSpPr>
        <p:spPr>
          <a:xfrm>
            <a:off x="875777" y="6300592"/>
            <a:ext cx="6100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&lt;See SAFe Epics at </a:t>
            </a:r>
            <a:r>
              <a:rPr lang="en-US" dirty="0">
                <a:hlinkClick r:id="rId3"/>
              </a:rPr>
              <a:t>this link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50257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Lean Business Case (3/5)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B79CD4-17D9-A460-45EE-070B6CD3D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920626"/>
              </p:ext>
            </p:extLst>
          </p:nvPr>
        </p:nvGraphicFramePr>
        <p:xfrm>
          <a:off x="939452" y="1490597"/>
          <a:ext cx="10396603" cy="5069768"/>
        </p:xfrm>
        <a:graphic>
          <a:graphicData uri="http://schemas.openxmlformats.org/drawingml/2006/table">
            <a:tbl>
              <a:tblPr firstRow="1" firstCol="1" bandRow="1" bandCol="1">
                <a:tableStyleId>{5940675A-B579-460E-94D1-54222C63F5DA}</a:tableStyleId>
              </a:tblPr>
              <a:tblGrid>
                <a:gridCol w="5019664">
                  <a:extLst>
                    <a:ext uri="{9D8B030D-6E8A-4147-A177-3AD203B41FA5}">
                      <a16:colId xmlns:a16="http://schemas.microsoft.com/office/drawing/2014/main" val="2059904068"/>
                    </a:ext>
                  </a:extLst>
                </a:gridCol>
                <a:gridCol w="5376939">
                  <a:extLst>
                    <a:ext uri="{9D8B030D-6E8A-4147-A177-3AD203B41FA5}">
                      <a16:colId xmlns:a16="http://schemas.microsoft.com/office/drawing/2014/main" val="2673396883"/>
                    </a:ext>
                  </a:extLst>
                </a:gridCol>
              </a:tblGrid>
              <a:tr h="157843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highlight>
                            <a:srgbClr val="D9D9D9"/>
                          </a:highlight>
                        </a:rPr>
                        <a:t>Solution Analysis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885" marR="5188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575272"/>
                  </a:ext>
                </a:extLst>
              </a:tr>
              <a:tr h="784799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Which Internal and/or external customers are affected, and how?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(Describe the user community and any markets affected)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885" marR="5188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855705"/>
                  </a:ext>
                </a:extLst>
              </a:tr>
              <a:tr h="819593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What is the potential impact on solutions, programs and services?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(Identify solutions, programs, services, teams, departments, etc. that will may be impacted by this epic)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885" marR="5188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231079"/>
                  </a:ext>
                </a:extLst>
              </a:tr>
              <a:tr h="640652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What is the potential impact on sales, distribution, deployment and support?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(For external solutions or products, describe any potential impact on how the product is sold, distributed, or deployed)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885" marR="5188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228238"/>
                  </a:ext>
                </a:extLst>
              </a:tr>
              <a:tr h="157843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highlight>
                            <a:srgbClr val="D9D9D9"/>
                          </a:highlight>
                        </a:rPr>
                        <a:t>Forecasted Costs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885" marR="5188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219619"/>
                  </a:ext>
                </a:extLst>
              </a:tr>
              <a:tr h="16629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MVP Cost: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(What is the investment requested to fund the MVP (the MVP cost))?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885" marR="518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Estimated Implementation Cost: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(What is the estimated investment (cost) of full implementation of the epic if the MVP hypothesis is proven true? This estimate is refined of over time)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Initial estimate: This can be expressed as a range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Refined estimate(s): Identify material updates to the estimated implementation cost, usually informed from experiments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885" marR="51885" marT="0" marB="0"/>
                </a:tc>
                <a:extLst>
                  <a:ext uri="{0D108BD9-81ED-4DB2-BD59-A6C34878D82A}">
                    <a16:rowId xmlns:a16="http://schemas.microsoft.com/office/drawing/2014/main" val="442753502"/>
                  </a:ext>
                </a:extLst>
              </a:tr>
              <a:tr h="157843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highlight>
                            <a:srgbClr val="D9D9D9"/>
                          </a:highlight>
                        </a:rPr>
                        <a:t>Forecasted Returns 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885" marR="5188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873674"/>
                  </a:ext>
                </a:extLst>
              </a:tr>
              <a:tr h="620770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Type of Return: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(Market share, increased revenue, improved productivity, new markets served, etc.)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885" marR="51885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274721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AFA4691-0634-7178-C749-C47ECD95F252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Reviewing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82B7C1-7287-28F1-91AA-FCCF5AECD714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Analysis Stage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5D8176-2D3A-BE52-A73C-694BE157E290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Implementing - MVP Stage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D42400-5633-A72C-1FD7-4E3F59FDFE1F}"/>
              </a:ext>
            </a:extLst>
          </p:cNvPr>
          <p:cNvSpPr txBox="1"/>
          <p:nvPr/>
        </p:nvSpPr>
        <p:spPr>
          <a:xfrm>
            <a:off x="939452" y="6550223"/>
            <a:ext cx="6100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&lt;See SAFe Epics at </a:t>
            </a:r>
            <a:r>
              <a:rPr lang="en-US" dirty="0">
                <a:hlinkClick r:id="rId3"/>
              </a:rPr>
              <a:t>this link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255637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Lean Business Case (4/5)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9DCEAC8-DB72-C8D9-0DB4-F8D83D801A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273347"/>
              </p:ext>
            </p:extLst>
          </p:nvPr>
        </p:nvGraphicFramePr>
        <p:xfrm>
          <a:off x="838199" y="1690688"/>
          <a:ext cx="10610590" cy="4710112"/>
        </p:xfrm>
        <a:graphic>
          <a:graphicData uri="http://schemas.openxmlformats.org/drawingml/2006/table">
            <a:tbl>
              <a:tblPr firstRow="1" firstCol="1" bandRow="1" bandCol="1">
                <a:tableStyleId>{5940675A-B579-460E-94D1-54222C63F5DA}</a:tableStyleId>
              </a:tblPr>
              <a:tblGrid>
                <a:gridCol w="10610590">
                  <a:extLst>
                    <a:ext uri="{9D8B030D-6E8A-4147-A177-3AD203B41FA5}">
                      <a16:colId xmlns:a16="http://schemas.microsoft.com/office/drawing/2014/main" val="3385405187"/>
                    </a:ext>
                  </a:extLst>
                </a:gridCol>
              </a:tblGrid>
              <a:tr h="4004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highlight>
                            <a:srgbClr val="D9D9D9"/>
                          </a:highlight>
                        </a:rPr>
                        <a:t>Development Strategy 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9012631"/>
                  </a:ext>
                </a:extLst>
              </a:tr>
              <a:tr h="11104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In-house or Outsourced Development: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(Provide recommendations for where the epic should be developed)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9551468"/>
                  </a:ext>
                </a:extLst>
              </a:tr>
              <a:tr h="16608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Incremental Implementation Strategy: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(Epics are defined as a single whole, but each epic undergoes incremental implementation. Click </a:t>
                      </a:r>
                      <a:r>
                        <a:rPr lang="en-US" sz="1100" u="sng">
                          <a:solidFill>
                            <a:schemeClr val="tx1"/>
                          </a:solidFill>
                          <a:effectLst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here</a:t>
                      </a: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 for details on potential strategies.)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9702929"/>
                  </a:ext>
                </a:extLst>
              </a:tr>
              <a:tr h="153845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Sequencing and Dependencies: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(Describe any constraints for sequencing the epic and identify any potential dependencies with other epics or solutions)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921961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6B78F2F-49FE-E010-BE57-5B187F60A2F1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Reviewing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DF6E39-C3EC-1F82-A0BD-BD7DAAC9A077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Analysis Stage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6AA49-8E0E-B8DA-876A-BEF6D4BB5EE0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Implementing - MVP Stage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D68DC-C5C8-1881-D83B-793CEBFE2E6F}"/>
              </a:ext>
            </a:extLst>
          </p:cNvPr>
          <p:cNvSpPr txBox="1"/>
          <p:nvPr/>
        </p:nvSpPr>
        <p:spPr>
          <a:xfrm>
            <a:off x="875777" y="6300592"/>
            <a:ext cx="6100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&lt;See SAFe Epics at </a:t>
            </a:r>
            <a:r>
              <a:rPr lang="en-US" dirty="0">
                <a:hlinkClick r:id="rId4"/>
              </a:rPr>
              <a:t>this link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7448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Lean Business Case (5/5)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1699409-9005-50C8-4771-BC86CF9F9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288859"/>
              </p:ext>
            </p:extLst>
          </p:nvPr>
        </p:nvGraphicFramePr>
        <p:xfrm>
          <a:off x="838199" y="1859153"/>
          <a:ext cx="10522908" cy="3589669"/>
        </p:xfrm>
        <a:graphic>
          <a:graphicData uri="http://schemas.openxmlformats.org/drawingml/2006/table">
            <a:tbl>
              <a:tblPr firstRow="1" firstCol="1" bandRow="1" bandCol="1">
                <a:tableStyleId>{5940675A-B579-460E-94D1-54222C63F5DA}</a:tableStyleId>
              </a:tblPr>
              <a:tblGrid>
                <a:gridCol w="10522908">
                  <a:extLst>
                    <a:ext uri="{9D8B030D-6E8A-4147-A177-3AD203B41FA5}">
                      <a16:colId xmlns:a16="http://schemas.microsoft.com/office/drawing/2014/main" val="2176383689"/>
                    </a:ext>
                  </a:extLst>
                </a:gridCol>
              </a:tblGrid>
              <a:tr h="4123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highlight>
                            <a:srgbClr val="D9D9D9"/>
                          </a:highlight>
                        </a:rPr>
                        <a:t>Additional Supporting Data 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highlight>
                          <a:srgbClr val="D9D9D9"/>
                        </a:highlight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3676439"/>
                  </a:ext>
                </a:extLst>
              </a:tr>
              <a:tr h="15844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Attachments: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(Other supporting documentation, links to other data, feasibility or trade studies, models, market analysis, etc., that were used in the creation of the business case)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9136522"/>
                  </a:ext>
                </a:extLst>
              </a:tr>
              <a:tr h="159285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Other Notes and Comments: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(Any additional miscellaneous Information relevant to LPM)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9054867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02CEF7E-7FA3-2DA3-9852-7A50C2CE2E0E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Reviewing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FB1201-7179-C239-7E9F-258DB1E5E2E6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Analysis Stage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206C13-F7F8-689F-704C-B5EA77615E13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Implementing - MVP Stage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7832F2-FAD4-C5E7-657F-527F59EE2B1C}"/>
              </a:ext>
            </a:extLst>
          </p:cNvPr>
          <p:cNvSpPr txBox="1"/>
          <p:nvPr/>
        </p:nvSpPr>
        <p:spPr>
          <a:xfrm>
            <a:off x="875777" y="6300592"/>
            <a:ext cx="6100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&lt;See SAFe Epics at </a:t>
            </a:r>
            <a:r>
              <a:rPr lang="en-US" dirty="0">
                <a:hlinkClick r:id="rId3"/>
              </a:rPr>
              <a:t>this link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088802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EB244C-C85F-010E-A084-D8B6D90C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Produced During the</a:t>
            </a:r>
            <a:br>
              <a:rPr lang="en-US" dirty="0"/>
            </a:br>
            <a:r>
              <a:rPr lang="en-US" dirty="0"/>
              <a:t>Implementing - MVP Stage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0D088-D60A-E04C-3455-F07D0ED3B9D3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9836CB-4917-29CA-7AC0-92843E145652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1CCD8A-8B41-9B93-2D05-D8CF2AC3F89C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2970225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2E2CC8FC-74C9-3314-0083-3C8EDD4C1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A3AD9FA8-A9A3-5D73-F922-2349E1890B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MVP </a:t>
            </a:r>
            <a:br>
              <a:rPr lang="en-US" dirty="0"/>
            </a:br>
            <a:r>
              <a:rPr lang="en-US" dirty="0"/>
              <a:t>Component Descriptions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1E2F1F-7A40-2976-9520-0A5F2368363C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5988C5-4403-D8F2-87DC-5A5E37CC142C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AD6E97-BCEA-3494-CC4E-A10053C87D33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Implementing - MVP Stage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489242-7A76-D9F3-97D3-0EF315F2E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773834"/>
              </p:ext>
            </p:extLst>
          </p:nvPr>
        </p:nvGraphicFramePr>
        <p:xfrm>
          <a:off x="969319" y="1690687"/>
          <a:ext cx="8324993" cy="43755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5795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6069198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407893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&lt;From Offering Hypothesis&gt;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780345"/>
                  </a:ext>
                </a:extLst>
              </a:tr>
              <a:tr h="407893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&lt;3-Horizon Strategy for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030048"/>
                  </a:ext>
                </a:extLst>
              </a:tr>
              <a:tr h="407893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Context at </a:t>
                      </a:r>
                      <a:r>
                        <a:rPr lang="en-US" dirty="0">
                          <a:hlinkClick r:id="rId3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407893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Intent at </a:t>
                      </a:r>
                      <a:r>
                        <a:rPr lang="en-US" dirty="0">
                          <a:hlinkClick r:id="rId4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  <a:tr h="630379">
                <a:tc>
                  <a:txBody>
                    <a:bodyPr/>
                    <a:lstStyle/>
                    <a:p>
                      <a:r>
                        <a:rPr lang="en-US" sz="1600" b="0" dirty="0"/>
                        <a:t>Development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the Products team to develop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04956"/>
                  </a:ext>
                </a:extLst>
              </a:tr>
              <a:tr h="704542">
                <a:tc>
                  <a:txBody>
                    <a:bodyPr/>
                    <a:lstStyle/>
                    <a:p>
                      <a:r>
                        <a:rPr lang="en-US" sz="1600" b="0" dirty="0"/>
                        <a:t>Demand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Generation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Demand Generation to engage with potential Customers in market segments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704542">
                <a:tc>
                  <a:txBody>
                    <a:bodyPr/>
                    <a:lstStyle/>
                    <a:p>
                      <a:r>
                        <a:rPr lang="en-US" sz="1600" b="0" dirty="0"/>
                        <a:t>Customer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Acquisition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r>
                        <a:rPr lang="en-US" dirty="0"/>
                        <a:t>&lt;Descriptions of Collateral and Tools used by Customer Acquisition to engage with specific potential Customers about the service&gt;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  <a:tr h="704542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Fulfillment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Service Fulfillment to engage with Customers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47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4758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12656</TotalTime>
  <Words>1339</Words>
  <Application>Microsoft Macintosh PowerPoint</Application>
  <PresentationFormat>Widescreen</PresentationFormat>
  <Paragraphs>203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Symbol</vt:lpstr>
      <vt:lpstr>Office Theme</vt:lpstr>
      <vt:lpstr>  AccelRR8 Consortium NonProfit &lt;Service Name&gt; Service </vt:lpstr>
      <vt:lpstr>Deliverables Produced During the Review Stage</vt:lpstr>
      <vt:lpstr>Service Hypothesis</vt:lpstr>
      <vt:lpstr>Preliminary Cost Estimates and WSJF</vt:lpstr>
      <vt:lpstr>Deliverables Produced During the Analysis Stage</vt:lpstr>
      <vt:lpstr>Offering Alternatives</vt:lpstr>
      <vt:lpstr>Refined Cost Estimates and WSJF</vt:lpstr>
      <vt:lpstr>Service MVP  Component Descriptions</vt:lpstr>
      <vt:lpstr>Lean Business Case (1/5)</vt:lpstr>
      <vt:lpstr>Lean Business Case (2/5)</vt:lpstr>
      <vt:lpstr>Lean Business Case (3/5)</vt:lpstr>
      <vt:lpstr>Lean Business Case (4/5)</vt:lpstr>
      <vt:lpstr>Lean Business Case (5/5)</vt:lpstr>
      <vt:lpstr>Deliverables Produced During the Implementing - MVP Stage</vt:lpstr>
      <vt:lpstr>Service MVP  Component Descriptions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for Digital Architect Consulting Services</dc:title>
  <dc:creator>Rich Reba</dc:creator>
  <cp:lastModifiedBy>Rich Reba</cp:lastModifiedBy>
  <cp:revision>113</cp:revision>
  <cp:lastPrinted>2023-12-07T14:04:48Z</cp:lastPrinted>
  <dcterms:created xsi:type="dcterms:W3CDTF">2023-08-22T19:09:59Z</dcterms:created>
  <dcterms:modified xsi:type="dcterms:W3CDTF">2024-10-24T18:24:03Z</dcterms:modified>
</cp:coreProperties>
</file>