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18"/>
  </p:notesMasterIdLst>
  <p:sldIdLst>
    <p:sldId id="256" r:id="rId3"/>
    <p:sldId id="278" r:id="rId4"/>
    <p:sldId id="264" r:id="rId5"/>
    <p:sldId id="266" r:id="rId6"/>
    <p:sldId id="279" r:id="rId7"/>
    <p:sldId id="276" r:id="rId8"/>
    <p:sldId id="277" r:id="rId9"/>
    <p:sldId id="268" r:id="rId10"/>
    <p:sldId id="269" r:id="rId11"/>
    <p:sldId id="270" r:id="rId12"/>
    <p:sldId id="271" r:id="rId13"/>
    <p:sldId id="272" r:id="rId14"/>
    <p:sldId id="281" r:id="rId15"/>
    <p:sldId id="280" r:id="rId16"/>
    <p:sldId id="275"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9" roundtripDataSignature="AMtx7mhwEp+Eio5qReXqYqUwMP31HB0A8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AB143F-4C99-C24B-ABCA-9A1BBADA0156}" v="3" dt="2026-08-09T19:39:54.7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56"/>
    <p:restoredTop sz="95714"/>
  </p:normalViewPr>
  <p:slideViewPr>
    <p:cSldViewPr snapToGrid="0">
      <p:cViewPr varScale="1">
        <p:scale>
          <a:sx n="137" d="100"/>
          <a:sy n="137" d="100"/>
        </p:scale>
        <p:origin x="3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customschemas.google.com/relationships/presentationmetadata" Target="meta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h Reba" userId="55db41ab6eb3f845" providerId="LiveId" clId="{0E19DA16-244C-5B50-BE0F-52911DD4CA7E}"/>
    <pc:docChg chg="custSel modSld">
      <pc:chgData name="Rich Reba" userId="55db41ab6eb3f845" providerId="LiveId" clId="{0E19DA16-244C-5B50-BE0F-52911DD4CA7E}" dt="2026-08-09T19:39:54.762" v="885"/>
      <pc:docMkLst>
        <pc:docMk/>
      </pc:docMkLst>
      <pc:sldChg chg="modSp mod">
        <pc:chgData name="Rich Reba" userId="55db41ab6eb3f845" providerId="LiveId" clId="{0E19DA16-244C-5B50-BE0F-52911DD4CA7E}" dt="2026-08-09T19:25:47.601" v="718" actId="20577"/>
        <pc:sldMkLst>
          <pc:docMk/>
          <pc:sldMk cId="0" sldId="256"/>
        </pc:sldMkLst>
        <pc:spChg chg="mod">
          <ac:chgData name="Rich Reba" userId="55db41ab6eb3f845" providerId="LiveId" clId="{0E19DA16-244C-5B50-BE0F-52911DD4CA7E}" dt="2026-08-09T19:25:47.601" v="718" actId="20577"/>
          <ac:spMkLst>
            <pc:docMk/>
            <pc:sldMk cId="0" sldId="256"/>
            <ac:spMk id="91" creationId="{00000000-0000-0000-0000-000000000000}"/>
          </ac:spMkLst>
        </pc:spChg>
      </pc:sldChg>
      <pc:sldChg chg="modSp mod">
        <pc:chgData name="Rich Reba" userId="55db41ab6eb3f845" providerId="LiveId" clId="{0E19DA16-244C-5B50-BE0F-52911DD4CA7E}" dt="2026-08-09T19:38:31.430" v="756" actId="20577"/>
        <pc:sldMkLst>
          <pc:docMk/>
          <pc:sldMk cId="1272635936" sldId="264"/>
        </pc:sldMkLst>
        <pc:graphicFrameChg chg="modGraphic">
          <ac:chgData name="Rich Reba" userId="55db41ab6eb3f845" providerId="LiveId" clId="{0E19DA16-244C-5B50-BE0F-52911DD4CA7E}" dt="2026-08-09T19:38:31.430" v="756" actId="20577"/>
          <ac:graphicFrameMkLst>
            <pc:docMk/>
            <pc:sldMk cId="1272635936" sldId="264"/>
            <ac:graphicFrameMk id="5" creationId="{4B70F3A5-8062-29A2-30D0-2783CB3DFCCA}"/>
          </ac:graphicFrameMkLst>
        </pc:graphicFrameChg>
      </pc:sldChg>
      <pc:sldChg chg="modSp mod">
        <pc:chgData name="Rich Reba" userId="55db41ab6eb3f845" providerId="LiveId" clId="{0E19DA16-244C-5B50-BE0F-52911DD4CA7E}" dt="2026-08-09T19:15:26.765" v="158" actId="20577"/>
        <pc:sldMkLst>
          <pc:docMk/>
          <pc:sldMk cId="4188122143" sldId="266"/>
        </pc:sldMkLst>
        <pc:graphicFrameChg chg="modGraphic">
          <ac:chgData name="Rich Reba" userId="55db41ab6eb3f845" providerId="LiveId" clId="{0E19DA16-244C-5B50-BE0F-52911DD4CA7E}" dt="2026-08-09T19:15:26.765" v="158" actId="20577"/>
          <ac:graphicFrameMkLst>
            <pc:docMk/>
            <pc:sldMk cId="4188122143" sldId="266"/>
            <ac:graphicFrameMk id="6" creationId="{DA3B7C68-A7A8-1CF8-C46B-DD7B5A05617E}"/>
          </ac:graphicFrameMkLst>
        </pc:graphicFrameChg>
      </pc:sldChg>
      <pc:sldChg chg="modSp mod">
        <pc:chgData name="Rich Reba" userId="55db41ab6eb3f845" providerId="LiveId" clId="{0E19DA16-244C-5B50-BE0F-52911DD4CA7E}" dt="2026-08-09T19:38:39.435" v="764" actId="20577"/>
        <pc:sldMkLst>
          <pc:docMk/>
          <pc:sldMk cId="1243007551" sldId="268"/>
        </pc:sldMkLst>
        <pc:graphicFrameChg chg="modGraphic">
          <ac:chgData name="Rich Reba" userId="55db41ab6eb3f845" providerId="LiveId" clId="{0E19DA16-244C-5B50-BE0F-52911DD4CA7E}" dt="2026-08-09T19:38:39.435" v="764" actId="20577"/>
          <ac:graphicFrameMkLst>
            <pc:docMk/>
            <pc:sldMk cId="1243007551" sldId="268"/>
            <ac:graphicFrameMk id="2" creationId="{849548E0-A616-4177-21C8-C63119ADCD53}"/>
          </ac:graphicFrameMkLst>
        </pc:graphicFrameChg>
      </pc:sldChg>
      <pc:sldChg chg="modSp mod">
        <pc:chgData name="Rich Reba" userId="55db41ab6eb3f845" providerId="LiveId" clId="{0E19DA16-244C-5B50-BE0F-52911DD4CA7E}" dt="2026-08-09T19:18:38.979" v="405" actId="20577"/>
        <pc:sldMkLst>
          <pc:docMk/>
          <pc:sldMk cId="450257364" sldId="269"/>
        </pc:sldMkLst>
        <pc:graphicFrameChg chg="modGraphic">
          <ac:chgData name="Rich Reba" userId="55db41ab6eb3f845" providerId="LiveId" clId="{0E19DA16-244C-5B50-BE0F-52911DD4CA7E}" dt="2026-08-09T19:18:38.979" v="405" actId="20577"/>
          <ac:graphicFrameMkLst>
            <pc:docMk/>
            <pc:sldMk cId="450257364" sldId="269"/>
            <ac:graphicFrameMk id="2" creationId="{849548E0-A616-4177-21C8-C63119ADCD53}"/>
          </ac:graphicFrameMkLst>
        </pc:graphicFrameChg>
      </pc:sldChg>
      <pc:sldChg chg="modSp mod">
        <pc:chgData name="Rich Reba" userId="55db41ab6eb3f845" providerId="LiveId" clId="{0E19DA16-244C-5B50-BE0F-52911DD4CA7E}" dt="2026-08-09T19:21:32.870" v="556" actId="20577"/>
        <pc:sldMkLst>
          <pc:docMk/>
          <pc:sldMk cId="4255637138" sldId="270"/>
        </pc:sldMkLst>
        <pc:graphicFrameChg chg="modGraphic">
          <ac:chgData name="Rich Reba" userId="55db41ab6eb3f845" providerId="LiveId" clId="{0E19DA16-244C-5B50-BE0F-52911DD4CA7E}" dt="2026-08-09T19:21:32.870" v="556" actId="20577"/>
          <ac:graphicFrameMkLst>
            <pc:docMk/>
            <pc:sldMk cId="4255637138" sldId="270"/>
            <ac:graphicFrameMk id="3" creationId="{14B79CD4-17D9-A460-45EE-070B6CD3DAFF}"/>
          </ac:graphicFrameMkLst>
        </pc:graphicFrameChg>
      </pc:sldChg>
      <pc:sldChg chg="modSp mod">
        <pc:chgData name="Rich Reba" userId="55db41ab6eb3f845" providerId="LiveId" clId="{0E19DA16-244C-5B50-BE0F-52911DD4CA7E}" dt="2026-08-09T19:24:10.574" v="667" actId="20577"/>
        <pc:sldMkLst>
          <pc:docMk/>
          <pc:sldMk cId="67448461" sldId="271"/>
        </pc:sldMkLst>
        <pc:graphicFrameChg chg="modGraphic">
          <ac:chgData name="Rich Reba" userId="55db41ab6eb3f845" providerId="LiveId" clId="{0E19DA16-244C-5B50-BE0F-52911DD4CA7E}" dt="2026-08-09T19:24:10.574" v="667" actId="20577"/>
          <ac:graphicFrameMkLst>
            <pc:docMk/>
            <pc:sldMk cId="67448461" sldId="271"/>
            <ac:graphicFrameMk id="2" creationId="{59DCEAC8-DB72-C8D9-0DB4-F8D83D801ADB}"/>
          </ac:graphicFrameMkLst>
        </pc:graphicFrameChg>
      </pc:sldChg>
      <pc:sldChg chg="modSp mod">
        <pc:chgData name="Rich Reba" userId="55db41ab6eb3f845" providerId="LiveId" clId="{0E19DA16-244C-5B50-BE0F-52911DD4CA7E}" dt="2026-08-09T19:24:21.846" v="679" actId="20577"/>
        <pc:sldMkLst>
          <pc:docMk/>
          <pc:sldMk cId="3088802820" sldId="272"/>
        </pc:sldMkLst>
        <pc:graphicFrameChg chg="modGraphic">
          <ac:chgData name="Rich Reba" userId="55db41ab6eb3f845" providerId="LiveId" clId="{0E19DA16-244C-5B50-BE0F-52911DD4CA7E}" dt="2026-08-09T19:24:21.846" v="679" actId="20577"/>
          <ac:graphicFrameMkLst>
            <pc:docMk/>
            <pc:sldMk cId="3088802820" sldId="272"/>
            <ac:graphicFrameMk id="3" creationId="{F1699409-9005-50C8-4771-BC86CF9F9048}"/>
          </ac:graphicFrameMkLst>
        </pc:graphicFrameChg>
      </pc:sldChg>
      <pc:sldChg chg="modSp">
        <pc:chgData name="Rich Reba" userId="55db41ab6eb3f845" providerId="LiveId" clId="{0E19DA16-244C-5B50-BE0F-52911DD4CA7E}" dt="2026-08-09T19:39:54.762" v="885"/>
        <pc:sldMkLst>
          <pc:docMk/>
          <pc:sldMk cId="2639682451" sldId="275"/>
        </pc:sldMkLst>
        <pc:graphicFrameChg chg="mod">
          <ac:chgData name="Rich Reba" userId="55db41ab6eb3f845" providerId="LiveId" clId="{0E19DA16-244C-5B50-BE0F-52911DD4CA7E}" dt="2026-08-09T19:39:54.762" v="885"/>
          <ac:graphicFrameMkLst>
            <pc:docMk/>
            <pc:sldMk cId="2639682451" sldId="275"/>
            <ac:graphicFrameMk id="8" creationId="{EAC54515-146B-F050-4501-5918908F45C7}"/>
          </ac:graphicFrameMkLst>
        </pc:graphicFrameChg>
      </pc:sldChg>
      <pc:sldChg chg="modSp mod">
        <pc:chgData name="Rich Reba" userId="55db41ab6eb3f845" providerId="LiveId" clId="{0E19DA16-244C-5B50-BE0F-52911DD4CA7E}" dt="2026-08-09T19:16:36.022" v="255" actId="20577"/>
        <pc:sldMkLst>
          <pc:docMk/>
          <pc:sldMk cId="368434212" sldId="277"/>
        </pc:sldMkLst>
        <pc:graphicFrameChg chg="modGraphic">
          <ac:chgData name="Rich Reba" userId="55db41ab6eb3f845" providerId="LiveId" clId="{0E19DA16-244C-5B50-BE0F-52911DD4CA7E}" dt="2026-08-09T19:16:36.022" v="255" actId="20577"/>
          <ac:graphicFrameMkLst>
            <pc:docMk/>
            <pc:sldMk cId="368434212" sldId="277"/>
            <ac:graphicFrameMk id="4" creationId="{DF0CCA37-1217-B7D3-8320-72D1D9B53C50}"/>
          </ac:graphicFrameMkLst>
        </pc:graphicFrameChg>
      </pc:sldChg>
      <pc:sldChg chg="modSp mod">
        <pc:chgData name="Rich Reba" userId="55db41ab6eb3f845" providerId="LiveId" clId="{0E19DA16-244C-5B50-BE0F-52911DD4CA7E}" dt="2026-08-09T19:39:31.854" v="883" actId="20577"/>
        <pc:sldMkLst>
          <pc:docMk/>
          <pc:sldMk cId="3960435043" sldId="281"/>
        </pc:sldMkLst>
        <pc:graphicFrameChg chg="modGraphic">
          <ac:chgData name="Rich Reba" userId="55db41ab6eb3f845" providerId="LiveId" clId="{0E19DA16-244C-5B50-BE0F-52911DD4CA7E}" dt="2026-08-09T19:39:31.854" v="883" actId="20577"/>
          <ac:graphicFrameMkLst>
            <pc:docMk/>
            <pc:sldMk cId="3960435043" sldId="281"/>
            <ac:graphicFrameMk id="5" creationId="{4B70F3A5-8062-29A2-30D0-2783CB3DFCCA}"/>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2669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031788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60340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03821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91149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0197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56342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550657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63304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91849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73674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9"/>
          <p:cNvPicPr preferRelativeResize="0"/>
          <p:nvPr/>
        </p:nvPicPr>
        <p:blipFill rotWithShape="1">
          <a:blip r:embed="rId2">
            <a:alphaModFix/>
          </a:blip>
          <a:srcRect/>
          <a:stretch/>
        </p:blipFill>
        <p:spPr>
          <a:xfrm>
            <a:off x="-11724" y="-27804"/>
            <a:ext cx="12252960" cy="2242865"/>
          </a:xfrm>
          <a:prstGeom prst="rect">
            <a:avLst/>
          </a:prstGeom>
          <a:noFill/>
          <a:ln>
            <a:noFill/>
          </a:ln>
        </p:spPr>
      </p:pic>
      <p:sp>
        <p:nvSpPr>
          <p:cNvPr id="14" name="Google Shape;14;p9"/>
          <p:cNvSpPr/>
          <p:nvPr/>
        </p:nvSpPr>
        <p:spPr>
          <a:xfrm>
            <a:off x="10036908" y="136525"/>
            <a:ext cx="1914769" cy="1316404"/>
          </a:xfrm>
          <a:prstGeom prst="rect">
            <a:avLst/>
          </a:prstGeom>
          <a:solidFill>
            <a:schemeClr val="l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5;p9"/>
          <p:cNvSpPr txBox="1">
            <a:spLocks noGrp="1"/>
          </p:cNvSpPr>
          <p:nvPr>
            <p:ph type="ctrTitle"/>
          </p:nvPr>
        </p:nvSpPr>
        <p:spPr>
          <a:xfrm>
            <a:off x="1524000" y="2215660"/>
            <a:ext cx="9144000" cy="1915625"/>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9"/>
          <p:cNvSpPr txBox="1">
            <a:spLocks noGrp="1"/>
          </p:cNvSpPr>
          <p:nvPr>
            <p:ph type="subTitle" idx="1"/>
          </p:nvPr>
        </p:nvSpPr>
        <p:spPr>
          <a:xfrm>
            <a:off x="1524000" y="4223361"/>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
        <p:nvSpPr>
          <p:cNvPr id="19" name="Google Shape;19;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20" name="Google Shape;20;p9"/>
          <p:cNvPicPr preferRelativeResize="0"/>
          <p:nvPr/>
        </p:nvPicPr>
        <p:blipFill rotWithShape="1">
          <a:blip r:embed="rId3">
            <a:alphaModFix/>
          </a:blip>
          <a:srcRect/>
          <a:stretch/>
        </p:blipFill>
        <p:spPr>
          <a:xfrm>
            <a:off x="10156095" y="227868"/>
            <a:ext cx="1649044" cy="1133718"/>
          </a:xfrm>
          <a:prstGeom prst="rect">
            <a:avLst/>
          </a:prstGeom>
          <a:solidFill>
            <a:schemeClr val="lt1"/>
          </a:solid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14"/>
          <p:cNvSpPr txBox="1">
            <a:spLocks noGrp="1"/>
          </p:cNvSpPr>
          <p:nvPr>
            <p:ph type="title"/>
          </p:nvPr>
        </p:nvSpPr>
        <p:spPr>
          <a:xfrm>
            <a:off x="839788" y="365125"/>
            <a:ext cx="8937258"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1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1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1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6"/>
          <p:cNvSpPr txBox="1">
            <a:spLocks noGrp="1"/>
          </p:cNvSpPr>
          <p:nvPr>
            <p:ph type="body" idx="1"/>
          </p:nvPr>
        </p:nvSpPr>
        <p:spPr>
          <a:xfrm>
            <a:off x="5183188" y="1594339"/>
            <a:ext cx="6172200" cy="4266712"/>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1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17"/>
          <p:cNvSpPr>
            <a:spLocks noGrp="1"/>
          </p:cNvSpPr>
          <p:nvPr>
            <p:ph type="pic" idx="2"/>
          </p:nvPr>
        </p:nvSpPr>
        <p:spPr>
          <a:xfrm>
            <a:off x="5183188" y="1594338"/>
            <a:ext cx="6172200" cy="4266712"/>
          </a:xfrm>
          <a:prstGeom prst="rect">
            <a:avLst/>
          </a:prstGeom>
          <a:noFill/>
          <a:ln>
            <a:noFill/>
          </a:ln>
        </p:spPr>
      </p:sp>
      <p:sp>
        <p:nvSpPr>
          <p:cNvPr id="70" name="Google Shape;70;p1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18"/>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1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2"/>
        <p:cNvGrpSpPr/>
        <p:nvPr/>
      </p:nvGrpSpPr>
      <p:grpSpPr>
        <a:xfrm>
          <a:off x="0" y="0"/>
          <a:ext cx="0" cy="0"/>
          <a:chOff x="0" y="0"/>
          <a:chExt cx="0" cy="0"/>
        </a:xfrm>
      </p:grpSpPr>
      <p:pic>
        <p:nvPicPr>
          <p:cNvPr id="13" name="Google Shape;13;p9"/>
          <p:cNvPicPr preferRelativeResize="0"/>
          <p:nvPr/>
        </p:nvPicPr>
        <p:blipFill rotWithShape="1">
          <a:blip r:embed="rId2">
            <a:alphaModFix/>
          </a:blip>
          <a:srcRect/>
          <a:stretch/>
        </p:blipFill>
        <p:spPr>
          <a:xfrm>
            <a:off x="-11724" y="-27804"/>
            <a:ext cx="12252960" cy="2242865"/>
          </a:xfrm>
          <a:prstGeom prst="rect">
            <a:avLst/>
          </a:prstGeom>
          <a:noFill/>
          <a:ln>
            <a:noFill/>
          </a:ln>
        </p:spPr>
      </p:pic>
      <p:sp>
        <p:nvSpPr>
          <p:cNvPr id="14" name="Google Shape;14;p9"/>
          <p:cNvSpPr/>
          <p:nvPr/>
        </p:nvSpPr>
        <p:spPr>
          <a:xfrm>
            <a:off x="10036908" y="136525"/>
            <a:ext cx="1914769" cy="1316404"/>
          </a:xfrm>
          <a:prstGeom prst="rect">
            <a:avLst/>
          </a:prstGeom>
          <a:solidFill>
            <a:schemeClr val="l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5;p9"/>
          <p:cNvSpPr txBox="1">
            <a:spLocks noGrp="1"/>
          </p:cNvSpPr>
          <p:nvPr>
            <p:ph type="ctrTitle"/>
          </p:nvPr>
        </p:nvSpPr>
        <p:spPr>
          <a:xfrm>
            <a:off x="1524000" y="2215660"/>
            <a:ext cx="9144000" cy="1915625"/>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9"/>
          <p:cNvSpPr txBox="1">
            <a:spLocks noGrp="1"/>
          </p:cNvSpPr>
          <p:nvPr>
            <p:ph type="subTitle" idx="1"/>
          </p:nvPr>
        </p:nvSpPr>
        <p:spPr>
          <a:xfrm>
            <a:off x="1524000" y="4223361"/>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20" name="Google Shape;20;p9"/>
          <p:cNvPicPr preferRelativeResize="0"/>
          <p:nvPr/>
        </p:nvPicPr>
        <p:blipFill rotWithShape="1">
          <a:blip r:embed="rId3">
            <a:alphaModFix/>
          </a:blip>
          <a:srcRect/>
          <a:stretch/>
        </p:blipFill>
        <p:spPr>
          <a:xfrm>
            <a:off x="10156095" y="227868"/>
            <a:ext cx="1649044" cy="1133718"/>
          </a:xfrm>
          <a:prstGeom prst="rect">
            <a:avLst/>
          </a:prstGeom>
          <a:solidFill>
            <a:schemeClr val="lt1"/>
          </a:solidFill>
          <a:ln>
            <a:noFill/>
          </a:ln>
        </p:spPr>
      </p:pic>
    </p:spTree>
    <p:extLst>
      <p:ext uri="{BB962C8B-B14F-4D97-AF65-F5344CB8AC3E}">
        <p14:creationId xmlns:p14="http://schemas.microsoft.com/office/powerpoint/2010/main" val="26746360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60"/>
        <p:cNvGrpSpPr/>
        <p:nvPr/>
      </p:nvGrpSpPr>
      <p:grpSpPr>
        <a:xfrm>
          <a:off x="0" y="0"/>
          <a:ext cx="0" cy="0"/>
          <a:chOff x="0" y="0"/>
          <a:chExt cx="0" cy="0"/>
        </a:xfrm>
      </p:grpSpPr>
      <p:sp>
        <p:nvSpPr>
          <p:cNvPr id="61" name="Google Shape;61;p1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6"/>
          <p:cNvSpPr txBox="1">
            <a:spLocks noGrp="1"/>
          </p:cNvSpPr>
          <p:nvPr>
            <p:ph type="body" idx="1"/>
          </p:nvPr>
        </p:nvSpPr>
        <p:spPr>
          <a:xfrm>
            <a:off x="5183188" y="1594339"/>
            <a:ext cx="6172200" cy="4266712"/>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1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536622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7"/>
        <p:cNvGrpSpPr/>
        <p:nvPr/>
      </p:nvGrpSpPr>
      <p:grpSpPr>
        <a:xfrm>
          <a:off x="0" y="0"/>
          <a:ext cx="0" cy="0"/>
          <a:chOff x="0" y="0"/>
          <a:chExt cx="0" cy="0"/>
        </a:xfrm>
      </p:grpSpPr>
      <p:sp>
        <p:nvSpPr>
          <p:cNvPr id="68" name="Google Shape;68;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17"/>
          <p:cNvSpPr>
            <a:spLocks noGrp="1"/>
          </p:cNvSpPr>
          <p:nvPr>
            <p:ph type="pic" idx="2"/>
          </p:nvPr>
        </p:nvSpPr>
        <p:spPr>
          <a:xfrm>
            <a:off x="5183188" y="1594338"/>
            <a:ext cx="6172200" cy="4266712"/>
          </a:xfrm>
          <a:prstGeom prst="rect">
            <a:avLst/>
          </a:prstGeom>
          <a:noFill/>
          <a:ln>
            <a:noFill/>
          </a:ln>
        </p:spPr>
      </p:sp>
      <p:sp>
        <p:nvSpPr>
          <p:cNvPr id="70" name="Google Shape;70;p1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41836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4"/>
        <p:cNvGrpSpPr/>
        <p:nvPr/>
      </p:nvGrpSpPr>
      <p:grpSpPr>
        <a:xfrm>
          <a:off x="0" y="0"/>
          <a:ext cx="0" cy="0"/>
          <a:chOff x="0" y="0"/>
          <a:chExt cx="0" cy="0"/>
        </a:xfrm>
      </p:grpSpPr>
      <p:sp>
        <p:nvSpPr>
          <p:cNvPr id="75" name="Google Shape;75;p18"/>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880138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80"/>
        <p:cNvGrpSpPr/>
        <p:nvPr/>
      </p:nvGrpSpPr>
      <p:grpSpPr>
        <a:xfrm>
          <a:off x="0" y="0"/>
          <a:ext cx="0" cy="0"/>
          <a:chOff x="0" y="0"/>
          <a:chExt cx="0" cy="0"/>
        </a:xfrm>
      </p:grpSpPr>
      <p:sp>
        <p:nvSpPr>
          <p:cNvPr id="81" name="Google Shape;81;p1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8831410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40"/>
        <p:cNvGrpSpPr/>
        <p:nvPr/>
      </p:nvGrpSpPr>
      <p:grpSpPr>
        <a:xfrm>
          <a:off x="0" y="0"/>
          <a:ext cx="0" cy="0"/>
          <a:chOff x="0" y="0"/>
          <a:chExt cx="0" cy="0"/>
        </a:xfrm>
      </p:grpSpPr>
      <p:sp>
        <p:nvSpPr>
          <p:cNvPr id="41" name="Google Shape;41;p13"/>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1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915894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1" name="Google Shape;11;p8"/>
          <p:cNvPicPr preferRelativeResize="0"/>
          <p:nvPr/>
        </p:nvPicPr>
        <p:blipFill rotWithShape="1">
          <a:blip r:embed="rId8">
            <a:alphaModFix/>
          </a:blip>
          <a:srcRect/>
          <a:stretch/>
        </p:blipFill>
        <p:spPr>
          <a:xfrm>
            <a:off x="10023232" y="136525"/>
            <a:ext cx="1914769" cy="1316404"/>
          </a:xfrm>
          <a:prstGeom prst="rect">
            <a:avLst/>
          </a:prstGeom>
          <a:solidFill>
            <a:schemeClr val="lt1"/>
          </a:solidFill>
          <a:ln>
            <a:noFill/>
          </a:ln>
        </p:spPr>
      </p:pic>
    </p:spTree>
  </p:cSld>
  <p:clrMap bg1="lt1" tx1="dk1" bg2="dk2" tx2="lt2" accent1="accent1" accent2="accent2" accent3="accent3" accent4="accent4" accent5="accent5" accent6="accent6" hlink="hlink" folHlink="folHlink"/>
  <p:sldLayoutIdLst>
    <p:sldLayoutId id="2147483649" r:id="rId1"/>
    <p:sldLayoutId id="2147483654" r:id="rId2"/>
    <p:sldLayoutId id="2147483656" r:id="rId3"/>
    <p:sldLayoutId id="2147483657" r:id="rId4"/>
    <p:sldLayoutId id="2147483658" r:id="rId5"/>
    <p:sldLayoutId id="2147483659"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1" name="Google Shape;11;p8"/>
          <p:cNvPicPr preferRelativeResize="0"/>
          <p:nvPr/>
        </p:nvPicPr>
        <p:blipFill rotWithShape="1">
          <a:blip r:embed="rId8">
            <a:alphaModFix/>
          </a:blip>
          <a:srcRect/>
          <a:stretch/>
        </p:blipFill>
        <p:spPr>
          <a:xfrm>
            <a:off x="10023232" y="136525"/>
            <a:ext cx="1914769" cy="1316404"/>
          </a:xfrm>
          <a:prstGeom prst="rect">
            <a:avLst/>
          </a:prstGeom>
          <a:solidFill>
            <a:schemeClr val="lt1"/>
          </a:solidFill>
          <a:ln>
            <a:noFill/>
          </a:ln>
        </p:spPr>
      </p:pic>
    </p:spTree>
    <p:extLst>
      <p:ext uri="{BB962C8B-B14F-4D97-AF65-F5344CB8AC3E}">
        <p14:creationId xmlns:p14="http://schemas.microsoft.com/office/powerpoint/2010/main" val="3132635061"/>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hyperlink" Target="https://scaledagileframework.com/wsjf/" TargetMode="External"/><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hyperlink" Target="https://scaledagileframework.com/epic/" TargetMode="External"/><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hyperlink" Target="https://scaledagileframework.com/epic/" TargetMode="External"/><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hyperlink" Target="http://www.scaledagileframework.com/implementation-strategies-for-business-epics/" TargetMode="External"/><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hyperlink" Target="https://scaledagileframework.com/epic/"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medium.com/@rreba3/accelerate-exponential-success-with-the-accelrr8-framework-3ee5c429bc29" TargetMode="External"/><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hyperlink" Target="https://scaledagileframework.com/epic/" TargetMode="External"/><Relationship Id="rId4" Type="http://schemas.openxmlformats.org/officeDocument/2006/relationships/hyperlink" Target="https://scaledagileframework.com/"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scaledagileframework.com/solution-context/" TargetMode="External"/><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hyperlink" Target="https://scaledagileframework.com/solution-intent/"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hyperlink" Target="https://scaledagileframework.com/solution-context/" TargetMode="External"/><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hyperlink" Target="https://scaledagileframework.com/solution-inten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
          <p:cNvSpPr txBox="1">
            <a:spLocks noGrp="1"/>
          </p:cNvSpPr>
          <p:nvPr>
            <p:ph type="ctrTitle"/>
          </p:nvPr>
        </p:nvSpPr>
        <p:spPr>
          <a:xfrm>
            <a:off x="1005444" y="2785676"/>
            <a:ext cx="10181112" cy="1915625"/>
          </a:xfrm>
          <a:prstGeom prst="rect">
            <a:avLst/>
          </a:prstGeom>
          <a:noFill/>
          <a:ln>
            <a:noFill/>
          </a:ln>
        </p:spPr>
        <p:txBody>
          <a:bodyPr spcFirstLastPara="1" wrap="square" lIns="91425" tIns="45700" rIns="91425" bIns="45700" anchor="b" anchorCtr="0">
            <a:normAutofit fontScale="90000"/>
          </a:bodyPr>
          <a:lstStyle/>
          <a:p>
            <a:br>
              <a:rPr lang="en-US" dirty="0"/>
            </a:br>
            <a:br>
              <a:rPr lang="en-US" dirty="0"/>
            </a:br>
            <a:r>
              <a:rPr lang="en-US" dirty="0"/>
              <a:t>AccelRR8 Consortium NonProfit</a:t>
            </a:r>
            <a:br>
              <a:rPr lang="en-US" dirty="0"/>
            </a:br>
            <a:r>
              <a:rPr lang="en-US" dirty="0"/>
              <a:t>Professional Networking Service v1</a:t>
            </a:r>
            <a:br>
              <a:rPr lang="en-US" dirty="0"/>
            </a:br>
            <a:endParaRPr sz="4000" dirty="0"/>
          </a:p>
        </p:txBody>
      </p:sp>
      <p:sp>
        <p:nvSpPr>
          <p:cNvPr id="91" name="Google Shape;91;p1"/>
          <p:cNvSpPr txBox="1">
            <a:spLocks noGrp="1"/>
          </p:cNvSpPr>
          <p:nvPr>
            <p:ph type="subTitle" idx="1"/>
          </p:nvPr>
        </p:nvSpPr>
        <p:spPr>
          <a:xfrm>
            <a:off x="1524000" y="4793377"/>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dirty="0"/>
              <a:t>Professional Networking Service Leader</a:t>
            </a:r>
          </a:p>
          <a:p>
            <a:pPr marL="0" lvl="0" indent="0" algn="ctr" rtl="0">
              <a:lnSpc>
                <a:spcPct val="90000"/>
              </a:lnSpc>
              <a:spcBef>
                <a:spcPts val="1000"/>
              </a:spcBef>
              <a:spcAft>
                <a:spcPts val="0"/>
              </a:spcAft>
              <a:buClr>
                <a:schemeClr val="dk1"/>
              </a:buClr>
              <a:buSzPts val="2400"/>
              <a:buNone/>
            </a:pPr>
            <a:r>
              <a:rPr lang="en-US" dirty="0"/>
              <a:t>August 9, 2026</a:t>
            </a:r>
          </a:p>
        </p:txBody>
      </p:sp>
      <p:sp>
        <p:nvSpPr>
          <p:cNvPr id="2" name="Google Shape;18;p9">
            <a:extLst>
              <a:ext uri="{FF2B5EF4-FFF2-40B4-BE49-F238E27FC236}">
                <a16:creationId xmlns:a16="http://schemas.microsoft.com/office/drawing/2014/main" id="{B78BEAA4-CC48-1EF1-1035-C48CDEB46C11}"/>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EB244C-C85F-010E-A084-D8B6D90C7236}"/>
              </a:ext>
            </a:extLst>
          </p:cNvPr>
          <p:cNvSpPr>
            <a:spLocks noGrp="1"/>
          </p:cNvSpPr>
          <p:nvPr>
            <p:ph type="title"/>
          </p:nvPr>
        </p:nvSpPr>
        <p:spPr/>
        <p:txBody>
          <a:bodyPr/>
          <a:lstStyle/>
          <a:p>
            <a:r>
              <a:rPr lang="en-US" dirty="0"/>
              <a:t>Deliverables Produced During the Review Stage</a:t>
            </a:r>
          </a:p>
        </p:txBody>
      </p:sp>
      <p:sp>
        <p:nvSpPr>
          <p:cNvPr id="8" name="Rectangle 7">
            <a:extLst>
              <a:ext uri="{FF2B5EF4-FFF2-40B4-BE49-F238E27FC236}">
                <a16:creationId xmlns:a16="http://schemas.microsoft.com/office/drawing/2014/main" id="{987596B8-DA7D-1389-CC1D-C0EF98524A91}"/>
              </a:ext>
            </a:extLst>
          </p:cNvPr>
          <p:cNvSpPr/>
          <p:nvPr/>
        </p:nvSpPr>
        <p:spPr>
          <a:xfrm>
            <a:off x="969319"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Reviewing Stage</a:t>
            </a:r>
          </a:p>
        </p:txBody>
      </p:sp>
      <p:sp>
        <p:nvSpPr>
          <p:cNvPr id="9" name="Rectangle 8">
            <a:extLst>
              <a:ext uri="{FF2B5EF4-FFF2-40B4-BE49-F238E27FC236}">
                <a16:creationId xmlns:a16="http://schemas.microsoft.com/office/drawing/2014/main" id="{DD965822-0847-B892-7BF1-00B31C259B5C}"/>
              </a:ext>
            </a:extLst>
          </p:cNvPr>
          <p:cNvSpPr/>
          <p:nvPr/>
        </p:nvSpPr>
        <p:spPr>
          <a:xfrm>
            <a:off x="3733400"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Analysis Stage</a:t>
            </a:r>
          </a:p>
        </p:txBody>
      </p:sp>
      <p:sp>
        <p:nvSpPr>
          <p:cNvPr id="10" name="Rectangle 9">
            <a:extLst>
              <a:ext uri="{FF2B5EF4-FFF2-40B4-BE49-F238E27FC236}">
                <a16:creationId xmlns:a16="http://schemas.microsoft.com/office/drawing/2014/main" id="{B77354B4-F67E-5C6D-DE69-888030925B00}"/>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2" name="Google Shape;18;p9">
            <a:extLst>
              <a:ext uri="{FF2B5EF4-FFF2-40B4-BE49-F238E27FC236}">
                <a16:creationId xmlns:a16="http://schemas.microsoft.com/office/drawing/2014/main" id="{048B8078-0A98-B723-6D07-9C874B8373FA}"/>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3888112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Service Hypothesis</a:t>
            </a:r>
            <a:endParaRPr dirty="0"/>
          </a:p>
        </p:txBody>
      </p:sp>
      <p:graphicFrame>
        <p:nvGraphicFramePr>
          <p:cNvPr id="5" name="Table 4">
            <a:extLst>
              <a:ext uri="{FF2B5EF4-FFF2-40B4-BE49-F238E27FC236}">
                <a16:creationId xmlns:a16="http://schemas.microsoft.com/office/drawing/2014/main" id="{4B70F3A5-8062-29A2-30D0-2783CB3DFCCA}"/>
              </a:ext>
            </a:extLst>
          </p:cNvPr>
          <p:cNvGraphicFramePr>
            <a:graphicFrameLocks noGrp="1"/>
          </p:cNvGraphicFramePr>
          <p:nvPr>
            <p:extLst>
              <p:ext uri="{D42A27DB-BD31-4B8C-83A1-F6EECF244321}">
                <p14:modId xmlns:p14="http://schemas.microsoft.com/office/powerpoint/2010/main" val="4211833919"/>
              </p:ext>
            </p:extLst>
          </p:nvPr>
        </p:nvGraphicFramePr>
        <p:xfrm>
          <a:off x="338203" y="1336398"/>
          <a:ext cx="11649205" cy="5242560"/>
        </p:xfrm>
        <a:graphic>
          <a:graphicData uri="http://schemas.openxmlformats.org/drawingml/2006/table">
            <a:tbl>
              <a:tblPr firstRow="1" bandRow="1">
                <a:tableStyleId>{5940675A-B579-460E-94D1-54222C63F5DA}</a:tableStyleId>
              </a:tblPr>
              <a:tblGrid>
                <a:gridCol w="2066018">
                  <a:extLst>
                    <a:ext uri="{9D8B030D-6E8A-4147-A177-3AD203B41FA5}">
                      <a16:colId xmlns:a16="http://schemas.microsoft.com/office/drawing/2014/main" val="533583650"/>
                    </a:ext>
                  </a:extLst>
                </a:gridCol>
                <a:gridCol w="9583187">
                  <a:extLst>
                    <a:ext uri="{9D8B030D-6E8A-4147-A177-3AD203B41FA5}">
                      <a16:colId xmlns:a16="http://schemas.microsoft.com/office/drawing/2014/main" val="20127695"/>
                    </a:ext>
                  </a:extLst>
                </a:gridCol>
              </a:tblGrid>
              <a:tr h="246717">
                <a:tc>
                  <a:txBody>
                    <a:bodyPr/>
                    <a:lstStyle/>
                    <a:p>
                      <a:r>
                        <a:rPr lang="en-US" sz="1600" b="0" dirty="0"/>
                        <a:t>Funnel Entry Date</a:t>
                      </a:r>
                    </a:p>
                  </a:txBody>
                  <a:tcPr/>
                </a:tc>
                <a:tc>
                  <a:txBody>
                    <a:bodyPr/>
                    <a:lstStyle/>
                    <a:p>
                      <a:r>
                        <a:rPr lang="en-US" dirty="0"/>
                        <a:t>February 1, 2024</a:t>
                      </a:r>
                    </a:p>
                  </a:txBody>
                  <a:tcPr/>
                </a:tc>
                <a:extLst>
                  <a:ext uri="{0D108BD9-81ED-4DB2-BD59-A6C34878D82A}">
                    <a16:rowId xmlns:a16="http://schemas.microsoft.com/office/drawing/2014/main" val="1092281396"/>
                  </a:ext>
                </a:extLst>
              </a:tr>
              <a:tr h="246717">
                <a:tc>
                  <a:txBody>
                    <a:bodyPr/>
                    <a:lstStyle/>
                    <a:p>
                      <a:r>
                        <a:rPr lang="en-US" sz="1600" b="0" dirty="0"/>
                        <a:t>Service Name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Professional Networking</a:t>
                      </a:r>
                    </a:p>
                  </a:txBody>
                  <a:tcPr/>
                </a:tc>
                <a:extLst>
                  <a:ext uri="{0D108BD9-81ED-4DB2-BD59-A6C34878D82A}">
                    <a16:rowId xmlns:a16="http://schemas.microsoft.com/office/drawing/2014/main" val="2029769333"/>
                  </a:ext>
                </a:extLst>
              </a:tr>
              <a:tr h="246717">
                <a:tc>
                  <a:txBody>
                    <a:bodyPr/>
                    <a:lstStyle/>
                    <a:p>
                      <a:r>
                        <a:rPr lang="en-US" sz="1600" b="0" dirty="0"/>
                        <a:t>Service Owner</a:t>
                      </a:r>
                    </a:p>
                  </a:txBody>
                  <a:tcPr/>
                </a:tc>
                <a:tc>
                  <a:txBody>
                    <a:bodyPr/>
                    <a:lstStyle/>
                    <a:p>
                      <a:r>
                        <a:rPr lang="en-US" dirty="0"/>
                        <a:t>Professional Networking Service Leader</a:t>
                      </a:r>
                    </a:p>
                  </a:txBody>
                  <a:tcPr/>
                </a:tc>
                <a:extLst>
                  <a:ext uri="{0D108BD9-81ED-4DB2-BD59-A6C34878D82A}">
                    <a16:rowId xmlns:a16="http://schemas.microsoft.com/office/drawing/2014/main" val="872717509"/>
                  </a:ext>
                </a:extLst>
              </a:tr>
              <a:tr h="1794303">
                <a:tc>
                  <a:txBody>
                    <a:bodyPr/>
                    <a:lstStyle/>
                    <a:p>
                      <a:r>
                        <a:rPr lang="en-US" sz="1600" b="0" dirty="0"/>
                        <a:t>Service Description</a:t>
                      </a:r>
                    </a:p>
                  </a:txBody>
                  <a:tcPr/>
                </a:tc>
                <a:tc>
                  <a:txBody>
                    <a:bodyPr/>
                    <a:lstStyle/>
                    <a:p>
                      <a:pPr lvl="2"/>
                      <a:r>
                        <a:rPr lang="en-US" sz="1400" b="1" i="0" u="none" strike="noStrike" cap="none" dirty="0">
                          <a:solidFill>
                            <a:schemeClr val="tx1"/>
                          </a:solidFill>
                          <a:effectLst/>
                          <a:latin typeface="+mn-lt"/>
                          <a:ea typeface="+mn-ea"/>
                          <a:cs typeface="+mn-cs"/>
                          <a:sym typeface="Arial"/>
                        </a:rPr>
                        <a:t>FOR</a:t>
                      </a:r>
                      <a:r>
                        <a:rPr lang="en-US" sz="1400" b="0" i="0" u="none" strike="noStrike" cap="none" dirty="0">
                          <a:solidFill>
                            <a:schemeClr val="tx1"/>
                          </a:solidFill>
                          <a:effectLst/>
                          <a:latin typeface="+mn-lt"/>
                          <a:ea typeface="+mn-ea"/>
                          <a:cs typeface="+mn-cs"/>
                          <a:sym typeface="Arial"/>
                        </a:rPr>
                        <a:t> enterprising leaders involved or interested in the Tech Services industry</a:t>
                      </a:r>
                    </a:p>
                    <a:p>
                      <a:pPr lvl="2"/>
                      <a:r>
                        <a:rPr lang="en-US" sz="1400" b="1" i="0" u="none" strike="noStrike" cap="none" dirty="0">
                          <a:solidFill>
                            <a:schemeClr val="tx1"/>
                          </a:solidFill>
                          <a:effectLst/>
                          <a:latin typeface="+mn-lt"/>
                          <a:ea typeface="+mn-ea"/>
                          <a:cs typeface="+mn-cs"/>
                          <a:sym typeface="Arial"/>
                        </a:rPr>
                        <a:t>WHO</a:t>
                      </a:r>
                      <a:r>
                        <a:rPr lang="en-US" sz="1400" b="0" i="0" u="none" strike="noStrike" cap="none" dirty="0">
                          <a:solidFill>
                            <a:schemeClr val="tx1"/>
                          </a:solidFill>
                          <a:effectLst/>
                          <a:latin typeface="+mn-lt"/>
                          <a:ea typeface="+mn-ea"/>
                          <a:cs typeface="+mn-cs"/>
                          <a:sym typeface="Arial"/>
                        </a:rPr>
                        <a:t> want to improve their career opportunities and the Tech Services industry’s impact</a:t>
                      </a:r>
                    </a:p>
                    <a:p>
                      <a:pPr lvl="2"/>
                      <a:r>
                        <a:rPr lang="en-US" sz="1400" b="1" i="0" u="none" strike="noStrike" cap="none" dirty="0">
                          <a:solidFill>
                            <a:schemeClr val="tx1"/>
                          </a:solidFill>
                          <a:effectLst/>
                          <a:latin typeface="+mn-lt"/>
                          <a:ea typeface="+mn-ea"/>
                          <a:cs typeface="+mn-cs"/>
                          <a:sym typeface="Arial"/>
                        </a:rPr>
                        <a:t>THE</a:t>
                      </a:r>
                      <a:r>
                        <a:rPr lang="en-US" sz="1400" b="0" i="0" u="none" strike="noStrike" cap="none" dirty="0">
                          <a:solidFill>
                            <a:schemeClr val="tx1"/>
                          </a:solidFill>
                          <a:effectLst/>
                          <a:latin typeface="+mn-lt"/>
                          <a:ea typeface="+mn-ea"/>
                          <a:cs typeface="+mn-cs"/>
                          <a:sym typeface="Arial"/>
                        </a:rPr>
                        <a:t> AccelRR8 Consortium Non-Profit’s Professional Networking Service</a:t>
                      </a:r>
                    </a:p>
                    <a:p>
                      <a:pPr lvl="2"/>
                      <a:r>
                        <a:rPr lang="en-US" sz="1400" b="1" i="0" u="none" strike="noStrike" cap="none" dirty="0">
                          <a:solidFill>
                            <a:schemeClr val="tx1"/>
                          </a:solidFill>
                          <a:effectLst/>
                          <a:latin typeface="+mn-lt"/>
                          <a:ea typeface="+mn-ea"/>
                          <a:cs typeface="+mn-cs"/>
                          <a:sym typeface="Arial"/>
                        </a:rPr>
                        <a:t>IS AN</a:t>
                      </a:r>
                      <a:r>
                        <a:rPr lang="en-US" sz="1400" b="0" i="0" u="none" strike="noStrike" cap="none" dirty="0">
                          <a:solidFill>
                            <a:schemeClr val="tx1"/>
                          </a:solidFill>
                          <a:effectLst/>
                          <a:latin typeface="+mn-lt"/>
                          <a:ea typeface="+mn-ea"/>
                          <a:cs typeface="+mn-cs"/>
                          <a:sym typeface="Arial"/>
                        </a:rPr>
                        <a:t> </a:t>
                      </a:r>
                      <a:r>
                        <a:rPr lang="en-US" sz="1400" b="1" i="0" u="none" strike="noStrike" cap="none" dirty="0">
                          <a:solidFill>
                            <a:schemeClr val="accent2"/>
                          </a:solidFill>
                          <a:effectLst/>
                          <a:latin typeface="+mn-lt"/>
                          <a:ea typeface="+mn-ea"/>
                          <a:cs typeface="+mn-cs"/>
                          <a:sym typeface="Arial"/>
                        </a:rPr>
                        <a:t>AI</a:t>
                      </a:r>
                      <a:r>
                        <a:rPr lang="en-US" sz="1400" b="0" i="0" u="none" strike="noStrike" cap="none" dirty="0">
                          <a:solidFill>
                            <a:schemeClr val="tx1"/>
                          </a:solidFill>
                          <a:effectLst/>
                          <a:latin typeface="+mn-lt"/>
                          <a:ea typeface="+mn-ea"/>
                          <a:cs typeface="+mn-cs"/>
                          <a:sym typeface="Arial"/>
                        </a:rPr>
                        <a:t>-powered support function connecting a global AccelRR8 professional network</a:t>
                      </a:r>
                    </a:p>
                    <a:p>
                      <a:pPr lvl="2"/>
                      <a:r>
                        <a:rPr lang="en-US" sz="1400" b="1" i="0" u="none" strike="noStrike" cap="none" dirty="0">
                          <a:solidFill>
                            <a:schemeClr val="tx1"/>
                          </a:solidFill>
                          <a:effectLst/>
                          <a:latin typeface="+mn-lt"/>
                          <a:ea typeface="+mn-ea"/>
                          <a:cs typeface="+mn-cs"/>
                          <a:sym typeface="Arial"/>
                        </a:rPr>
                        <a:t>THAT </a:t>
                      </a:r>
                      <a:r>
                        <a:rPr lang="en-US" sz="1400" b="0" i="0" u="none" strike="noStrike" cap="none" dirty="0">
                          <a:solidFill>
                            <a:schemeClr val="tx1"/>
                          </a:solidFill>
                          <a:effectLst/>
                          <a:latin typeface="+mn-lt"/>
                          <a:ea typeface="+mn-ea"/>
                          <a:cs typeface="+mn-cs"/>
                          <a:sym typeface="Arial"/>
                        </a:rPr>
                        <a:t>helps leaders to network and practice growing value exponentially at scale together, to accelerate success for themselves, their industry, and all humanity</a:t>
                      </a:r>
                      <a:r>
                        <a:rPr lang="en-US" dirty="0"/>
                        <a:t>.</a:t>
                      </a:r>
                      <a:endParaRPr lang="en-US" sz="1400" b="0" i="0" u="none" strike="noStrike" cap="none" dirty="0">
                        <a:solidFill>
                          <a:schemeClr val="tx1"/>
                        </a:solidFill>
                        <a:effectLst/>
                        <a:latin typeface="+mn-lt"/>
                        <a:ea typeface="+mn-ea"/>
                        <a:cs typeface="+mn-cs"/>
                        <a:sym typeface="Arial"/>
                      </a:endParaRPr>
                    </a:p>
                    <a:p>
                      <a:pPr lvl="2"/>
                      <a:r>
                        <a:rPr lang="en-US" sz="1400" b="1" i="0" u="none" strike="noStrike" cap="none" dirty="0">
                          <a:solidFill>
                            <a:schemeClr val="tx1"/>
                          </a:solidFill>
                          <a:effectLst/>
                          <a:latin typeface="+mn-lt"/>
                          <a:ea typeface="+mn-ea"/>
                          <a:cs typeface="+mn-cs"/>
                          <a:sym typeface="Arial"/>
                        </a:rPr>
                        <a:t>UNLIKE</a:t>
                      </a:r>
                      <a:r>
                        <a:rPr lang="en-US" sz="1400" b="0" i="0" u="none" strike="noStrike" cap="none" dirty="0">
                          <a:solidFill>
                            <a:schemeClr val="tx1"/>
                          </a:solidFill>
                          <a:effectLst/>
                          <a:latin typeface="+mn-lt"/>
                          <a:ea typeface="+mn-ea"/>
                          <a:cs typeface="+mn-cs"/>
                          <a:sym typeface="Arial"/>
                        </a:rPr>
                        <a:t> other associations that support professional networks,</a:t>
                      </a:r>
                    </a:p>
                    <a:p>
                      <a:pPr lvl="2"/>
                      <a:r>
                        <a:rPr lang="en-US" sz="1400" b="1" i="0" u="none" strike="noStrike" cap="none" dirty="0">
                          <a:solidFill>
                            <a:schemeClr val="tx1"/>
                          </a:solidFill>
                          <a:effectLst/>
                          <a:latin typeface="+mn-lt"/>
                          <a:ea typeface="+mn-ea"/>
                          <a:cs typeface="+mn-cs"/>
                          <a:sym typeface="Arial"/>
                        </a:rPr>
                        <a:t>OUR SERVICE’s</a:t>
                      </a:r>
                      <a:r>
                        <a:rPr lang="en-US" sz="1400" b="0" i="0" u="none" strike="noStrike" cap="none" dirty="0">
                          <a:solidFill>
                            <a:schemeClr val="tx1"/>
                          </a:solidFill>
                          <a:effectLst/>
                          <a:latin typeface="+mn-lt"/>
                          <a:ea typeface="+mn-ea"/>
                          <a:cs typeface="+mn-cs"/>
                          <a:sym typeface="Arial"/>
                        </a:rPr>
                        <a:t> own success will be a key proof point of our Consortium’s core premise:  due to </a:t>
                      </a:r>
                      <a:r>
                        <a:rPr lang="en-US" sz="1400" b="1" i="0" u="none" strike="noStrike" cap="none" dirty="0">
                          <a:solidFill>
                            <a:srgbClr val="00B050"/>
                          </a:solidFill>
                          <a:effectLst/>
                          <a:latin typeface="+mn-lt"/>
                          <a:ea typeface="+mn-ea"/>
                          <a:cs typeface="+mn-cs"/>
                          <a:sym typeface="Arial"/>
                        </a:rPr>
                        <a:t>network effects</a:t>
                      </a:r>
                      <a:r>
                        <a:rPr lang="en-US" sz="1400" b="0" i="0" u="none" strike="noStrike" cap="none" dirty="0">
                          <a:solidFill>
                            <a:schemeClr val="tx1"/>
                          </a:solidFill>
                          <a:effectLst/>
                          <a:latin typeface="+mn-lt"/>
                          <a:ea typeface="+mn-ea"/>
                          <a:cs typeface="+mn-cs"/>
                          <a:sym typeface="Arial"/>
                        </a:rPr>
                        <a:t>, value for all subscribers grows exponentially as their numbers grow linearly.</a:t>
                      </a:r>
                    </a:p>
                  </a:txBody>
                  <a:tcPr/>
                </a:tc>
                <a:extLst>
                  <a:ext uri="{0D108BD9-81ED-4DB2-BD59-A6C34878D82A}">
                    <a16:rowId xmlns:a16="http://schemas.microsoft.com/office/drawing/2014/main" val="2047728929"/>
                  </a:ext>
                </a:extLst>
              </a:tr>
              <a:tr h="538291">
                <a:tc>
                  <a:txBody>
                    <a:bodyPr/>
                    <a:lstStyle/>
                    <a:p>
                      <a:r>
                        <a:rPr lang="en-US" sz="1600" b="0" dirty="0"/>
                        <a:t>Business Outcomes</a:t>
                      </a:r>
                    </a:p>
                  </a:txBody>
                  <a:tcPr/>
                </a:tc>
                <a:tc>
                  <a:txBody>
                    <a:bodyPr/>
                    <a:lstStyle/>
                    <a:p>
                      <a:pPr marL="125413" indent="-125413">
                        <a:buFont typeface="Arial" panose="020B0604020202020204" pitchFamily="34" charset="0"/>
                        <a:buChar char="•"/>
                        <a:tabLst/>
                      </a:pPr>
                      <a:r>
                        <a:rPr lang="en-US" b="1" dirty="0"/>
                        <a:t>Subscribers</a:t>
                      </a:r>
                      <a:r>
                        <a:rPr lang="en-US" dirty="0"/>
                        <a:t>:  improve their professional network, skills, brand, and career opportunities</a:t>
                      </a:r>
                    </a:p>
                    <a:p>
                      <a:pPr marL="125413" indent="-125413">
                        <a:buFont typeface="Arial" panose="020B0604020202020204" pitchFamily="34" charset="0"/>
                        <a:buChar char="•"/>
                        <a:tabLst/>
                      </a:pPr>
                      <a:r>
                        <a:rPr lang="en-US" b="1" dirty="0"/>
                        <a:t>Tech Services industry</a:t>
                      </a:r>
                      <a:r>
                        <a:rPr lang="en-US" dirty="0"/>
                        <a:t>:  cross-company learning among leaders with scarce talents</a:t>
                      </a:r>
                    </a:p>
                    <a:p>
                      <a:pPr marL="125413" indent="-125413">
                        <a:buFont typeface="Arial" panose="020B0604020202020204" pitchFamily="34" charset="0"/>
                        <a:buChar char="•"/>
                        <a:tabLst/>
                      </a:pPr>
                      <a:r>
                        <a:rPr lang="en-US" b="1" dirty="0"/>
                        <a:t>AccelRR8 Consortium</a:t>
                      </a:r>
                      <a:r>
                        <a:rPr lang="en-US" dirty="0"/>
                        <a:t>: exponential benefits via Market Network Effects (per </a:t>
                      </a:r>
                      <a:r>
                        <a:rPr lang="en-US" dirty="0" err="1"/>
                        <a:t>nfx.com</a:t>
                      </a:r>
                      <a:r>
                        <a:rPr lang="en-US" dirty="0"/>
                        <a:t>)</a:t>
                      </a:r>
                    </a:p>
                  </a:txBody>
                  <a:tcPr/>
                </a:tc>
                <a:extLst>
                  <a:ext uri="{0D108BD9-81ED-4DB2-BD59-A6C34878D82A}">
                    <a16:rowId xmlns:a16="http://schemas.microsoft.com/office/drawing/2014/main" val="2321847728"/>
                  </a:ext>
                </a:extLst>
              </a:tr>
              <a:tr h="246717">
                <a:tc>
                  <a:txBody>
                    <a:bodyPr/>
                    <a:lstStyle/>
                    <a:p>
                      <a:r>
                        <a:rPr lang="en-US" sz="1600" b="0" dirty="0"/>
                        <a:t>Leading Indicators</a:t>
                      </a:r>
                    </a:p>
                  </a:txBody>
                  <a:tcPr/>
                </a:tc>
                <a:tc>
                  <a:txBody>
                    <a:bodyPr/>
                    <a:lstStyle/>
                    <a:p>
                      <a:r>
                        <a:rPr lang="en-US" dirty="0"/>
                        <a:t>1000 subscribers in the AccelRR8 professional network who are net promoters of this service</a:t>
                      </a:r>
                    </a:p>
                  </a:txBody>
                  <a:tcPr/>
                </a:tc>
                <a:extLst>
                  <a:ext uri="{0D108BD9-81ED-4DB2-BD59-A6C34878D82A}">
                    <a16:rowId xmlns:a16="http://schemas.microsoft.com/office/drawing/2014/main" val="1735022269"/>
                  </a:ext>
                </a:extLst>
              </a:tr>
              <a:tr h="426147">
                <a:tc>
                  <a:txBody>
                    <a:bodyPr/>
                    <a:lstStyle/>
                    <a:p>
                      <a:r>
                        <a:rPr lang="en-US" sz="1600" b="0" dirty="0"/>
                        <a:t>Non-functional Requirements</a:t>
                      </a:r>
                    </a:p>
                  </a:txBody>
                  <a:tcPr/>
                </a:tc>
                <a:tc>
                  <a:txBody>
                    <a:bodyPr/>
                    <a:lstStyle/>
                    <a:p>
                      <a:pPr marL="114300" indent="-114300">
                        <a:buFont typeface="Arial" panose="020B0604020202020204" pitchFamily="34" charset="0"/>
                        <a:buChar char="•"/>
                        <a:tabLst/>
                      </a:pPr>
                      <a:r>
                        <a:rPr lang="en-US" b="1" dirty="0"/>
                        <a:t>Desirability:</a:t>
                      </a:r>
                      <a:r>
                        <a:rPr lang="en-US" dirty="0"/>
                        <a:t>  all want exponential success, few know how to generate it, and stakeholders like our values and culture</a:t>
                      </a:r>
                    </a:p>
                    <a:p>
                      <a:pPr marL="114300" indent="-114300">
                        <a:buFont typeface="Arial" panose="020B0604020202020204" pitchFamily="34" charset="0"/>
                        <a:buChar char="•"/>
                        <a:tabLst/>
                      </a:pPr>
                      <a:r>
                        <a:rPr lang="en-US" b="1" dirty="0"/>
                        <a:t>Viability:</a:t>
                      </a:r>
                      <a:r>
                        <a:rPr lang="en-US" dirty="0"/>
                        <a:t>  the Consortium has the required capabilities and isn’t trying to boil the ocean</a:t>
                      </a:r>
                    </a:p>
                    <a:p>
                      <a:pPr marL="114300" indent="-114300">
                        <a:buFont typeface="Arial" panose="020B0604020202020204" pitchFamily="34" charset="0"/>
                        <a:buChar char="•"/>
                        <a:tabLst/>
                      </a:pPr>
                      <a:r>
                        <a:rPr lang="en-US" b="1" dirty="0"/>
                        <a:t>Sustainability:</a:t>
                      </a:r>
                      <a:r>
                        <a:rPr lang="en-US" dirty="0"/>
                        <a:t>  the core premise (proven accelerators mathematically capable of exponential results) is enduring</a:t>
                      </a:r>
                    </a:p>
                    <a:p>
                      <a:pPr marL="114300" indent="-114300">
                        <a:buFont typeface="Arial" panose="020B0604020202020204" pitchFamily="34" charset="0"/>
                        <a:buChar char="•"/>
                        <a:tabLst/>
                      </a:pPr>
                      <a:r>
                        <a:rPr lang="en-US" b="1" dirty="0"/>
                        <a:t>Performance:</a:t>
                      </a:r>
                      <a:r>
                        <a:rPr lang="en-US" dirty="0"/>
                        <a:t>  the Service’s own success will be a key proof of our core premise, creating a virtuous cycle</a:t>
                      </a:r>
                    </a:p>
                    <a:p>
                      <a:pPr marL="114300" indent="-114300">
                        <a:buFont typeface="Arial" panose="020B0604020202020204" pitchFamily="34" charset="0"/>
                        <a:buChar char="•"/>
                        <a:tabLst/>
                      </a:pPr>
                      <a:r>
                        <a:rPr lang="en-US" b="1" dirty="0"/>
                        <a:t>Usability:</a:t>
                      </a:r>
                      <a:r>
                        <a:rPr lang="en-US" dirty="0"/>
                        <a:t>  becoming and remaining a subscriber must be incredibly easy</a:t>
                      </a:r>
                    </a:p>
                  </a:txBody>
                  <a:tcPr/>
                </a:tc>
                <a:extLst>
                  <a:ext uri="{0D108BD9-81ED-4DB2-BD59-A6C34878D82A}">
                    <a16:rowId xmlns:a16="http://schemas.microsoft.com/office/drawing/2014/main" val="2256456919"/>
                  </a:ext>
                </a:extLst>
              </a:tr>
            </a:tbl>
          </a:graphicData>
        </a:graphic>
      </p:graphicFrame>
      <p:sp>
        <p:nvSpPr>
          <p:cNvPr id="2" name="Rectangle 1">
            <a:extLst>
              <a:ext uri="{FF2B5EF4-FFF2-40B4-BE49-F238E27FC236}">
                <a16:creationId xmlns:a16="http://schemas.microsoft.com/office/drawing/2014/main" id="{82989B31-3419-2492-D5BA-841085EFFD20}"/>
              </a:ext>
            </a:extLst>
          </p:cNvPr>
          <p:cNvSpPr/>
          <p:nvPr/>
        </p:nvSpPr>
        <p:spPr>
          <a:xfrm>
            <a:off x="969319"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Reviewing Stage</a:t>
            </a:r>
          </a:p>
        </p:txBody>
      </p:sp>
      <p:sp>
        <p:nvSpPr>
          <p:cNvPr id="3" name="Rectangle 2">
            <a:extLst>
              <a:ext uri="{FF2B5EF4-FFF2-40B4-BE49-F238E27FC236}">
                <a16:creationId xmlns:a16="http://schemas.microsoft.com/office/drawing/2014/main" id="{DCFC860D-600B-CFAA-AA67-87D20B2848A4}"/>
              </a:ext>
            </a:extLst>
          </p:cNvPr>
          <p:cNvSpPr/>
          <p:nvPr/>
        </p:nvSpPr>
        <p:spPr>
          <a:xfrm>
            <a:off x="3733400"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Analysis Stage</a:t>
            </a:r>
          </a:p>
        </p:txBody>
      </p:sp>
      <p:sp>
        <p:nvSpPr>
          <p:cNvPr id="4" name="Rectangle 3">
            <a:extLst>
              <a:ext uri="{FF2B5EF4-FFF2-40B4-BE49-F238E27FC236}">
                <a16:creationId xmlns:a16="http://schemas.microsoft.com/office/drawing/2014/main" id="{CCE98312-7BF3-634D-DE2E-782C5EA05BB7}"/>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Google Shape;18;p9">
            <a:extLst>
              <a:ext uri="{FF2B5EF4-FFF2-40B4-BE49-F238E27FC236}">
                <a16:creationId xmlns:a16="http://schemas.microsoft.com/office/drawing/2014/main" id="{F57F7845-FD8A-DCA4-39DB-1B7D9CF0BA2A}"/>
              </a:ext>
            </a:extLst>
          </p:cNvPr>
          <p:cNvSpPr txBox="1">
            <a:spLocks noGrp="1"/>
          </p:cNvSpPr>
          <p:nvPr>
            <p:ph type="ftr" idx="11"/>
          </p:nvPr>
        </p:nvSpPr>
        <p:spPr>
          <a:xfrm>
            <a:off x="4038600" y="6556766"/>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1272635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Preliminary Cost Estimates and WSJF</a:t>
            </a:r>
            <a:endParaRPr dirty="0"/>
          </a:p>
        </p:txBody>
      </p:sp>
      <p:sp>
        <p:nvSpPr>
          <p:cNvPr id="2" name="Rectangle 1">
            <a:extLst>
              <a:ext uri="{FF2B5EF4-FFF2-40B4-BE49-F238E27FC236}">
                <a16:creationId xmlns:a16="http://schemas.microsoft.com/office/drawing/2014/main" id="{93ADFCCD-21B2-3785-8E68-1D6E82E2DA76}"/>
              </a:ext>
            </a:extLst>
          </p:cNvPr>
          <p:cNvSpPr/>
          <p:nvPr/>
        </p:nvSpPr>
        <p:spPr>
          <a:xfrm>
            <a:off x="969319"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Reviewing Stage</a:t>
            </a:r>
          </a:p>
        </p:txBody>
      </p:sp>
      <p:sp>
        <p:nvSpPr>
          <p:cNvPr id="3" name="Rectangle 2">
            <a:extLst>
              <a:ext uri="{FF2B5EF4-FFF2-40B4-BE49-F238E27FC236}">
                <a16:creationId xmlns:a16="http://schemas.microsoft.com/office/drawing/2014/main" id="{7D3EA3BE-F73F-61F7-3F9D-5A3302400620}"/>
              </a:ext>
            </a:extLst>
          </p:cNvPr>
          <p:cNvSpPr/>
          <p:nvPr/>
        </p:nvSpPr>
        <p:spPr>
          <a:xfrm>
            <a:off x="3733400"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Analysis Stage</a:t>
            </a:r>
          </a:p>
        </p:txBody>
      </p:sp>
      <p:sp>
        <p:nvSpPr>
          <p:cNvPr id="4" name="Rectangle 3">
            <a:extLst>
              <a:ext uri="{FF2B5EF4-FFF2-40B4-BE49-F238E27FC236}">
                <a16:creationId xmlns:a16="http://schemas.microsoft.com/office/drawing/2014/main" id="{B59D7C28-1555-09D1-4AEE-8F09AA4FB520}"/>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graphicFrame>
        <p:nvGraphicFramePr>
          <p:cNvPr id="6" name="Table 5">
            <a:extLst>
              <a:ext uri="{FF2B5EF4-FFF2-40B4-BE49-F238E27FC236}">
                <a16:creationId xmlns:a16="http://schemas.microsoft.com/office/drawing/2014/main" id="{DA3B7C68-A7A8-1CF8-C46B-DD7B5A05617E}"/>
              </a:ext>
            </a:extLst>
          </p:cNvPr>
          <p:cNvGraphicFramePr>
            <a:graphicFrameLocks noGrp="1"/>
          </p:cNvGraphicFramePr>
          <p:nvPr>
            <p:extLst>
              <p:ext uri="{D42A27DB-BD31-4B8C-83A1-F6EECF244321}">
                <p14:modId xmlns:p14="http://schemas.microsoft.com/office/powerpoint/2010/main" val="3620108967"/>
              </p:ext>
            </p:extLst>
          </p:nvPr>
        </p:nvGraphicFramePr>
        <p:xfrm>
          <a:off x="969319" y="1590327"/>
          <a:ext cx="10795218" cy="4724400"/>
        </p:xfrm>
        <a:graphic>
          <a:graphicData uri="http://schemas.openxmlformats.org/drawingml/2006/table">
            <a:tbl>
              <a:tblPr firstRow="1" bandRow="1">
                <a:tableStyleId>{5940675A-B579-460E-94D1-54222C63F5DA}</a:tableStyleId>
              </a:tblPr>
              <a:tblGrid>
                <a:gridCol w="1851940">
                  <a:extLst>
                    <a:ext uri="{9D8B030D-6E8A-4147-A177-3AD203B41FA5}">
                      <a16:colId xmlns:a16="http://schemas.microsoft.com/office/drawing/2014/main" val="533583650"/>
                    </a:ext>
                  </a:extLst>
                </a:gridCol>
                <a:gridCol w="8943278">
                  <a:extLst>
                    <a:ext uri="{9D8B030D-6E8A-4147-A177-3AD203B41FA5}">
                      <a16:colId xmlns:a16="http://schemas.microsoft.com/office/drawing/2014/main" val="20127695"/>
                    </a:ext>
                  </a:extLst>
                </a:gridCol>
              </a:tblGrid>
              <a:tr h="146916">
                <a:tc>
                  <a:txBody>
                    <a:bodyPr/>
                    <a:lstStyle/>
                    <a:p>
                      <a:r>
                        <a:rPr lang="en-US" sz="1600" b="0" dirty="0"/>
                        <a:t>Preliminary Cost Estimates</a:t>
                      </a:r>
                    </a:p>
                  </a:txBody>
                  <a:tcPr/>
                </a:tc>
                <a:tc>
                  <a:txBody>
                    <a:bodyPr/>
                    <a:lstStyle/>
                    <a:p>
                      <a:r>
                        <a:rPr lang="en-US" sz="1400" b="0" i="0" u="none" strike="noStrike" cap="none" dirty="0">
                          <a:solidFill>
                            <a:schemeClr val="tx1"/>
                          </a:solidFill>
                          <a:effectLst/>
                          <a:latin typeface="+mn-lt"/>
                          <a:ea typeface="+mn-ea"/>
                          <a:cs typeface="+mn-cs"/>
                          <a:sym typeface="Arial"/>
                        </a:rPr>
                        <a:t>$0:  Donation of volunteer time by leaders at no cost to AccelRR8 Consortium Non-Profit</a:t>
                      </a:r>
                    </a:p>
                    <a:p>
                      <a:r>
                        <a:rPr lang="en-US" sz="1400" b="0" i="0" u="none" strike="noStrike" cap="none" dirty="0">
                          <a:solidFill>
                            <a:schemeClr val="tx1"/>
                          </a:solidFill>
                          <a:effectLst/>
                          <a:latin typeface="+mn-lt"/>
                          <a:ea typeface="+mn-ea"/>
                          <a:cs typeface="+mn-cs"/>
                          <a:sym typeface="Arial"/>
                        </a:rPr>
                        <a:t>$0:  Use of LinkedIn and other platforms at no cost to AccelRR8 Consortium Non-Profit</a:t>
                      </a:r>
                    </a:p>
                  </a:txBody>
                  <a:tcPr/>
                </a:tc>
                <a:extLst>
                  <a:ext uri="{0D108BD9-81ED-4DB2-BD59-A6C34878D82A}">
                    <a16:rowId xmlns:a16="http://schemas.microsoft.com/office/drawing/2014/main" val="1092281396"/>
                  </a:ext>
                </a:extLst>
              </a:tr>
              <a:tr h="146916">
                <a:tc>
                  <a:txBody>
                    <a:bodyPr/>
                    <a:lstStyle/>
                    <a:p>
                      <a:r>
                        <a:rPr lang="en-US" sz="1600" b="0" dirty="0"/>
                        <a:t>Relative Priority</a:t>
                      </a:r>
                    </a:p>
                    <a:p>
                      <a:endParaRPr lang="en-US" sz="1600" b="0" dirty="0"/>
                    </a:p>
                    <a:p>
                      <a:r>
                        <a:rPr lang="en-US" sz="1200" b="0" i="1" dirty="0"/>
                        <a:t>Method:  Weighted Shortest Job First (WSJF) Score*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WSJF = 4, which is COST OF DELAY / JOB SIZE = 35 / 8</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COST OF DELAY = 11 + 11 + 13 = 35</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USER-BUSINESS VALUE = 11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Do subscribers prefer this over other services?   13:  the “grow value exponentially at scale” skill is valued</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What is the revenue impact on the Consortium?   1:  the MVP is a free service, though some may donate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Are there negative effects if we delay?   20:  the Consortium’s other services depend on this one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TIME CRITICALITY = 11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Is there a fixed deadline?   1:  no fixed deadline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Will they wait for us or move to another Solution?   20:  AI maturity threatens relevancy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What is the current effect on subscriber satisfaction?   13:  collaborators want exposure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RISK REDUCTION AND/OR OPPORTUNITY ENABLEMENT = 13</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Reduces the risk of this or future delivery?   13:  critical mass of subscribers is needed for network effects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Is there value in the information we receive?  13:  willingness of subscribers to engage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Enable new business opportunities?  13:  subscribers will learn about other Consortium services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JOB SIZE = 8;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Leaders will need to personally engage 100+ initial subscribers (6 months);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Each new subscriber will need to engage 10 additional subscribers (6 months)</a:t>
                      </a:r>
                    </a:p>
                  </a:txBody>
                  <a:tcPr/>
                </a:tc>
                <a:extLst>
                  <a:ext uri="{0D108BD9-81ED-4DB2-BD59-A6C34878D82A}">
                    <a16:rowId xmlns:a16="http://schemas.microsoft.com/office/drawing/2014/main" val="2029769333"/>
                  </a:ext>
                </a:extLst>
              </a:tr>
            </a:tbl>
          </a:graphicData>
        </a:graphic>
      </p:graphicFrame>
      <p:sp>
        <p:nvSpPr>
          <p:cNvPr id="5" name="Google Shape;18;p9">
            <a:extLst>
              <a:ext uri="{FF2B5EF4-FFF2-40B4-BE49-F238E27FC236}">
                <a16:creationId xmlns:a16="http://schemas.microsoft.com/office/drawing/2014/main" id="{C5748C3E-8A70-958C-B8E4-332FC5861BB3}"/>
              </a:ext>
            </a:extLst>
          </p:cNvPr>
          <p:cNvSpPr txBox="1">
            <a:spLocks noGrp="1"/>
          </p:cNvSpPr>
          <p:nvPr>
            <p:ph type="ftr" idx="11"/>
          </p:nvPr>
        </p:nvSpPr>
        <p:spPr>
          <a:xfrm>
            <a:off x="4038600" y="6545917"/>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
        <p:nvSpPr>
          <p:cNvPr id="7" name="TextBox 6">
            <a:extLst>
              <a:ext uri="{FF2B5EF4-FFF2-40B4-BE49-F238E27FC236}">
                <a16:creationId xmlns:a16="http://schemas.microsoft.com/office/drawing/2014/main" id="{9D6D51B8-EAEB-EAC5-1B5E-A8C3E5DDAE00}"/>
              </a:ext>
            </a:extLst>
          </p:cNvPr>
          <p:cNvSpPr txBox="1"/>
          <p:nvPr/>
        </p:nvSpPr>
        <p:spPr>
          <a:xfrm>
            <a:off x="969319" y="6284748"/>
            <a:ext cx="7090403" cy="246221"/>
          </a:xfrm>
          <a:prstGeom prst="rect">
            <a:avLst/>
          </a:prstGeom>
          <a:noFill/>
        </p:spPr>
        <p:txBody>
          <a:bodyPr wrap="none" rtlCol="0">
            <a:spAutoFit/>
          </a:bodyPr>
          <a:lstStyle/>
          <a:p>
            <a:r>
              <a:rPr lang="en-US" sz="1000" dirty="0"/>
              <a:t>*See </a:t>
            </a:r>
            <a:r>
              <a:rPr lang="en-US" sz="1000" dirty="0">
                <a:hlinkClick r:id="rId3"/>
              </a:rPr>
              <a:t>SAFe WSJF article</a:t>
            </a:r>
            <a:r>
              <a:rPr lang="en-US" sz="1000" dirty="0"/>
              <a:t>; scale for each root parameter is 1, 2, 3, 5, 8, 13, 20 (subset of the modified Fibonacci sequence)</a:t>
            </a:r>
          </a:p>
        </p:txBody>
      </p:sp>
    </p:spTree>
    <p:extLst>
      <p:ext uri="{BB962C8B-B14F-4D97-AF65-F5344CB8AC3E}">
        <p14:creationId xmlns:p14="http://schemas.microsoft.com/office/powerpoint/2010/main" val="4188122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EB244C-C85F-010E-A084-D8B6D90C7236}"/>
              </a:ext>
            </a:extLst>
          </p:cNvPr>
          <p:cNvSpPr>
            <a:spLocks noGrp="1"/>
          </p:cNvSpPr>
          <p:nvPr>
            <p:ph type="title"/>
          </p:nvPr>
        </p:nvSpPr>
        <p:spPr/>
        <p:txBody>
          <a:bodyPr/>
          <a:lstStyle/>
          <a:p>
            <a:r>
              <a:rPr lang="en-US" dirty="0"/>
              <a:t>Deliverables Produced During the</a:t>
            </a:r>
            <a:br>
              <a:rPr lang="en-US" dirty="0"/>
            </a:br>
            <a:r>
              <a:rPr lang="en-US" dirty="0"/>
              <a:t>Analysis Stage</a:t>
            </a:r>
          </a:p>
        </p:txBody>
      </p:sp>
      <p:sp>
        <p:nvSpPr>
          <p:cNvPr id="2" name="Rectangle 1">
            <a:extLst>
              <a:ext uri="{FF2B5EF4-FFF2-40B4-BE49-F238E27FC236}">
                <a16:creationId xmlns:a16="http://schemas.microsoft.com/office/drawing/2014/main" id="{127D92EC-B5B2-F4BF-5DE9-95612E9E3BED}"/>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3" name="Rectangle 2">
            <a:extLst>
              <a:ext uri="{FF2B5EF4-FFF2-40B4-BE49-F238E27FC236}">
                <a16:creationId xmlns:a16="http://schemas.microsoft.com/office/drawing/2014/main" id="{1EB6C110-0BBD-1173-FD61-0D99BC146576}"/>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4" name="Rectangle 3">
            <a:extLst>
              <a:ext uri="{FF2B5EF4-FFF2-40B4-BE49-F238E27FC236}">
                <a16:creationId xmlns:a16="http://schemas.microsoft.com/office/drawing/2014/main" id="{F6C5FF28-EDA5-D92B-FEB5-078711BC8358}"/>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Google Shape;18;p9">
            <a:extLst>
              <a:ext uri="{FF2B5EF4-FFF2-40B4-BE49-F238E27FC236}">
                <a16:creationId xmlns:a16="http://schemas.microsoft.com/office/drawing/2014/main" id="{7CAB671F-9BEE-E2C8-B532-9AAC16B0D9FC}"/>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4099550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Service Alternatives</a:t>
            </a:r>
            <a:endParaRPr dirty="0"/>
          </a:p>
        </p:txBody>
      </p:sp>
      <p:graphicFrame>
        <p:nvGraphicFramePr>
          <p:cNvPr id="5" name="Table 4">
            <a:extLst>
              <a:ext uri="{FF2B5EF4-FFF2-40B4-BE49-F238E27FC236}">
                <a16:creationId xmlns:a16="http://schemas.microsoft.com/office/drawing/2014/main" id="{4B70F3A5-8062-29A2-30D0-2783CB3DFCCA}"/>
              </a:ext>
            </a:extLst>
          </p:cNvPr>
          <p:cNvGraphicFramePr>
            <a:graphicFrameLocks noGrp="1"/>
          </p:cNvGraphicFramePr>
          <p:nvPr>
            <p:extLst>
              <p:ext uri="{D42A27DB-BD31-4B8C-83A1-F6EECF244321}">
                <p14:modId xmlns:p14="http://schemas.microsoft.com/office/powerpoint/2010/main" val="199622605"/>
              </p:ext>
            </p:extLst>
          </p:nvPr>
        </p:nvGraphicFramePr>
        <p:xfrm>
          <a:off x="969319" y="1690688"/>
          <a:ext cx="9991124" cy="4316518"/>
        </p:xfrm>
        <a:graphic>
          <a:graphicData uri="http://schemas.openxmlformats.org/drawingml/2006/table">
            <a:tbl>
              <a:tblPr firstRow="1" bandRow="1">
                <a:tableStyleId>{5940675A-B579-460E-94D1-54222C63F5DA}</a:tableStyleId>
              </a:tblPr>
              <a:tblGrid>
                <a:gridCol w="2255795">
                  <a:extLst>
                    <a:ext uri="{9D8B030D-6E8A-4147-A177-3AD203B41FA5}">
                      <a16:colId xmlns:a16="http://schemas.microsoft.com/office/drawing/2014/main" val="533583650"/>
                    </a:ext>
                  </a:extLst>
                </a:gridCol>
                <a:gridCol w="7735329">
                  <a:extLst>
                    <a:ext uri="{9D8B030D-6E8A-4147-A177-3AD203B41FA5}">
                      <a16:colId xmlns:a16="http://schemas.microsoft.com/office/drawing/2014/main" val="20127695"/>
                    </a:ext>
                  </a:extLst>
                </a:gridCol>
              </a:tblGrid>
              <a:tr h="2274358">
                <a:tc>
                  <a:txBody>
                    <a:bodyPr/>
                    <a:lstStyle/>
                    <a:p>
                      <a:r>
                        <a:rPr lang="en-US" sz="1600" b="1" dirty="0"/>
                        <a:t>Alternative 1:</a:t>
                      </a:r>
                      <a:br>
                        <a:rPr lang="en-US" sz="1600" b="0" dirty="0"/>
                      </a:br>
                      <a:r>
                        <a:rPr lang="en-US" sz="1600" b="0" dirty="0"/>
                        <a:t>Global, Free, Virtual Professional Network</a:t>
                      </a:r>
                    </a:p>
                    <a:p>
                      <a:endParaRPr lang="en-US" sz="1600" b="0" dirty="0"/>
                    </a:p>
                    <a:p>
                      <a:r>
                        <a:rPr lang="en-US" sz="1600" b="0" i="1" dirty="0"/>
                        <a:t>SELECTED</a:t>
                      </a:r>
                    </a:p>
                    <a:p>
                      <a:endParaRPr lang="en-US" sz="1600" b="0" i="1" dirty="0"/>
                    </a:p>
                  </a:txBody>
                  <a:tcPr/>
                </a:tc>
                <a:tc>
                  <a:txBody>
                    <a:bodyPr/>
                    <a:lstStyle/>
                    <a:p>
                      <a:r>
                        <a:rPr lang="en-US" dirty="0"/>
                        <a:t>Help enterprising Tech Services leaders make connections and network virtually via free electronic platforms such as LinkedIn</a:t>
                      </a:r>
                    </a:p>
                  </a:txBody>
                  <a:tcPr/>
                </a:tc>
                <a:extLst>
                  <a:ext uri="{0D108BD9-81ED-4DB2-BD59-A6C34878D82A}">
                    <a16:rowId xmlns:a16="http://schemas.microsoft.com/office/drawing/2014/main" val="1092281396"/>
                  </a:ext>
                </a:extLst>
              </a:tr>
              <a:tr h="146916">
                <a:tc>
                  <a:txBody>
                    <a:bodyPr/>
                    <a:lstStyle/>
                    <a:p>
                      <a:r>
                        <a:rPr lang="en-US" sz="1600" b="1" dirty="0"/>
                        <a:t>Alternative 2:</a:t>
                      </a:r>
                      <a:br>
                        <a:rPr lang="en-US" sz="1600" b="0" dirty="0"/>
                      </a:br>
                      <a:r>
                        <a:rPr lang="en-US" sz="1600" b="0" dirty="0"/>
                        <a:t>Local, Fee-based, </a:t>
                      </a:r>
                      <a:br>
                        <a:rPr lang="en-US" sz="1600" b="0" dirty="0"/>
                      </a:br>
                      <a:r>
                        <a:rPr lang="en-US" sz="1600" b="0" dirty="0"/>
                        <a:t>In-Person </a:t>
                      </a:r>
                      <a:br>
                        <a:rPr lang="en-US" sz="1600" b="0" dirty="0"/>
                      </a:br>
                      <a:r>
                        <a:rPr lang="en-US" sz="1600" b="0" dirty="0"/>
                        <a:t>Professional Network</a:t>
                      </a:r>
                    </a:p>
                    <a:p>
                      <a:endParaRPr lang="en-US" sz="1600" b="0" dirty="0"/>
                    </a:p>
                    <a:p>
                      <a:r>
                        <a:rPr lang="en-US" sz="1600" b="0" i="1" dirty="0"/>
                        <a:t>CONSIDER FOR FUTURE VERSION</a:t>
                      </a:r>
                    </a:p>
                    <a:p>
                      <a:endParaRPr lang="en-US" sz="1600" b="0" i="1" dirty="0"/>
                    </a:p>
                  </a:txBody>
                  <a:tcPr/>
                </a:tc>
                <a:tc>
                  <a:txBody>
                    <a:bodyPr/>
                    <a:lstStyle/>
                    <a:p>
                      <a:r>
                        <a:rPr lang="en-US" dirty="0"/>
                        <a:t>(Like Toastmasters) Sponsor and host fee-based events to help enterprising Tech Services leaders make in-person connections and network in localities starting with the Washington, D.C. metro area</a:t>
                      </a:r>
                    </a:p>
                  </a:txBody>
                  <a:tcPr/>
                </a:tc>
                <a:extLst>
                  <a:ext uri="{0D108BD9-81ED-4DB2-BD59-A6C34878D82A}">
                    <a16:rowId xmlns:a16="http://schemas.microsoft.com/office/drawing/2014/main" val="2029769333"/>
                  </a:ext>
                </a:extLst>
              </a:tr>
            </a:tbl>
          </a:graphicData>
        </a:graphic>
      </p:graphicFrame>
      <p:sp>
        <p:nvSpPr>
          <p:cNvPr id="6" name="Rectangle 5">
            <a:extLst>
              <a:ext uri="{FF2B5EF4-FFF2-40B4-BE49-F238E27FC236}">
                <a16:creationId xmlns:a16="http://schemas.microsoft.com/office/drawing/2014/main" id="{EEEA9109-11FD-F460-0725-95712E9F1A03}"/>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7" name="Rectangle 6">
            <a:extLst>
              <a:ext uri="{FF2B5EF4-FFF2-40B4-BE49-F238E27FC236}">
                <a16:creationId xmlns:a16="http://schemas.microsoft.com/office/drawing/2014/main" id="{18ACE2DB-9695-6846-EBC0-CDDAB593C84D}"/>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8" name="Rectangle 7">
            <a:extLst>
              <a:ext uri="{FF2B5EF4-FFF2-40B4-BE49-F238E27FC236}">
                <a16:creationId xmlns:a16="http://schemas.microsoft.com/office/drawing/2014/main" id="{E5825B23-224F-30BC-1255-BD6819F53A15}"/>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2" name="Google Shape;18;p9">
            <a:extLst>
              <a:ext uri="{FF2B5EF4-FFF2-40B4-BE49-F238E27FC236}">
                <a16:creationId xmlns:a16="http://schemas.microsoft.com/office/drawing/2014/main" id="{B53C39C2-BA45-92C3-D93B-96BF2FF7E2EA}"/>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3191730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Refined Cost Estimates and WSJF</a:t>
            </a:r>
            <a:endParaRPr dirty="0"/>
          </a:p>
        </p:txBody>
      </p:sp>
      <p:sp>
        <p:nvSpPr>
          <p:cNvPr id="9" name="Rectangle 8">
            <a:extLst>
              <a:ext uri="{FF2B5EF4-FFF2-40B4-BE49-F238E27FC236}">
                <a16:creationId xmlns:a16="http://schemas.microsoft.com/office/drawing/2014/main" id="{35E44920-E1DB-DBA8-39D2-0F97A8DAB792}"/>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10" name="Rectangle 9">
            <a:extLst>
              <a:ext uri="{FF2B5EF4-FFF2-40B4-BE49-F238E27FC236}">
                <a16:creationId xmlns:a16="http://schemas.microsoft.com/office/drawing/2014/main" id="{1C465CE0-9D8F-416A-DC1E-6FAA36024E82}"/>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11" name="Rectangle 10">
            <a:extLst>
              <a:ext uri="{FF2B5EF4-FFF2-40B4-BE49-F238E27FC236}">
                <a16:creationId xmlns:a16="http://schemas.microsoft.com/office/drawing/2014/main" id="{33A93366-078D-A801-5B4A-525F4CD74719}"/>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3" name="Google Shape;18;p9">
            <a:extLst>
              <a:ext uri="{FF2B5EF4-FFF2-40B4-BE49-F238E27FC236}">
                <a16:creationId xmlns:a16="http://schemas.microsoft.com/office/drawing/2014/main" id="{7EF92490-8763-C122-9420-8771007CA2FA}"/>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graphicFrame>
        <p:nvGraphicFramePr>
          <p:cNvPr id="4" name="Table 3">
            <a:extLst>
              <a:ext uri="{FF2B5EF4-FFF2-40B4-BE49-F238E27FC236}">
                <a16:creationId xmlns:a16="http://schemas.microsoft.com/office/drawing/2014/main" id="{DF0CCA37-1217-B7D3-8320-72D1D9B53C50}"/>
              </a:ext>
            </a:extLst>
          </p:cNvPr>
          <p:cNvGraphicFramePr>
            <a:graphicFrameLocks noGrp="1"/>
          </p:cNvGraphicFramePr>
          <p:nvPr>
            <p:extLst>
              <p:ext uri="{D42A27DB-BD31-4B8C-83A1-F6EECF244321}">
                <p14:modId xmlns:p14="http://schemas.microsoft.com/office/powerpoint/2010/main" val="1142039925"/>
              </p:ext>
            </p:extLst>
          </p:nvPr>
        </p:nvGraphicFramePr>
        <p:xfrm>
          <a:off x="969319" y="1590327"/>
          <a:ext cx="10795218" cy="4724400"/>
        </p:xfrm>
        <a:graphic>
          <a:graphicData uri="http://schemas.openxmlformats.org/drawingml/2006/table">
            <a:tbl>
              <a:tblPr firstRow="1" bandRow="1">
                <a:tableStyleId>{5940675A-B579-460E-94D1-54222C63F5DA}</a:tableStyleId>
              </a:tblPr>
              <a:tblGrid>
                <a:gridCol w="1851940">
                  <a:extLst>
                    <a:ext uri="{9D8B030D-6E8A-4147-A177-3AD203B41FA5}">
                      <a16:colId xmlns:a16="http://schemas.microsoft.com/office/drawing/2014/main" val="533583650"/>
                    </a:ext>
                  </a:extLst>
                </a:gridCol>
                <a:gridCol w="8943278">
                  <a:extLst>
                    <a:ext uri="{9D8B030D-6E8A-4147-A177-3AD203B41FA5}">
                      <a16:colId xmlns:a16="http://schemas.microsoft.com/office/drawing/2014/main" val="20127695"/>
                    </a:ext>
                  </a:extLst>
                </a:gridCol>
              </a:tblGrid>
              <a:tr h="146916">
                <a:tc>
                  <a:txBody>
                    <a:bodyPr/>
                    <a:lstStyle/>
                    <a:p>
                      <a:r>
                        <a:rPr lang="en-US" sz="1600" b="0" dirty="0"/>
                        <a:t>Preliminary Cost Estimates</a:t>
                      </a:r>
                    </a:p>
                  </a:txBody>
                  <a:tcPr/>
                </a:tc>
                <a:tc>
                  <a:txBody>
                    <a:bodyPr/>
                    <a:lstStyle/>
                    <a:p>
                      <a:r>
                        <a:rPr lang="en-US" sz="1400" b="0" i="0" u="none" strike="noStrike" cap="none" dirty="0">
                          <a:solidFill>
                            <a:schemeClr val="tx1"/>
                          </a:solidFill>
                          <a:effectLst/>
                          <a:latin typeface="+mn-lt"/>
                          <a:ea typeface="+mn-ea"/>
                          <a:cs typeface="+mn-cs"/>
                          <a:sym typeface="Arial"/>
                        </a:rPr>
                        <a:t>$0:  Donation of volunteer time by leaders at no cost to AccelRR8 Consortium Non-Profit</a:t>
                      </a:r>
                    </a:p>
                    <a:p>
                      <a:r>
                        <a:rPr lang="en-US" sz="1400" b="0" i="0" u="none" strike="noStrike" cap="none" dirty="0">
                          <a:solidFill>
                            <a:schemeClr val="tx1"/>
                          </a:solidFill>
                          <a:effectLst/>
                          <a:latin typeface="+mn-lt"/>
                          <a:ea typeface="+mn-ea"/>
                          <a:cs typeface="+mn-cs"/>
                          <a:sym typeface="Arial"/>
                        </a:rPr>
                        <a:t>$0:  Use of LinkedIn and other platforms at no cost to AccelRR8 Consortium Non-Profit</a:t>
                      </a:r>
                    </a:p>
                  </a:txBody>
                  <a:tcPr/>
                </a:tc>
                <a:extLst>
                  <a:ext uri="{0D108BD9-81ED-4DB2-BD59-A6C34878D82A}">
                    <a16:rowId xmlns:a16="http://schemas.microsoft.com/office/drawing/2014/main" val="1092281396"/>
                  </a:ext>
                </a:extLst>
              </a:tr>
              <a:tr h="146916">
                <a:tc>
                  <a:txBody>
                    <a:bodyPr/>
                    <a:lstStyle/>
                    <a:p>
                      <a:r>
                        <a:rPr lang="en-US" sz="1600" b="0" dirty="0"/>
                        <a:t>Relative Priority</a:t>
                      </a:r>
                    </a:p>
                    <a:p>
                      <a:endParaRPr lang="en-US" sz="1600" b="0" dirty="0"/>
                    </a:p>
                    <a:p>
                      <a:r>
                        <a:rPr lang="en-US" sz="1200" b="0" i="1" dirty="0"/>
                        <a:t>Method:  Weighted Shortest Job First (WSJF) Score*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WSJF = 4, which is COST OF DELAY / JOB SIZE = 35 / 8</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COST OF DELAY = 11 + 11 + 13 = 35</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USER-BUSINESS VALUE = 11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Do subscribers prefer this over other services?   13:  the “grow value exponentially at scale” skill is valued</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What is the revenue impact on the Consortium?   1:  the MVP is a free service, though some may donate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Are there negative effects if we delay?   20:  the Consortium’s other services depend on this one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TIME CRITICALITY = 11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Is there a fixed deadline?   1:  no fixed deadline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Will they wait for us or move to another Solution?   20:  AI maturity threatens relevancy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What is the current effect on subscriber satisfaction?   13:  subscribers want exposure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RISK REDUCTION AND/OR OPPORTUNITY ENABLEMENT = 13</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Reduces the risk of this or future delivery?   13:  critical mass of subscribers is needed for network effects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Is there value in the information we receive?  13:  willingness of subscribers to engage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Enable new business opportunities?  13:  subscribers will learn about other Consortium services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JOB SIZE = 8;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Leaders will need to personally engage 100+ initial subscribers (6 months);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Each new subscriber will need to engage 10 additional subscribers (6 months)</a:t>
                      </a:r>
                    </a:p>
                  </a:txBody>
                  <a:tcPr/>
                </a:tc>
                <a:extLst>
                  <a:ext uri="{0D108BD9-81ED-4DB2-BD59-A6C34878D82A}">
                    <a16:rowId xmlns:a16="http://schemas.microsoft.com/office/drawing/2014/main" val="2029769333"/>
                  </a:ext>
                </a:extLst>
              </a:tr>
            </a:tbl>
          </a:graphicData>
        </a:graphic>
      </p:graphicFrame>
    </p:spTree>
    <p:extLst>
      <p:ext uri="{BB962C8B-B14F-4D97-AF65-F5344CB8AC3E}">
        <p14:creationId xmlns:p14="http://schemas.microsoft.com/office/powerpoint/2010/main" val="368434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(1/5)</a:t>
            </a:r>
            <a:endParaRPr dirty="0"/>
          </a:p>
        </p:txBody>
      </p:sp>
      <p:graphicFrame>
        <p:nvGraphicFramePr>
          <p:cNvPr id="2" name="Table 1">
            <a:extLst>
              <a:ext uri="{FF2B5EF4-FFF2-40B4-BE49-F238E27FC236}">
                <a16:creationId xmlns:a16="http://schemas.microsoft.com/office/drawing/2014/main" id="{849548E0-A616-4177-21C8-C63119ADCD53}"/>
              </a:ext>
            </a:extLst>
          </p:cNvPr>
          <p:cNvGraphicFramePr>
            <a:graphicFrameLocks noGrp="1"/>
          </p:cNvGraphicFramePr>
          <p:nvPr>
            <p:extLst>
              <p:ext uri="{D42A27DB-BD31-4B8C-83A1-F6EECF244321}">
                <p14:modId xmlns:p14="http://schemas.microsoft.com/office/powerpoint/2010/main" val="810455639"/>
              </p:ext>
            </p:extLst>
          </p:nvPr>
        </p:nvGraphicFramePr>
        <p:xfrm>
          <a:off x="976428" y="1690688"/>
          <a:ext cx="9971321" cy="4655651"/>
        </p:xfrm>
        <a:graphic>
          <a:graphicData uri="http://schemas.openxmlformats.org/drawingml/2006/table">
            <a:tbl>
              <a:tblPr firstRow="1" firstCol="1" bandRow="1" bandCol="1">
                <a:tableStyleId>{5940675A-B579-460E-94D1-54222C63F5DA}</a:tableStyleId>
              </a:tblPr>
              <a:tblGrid>
                <a:gridCol w="3294489">
                  <a:extLst>
                    <a:ext uri="{9D8B030D-6E8A-4147-A177-3AD203B41FA5}">
                      <a16:colId xmlns:a16="http://schemas.microsoft.com/office/drawing/2014/main" val="335540143"/>
                    </a:ext>
                  </a:extLst>
                </a:gridCol>
                <a:gridCol w="1235015">
                  <a:extLst>
                    <a:ext uri="{9D8B030D-6E8A-4147-A177-3AD203B41FA5}">
                      <a16:colId xmlns:a16="http://schemas.microsoft.com/office/drawing/2014/main" val="3520678859"/>
                    </a:ext>
                  </a:extLst>
                </a:gridCol>
                <a:gridCol w="206139">
                  <a:extLst>
                    <a:ext uri="{9D8B030D-6E8A-4147-A177-3AD203B41FA5}">
                      <a16:colId xmlns:a16="http://schemas.microsoft.com/office/drawing/2014/main" val="4207968209"/>
                    </a:ext>
                  </a:extLst>
                </a:gridCol>
                <a:gridCol w="5235678">
                  <a:extLst>
                    <a:ext uri="{9D8B030D-6E8A-4147-A177-3AD203B41FA5}">
                      <a16:colId xmlns:a16="http://schemas.microsoft.com/office/drawing/2014/main" val="1867107964"/>
                    </a:ext>
                  </a:extLst>
                </a:gridCol>
              </a:tblGrid>
              <a:tr h="1208629">
                <a:tc>
                  <a:txBody>
                    <a:bodyPr/>
                    <a:lstStyle/>
                    <a:p>
                      <a:pPr marL="0" marR="0">
                        <a:lnSpc>
                          <a:spcPct val="115000"/>
                        </a:lnSpc>
                        <a:spcBef>
                          <a:spcPts val="0"/>
                        </a:spcBef>
                        <a:spcAft>
                          <a:spcPts val="1000"/>
                        </a:spcAft>
                      </a:pPr>
                      <a:r>
                        <a:rPr lang="en-US" sz="1100" b="1" dirty="0">
                          <a:solidFill>
                            <a:schemeClr val="tx1"/>
                          </a:solidFill>
                          <a:effectLst/>
                        </a:rPr>
                        <a:t>Funnel Entry Date:   </a:t>
                      </a:r>
                    </a:p>
                    <a:p>
                      <a:pPr marL="0" marR="0">
                        <a:lnSpc>
                          <a:spcPct val="115000"/>
                        </a:lnSpc>
                        <a:spcBef>
                          <a:spcPts val="0"/>
                        </a:spcBef>
                        <a:spcAft>
                          <a:spcPts val="1000"/>
                        </a:spcAft>
                      </a:pPr>
                      <a:r>
                        <a:rPr lang="en-US" sz="1100" dirty="0">
                          <a:solidFill>
                            <a:schemeClr val="tx1"/>
                          </a:solidFill>
                          <a:effectLst/>
                        </a:rPr>
                        <a:t>February 1, 2024</a:t>
                      </a:r>
                    </a:p>
                  </a:txBody>
                  <a:tcPr marL="40793" marR="40793" marT="0" marB="0"/>
                </a:tc>
                <a:tc gridSpan="2">
                  <a:txBody>
                    <a:bodyPr/>
                    <a:lstStyle/>
                    <a:p>
                      <a:pPr marL="0" marR="0">
                        <a:lnSpc>
                          <a:spcPct val="115000"/>
                        </a:lnSpc>
                        <a:spcBef>
                          <a:spcPts val="0"/>
                        </a:spcBef>
                        <a:spcAft>
                          <a:spcPts val="1000"/>
                        </a:spcAft>
                      </a:pPr>
                      <a:r>
                        <a:rPr lang="en-US" sz="1100" b="1" dirty="0">
                          <a:solidFill>
                            <a:schemeClr val="tx1"/>
                          </a:solidFill>
                          <a:effectLst/>
                        </a:rPr>
                        <a:t>Offering Owner:</a:t>
                      </a:r>
                    </a:p>
                    <a:p>
                      <a:pPr marL="0" marR="0">
                        <a:lnSpc>
                          <a:spcPct val="115000"/>
                        </a:lnSpc>
                        <a:spcBef>
                          <a:spcPts val="0"/>
                        </a:spcBef>
                        <a:spcAft>
                          <a:spcPts val="1000"/>
                        </a:spcAft>
                      </a:pPr>
                      <a:r>
                        <a:rPr lang="en-US" sz="1100" dirty="0">
                          <a:solidFill>
                            <a:schemeClr val="tx1"/>
                          </a:solidFill>
                          <a:effectLst/>
                        </a:rPr>
                        <a:t>Professional Networking Service Leader</a:t>
                      </a:r>
                    </a:p>
                  </a:txBody>
                  <a:tcPr marL="40793" marR="40793" marT="0" marB="0"/>
                </a:tc>
                <a:tc hMerge="1">
                  <a:txBody>
                    <a:bodyPr/>
                    <a:lstStyle/>
                    <a:p>
                      <a:endParaRPr lang="en-US"/>
                    </a:p>
                  </a:txBody>
                  <a:tcPr/>
                </a:tc>
                <a:tc>
                  <a:txBody>
                    <a:bodyPr/>
                    <a:lstStyle/>
                    <a:p>
                      <a:pPr marL="0" marR="0">
                        <a:lnSpc>
                          <a:spcPct val="115000"/>
                        </a:lnSpc>
                        <a:spcBef>
                          <a:spcPts val="0"/>
                        </a:spcBef>
                        <a:spcAft>
                          <a:spcPts val="1000"/>
                        </a:spcAft>
                      </a:pPr>
                      <a:r>
                        <a:rPr lang="en-US" sz="1100" b="1" dirty="0">
                          <a:solidFill>
                            <a:schemeClr val="tx1"/>
                          </a:solidFill>
                          <a:effectLst/>
                        </a:rPr>
                        <a:t>Key Stakeholders:</a:t>
                      </a:r>
                    </a:p>
                    <a:p>
                      <a:pPr marL="0" marR="0">
                        <a:lnSpc>
                          <a:spcPct val="115000"/>
                        </a:lnSpc>
                        <a:spcBef>
                          <a:spcPts val="0"/>
                        </a:spcBef>
                        <a:spcAft>
                          <a:spcPts val="1000"/>
                        </a:spcAft>
                      </a:pPr>
                      <a:r>
                        <a:rPr lang="en-US" sz="1100" dirty="0">
                          <a:solidFill>
                            <a:schemeClr val="tx1"/>
                          </a:solidFill>
                          <a:effectLst/>
                        </a:rPr>
                        <a:t>Core Boosters:  Board Members, Board Advisors</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40793" marR="40793" marT="0" marB="0"/>
                </a:tc>
                <a:extLst>
                  <a:ext uri="{0D108BD9-81ED-4DB2-BD59-A6C34878D82A}">
                    <a16:rowId xmlns:a16="http://schemas.microsoft.com/office/drawing/2014/main" val="3298821640"/>
                  </a:ext>
                </a:extLst>
              </a:tr>
              <a:tr h="1884556">
                <a:tc gridSpan="4">
                  <a:txBody>
                    <a:bodyPr/>
                    <a:lstStyle/>
                    <a:p>
                      <a:pPr marL="0" marR="0" lvl="0" indent="0" algn="l" defTabSz="914400" rtl="0" eaLnBrk="1" fontAlgn="auto" latinLnBrk="0" hangingPunct="1">
                        <a:lnSpc>
                          <a:spcPct val="115000"/>
                        </a:lnSpc>
                        <a:spcBef>
                          <a:spcPts val="0"/>
                        </a:spcBef>
                        <a:spcAft>
                          <a:spcPts val="1000"/>
                        </a:spcAft>
                        <a:buClr>
                          <a:srgbClr val="000000"/>
                        </a:buClr>
                        <a:buSzTx/>
                        <a:buFont typeface="Arial"/>
                        <a:buNone/>
                        <a:tabLst/>
                        <a:defRPr/>
                      </a:pPr>
                      <a:r>
                        <a:rPr lang="en-US" sz="1100" b="1" dirty="0">
                          <a:solidFill>
                            <a:schemeClr val="tx1"/>
                          </a:solidFill>
                          <a:effectLst/>
                        </a:rPr>
                        <a:t>Offering Description:</a:t>
                      </a:r>
                      <a:br>
                        <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rPr>
                      </a:br>
                      <a:br>
                        <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rPr>
                      </a:br>
                      <a:r>
                        <a:rPr lang="en-US" sz="1100" b="1" i="0" u="none" strike="noStrike" cap="none" dirty="0">
                          <a:solidFill>
                            <a:schemeClr val="tx1"/>
                          </a:solidFill>
                          <a:effectLst/>
                          <a:latin typeface="+mn-lt"/>
                          <a:ea typeface="+mn-ea"/>
                          <a:cs typeface="+mn-cs"/>
                          <a:sym typeface="Arial"/>
                        </a:rPr>
                        <a:t>FOR</a:t>
                      </a:r>
                      <a:r>
                        <a:rPr lang="en-US" sz="1100" b="0" i="0" u="none" strike="noStrike" cap="none" dirty="0">
                          <a:solidFill>
                            <a:schemeClr val="tx1"/>
                          </a:solidFill>
                          <a:effectLst/>
                          <a:latin typeface="+mn-lt"/>
                          <a:ea typeface="+mn-ea"/>
                          <a:cs typeface="+mn-cs"/>
                          <a:sym typeface="Arial"/>
                        </a:rPr>
                        <a:t> enterprising leaders involved or interested in the Tech Services industry </a:t>
                      </a:r>
                      <a:r>
                        <a:rPr lang="en-US" sz="1100" b="1" i="0" u="none" strike="noStrike" cap="none" dirty="0">
                          <a:solidFill>
                            <a:schemeClr val="tx1"/>
                          </a:solidFill>
                          <a:effectLst/>
                          <a:latin typeface="+mn-lt"/>
                          <a:ea typeface="+mn-ea"/>
                          <a:cs typeface="+mn-cs"/>
                          <a:sym typeface="Arial"/>
                        </a:rPr>
                        <a:t>WHO</a:t>
                      </a:r>
                      <a:r>
                        <a:rPr lang="en-US" sz="1100" b="0" i="0" u="none" strike="noStrike" cap="none" dirty="0">
                          <a:solidFill>
                            <a:schemeClr val="tx1"/>
                          </a:solidFill>
                          <a:effectLst/>
                          <a:latin typeface="+mn-lt"/>
                          <a:ea typeface="+mn-ea"/>
                          <a:cs typeface="+mn-cs"/>
                          <a:sym typeface="Arial"/>
                        </a:rPr>
                        <a:t> want to improve their career opportunities and the Tech Services industry’s impact, </a:t>
                      </a:r>
                      <a:r>
                        <a:rPr lang="en-US" sz="1100" b="1" i="0" u="none" strike="noStrike" cap="none" dirty="0">
                          <a:solidFill>
                            <a:schemeClr val="tx1"/>
                          </a:solidFill>
                          <a:effectLst/>
                          <a:latin typeface="+mn-lt"/>
                          <a:ea typeface="+mn-ea"/>
                          <a:cs typeface="+mn-cs"/>
                          <a:sym typeface="Arial"/>
                        </a:rPr>
                        <a:t>THE</a:t>
                      </a:r>
                      <a:r>
                        <a:rPr lang="en-US" sz="1100" b="0" i="0" u="none" strike="noStrike" cap="none" dirty="0">
                          <a:solidFill>
                            <a:schemeClr val="tx1"/>
                          </a:solidFill>
                          <a:effectLst/>
                          <a:latin typeface="+mn-lt"/>
                          <a:ea typeface="+mn-ea"/>
                          <a:cs typeface="+mn-cs"/>
                          <a:sym typeface="Arial"/>
                        </a:rPr>
                        <a:t> AccelRR8 Consortium Non-Profit’s Professional Networking Service </a:t>
                      </a:r>
                      <a:r>
                        <a:rPr lang="en-US" sz="1100" b="1" i="0" u="none" strike="noStrike" cap="none" dirty="0">
                          <a:solidFill>
                            <a:schemeClr val="tx1"/>
                          </a:solidFill>
                          <a:effectLst/>
                          <a:latin typeface="+mn-lt"/>
                          <a:ea typeface="+mn-ea"/>
                          <a:cs typeface="+mn-cs"/>
                          <a:sym typeface="Arial"/>
                        </a:rPr>
                        <a:t>IS AN</a:t>
                      </a:r>
                      <a:r>
                        <a:rPr lang="en-US" sz="1100" b="0" i="0" u="none" strike="noStrike" cap="none" dirty="0">
                          <a:solidFill>
                            <a:schemeClr val="tx1"/>
                          </a:solidFill>
                          <a:effectLst/>
                          <a:latin typeface="+mn-lt"/>
                          <a:ea typeface="+mn-ea"/>
                          <a:cs typeface="+mn-cs"/>
                          <a:sym typeface="Arial"/>
                        </a:rPr>
                        <a:t> </a:t>
                      </a:r>
                      <a:r>
                        <a:rPr lang="en-US" sz="1100" b="1" i="0" u="none" strike="noStrike" cap="none" dirty="0">
                          <a:solidFill>
                            <a:schemeClr val="accent2"/>
                          </a:solidFill>
                          <a:effectLst/>
                          <a:latin typeface="+mn-lt"/>
                          <a:ea typeface="+mn-ea"/>
                          <a:cs typeface="+mn-cs"/>
                          <a:sym typeface="Arial"/>
                        </a:rPr>
                        <a:t>AI</a:t>
                      </a:r>
                      <a:r>
                        <a:rPr lang="en-US" sz="1100" b="0" i="0" u="none" strike="noStrike" cap="none" dirty="0">
                          <a:solidFill>
                            <a:schemeClr val="tx1"/>
                          </a:solidFill>
                          <a:effectLst/>
                          <a:latin typeface="+mn-lt"/>
                          <a:ea typeface="+mn-ea"/>
                          <a:cs typeface="+mn-cs"/>
                          <a:sym typeface="Arial"/>
                        </a:rPr>
                        <a:t>-powered support function connecting a global AccelRR8 professional network </a:t>
                      </a:r>
                      <a:r>
                        <a:rPr lang="en-US" sz="1100" b="1" i="0" u="none" strike="noStrike" cap="none" dirty="0">
                          <a:solidFill>
                            <a:schemeClr val="tx1"/>
                          </a:solidFill>
                          <a:effectLst/>
                          <a:latin typeface="+mn-lt"/>
                          <a:ea typeface="+mn-ea"/>
                          <a:cs typeface="+mn-cs"/>
                          <a:sym typeface="Arial"/>
                        </a:rPr>
                        <a:t>THAT</a:t>
                      </a:r>
                      <a:r>
                        <a:rPr lang="en-US" sz="1100" b="0" i="0" u="none" strike="noStrike" cap="none" dirty="0">
                          <a:solidFill>
                            <a:schemeClr val="tx1"/>
                          </a:solidFill>
                          <a:effectLst/>
                          <a:latin typeface="+mn-lt"/>
                          <a:ea typeface="+mn-ea"/>
                          <a:cs typeface="+mn-cs"/>
                          <a:sym typeface="Arial"/>
                        </a:rPr>
                        <a:t> helps leaders to network and practice growing value exponentially at scale together, to accelerate success for themselves, their industry, and all humanity.</a:t>
                      </a:r>
                    </a:p>
                    <a:p>
                      <a:pPr marL="0" marR="0" lvl="0" indent="0" algn="l" defTabSz="914400" rtl="0" eaLnBrk="1" fontAlgn="auto" latinLnBrk="0" hangingPunct="1">
                        <a:lnSpc>
                          <a:spcPct val="115000"/>
                        </a:lnSpc>
                        <a:spcBef>
                          <a:spcPts val="0"/>
                        </a:spcBef>
                        <a:spcAft>
                          <a:spcPts val="1000"/>
                        </a:spcAft>
                        <a:buClr>
                          <a:srgbClr val="000000"/>
                        </a:buClr>
                        <a:buSzTx/>
                        <a:buFont typeface="Arial"/>
                        <a:buNone/>
                        <a:tabLst/>
                        <a:defRPr/>
                      </a:pPr>
                      <a:r>
                        <a:rPr lang="en-US" sz="1100" b="1" i="0" u="none" strike="noStrike" cap="none" dirty="0">
                          <a:solidFill>
                            <a:schemeClr val="tx1"/>
                          </a:solidFill>
                          <a:effectLst/>
                          <a:latin typeface="+mn-lt"/>
                          <a:ea typeface="+mn-ea"/>
                          <a:cs typeface="+mn-cs"/>
                          <a:sym typeface="Arial"/>
                        </a:rPr>
                        <a:t>UNLIKE</a:t>
                      </a:r>
                      <a:r>
                        <a:rPr lang="en-US" sz="1100" b="0" i="0" u="none" strike="noStrike" cap="none" dirty="0">
                          <a:solidFill>
                            <a:schemeClr val="tx1"/>
                          </a:solidFill>
                          <a:effectLst/>
                          <a:latin typeface="+mn-lt"/>
                          <a:ea typeface="+mn-ea"/>
                          <a:cs typeface="+mn-cs"/>
                          <a:sym typeface="Arial"/>
                        </a:rPr>
                        <a:t> other associations that support professional networks, </a:t>
                      </a:r>
                      <a:r>
                        <a:rPr lang="en-US" sz="1100" b="1" i="0" u="none" strike="noStrike" cap="none" dirty="0">
                          <a:solidFill>
                            <a:schemeClr val="tx1"/>
                          </a:solidFill>
                          <a:effectLst/>
                          <a:latin typeface="+mn-lt"/>
                          <a:ea typeface="+mn-ea"/>
                          <a:cs typeface="+mn-cs"/>
                          <a:sym typeface="Arial"/>
                        </a:rPr>
                        <a:t>OUR SERVICE’s</a:t>
                      </a:r>
                      <a:r>
                        <a:rPr lang="en-US" sz="1100" b="0" i="0" u="none" strike="noStrike" cap="none" dirty="0">
                          <a:solidFill>
                            <a:schemeClr val="tx1"/>
                          </a:solidFill>
                          <a:effectLst/>
                          <a:latin typeface="+mn-lt"/>
                          <a:ea typeface="+mn-ea"/>
                          <a:cs typeface="+mn-cs"/>
                          <a:sym typeface="Arial"/>
                        </a:rPr>
                        <a:t> own success will be a key proof point of our Consortium’s core premise:  due to </a:t>
                      </a:r>
                      <a:r>
                        <a:rPr lang="en-US" sz="1100" b="1" i="0" u="none" strike="noStrike" cap="none" dirty="0">
                          <a:solidFill>
                            <a:srgbClr val="00B050"/>
                          </a:solidFill>
                          <a:effectLst/>
                          <a:latin typeface="+mn-lt"/>
                          <a:ea typeface="+mn-ea"/>
                          <a:cs typeface="+mn-cs"/>
                          <a:sym typeface="Arial"/>
                        </a:rPr>
                        <a:t>network effects</a:t>
                      </a:r>
                      <a:r>
                        <a:rPr lang="en-US" sz="1100" b="0" i="0" u="none" strike="noStrike" cap="none" dirty="0">
                          <a:solidFill>
                            <a:schemeClr val="tx1"/>
                          </a:solidFill>
                          <a:effectLst/>
                          <a:latin typeface="+mn-lt"/>
                          <a:ea typeface="+mn-ea"/>
                          <a:cs typeface="+mn-cs"/>
                          <a:sym typeface="Arial"/>
                        </a:rPr>
                        <a:t>, value for all subscribers grows exponentially as their numbers grow linearly.</a:t>
                      </a:r>
                    </a:p>
                  </a:txBody>
                  <a:tcPr marL="40793" marR="40793" marT="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4933647"/>
                  </a:ext>
                </a:extLst>
              </a:tr>
              <a:tr h="1562466">
                <a:tc gridSpan="2">
                  <a:txBody>
                    <a:bodyPr/>
                    <a:lstStyle/>
                    <a:p>
                      <a:pPr marL="0" marR="0">
                        <a:lnSpc>
                          <a:spcPct val="115000"/>
                        </a:lnSpc>
                        <a:spcBef>
                          <a:spcPts val="0"/>
                        </a:spcBef>
                        <a:spcAft>
                          <a:spcPts val="1000"/>
                        </a:spcAft>
                      </a:pPr>
                      <a:r>
                        <a:rPr lang="en-US" sz="1100" b="1" dirty="0">
                          <a:solidFill>
                            <a:schemeClr val="tx1"/>
                          </a:solidFill>
                          <a:effectLst/>
                        </a:rPr>
                        <a:t>Business Outcome Hypothesis:</a:t>
                      </a:r>
                    </a:p>
                    <a:p>
                      <a:pPr marL="0" marR="0">
                        <a:lnSpc>
                          <a:spcPct val="115000"/>
                        </a:lnSpc>
                        <a:spcBef>
                          <a:spcPts val="0"/>
                        </a:spcBef>
                        <a:spcAft>
                          <a:spcPts val="1000"/>
                        </a:spcAft>
                      </a:pPr>
                      <a:r>
                        <a:rPr lang="en-US" sz="1100" b="1" dirty="0">
                          <a:solidFill>
                            <a:schemeClr val="tx1"/>
                          </a:solidFill>
                          <a:effectLst/>
                        </a:rPr>
                        <a:t>Subscribers: </a:t>
                      </a:r>
                      <a:r>
                        <a:rPr lang="en-US" sz="1100" dirty="0">
                          <a:solidFill>
                            <a:schemeClr val="tx1"/>
                          </a:solidFill>
                          <a:effectLst/>
                        </a:rPr>
                        <a:t>improve their professional network, skills, brand, and career opportunities as measured via survey of subscribers</a:t>
                      </a:r>
                      <a:br>
                        <a:rPr lang="en-US" sz="1100" dirty="0">
                          <a:solidFill>
                            <a:schemeClr val="tx1"/>
                          </a:solidFill>
                          <a:effectLst/>
                        </a:rPr>
                      </a:br>
                      <a:r>
                        <a:rPr lang="en-US" sz="1100" b="1" dirty="0">
                          <a:solidFill>
                            <a:schemeClr val="tx1"/>
                          </a:solidFill>
                          <a:effectLst/>
                        </a:rPr>
                        <a:t>The Tech Services industry: </a:t>
                      </a:r>
                      <a:r>
                        <a:rPr lang="en-US" sz="1100" dirty="0">
                          <a:solidFill>
                            <a:schemeClr val="tx1"/>
                          </a:solidFill>
                          <a:effectLst/>
                        </a:rPr>
                        <a:t>cross-company learning among leaders with scarce talents as measured via survey of collaborators</a:t>
                      </a:r>
                      <a:br>
                        <a:rPr lang="en-US" sz="1100" dirty="0">
                          <a:solidFill>
                            <a:schemeClr val="tx1"/>
                          </a:solidFill>
                          <a:effectLst/>
                        </a:rPr>
                      </a:br>
                      <a:r>
                        <a:rPr lang="en-US" sz="1100" b="1" dirty="0">
                          <a:solidFill>
                            <a:schemeClr val="tx1"/>
                          </a:solidFill>
                          <a:effectLst/>
                        </a:rPr>
                        <a:t>AccelRR8 Consortium: </a:t>
                      </a:r>
                      <a:r>
                        <a:rPr lang="en-US" sz="1100" dirty="0">
                          <a:solidFill>
                            <a:schemeClr val="tx1"/>
                          </a:solidFill>
                          <a:effectLst/>
                        </a:rPr>
                        <a:t>exponential benefits via Market Network Effects (per </a:t>
                      </a:r>
                      <a:r>
                        <a:rPr lang="en-US" sz="1100" dirty="0" err="1">
                          <a:solidFill>
                            <a:schemeClr val="tx1"/>
                          </a:solidFill>
                          <a:effectLst/>
                        </a:rPr>
                        <a:t>nfx.com</a:t>
                      </a:r>
                      <a:r>
                        <a:rPr lang="en-US" sz="1100" dirty="0">
                          <a:solidFill>
                            <a:schemeClr val="tx1"/>
                          </a:solidFill>
                          <a:effectLst/>
                        </a:rPr>
                        <a:t>) as measured via survey of subscribers</a:t>
                      </a:r>
                    </a:p>
                  </a:txBody>
                  <a:tcPr marL="40793" marR="40793" marT="0" marB="0"/>
                </a:tc>
                <a:tc hMerge="1">
                  <a:txBody>
                    <a:bodyPr/>
                    <a:lstStyle/>
                    <a:p>
                      <a:endParaRPr lang="en-US"/>
                    </a:p>
                  </a:txBody>
                  <a:tcPr/>
                </a:tc>
                <a:tc gridSpan="2">
                  <a:txBody>
                    <a:bodyPr/>
                    <a:lstStyle/>
                    <a:p>
                      <a:pPr marL="0" marR="0">
                        <a:lnSpc>
                          <a:spcPct val="115000"/>
                        </a:lnSpc>
                        <a:spcBef>
                          <a:spcPts val="0"/>
                        </a:spcBef>
                        <a:spcAft>
                          <a:spcPts val="1000"/>
                        </a:spcAft>
                      </a:pPr>
                      <a:r>
                        <a:rPr lang="en-US" sz="1100" b="1" dirty="0">
                          <a:solidFill>
                            <a:schemeClr val="tx1"/>
                          </a:solidFill>
                          <a:effectLst/>
                        </a:rPr>
                        <a:t>Leading Indicators:</a:t>
                      </a:r>
                    </a:p>
                    <a:p>
                      <a:pPr marL="0" marR="0">
                        <a:lnSpc>
                          <a:spcPct val="115000"/>
                        </a:lnSpc>
                        <a:spcBef>
                          <a:spcPts val="0"/>
                        </a:spcBef>
                        <a:spcAft>
                          <a:spcPts val="1000"/>
                        </a:spcAft>
                      </a:pPr>
                      <a:r>
                        <a:rPr lang="en-US" sz="1100" dirty="0">
                          <a:solidFill>
                            <a:schemeClr val="tx1"/>
                          </a:solidFill>
                          <a:effectLst/>
                        </a:rPr>
                        <a:t>1000 subscribers </a:t>
                      </a:r>
                      <a:br>
                        <a:rPr lang="en-US" sz="1100" dirty="0">
                          <a:solidFill>
                            <a:schemeClr val="tx1"/>
                          </a:solidFill>
                          <a:effectLst/>
                        </a:rPr>
                      </a:br>
                      <a:r>
                        <a:rPr lang="en-US" sz="1100" dirty="0">
                          <a:solidFill>
                            <a:schemeClr val="tx1"/>
                          </a:solidFill>
                          <a:effectLst/>
                        </a:rPr>
                        <a:t>- are participating in the AccelRR8 Consortium professional network, and </a:t>
                      </a:r>
                      <a:br>
                        <a:rPr lang="en-US" sz="1100" dirty="0">
                          <a:solidFill>
                            <a:schemeClr val="tx1"/>
                          </a:solidFill>
                          <a:effectLst/>
                        </a:rPr>
                      </a:br>
                      <a:r>
                        <a:rPr lang="en-US" sz="1100" dirty="0">
                          <a:solidFill>
                            <a:schemeClr val="tx1"/>
                          </a:solidFill>
                          <a:effectLst/>
                        </a:rPr>
                        <a:t>- are Net Promoters of this service as measured via survey of subscribers.</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40793" marR="40793" marT="0" marB="0"/>
                </a:tc>
                <a:tc hMerge="1">
                  <a:txBody>
                    <a:bodyPr/>
                    <a:lstStyle/>
                    <a:p>
                      <a:endParaRPr lang="en-US"/>
                    </a:p>
                  </a:txBody>
                  <a:tcPr/>
                </a:tc>
                <a:extLst>
                  <a:ext uri="{0D108BD9-81ED-4DB2-BD59-A6C34878D82A}">
                    <a16:rowId xmlns:a16="http://schemas.microsoft.com/office/drawing/2014/main" val="2522614672"/>
                  </a:ext>
                </a:extLst>
              </a:tr>
            </a:tbl>
          </a:graphicData>
        </a:graphic>
      </p:graphicFrame>
      <p:sp>
        <p:nvSpPr>
          <p:cNvPr id="3" name="Rectangle 2">
            <a:extLst>
              <a:ext uri="{FF2B5EF4-FFF2-40B4-BE49-F238E27FC236}">
                <a16:creationId xmlns:a16="http://schemas.microsoft.com/office/drawing/2014/main" id="{CFC16F5D-3110-F78F-4BCE-2771F94F23F4}"/>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4" name="Rectangle 3">
            <a:extLst>
              <a:ext uri="{FF2B5EF4-FFF2-40B4-BE49-F238E27FC236}">
                <a16:creationId xmlns:a16="http://schemas.microsoft.com/office/drawing/2014/main" id="{DFB45135-FB35-B334-1389-8F4FC41447E6}"/>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5" name="Rectangle 4">
            <a:extLst>
              <a:ext uri="{FF2B5EF4-FFF2-40B4-BE49-F238E27FC236}">
                <a16:creationId xmlns:a16="http://schemas.microsoft.com/office/drawing/2014/main" id="{CF952194-1B19-D864-7329-44E737966261}"/>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Google Shape;18;p9">
            <a:extLst>
              <a:ext uri="{FF2B5EF4-FFF2-40B4-BE49-F238E27FC236}">
                <a16:creationId xmlns:a16="http://schemas.microsoft.com/office/drawing/2014/main" id="{FC3986F6-425A-0514-DE8E-DE31978EAAD1}"/>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12430075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(2/5)</a:t>
            </a:r>
            <a:endParaRPr dirty="0"/>
          </a:p>
        </p:txBody>
      </p:sp>
      <p:graphicFrame>
        <p:nvGraphicFramePr>
          <p:cNvPr id="2" name="Table 1">
            <a:extLst>
              <a:ext uri="{FF2B5EF4-FFF2-40B4-BE49-F238E27FC236}">
                <a16:creationId xmlns:a16="http://schemas.microsoft.com/office/drawing/2014/main" id="{849548E0-A616-4177-21C8-C63119ADCD53}"/>
              </a:ext>
            </a:extLst>
          </p:cNvPr>
          <p:cNvGraphicFramePr>
            <a:graphicFrameLocks noGrp="1"/>
          </p:cNvGraphicFramePr>
          <p:nvPr>
            <p:extLst>
              <p:ext uri="{D42A27DB-BD31-4B8C-83A1-F6EECF244321}">
                <p14:modId xmlns:p14="http://schemas.microsoft.com/office/powerpoint/2010/main" val="641872856"/>
              </p:ext>
            </p:extLst>
          </p:nvPr>
        </p:nvGraphicFramePr>
        <p:xfrm>
          <a:off x="838199" y="1591460"/>
          <a:ext cx="10515603" cy="4456410"/>
        </p:xfrm>
        <a:graphic>
          <a:graphicData uri="http://schemas.openxmlformats.org/drawingml/2006/table">
            <a:tbl>
              <a:tblPr firstRow="1" firstCol="1" bandRow="1" bandCol="1">
                <a:tableStyleId>{5940675A-B579-460E-94D1-54222C63F5DA}</a:tableStyleId>
              </a:tblPr>
              <a:tblGrid>
                <a:gridCol w="2540621">
                  <a:extLst>
                    <a:ext uri="{9D8B030D-6E8A-4147-A177-3AD203B41FA5}">
                      <a16:colId xmlns:a16="http://schemas.microsoft.com/office/drawing/2014/main" val="335540143"/>
                    </a:ext>
                  </a:extLst>
                </a:gridCol>
                <a:gridCol w="2453515">
                  <a:extLst>
                    <a:ext uri="{9D8B030D-6E8A-4147-A177-3AD203B41FA5}">
                      <a16:colId xmlns:a16="http://schemas.microsoft.com/office/drawing/2014/main" val="298461284"/>
                    </a:ext>
                  </a:extLst>
                </a:gridCol>
                <a:gridCol w="5521467">
                  <a:extLst>
                    <a:ext uri="{9D8B030D-6E8A-4147-A177-3AD203B41FA5}">
                      <a16:colId xmlns:a16="http://schemas.microsoft.com/office/drawing/2014/main" val="1867107964"/>
                    </a:ext>
                  </a:extLst>
                </a:gridCol>
              </a:tblGrid>
              <a:tr h="2255711">
                <a:tc>
                  <a:txBody>
                    <a:bodyPr/>
                    <a:lstStyle/>
                    <a:p>
                      <a:pPr marL="0" marR="0">
                        <a:lnSpc>
                          <a:spcPct val="115000"/>
                        </a:lnSpc>
                        <a:spcBef>
                          <a:spcPts val="0"/>
                        </a:spcBef>
                        <a:spcAft>
                          <a:spcPts val="1000"/>
                        </a:spcAft>
                      </a:pPr>
                      <a:r>
                        <a:rPr lang="en-US" sz="1100" b="1" dirty="0">
                          <a:solidFill>
                            <a:schemeClr val="tx1"/>
                          </a:solidFill>
                          <a:effectLst/>
                        </a:rPr>
                        <a:t>In Scope:</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Enterprising Tech Services leaders can join the AccelRR8 Consortium network as subscribers</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Global, fre</a:t>
                      </a:r>
                      <a:r>
                        <a:rPr lang="en-US" sz="1100" dirty="0">
                          <a:solidFill>
                            <a:schemeClr val="tx1"/>
                          </a:solidFill>
                          <a:effectLst/>
                          <a:latin typeface="Arial" panose="020B0604020202020204" pitchFamily="34" charset="0"/>
                          <a:cs typeface="Arial" panose="020B0604020202020204" pitchFamily="34" charset="0"/>
                        </a:rPr>
                        <a:t>e, virtual professional network</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Helps Tech Services leaders make connections and collaborate virtually via free electronic platforms</a:t>
                      </a:r>
                    </a:p>
                  </a:txBody>
                  <a:tcPr marL="40793" marR="40793" marT="0" marB="0"/>
                </a:tc>
                <a:tc>
                  <a:txBody>
                    <a:bodyPr/>
                    <a:lstStyle/>
                    <a:p>
                      <a:pPr marL="0" marR="0">
                        <a:lnSpc>
                          <a:spcPct val="115000"/>
                        </a:lnSpc>
                        <a:spcBef>
                          <a:spcPts val="0"/>
                        </a:spcBef>
                        <a:spcAft>
                          <a:spcPts val="1000"/>
                        </a:spcAft>
                      </a:pPr>
                      <a:r>
                        <a:rPr lang="en-US" sz="1100" b="1" dirty="0">
                          <a:solidFill>
                            <a:schemeClr val="tx1"/>
                          </a:solidFill>
                          <a:effectLst/>
                        </a:rPr>
                        <a:t>Out of Scope:</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(Like Toastmasters) Individual leaders can join a club / local chapter for a one-time new member fee and a monthly membership fee</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(Like ASUG) Organizations can pay an annual fee that covers Professional Networking fees for all employees</a:t>
                      </a:r>
                    </a:p>
                    <a:p>
                      <a:pPr marL="123825" marR="0" lvl="0" indent="-123825">
                        <a:lnSpc>
                          <a:spcPct val="115000"/>
                        </a:lnSpc>
                        <a:spcBef>
                          <a:spcPts val="0"/>
                        </a:spcBef>
                        <a:spcAft>
                          <a:spcPts val="0"/>
                        </a:spcAft>
                        <a:buFont typeface="Symbol" pitchFamily="2" charset="2"/>
                        <a:buChar char=""/>
                        <a:tabLst/>
                      </a:pPr>
                      <a:endParaRPr lang="en-US" sz="1100" dirty="0">
                        <a:solidFill>
                          <a:schemeClr val="tx1"/>
                        </a:solidFill>
                        <a:effectLst/>
                      </a:endParaRPr>
                    </a:p>
                  </a:txBody>
                  <a:tcPr marL="40793" marR="40793" marT="0" marB="0"/>
                </a:tc>
                <a:tc>
                  <a:txBody>
                    <a:bodyPr/>
                    <a:lstStyle/>
                    <a:p>
                      <a:pPr marL="0" marR="0">
                        <a:lnSpc>
                          <a:spcPct val="115000"/>
                        </a:lnSpc>
                        <a:spcBef>
                          <a:spcPts val="0"/>
                        </a:spcBef>
                        <a:spcAft>
                          <a:spcPts val="1000"/>
                        </a:spcAft>
                      </a:pPr>
                      <a:r>
                        <a:rPr lang="en-US" sz="1100" b="1" dirty="0">
                          <a:solidFill>
                            <a:schemeClr val="tx1"/>
                          </a:solidFill>
                          <a:effectLst/>
                        </a:rPr>
                        <a:t>Nonfunctional Requirements:</a:t>
                      </a:r>
                    </a:p>
                    <a:p>
                      <a:pPr marL="114300" indent="-114300">
                        <a:buFont typeface="Arial" panose="020B0604020202020204" pitchFamily="34" charset="0"/>
                        <a:buChar char="•"/>
                        <a:tabLst/>
                      </a:pPr>
                      <a:r>
                        <a:rPr lang="en-US" sz="1100" b="1" dirty="0"/>
                        <a:t>Desirability</a:t>
                      </a:r>
                      <a:r>
                        <a:rPr lang="en-US" sz="1100" dirty="0"/>
                        <a:t>:  all want exponential success, few know how to generate it, and stakeholders like our values and culture</a:t>
                      </a:r>
                    </a:p>
                    <a:p>
                      <a:pPr marL="114300" indent="-114300">
                        <a:buFont typeface="Arial" panose="020B0604020202020204" pitchFamily="34" charset="0"/>
                        <a:buChar char="•"/>
                        <a:tabLst/>
                      </a:pPr>
                      <a:r>
                        <a:rPr lang="en-US" sz="1100" b="1" dirty="0"/>
                        <a:t>Viability</a:t>
                      </a:r>
                      <a:r>
                        <a:rPr lang="en-US" sz="1100" dirty="0"/>
                        <a:t>:  the Consortium has the required capabilities and isn’t trying to boil the ocean</a:t>
                      </a:r>
                    </a:p>
                    <a:p>
                      <a:pPr marL="114300" indent="-114300">
                        <a:buFont typeface="Arial" panose="020B0604020202020204" pitchFamily="34" charset="0"/>
                        <a:buChar char="•"/>
                        <a:tabLst/>
                      </a:pPr>
                      <a:r>
                        <a:rPr lang="en-US" sz="1100" b="1" dirty="0"/>
                        <a:t>Sustainability</a:t>
                      </a:r>
                      <a:r>
                        <a:rPr lang="en-US" sz="1100" dirty="0"/>
                        <a:t>:  the core premise (proven accelerators mathematically capable of generating exponential results) is enduring</a:t>
                      </a:r>
                    </a:p>
                    <a:p>
                      <a:pPr marL="114300" indent="-114300">
                        <a:buFont typeface="Arial" panose="020B0604020202020204" pitchFamily="34" charset="0"/>
                        <a:buChar char="•"/>
                        <a:tabLst/>
                      </a:pPr>
                      <a:r>
                        <a:rPr lang="en-US" sz="1100" b="1" dirty="0"/>
                        <a:t>Performance</a:t>
                      </a:r>
                      <a:r>
                        <a:rPr lang="en-US" sz="1100" dirty="0"/>
                        <a:t>:  the organization’s own success will be a key proof of our core premise, creating a virtuous cycle</a:t>
                      </a:r>
                    </a:p>
                    <a:p>
                      <a:pPr marL="114300" indent="-114300">
                        <a:buFont typeface="Arial" panose="020B0604020202020204" pitchFamily="34" charset="0"/>
                        <a:buChar char="•"/>
                        <a:tabLst/>
                      </a:pPr>
                      <a:r>
                        <a:rPr lang="en-US" sz="1100" b="1" dirty="0"/>
                        <a:t>Usability</a:t>
                      </a:r>
                      <a:r>
                        <a:rPr lang="en-US" sz="1100" dirty="0"/>
                        <a:t>:  becoming and remaining a subscriber must be incredibly easy</a:t>
                      </a:r>
                    </a:p>
                    <a:p>
                      <a:pPr marL="0" marR="0">
                        <a:lnSpc>
                          <a:spcPct val="115000"/>
                        </a:lnSpc>
                        <a:spcBef>
                          <a:spcPts val="0"/>
                        </a:spcBef>
                        <a:spcAft>
                          <a:spcPts val="1000"/>
                        </a:spcAft>
                      </a:pPr>
                      <a:r>
                        <a:rPr lang="en-US" sz="1100" dirty="0">
                          <a:solidFill>
                            <a:schemeClr val="tx1"/>
                          </a:solidFill>
                          <a:effectLst/>
                        </a:rPr>
                        <a:t> </a:t>
                      </a:r>
                      <a:endParaRPr lang="en-US" dirty="0"/>
                    </a:p>
                  </a:txBody>
                  <a:tcPr marL="40793" marR="40793" marT="0" marB="0"/>
                </a:tc>
                <a:extLst>
                  <a:ext uri="{0D108BD9-81ED-4DB2-BD59-A6C34878D82A}">
                    <a16:rowId xmlns:a16="http://schemas.microsoft.com/office/drawing/2014/main" val="1803020786"/>
                  </a:ext>
                </a:extLst>
              </a:tr>
              <a:tr h="1064726">
                <a:tc gridSpan="2">
                  <a:txBody>
                    <a:bodyPr/>
                    <a:lstStyle/>
                    <a:p>
                      <a:pPr marL="0" marR="0">
                        <a:lnSpc>
                          <a:spcPct val="115000"/>
                        </a:lnSpc>
                        <a:spcBef>
                          <a:spcPts val="0"/>
                        </a:spcBef>
                        <a:spcAft>
                          <a:spcPts val="1000"/>
                        </a:spcAft>
                      </a:pPr>
                      <a:r>
                        <a:rPr lang="en-US" sz="1100" b="1" dirty="0">
                          <a:solidFill>
                            <a:schemeClr val="tx1"/>
                          </a:solidFill>
                          <a:effectLst/>
                        </a:rPr>
                        <a:t>Minimum Viable Product (MVP) Features</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Enterprising Tech Services leaders simply click to identify as a network subscriber in the AccelRR8 Consortium’s free electronic platform</a:t>
                      </a:r>
                      <a:endParaRPr lang="en-US" sz="1100" dirty="0">
                        <a:solidFill>
                          <a:schemeClr val="tx1"/>
                        </a:solidFill>
                        <a:effectLst/>
                        <a:latin typeface="Arial" panose="020B0604020202020204" pitchFamily="34" charset="0"/>
                        <a:cs typeface="Arial" panose="020B0604020202020204" pitchFamily="34" charset="0"/>
                      </a:endParaRPr>
                    </a:p>
                  </a:txBody>
                  <a:tcPr marL="40793" marR="40793" marT="0" marB="0"/>
                </a:tc>
                <a:tc hMerge="1">
                  <a:txBody>
                    <a:bodyPr/>
                    <a:lstStyle/>
                    <a:p>
                      <a:endParaRPr lang="en-US"/>
                    </a:p>
                  </a:txBody>
                  <a:tcPr/>
                </a:tc>
                <a:tc>
                  <a:txBody>
                    <a:bodyPr/>
                    <a:lstStyle/>
                    <a:p>
                      <a:pPr marL="0" marR="0">
                        <a:lnSpc>
                          <a:spcPct val="115000"/>
                        </a:lnSpc>
                        <a:spcBef>
                          <a:spcPts val="0"/>
                        </a:spcBef>
                        <a:spcAft>
                          <a:spcPts val="1000"/>
                        </a:spcAft>
                      </a:pPr>
                      <a:r>
                        <a:rPr lang="en-US" sz="1100" b="1" dirty="0">
                          <a:solidFill>
                            <a:schemeClr val="tx1"/>
                          </a:solidFill>
                          <a:effectLst/>
                        </a:rPr>
                        <a:t>Additional Potential Features</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Subscribers can learn about, and make connections directly with, each other</a:t>
                      </a:r>
                    </a:p>
                    <a:p>
                      <a:pPr marL="123825" marR="0" lvl="0" indent="-123825" algn="l" defTabSz="914400" rtl="0" eaLnBrk="1" fontAlgn="auto" latinLnBrk="0" hangingPunct="1">
                        <a:lnSpc>
                          <a:spcPct val="115000"/>
                        </a:lnSpc>
                        <a:spcBef>
                          <a:spcPts val="0"/>
                        </a:spcBef>
                        <a:spcAft>
                          <a:spcPts val="0"/>
                        </a:spcAft>
                        <a:buClr>
                          <a:srgbClr val="000000"/>
                        </a:buClr>
                        <a:buSzTx/>
                        <a:buFont typeface="Symbol" pitchFamily="2" charset="2"/>
                        <a:buChar char=""/>
                        <a:tabLst/>
                        <a:defRPr/>
                      </a:pP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Consortium leaders can view analytics about network subscribers</a:t>
                      </a:r>
                      <a:endParaRPr lang="en-US" sz="1100" dirty="0">
                        <a:solidFill>
                          <a:schemeClr val="tx1"/>
                        </a:solidFill>
                        <a:effectLst/>
                      </a:endParaRPr>
                    </a:p>
                    <a:p>
                      <a:pPr marL="0" marR="0">
                        <a:lnSpc>
                          <a:spcPct val="115000"/>
                        </a:lnSpc>
                        <a:spcBef>
                          <a:spcPts val="0"/>
                        </a:spcBef>
                        <a:spcAft>
                          <a:spcPts val="1000"/>
                        </a:spcAft>
                      </a:pPr>
                      <a:r>
                        <a:rPr lang="en-US" sz="1100" dirty="0">
                          <a:solidFill>
                            <a:schemeClr val="tx1"/>
                          </a:solidFill>
                          <a:effectLst/>
                        </a:rPr>
                        <a:t> </a:t>
                      </a:r>
                      <a:endParaRPr lang="en-US" dirty="0"/>
                    </a:p>
                  </a:txBody>
                  <a:tcPr marL="40793" marR="40793" marT="0" marB="0"/>
                </a:tc>
                <a:extLst>
                  <a:ext uri="{0D108BD9-81ED-4DB2-BD59-A6C34878D82A}">
                    <a16:rowId xmlns:a16="http://schemas.microsoft.com/office/drawing/2014/main" val="2776873087"/>
                  </a:ext>
                </a:extLst>
              </a:tr>
              <a:tr h="1135973">
                <a:tc gridSpan="2">
                  <a:txBody>
                    <a:bodyPr/>
                    <a:lstStyle/>
                    <a:p>
                      <a:pPr marL="0" marR="0">
                        <a:lnSpc>
                          <a:spcPct val="115000"/>
                        </a:lnSpc>
                        <a:spcBef>
                          <a:spcPts val="0"/>
                        </a:spcBef>
                        <a:spcAft>
                          <a:spcPts val="1000"/>
                        </a:spcAft>
                      </a:pPr>
                      <a:r>
                        <a:rPr lang="en-US" sz="1100" b="1" dirty="0">
                          <a:solidFill>
                            <a:schemeClr val="tx1"/>
                          </a:solidFill>
                          <a:effectLst/>
                        </a:rPr>
                        <a:t>Analysis Summary: </a:t>
                      </a:r>
                    </a:p>
                    <a:p>
                      <a:pPr marL="114300" marR="0" indent="-114300">
                        <a:lnSpc>
                          <a:spcPct val="115000"/>
                        </a:lnSpc>
                        <a:spcBef>
                          <a:spcPts val="0"/>
                        </a:spcBef>
                        <a:spcAft>
                          <a:spcPts val="0"/>
                        </a:spcAft>
                        <a:buFont typeface="Arial" panose="020B0604020202020204" pitchFamily="34" charset="0"/>
                        <a:buChar char="•"/>
                        <a:tabLst/>
                      </a:pPr>
                      <a:r>
                        <a:rPr lang="en-US" sz="1100" dirty="0">
                          <a:solidFill>
                            <a:schemeClr val="tx1"/>
                          </a:solidFill>
                          <a:effectLst/>
                        </a:rPr>
                        <a:t>MVP desirability, viability, feasibility, and sustainability were verified by the Board of Directors as well as a subset of Advisors and initial subscribers.</a:t>
                      </a:r>
                      <a:endParaRPr lang="en-US" sz="1100" b="0" i="0" u="none" strike="noStrike" cap="none" dirty="0">
                        <a:solidFill>
                          <a:schemeClr val="tx1"/>
                        </a:solidFill>
                        <a:effectLst/>
                        <a:latin typeface="+mn-lt"/>
                        <a:ea typeface="+mn-ea"/>
                        <a:cs typeface="+mn-cs"/>
                        <a:sym typeface="Arial"/>
                      </a:endParaRPr>
                    </a:p>
                  </a:txBody>
                  <a:tcPr marL="40793" marR="40793" marT="0" marB="0"/>
                </a:tc>
                <a:tc hMerge="1">
                  <a:txBody>
                    <a:bodyPr/>
                    <a:lstStyle/>
                    <a:p>
                      <a:endParaRPr lang="en-US"/>
                    </a:p>
                  </a:txBody>
                  <a:tcPr/>
                </a:tc>
                <a:tc>
                  <a:txBody>
                    <a:bodyPr/>
                    <a:lstStyle/>
                    <a:p>
                      <a:pPr marL="0" marR="0">
                        <a:lnSpc>
                          <a:spcPct val="115000"/>
                        </a:lnSpc>
                        <a:spcBef>
                          <a:spcPts val="0"/>
                        </a:spcBef>
                        <a:spcAft>
                          <a:spcPts val="1000"/>
                        </a:spcAft>
                      </a:pPr>
                      <a:r>
                        <a:rPr lang="en-US" sz="1100" b="1" dirty="0">
                          <a:solidFill>
                            <a:schemeClr val="tx1"/>
                          </a:solidFill>
                          <a:effectLst/>
                        </a:rPr>
                        <a:t>Go / No-Go:</a:t>
                      </a:r>
                    </a:p>
                    <a:p>
                      <a:pPr marL="0" marR="0">
                        <a:lnSpc>
                          <a:spcPct val="115000"/>
                        </a:lnSpc>
                        <a:spcBef>
                          <a:spcPts val="0"/>
                        </a:spcBef>
                        <a:spcAft>
                          <a:spcPts val="1000"/>
                        </a:spcAft>
                      </a:pPr>
                      <a:r>
                        <a:rPr lang="en-US" sz="1100" dirty="0">
                          <a:solidFill>
                            <a:schemeClr val="tx1"/>
                          </a:solidFill>
                          <a:effectLst/>
                        </a:rPr>
                        <a:t>Go!</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40793" marR="40793" marT="0" marB="0"/>
                </a:tc>
                <a:extLst>
                  <a:ext uri="{0D108BD9-81ED-4DB2-BD59-A6C34878D82A}">
                    <a16:rowId xmlns:a16="http://schemas.microsoft.com/office/drawing/2014/main" val="121679053"/>
                  </a:ext>
                </a:extLst>
              </a:tr>
            </a:tbl>
          </a:graphicData>
        </a:graphic>
      </p:graphicFrame>
      <p:sp>
        <p:nvSpPr>
          <p:cNvPr id="3" name="Rectangle 2">
            <a:extLst>
              <a:ext uri="{FF2B5EF4-FFF2-40B4-BE49-F238E27FC236}">
                <a16:creationId xmlns:a16="http://schemas.microsoft.com/office/drawing/2014/main" id="{BE23F6AA-4D57-B5E8-FD4A-210108E1ABAD}"/>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4" name="Rectangle 3">
            <a:extLst>
              <a:ext uri="{FF2B5EF4-FFF2-40B4-BE49-F238E27FC236}">
                <a16:creationId xmlns:a16="http://schemas.microsoft.com/office/drawing/2014/main" id="{84E8032F-651C-8A52-1D58-700E366B6B54}"/>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5" name="Rectangle 4">
            <a:extLst>
              <a:ext uri="{FF2B5EF4-FFF2-40B4-BE49-F238E27FC236}">
                <a16:creationId xmlns:a16="http://schemas.microsoft.com/office/drawing/2014/main" id="{2675ACFC-BED3-CE2E-BF13-5AF5D03D4A75}"/>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TextBox 5">
            <a:extLst>
              <a:ext uri="{FF2B5EF4-FFF2-40B4-BE49-F238E27FC236}">
                <a16:creationId xmlns:a16="http://schemas.microsoft.com/office/drawing/2014/main" id="{7EAC0157-6343-D56D-5D76-3AAA75837A76}"/>
              </a:ext>
            </a:extLst>
          </p:cNvPr>
          <p:cNvSpPr txBox="1"/>
          <p:nvPr/>
        </p:nvSpPr>
        <p:spPr>
          <a:xfrm>
            <a:off x="875777" y="6300592"/>
            <a:ext cx="610017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&lt;See SAFe Epics at </a:t>
            </a:r>
            <a:r>
              <a:rPr kumimoji="0" lang="en-US" sz="1400" b="0" i="0" u="none" strike="noStrike" kern="0" cap="none" spc="0" normalizeH="0" baseline="0" noProof="0" dirty="0">
                <a:ln>
                  <a:noFill/>
                </a:ln>
                <a:solidFill>
                  <a:srgbClr val="000000"/>
                </a:solidFill>
                <a:effectLst/>
                <a:uLnTx/>
                <a:uFillTx/>
                <a:latin typeface="Arial"/>
                <a:cs typeface="Arial"/>
                <a:sym typeface="Arial"/>
                <a:hlinkClick r:id="rId3"/>
              </a:rPr>
              <a:t>this link</a:t>
            </a:r>
            <a:r>
              <a:rPr kumimoji="0" lang="en-US" sz="1400" b="0" i="0" u="none" strike="noStrike" kern="0" cap="none" spc="0" normalizeH="0" baseline="0" noProof="0" dirty="0">
                <a:ln>
                  <a:noFill/>
                </a:ln>
                <a:solidFill>
                  <a:srgbClr val="000000"/>
                </a:solidFill>
                <a:effectLst/>
                <a:uLnTx/>
                <a:uFillTx/>
                <a:latin typeface="Arial"/>
                <a:cs typeface="Arial"/>
                <a:sym typeface="Arial"/>
              </a:rPr>
              <a:t>&gt;</a:t>
            </a:r>
          </a:p>
        </p:txBody>
      </p:sp>
      <p:sp>
        <p:nvSpPr>
          <p:cNvPr id="7" name="Google Shape;18;p9">
            <a:extLst>
              <a:ext uri="{FF2B5EF4-FFF2-40B4-BE49-F238E27FC236}">
                <a16:creationId xmlns:a16="http://schemas.microsoft.com/office/drawing/2014/main" id="{31CA48FC-F211-DAFD-902B-5D682C6B56DD}"/>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450257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(3/5)</a:t>
            </a:r>
            <a:endParaRPr dirty="0"/>
          </a:p>
        </p:txBody>
      </p:sp>
      <p:graphicFrame>
        <p:nvGraphicFramePr>
          <p:cNvPr id="3" name="Table 2">
            <a:extLst>
              <a:ext uri="{FF2B5EF4-FFF2-40B4-BE49-F238E27FC236}">
                <a16:creationId xmlns:a16="http://schemas.microsoft.com/office/drawing/2014/main" id="{14B79CD4-17D9-A460-45EE-070B6CD3DAFF}"/>
              </a:ext>
            </a:extLst>
          </p:cNvPr>
          <p:cNvGraphicFramePr>
            <a:graphicFrameLocks noGrp="1"/>
          </p:cNvGraphicFramePr>
          <p:nvPr>
            <p:extLst>
              <p:ext uri="{D42A27DB-BD31-4B8C-83A1-F6EECF244321}">
                <p14:modId xmlns:p14="http://schemas.microsoft.com/office/powerpoint/2010/main" val="4008540820"/>
              </p:ext>
            </p:extLst>
          </p:nvPr>
        </p:nvGraphicFramePr>
        <p:xfrm>
          <a:off x="939452" y="1383519"/>
          <a:ext cx="10396603" cy="4847000"/>
        </p:xfrm>
        <a:graphic>
          <a:graphicData uri="http://schemas.openxmlformats.org/drawingml/2006/table">
            <a:tbl>
              <a:tblPr firstRow="1" firstCol="1" bandRow="1" bandCol="1">
                <a:tableStyleId>{5940675A-B579-460E-94D1-54222C63F5DA}</a:tableStyleId>
              </a:tblPr>
              <a:tblGrid>
                <a:gridCol w="5019664">
                  <a:extLst>
                    <a:ext uri="{9D8B030D-6E8A-4147-A177-3AD203B41FA5}">
                      <a16:colId xmlns:a16="http://schemas.microsoft.com/office/drawing/2014/main" val="2059904068"/>
                    </a:ext>
                  </a:extLst>
                </a:gridCol>
                <a:gridCol w="5376939">
                  <a:extLst>
                    <a:ext uri="{9D8B030D-6E8A-4147-A177-3AD203B41FA5}">
                      <a16:colId xmlns:a16="http://schemas.microsoft.com/office/drawing/2014/main" val="2673396883"/>
                    </a:ext>
                  </a:extLst>
                </a:gridCol>
              </a:tblGrid>
              <a:tr h="157843">
                <a:tc gridSpan="2">
                  <a:txBody>
                    <a:bodyPr/>
                    <a:lstStyle/>
                    <a:p>
                      <a:pPr marL="0" marR="0" algn="ctr">
                        <a:lnSpc>
                          <a:spcPct val="115000"/>
                        </a:lnSpc>
                        <a:spcBef>
                          <a:spcPts val="0"/>
                        </a:spcBef>
                        <a:spcAft>
                          <a:spcPts val="0"/>
                        </a:spcAft>
                      </a:pPr>
                      <a:r>
                        <a:rPr lang="en-US" sz="1100" b="1" dirty="0">
                          <a:solidFill>
                            <a:schemeClr val="tx1"/>
                          </a:solidFill>
                          <a:effectLst/>
                        </a:rPr>
                        <a:t>Solution Analysis</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51885" marR="51885" marT="0" marB="0"/>
                </a:tc>
                <a:tc hMerge="1">
                  <a:txBody>
                    <a:bodyPr/>
                    <a:lstStyle/>
                    <a:p>
                      <a:endParaRPr lang="en-US"/>
                    </a:p>
                  </a:txBody>
                  <a:tcPr/>
                </a:tc>
                <a:extLst>
                  <a:ext uri="{0D108BD9-81ED-4DB2-BD59-A6C34878D82A}">
                    <a16:rowId xmlns:a16="http://schemas.microsoft.com/office/drawing/2014/main" val="2168575272"/>
                  </a:ext>
                </a:extLst>
              </a:tr>
              <a:tr h="1015853">
                <a:tc gridSpan="2">
                  <a:txBody>
                    <a:bodyPr/>
                    <a:lstStyle/>
                    <a:p>
                      <a:pPr marL="0" marR="0">
                        <a:lnSpc>
                          <a:spcPct val="115000"/>
                        </a:lnSpc>
                        <a:spcBef>
                          <a:spcPts val="0"/>
                        </a:spcBef>
                        <a:spcAft>
                          <a:spcPts val="1000"/>
                        </a:spcAft>
                      </a:pPr>
                      <a:r>
                        <a:rPr lang="en-US" sz="1100" b="1" dirty="0">
                          <a:solidFill>
                            <a:schemeClr val="tx1"/>
                          </a:solidFill>
                          <a:effectLst/>
                        </a:rPr>
                        <a:t>Which Internal and/or external customers are affected, and how?</a:t>
                      </a:r>
                    </a:p>
                    <a:p>
                      <a:pPr marL="0" marR="0">
                        <a:lnSpc>
                          <a:spcPct val="115000"/>
                        </a:lnSpc>
                        <a:spcBef>
                          <a:spcPts val="0"/>
                        </a:spcBef>
                        <a:spcAft>
                          <a:spcPts val="1000"/>
                        </a:spcAft>
                      </a:pPr>
                      <a:r>
                        <a:rPr lang="en-US" sz="1100" dirty="0">
                          <a:solidFill>
                            <a:schemeClr val="tx1"/>
                          </a:solidFill>
                          <a:effectLst/>
                        </a:rPr>
                        <a:t>Our MVP is focused on proving our core premise to establish credibility with our addressable market, which includes leaders and organizations across the Tech Services industry.  We will do this by implementing proven accelerators to create </a:t>
                      </a:r>
                      <a:r>
                        <a:rPr lang="en-US" sz="1100" b="1" dirty="0">
                          <a:solidFill>
                            <a:srgbClr val="00B050"/>
                          </a:solidFill>
                          <a:effectLst/>
                        </a:rPr>
                        <a:t>Network Effects</a:t>
                      </a:r>
                      <a:r>
                        <a:rPr lang="en-US" sz="1100" dirty="0">
                          <a:solidFill>
                            <a:schemeClr val="tx1"/>
                          </a:solidFill>
                          <a:effectLst/>
                        </a:rPr>
                        <a:t> among a Professional Network of 1,000+ initial subscribers while harnessing </a:t>
                      </a:r>
                      <a:r>
                        <a:rPr lang="en-US" sz="1100" b="1" dirty="0">
                          <a:solidFill>
                            <a:srgbClr val="00B050"/>
                          </a:solidFill>
                          <a:effectLst/>
                        </a:rPr>
                        <a:t>Generative Learning</a:t>
                      </a:r>
                      <a:r>
                        <a:rPr lang="en-US" sz="1100" dirty="0">
                          <a:solidFill>
                            <a:schemeClr val="tx1"/>
                          </a:solidFill>
                          <a:effectLst/>
                        </a:rPr>
                        <a:t> and </a:t>
                      </a:r>
                      <a:r>
                        <a:rPr lang="en-US" sz="1100" b="1" dirty="0">
                          <a:solidFill>
                            <a:schemeClr val="accent2"/>
                          </a:solidFill>
                          <a:effectLst/>
                        </a:rPr>
                        <a:t>Artificial Intelligence</a:t>
                      </a:r>
                      <a:r>
                        <a:rPr lang="en-US" sz="1100" dirty="0">
                          <a:solidFill>
                            <a:schemeClr val="tx1"/>
                          </a:solidFill>
                          <a:effectLst/>
                        </a:rPr>
                        <a:t>.</a:t>
                      </a:r>
                    </a:p>
                  </a:txBody>
                  <a:tcPr marL="51885" marR="51885" marT="0" marB="0"/>
                </a:tc>
                <a:tc hMerge="1">
                  <a:txBody>
                    <a:bodyPr/>
                    <a:lstStyle/>
                    <a:p>
                      <a:endParaRPr lang="en-US"/>
                    </a:p>
                  </a:txBody>
                  <a:tcPr/>
                </a:tc>
                <a:extLst>
                  <a:ext uri="{0D108BD9-81ED-4DB2-BD59-A6C34878D82A}">
                    <a16:rowId xmlns:a16="http://schemas.microsoft.com/office/drawing/2014/main" val="1776855705"/>
                  </a:ext>
                </a:extLst>
              </a:tr>
              <a:tr h="789725">
                <a:tc gridSpan="2">
                  <a:txBody>
                    <a:bodyPr/>
                    <a:lstStyle/>
                    <a:p>
                      <a:pPr marL="0" marR="0">
                        <a:lnSpc>
                          <a:spcPct val="115000"/>
                        </a:lnSpc>
                        <a:spcBef>
                          <a:spcPts val="0"/>
                        </a:spcBef>
                        <a:spcAft>
                          <a:spcPts val="1000"/>
                        </a:spcAft>
                      </a:pPr>
                      <a:r>
                        <a:rPr lang="en-US" sz="1100" b="1" dirty="0">
                          <a:solidFill>
                            <a:schemeClr val="tx1"/>
                          </a:solidFill>
                          <a:effectLst/>
                        </a:rPr>
                        <a:t>What is the potential impact on solutions, programs and services?</a:t>
                      </a:r>
                    </a:p>
                    <a:p>
                      <a:pPr marL="0" marR="0">
                        <a:lnSpc>
                          <a:spcPct val="115000"/>
                        </a:lnSpc>
                        <a:spcBef>
                          <a:spcPts val="0"/>
                        </a:spcBef>
                        <a:spcAft>
                          <a:spcPts val="1000"/>
                        </a:spcAft>
                      </a:pPr>
                      <a:r>
                        <a:rPr lang="en-US" sz="1100" dirty="0">
                          <a:solidFill>
                            <a:schemeClr val="tx1"/>
                          </a:solidFill>
                          <a:effectLst/>
                        </a:rPr>
                        <a:t>As we gain credibility, we will create a virtuous cycle of exponential growth and impact, crossing the chasm from Early Adopters into Mainstream Adoption by leaders and organizations across the Tech Services industry, materially improving the Tech Services industry and helping humanity.</a:t>
                      </a:r>
                    </a:p>
                  </a:txBody>
                  <a:tcPr marL="51885" marR="51885" marT="0" marB="0"/>
                </a:tc>
                <a:tc hMerge="1">
                  <a:txBody>
                    <a:bodyPr/>
                    <a:lstStyle/>
                    <a:p>
                      <a:endParaRPr lang="en-US"/>
                    </a:p>
                  </a:txBody>
                  <a:tcPr/>
                </a:tc>
                <a:extLst>
                  <a:ext uri="{0D108BD9-81ED-4DB2-BD59-A6C34878D82A}">
                    <a16:rowId xmlns:a16="http://schemas.microsoft.com/office/drawing/2014/main" val="3118231079"/>
                  </a:ext>
                </a:extLst>
              </a:tr>
              <a:tr h="918874">
                <a:tc gridSpan="2">
                  <a:txBody>
                    <a:bodyPr/>
                    <a:lstStyle/>
                    <a:p>
                      <a:pPr marL="0" marR="0">
                        <a:lnSpc>
                          <a:spcPct val="115000"/>
                        </a:lnSpc>
                        <a:spcBef>
                          <a:spcPts val="0"/>
                        </a:spcBef>
                        <a:spcAft>
                          <a:spcPts val="1000"/>
                        </a:spcAft>
                      </a:pPr>
                      <a:r>
                        <a:rPr lang="en-US" sz="1100" b="1" dirty="0">
                          <a:solidFill>
                            <a:schemeClr val="tx1"/>
                          </a:solidFill>
                          <a:effectLst/>
                        </a:rPr>
                        <a:t>What is the potential impact on sales, distribution, deployment and support? </a:t>
                      </a:r>
                    </a:p>
                    <a:p>
                      <a:pPr marL="0" marR="0">
                        <a:lnSpc>
                          <a:spcPct val="115000"/>
                        </a:lnSpc>
                        <a:spcBef>
                          <a:spcPts val="0"/>
                        </a:spcBef>
                        <a:spcAft>
                          <a:spcPts val="1000"/>
                        </a:spcAft>
                      </a:pPr>
                      <a:r>
                        <a:rPr lang="en-US" sz="1100" dirty="0">
                          <a:solidFill>
                            <a:schemeClr val="tx1"/>
                          </a:solidFill>
                          <a:effectLst/>
                        </a:rPr>
                        <a:t>Demand Generation, Customer Acquisition, and Service Fulfillment for our MVP should be focused on attracting and retaining 1,000+ initial subscribers, all who are Net Promoters of the Consortium’s services and its core premise.  As our Service mature beyond MVP, and we find new revenue sources, we will be able to invest in more sophisticated Demand Generation, Beneficiary Engagement, and Delivery of Service activities to further accelerate growth and impact.</a:t>
                      </a:r>
                    </a:p>
                  </a:txBody>
                  <a:tcPr marL="51885" marR="51885" marT="0" marB="0"/>
                </a:tc>
                <a:tc hMerge="1">
                  <a:txBody>
                    <a:bodyPr/>
                    <a:lstStyle/>
                    <a:p>
                      <a:endParaRPr lang="en-US"/>
                    </a:p>
                  </a:txBody>
                  <a:tcPr/>
                </a:tc>
                <a:extLst>
                  <a:ext uri="{0D108BD9-81ED-4DB2-BD59-A6C34878D82A}">
                    <a16:rowId xmlns:a16="http://schemas.microsoft.com/office/drawing/2014/main" val="2482228238"/>
                  </a:ext>
                </a:extLst>
              </a:tr>
              <a:tr h="157843">
                <a:tc gridSpan="2">
                  <a:txBody>
                    <a:bodyPr/>
                    <a:lstStyle/>
                    <a:p>
                      <a:pPr marL="0" marR="0" algn="ctr">
                        <a:lnSpc>
                          <a:spcPct val="115000"/>
                        </a:lnSpc>
                        <a:spcBef>
                          <a:spcPts val="0"/>
                        </a:spcBef>
                        <a:spcAft>
                          <a:spcPts val="0"/>
                        </a:spcAft>
                      </a:pPr>
                      <a:r>
                        <a:rPr lang="en-US" sz="1100" b="1" dirty="0">
                          <a:solidFill>
                            <a:schemeClr val="tx1"/>
                          </a:solidFill>
                          <a:effectLst/>
                        </a:rPr>
                        <a:t>Forecasted Costs</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51885" marR="51885" marT="0" marB="0"/>
                </a:tc>
                <a:tc hMerge="1">
                  <a:txBody>
                    <a:bodyPr/>
                    <a:lstStyle/>
                    <a:p>
                      <a:endParaRPr lang="en-US"/>
                    </a:p>
                  </a:txBody>
                  <a:tcPr/>
                </a:tc>
                <a:extLst>
                  <a:ext uri="{0D108BD9-81ED-4DB2-BD59-A6C34878D82A}">
                    <a16:rowId xmlns:a16="http://schemas.microsoft.com/office/drawing/2014/main" val="3811219619"/>
                  </a:ext>
                </a:extLst>
              </a:tr>
              <a:tr h="892361">
                <a:tc>
                  <a:txBody>
                    <a:bodyPr/>
                    <a:lstStyle/>
                    <a:p>
                      <a:pPr marL="0" marR="0">
                        <a:lnSpc>
                          <a:spcPct val="115000"/>
                        </a:lnSpc>
                        <a:spcBef>
                          <a:spcPts val="0"/>
                        </a:spcBef>
                        <a:spcAft>
                          <a:spcPts val="1000"/>
                        </a:spcAft>
                      </a:pPr>
                      <a:r>
                        <a:rPr lang="en-US" sz="1100" b="1" dirty="0">
                          <a:solidFill>
                            <a:schemeClr val="tx1"/>
                          </a:solidFill>
                          <a:effectLst/>
                        </a:rPr>
                        <a:t>MVP Cost:</a:t>
                      </a:r>
                    </a:p>
                    <a:p>
                      <a:pPr marL="0" marR="0">
                        <a:lnSpc>
                          <a:spcPct val="115000"/>
                        </a:lnSpc>
                        <a:spcBef>
                          <a:spcPts val="0"/>
                        </a:spcBef>
                        <a:spcAft>
                          <a:spcPts val="1000"/>
                        </a:spcAft>
                      </a:pPr>
                      <a:r>
                        <a:rPr lang="en-US" sz="1100" dirty="0">
                          <a:solidFill>
                            <a:schemeClr val="tx1"/>
                          </a:solidFill>
                          <a:effectLst/>
                        </a:rPr>
                        <a:t>Estimate:  $10K</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51885" marR="51885" marT="0" marB="0"/>
                </a:tc>
                <a:tc>
                  <a:txBody>
                    <a:bodyPr/>
                    <a:lstStyle/>
                    <a:p>
                      <a:pPr marL="0" marR="0">
                        <a:lnSpc>
                          <a:spcPct val="115000"/>
                        </a:lnSpc>
                        <a:spcBef>
                          <a:spcPts val="0"/>
                        </a:spcBef>
                        <a:spcAft>
                          <a:spcPts val="1000"/>
                        </a:spcAft>
                      </a:pPr>
                      <a:r>
                        <a:rPr lang="en-US" sz="1100" b="1" dirty="0">
                          <a:solidFill>
                            <a:schemeClr val="tx1"/>
                          </a:solidFill>
                          <a:effectLst/>
                        </a:rPr>
                        <a:t>Estimated Implementation Cost:</a:t>
                      </a:r>
                    </a:p>
                    <a:p>
                      <a:pPr marL="0" marR="0">
                        <a:lnSpc>
                          <a:spcPct val="115000"/>
                        </a:lnSpc>
                        <a:spcBef>
                          <a:spcPts val="0"/>
                        </a:spcBef>
                        <a:spcAft>
                          <a:spcPts val="1000"/>
                        </a:spcAft>
                      </a:pPr>
                      <a:r>
                        <a:rPr lang="en-US" sz="1100" dirty="0">
                          <a:solidFill>
                            <a:schemeClr val="tx1"/>
                          </a:solidFill>
                          <a:effectLst/>
                        </a:rPr>
                        <a:t>Initial estimate: $125K</a:t>
                      </a:r>
                    </a:p>
                  </a:txBody>
                  <a:tcPr marL="51885" marR="51885" marT="0" marB="0"/>
                </a:tc>
                <a:extLst>
                  <a:ext uri="{0D108BD9-81ED-4DB2-BD59-A6C34878D82A}">
                    <a16:rowId xmlns:a16="http://schemas.microsoft.com/office/drawing/2014/main" val="442753502"/>
                  </a:ext>
                </a:extLst>
              </a:tr>
              <a:tr h="157843">
                <a:tc gridSpan="2">
                  <a:txBody>
                    <a:bodyPr/>
                    <a:lstStyle/>
                    <a:p>
                      <a:pPr marL="0" marR="0" algn="ctr">
                        <a:lnSpc>
                          <a:spcPct val="115000"/>
                        </a:lnSpc>
                        <a:spcBef>
                          <a:spcPts val="0"/>
                        </a:spcBef>
                        <a:spcAft>
                          <a:spcPts val="0"/>
                        </a:spcAft>
                      </a:pPr>
                      <a:r>
                        <a:rPr lang="en-US" sz="1100" b="1" dirty="0">
                          <a:solidFill>
                            <a:schemeClr val="tx1"/>
                          </a:solidFill>
                          <a:effectLst/>
                        </a:rPr>
                        <a:t>Forecasted Returns </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51885" marR="51885" marT="0" marB="0"/>
                </a:tc>
                <a:tc hMerge="1">
                  <a:txBody>
                    <a:bodyPr/>
                    <a:lstStyle/>
                    <a:p>
                      <a:endParaRPr lang="en-US"/>
                    </a:p>
                  </a:txBody>
                  <a:tcPr/>
                </a:tc>
                <a:extLst>
                  <a:ext uri="{0D108BD9-81ED-4DB2-BD59-A6C34878D82A}">
                    <a16:rowId xmlns:a16="http://schemas.microsoft.com/office/drawing/2014/main" val="2665873674"/>
                  </a:ext>
                </a:extLst>
              </a:tr>
              <a:tr h="620770">
                <a:tc gridSpan="2">
                  <a:txBody>
                    <a:bodyPr/>
                    <a:lstStyle/>
                    <a:p>
                      <a:pPr marL="0" marR="0">
                        <a:lnSpc>
                          <a:spcPct val="115000"/>
                        </a:lnSpc>
                        <a:spcBef>
                          <a:spcPts val="0"/>
                        </a:spcBef>
                        <a:spcAft>
                          <a:spcPts val="1000"/>
                        </a:spcAft>
                      </a:pPr>
                      <a:r>
                        <a:rPr lang="en-US" sz="1100" b="1" dirty="0">
                          <a:solidFill>
                            <a:schemeClr val="tx1"/>
                          </a:solidFill>
                          <a:effectLst/>
                        </a:rPr>
                        <a:t>Type of Return:</a:t>
                      </a:r>
                    </a:p>
                    <a:p>
                      <a:pPr marL="0" marR="0">
                        <a:lnSpc>
                          <a:spcPct val="115000"/>
                        </a:lnSpc>
                        <a:spcBef>
                          <a:spcPts val="0"/>
                        </a:spcBef>
                        <a:spcAft>
                          <a:spcPts val="1000"/>
                        </a:spcAft>
                      </a:pPr>
                      <a:r>
                        <a:rPr lang="en-US" sz="1100" dirty="0">
                          <a:solidFill>
                            <a:schemeClr val="tx1"/>
                          </a:solidFill>
                          <a:effectLst/>
                        </a:rPr>
                        <a:t>Leading Indicators:  Increasing numbers of subscribers in the Professional Network, tripling every 2-3 years</a:t>
                      </a:r>
                      <a:b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b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Lagging indicators:  Increasing benefit to subscribers, the Tech Services industry, and humanity, as measured by stakeholder surveys</a:t>
                      </a:r>
                      <a:endParaRPr lang="en-US" sz="1100" dirty="0">
                        <a:solidFill>
                          <a:schemeClr val="tx1"/>
                        </a:solidFill>
                        <a:effectLst/>
                        <a:latin typeface="Arial" panose="020B0604020202020204" pitchFamily="34" charset="0"/>
                        <a:cs typeface="Arial" panose="020B0604020202020204" pitchFamily="34" charset="0"/>
                      </a:endParaRPr>
                    </a:p>
                  </a:txBody>
                  <a:tcPr marL="51885" marR="51885" marT="0" marB="0"/>
                </a:tc>
                <a:tc hMerge="1">
                  <a:txBody>
                    <a:bodyPr/>
                    <a:lstStyle/>
                    <a:p>
                      <a:endParaRPr lang="en-US"/>
                    </a:p>
                  </a:txBody>
                  <a:tcPr/>
                </a:tc>
                <a:extLst>
                  <a:ext uri="{0D108BD9-81ED-4DB2-BD59-A6C34878D82A}">
                    <a16:rowId xmlns:a16="http://schemas.microsoft.com/office/drawing/2014/main" val="617274721"/>
                  </a:ext>
                </a:extLst>
              </a:tr>
            </a:tbl>
          </a:graphicData>
        </a:graphic>
      </p:graphicFrame>
      <p:sp>
        <p:nvSpPr>
          <p:cNvPr id="2" name="Rectangle 1">
            <a:extLst>
              <a:ext uri="{FF2B5EF4-FFF2-40B4-BE49-F238E27FC236}">
                <a16:creationId xmlns:a16="http://schemas.microsoft.com/office/drawing/2014/main" id="{0AFA4691-0634-7178-C749-C47ECD95F252}"/>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4" name="Rectangle 3">
            <a:extLst>
              <a:ext uri="{FF2B5EF4-FFF2-40B4-BE49-F238E27FC236}">
                <a16:creationId xmlns:a16="http://schemas.microsoft.com/office/drawing/2014/main" id="{9982B7C1-7287-28F1-91AA-FCCF5AECD714}"/>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5" name="Rectangle 4">
            <a:extLst>
              <a:ext uri="{FF2B5EF4-FFF2-40B4-BE49-F238E27FC236}">
                <a16:creationId xmlns:a16="http://schemas.microsoft.com/office/drawing/2014/main" id="{AC5D8176-2D3A-BE52-A73C-694BE157E290}"/>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TextBox 5">
            <a:extLst>
              <a:ext uri="{FF2B5EF4-FFF2-40B4-BE49-F238E27FC236}">
                <a16:creationId xmlns:a16="http://schemas.microsoft.com/office/drawing/2014/main" id="{F2D42400-5633-A72C-1FD7-4E3F59FDFE1F}"/>
              </a:ext>
            </a:extLst>
          </p:cNvPr>
          <p:cNvSpPr txBox="1"/>
          <p:nvPr/>
        </p:nvSpPr>
        <p:spPr>
          <a:xfrm>
            <a:off x="939452" y="6550223"/>
            <a:ext cx="610017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&lt;See SAFe Epics at </a:t>
            </a:r>
            <a:r>
              <a:rPr kumimoji="0" lang="en-US" sz="1400" b="0" i="0" u="none" strike="noStrike" kern="0" cap="none" spc="0" normalizeH="0" baseline="0" noProof="0" dirty="0">
                <a:ln>
                  <a:noFill/>
                </a:ln>
                <a:solidFill>
                  <a:srgbClr val="000000"/>
                </a:solidFill>
                <a:effectLst/>
                <a:uLnTx/>
                <a:uFillTx/>
                <a:latin typeface="Arial"/>
                <a:cs typeface="Arial"/>
                <a:sym typeface="Arial"/>
                <a:hlinkClick r:id="rId3"/>
              </a:rPr>
              <a:t>this link</a:t>
            </a:r>
            <a:r>
              <a:rPr kumimoji="0" lang="en-US" sz="1400" b="0" i="0" u="none" strike="noStrike" kern="0" cap="none" spc="0" normalizeH="0" baseline="0" noProof="0" dirty="0">
                <a:ln>
                  <a:noFill/>
                </a:ln>
                <a:solidFill>
                  <a:srgbClr val="000000"/>
                </a:solidFill>
                <a:effectLst/>
                <a:uLnTx/>
                <a:uFillTx/>
                <a:latin typeface="Arial"/>
                <a:cs typeface="Arial"/>
                <a:sym typeface="Arial"/>
              </a:rPr>
              <a:t>&gt;</a:t>
            </a:r>
          </a:p>
        </p:txBody>
      </p:sp>
      <p:sp>
        <p:nvSpPr>
          <p:cNvPr id="7" name="Google Shape;18;p9">
            <a:extLst>
              <a:ext uri="{FF2B5EF4-FFF2-40B4-BE49-F238E27FC236}">
                <a16:creationId xmlns:a16="http://schemas.microsoft.com/office/drawing/2014/main" id="{7FE450E7-5500-1557-7587-B39724023C17}"/>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4255637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(4/5)</a:t>
            </a:r>
            <a:endParaRPr dirty="0"/>
          </a:p>
        </p:txBody>
      </p:sp>
      <p:graphicFrame>
        <p:nvGraphicFramePr>
          <p:cNvPr id="2" name="Table 1">
            <a:extLst>
              <a:ext uri="{FF2B5EF4-FFF2-40B4-BE49-F238E27FC236}">
                <a16:creationId xmlns:a16="http://schemas.microsoft.com/office/drawing/2014/main" id="{59DCEAC8-DB72-C8D9-0DB4-F8D83D801ADB}"/>
              </a:ext>
            </a:extLst>
          </p:cNvPr>
          <p:cNvGraphicFramePr>
            <a:graphicFrameLocks noGrp="1"/>
          </p:cNvGraphicFramePr>
          <p:nvPr>
            <p:extLst>
              <p:ext uri="{D42A27DB-BD31-4B8C-83A1-F6EECF244321}">
                <p14:modId xmlns:p14="http://schemas.microsoft.com/office/powerpoint/2010/main" val="2428508807"/>
              </p:ext>
            </p:extLst>
          </p:nvPr>
        </p:nvGraphicFramePr>
        <p:xfrm>
          <a:off x="838199" y="1690688"/>
          <a:ext cx="10610590" cy="4340389"/>
        </p:xfrm>
        <a:graphic>
          <a:graphicData uri="http://schemas.openxmlformats.org/drawingml/2006/table">
            <a:tbl>
              <a:tblPr firstRow="1" firstCol="1" bandRow="1" bandCol="1">
                <a:tableStyleId>{5940675A-B579-460E-94D1-54222C63F5DA}</a:tableStyleId>
              </a:tblPr>
              <a:tblGrid>
                <a:gridCol w="10610590">
                  <a:extLst>
                    <a:ext uri="{9D8B030D-6E8A-4147-A177-3AD203B41FA5}">
                      <a16:colId xmlns:a16="http://schemas.microsoft.com/office/drawing/2014/main" val="3385405187"/>
                    </a:ext>
                  </a:extLst>
                </a:gridCol>
              </a:tblGrid>
              <a:tr h="400405">
                <a:tc>
                  <a:txBody>
                    <a:bodyPr/>
                    <a:lstStyle/>
                    <a:p>
                      <a:pPr marL="0" marR="0" algn="ctr">
                        <a:lnSpc>
                          <a:spcPct val="115000"/>
                        </a:lnSpc>
                        <a:spcBef>
                          <a:spcPts val="0"/>
                        </a:spcBef>
                        <a:spcAft>
                          <a:spcPts val="0"/>
                        </a:spcAft>
                      </a:pPr>
                      <a:r>
                        <a:rPr lang="en-US" sz="1100" b="1" dirty="0">
                          <a:solidFill>
                            <a:schemeClr val="tx1"/>
                          </a:solidFill>
                          <a:effectLst/>
                        </a:rPr>
                        <a:t>Development Strategy </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269012631"/>
                  </a:ext>
                </a:extLst>
              </a:tr>
              <a:tr h="1278408">
                <a:tc>
                  <a:txBody>
                    <a:bodyPr/>
                    <a:lstStyle/>
                    <a:p>
                      <a:pPr marL="0" marR="0">
                        <a:lnSpc>
                          <a:spcPct val="115000"/>
                        </a:lnSpc>
                        <a:spcBef>
                          <a:spcPts val="0"/>
                        </a:spcBef>
                        <a:spcAft>
                          <a:spcPts val="1000"/>
                        </a:spcAft>
                      </a:pPr>
                      <a:r>
                        <a:rPr lang="en-US" sz="1100" b="1" dirty="0">
                          <a:solidFill>
                            <a:schemeClr val="tx1"/>
                          </a:solidFill>
                          <a:effectLst/>
                        </a:rPr>
                        <a:t>In-house or Outsourced Development:</a:t>
                      </a:r>
                    </a:p>
                    <a:p>
                      <a:pPr marL="0" marR="0">
                        <a:lnSpc>
                          <a:spcPct val="115000"/>
                        </a:lnSpc>
                        <a:spcBef>
                          <a:spcPts val="0"/>
                        </a:spcBef>
                        <a:spcAft>
                          <a:spcPts val="0"/>
                        </a:spcAft>
                      </a:pPr>
                      <a:r>
                        <a:rPr lang="en-US" sz="1100" dirty="0">
                          <a:solidFill>
                            <a:schemeClr val="tx1"/>
                          </a:solidFill>
                          <a:effectLst/>
                        </a:rPr>
                        <a:t>In-house development:  </a:t>
                      </a:r>
                    </a:p>
                    <a:p>
                      <a:pPr marL="61913" marR="0" indent="-61913">
                        <a:lnSpc>
                          <a:spcPct val="115000"/>
                        </a:lnSpc>
                        <a:spcBef>
                          <a:spcPts val="0"/>
                        </a:spcBef>
                        <a:spcAft>
                          <a:spcPts val="0"/>
                        </a:spcAft>
                        <a:buFont typeface="Arial" panose="020B0604020202020204" pitchFamily="34" charset="0"/>
                        <a:buChar char="•"/>
                        <a:tabLst/>
                      </a:pPr>
                      <a:r>
                        <a:rPr lang="en-US" sz="1100" dirty="0">
                          <a:solidFill>
                            <a:schemeClr val="tx1"/>
                          </a:solidFill>
                          <a:effectLst/>
                        </a:rPr>
                        <a:t> Service Strategy, Context, Intent, Development Kit, Demand Generation Kit, Beneficiary Engagement Kit, and Delivery of Service Kit</a:t>
                      </a:r>
                      <a:b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br>
                      <a:endPar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endParaRPr>
                    </a:p>
                    <a:p>
                      <a:pPr marL="0" marR="0" indent="0" algn="l" rtl="0">
                        <a:lnSpc>
                          <a:spcPct val="115000"/>
                        </a:lnSpc>
                        <a:spcBef>
                          <a:spcPts val="0"/>
                        </a:spcBef>
                        <a:spcAft>
                          <a:spcPts val="0"/>
                        </a:spcAft>
                        <a:buClr>
                          <a:srgbClr val="000000"/>
                        </a:buClr>
                        <a:buFont typeface="Arial" panose="020B0604020202020204" pitchFamily="34" charset="0"/>
                        <a:buNone/>
                        <a:tabLst/>
                      </a:pP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Outsourced development:  None</a:t>
                      </a:r>
                      <a:endParaRPr lang="en-US" sz="1100" b="0" i="0" u="none" strike="noStrike" cap="none" dirty="0">
                        <a:solidFill>
                          <a:schemeClr val="tx1"/>
                        </a:solidFill>
                        <a:effectLst/>
                        <a:latin typeface="+mn-lt"/>
                        <a:ea typeface="+mn-ea"/>
                        <a:cs typeface="+mn-cs"/>
                        <a:sym typeface="Arial"/>
                      </a:endParaRPr>
                    </a:p>
                  </a:txBody>
                  <a:tcPr marL="68580" marR="68580" marT="0" marB="0"/>
                </a:tc>
                <a:extLst>
                  <a:ext uri="{0D108BD9-81ED-4DB2-BD59-A6C34878D82A}">
                    <a16:rowId xmlns:a16="http://schemas.microsoft.com/office/drawing/2014/main" val="3849551468"/>
                  </a:ext>
                </a:extLst>
              </a:tr>
              <a:tr h="1660833">
                <a:tc>
                  <a:txBody>
                    <a:bodyPr/>
                    <a:lstStyle/>
                    <a:p>
                      <a:pPr marL="0" marR="0">
                        <a:lnSpc>
                          <a:spcPct val="115000"/>
                        </a:lnSpc>
                        <a:spcBef>
                          <a:spcPts val="0"/>
                        </a:spcBef>
                        <a:spcAft>
                          <a:spcPts val="1000"/>
                        </a:spcAft>
                      </a:pPr>
                      <a:r>
                        <a:rPr lang="en-US" sz="1100" b="1" dirty="0">
                          <a:solidFill>
                            <a:schemeClr val="tx1"/>
                          </a:solidFill>
                          <a:effectLst/>
                        </a:rPr>
                        <a:t>Incremental Implementation Strategy:</a:t>
                      </a:r>
                    </a:p>
                    <a:p>
                      <a:pPr marL="0" marR="0">
                        <a:lnSpc>
                          <a:spcPct val="115000"/>
                        </a:lnSpc>
                        <a:spcBef>
                          <a:spcPts val="0"/>
                        </a:spcBef>
                        <a:spcAft>
                          <a:spcPts val="1000"/>
                        </a:spcAft>
                      </a:pP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The Product team will take the “Architectural effort precedes business functionality by one or a few iterations” strategy.  The Professional Networking Service v1 is a Portfolio-Level Business Epic being developed concurrently with the AccelRR8 Framework open methodology and the AccelRR8 Body of Knowledge Overview MVPs (v1), which in this context are Architectural Epics that support the Business Epic.</a:t>
                      </a:r>
                    </a:p>
                    <a:p>
                      <a:pPr marL="0" marR="0">
                        <a:lnSpc>
                          <a:spcPct val="115000"/>
                        </a:lnSpc>
                        <a:spcBef>
                          <a:spcPts val="0"/>
                        </a:spcBef>
                        <a:spcAft>
                          <a:spcPts val="1000"/>
                        </a:spcAft>
                      </a:pPr>
                      <a:r>
                        <a:rPr lang="en-US" sz="1100" dirty="0">
                          <a:solidFill>
                            <a:schemeClr val="tx1"/>
                          </a:solidFill>
                          <a:effectLst/>
                          <a:latin typeface="Arial" panose="020B0604020202020204" pitchFamily="34" charset="0"/>
                          <a:cs typeface="Arial" panose="020B0604020202020204" pitchFamily="34" charset="0"/>
                        </a:rPr>
                        <a:t>Click </a:t>
                      </a:r>
                      <a:r>
                        <a:rPr lang="en-US" sz="1100" u="sng" dirty="0">
                          <a:solidFill>
                            <a:schemeClr val="tx1"/>
                          </a:solidFill>
                          <a:effectLst/>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here</a:t>
                      </a:r>
                      <a:r>
                        <a:rPr lang="en-US" sz="1100" dirty="0">
                          <a:solidFill>
                            <a:schemeClr val="tx1"/>
                          </a:solidFill>
                          <a:effectLst/>
                          <a:latin typeface="Arial" panose="020B0604020202020204" pitchFamily="34" charset="0"/>
                          <a:cs typeface="Arial" panose="020B0604020202020204" pitchFamily="34" charset="0"/>
                        </a:rPr>
                        <a:t> for details on the “Architectural effort precedes business functionality by one or a few iterations” strategy.</a:t>
                      </a:r>
                      <a:br>
                        <a:rPr lang="en-US" sz="1100" dirty="0">
                          <a:latin typeface="Arial" panose="020B0604020202020204" pitchFamily="34" charset="0"/>
                          <a:cs typeface="Arial" panose="020B0604020202020204" pitchFamily="34" charset="0"/>
                        </a:rPr>
                      </a:br>
                      <a:r>
                        <a:rPr lang="en-US" sz="1100" b="0" i="0" u="none" strike="noStrike" cap="none" dirty="0">
                          <a:solidFill>
                            <a:schemeClr val="tx1"/>
                          </a:solidFill>
                          <a:effectLst/>
                          <a:latin typeface="Arial" panose="020B0604020202020204" pitchFamily="34" charset="0"/>
                          <a:ea typeface="+mn-ea"/>
                          <a:cs typeface="Arial" panose="020B0604020202020204" pitchFamily="34" charset="0"/>
                          <a:sym typeface="Arial"/>
                        </a:rPr>
                        <a:t>© Scaled Agile, Inc.</a:t>
                      </a:r>
                      <a:endPar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endParaRPr>
                    </a:p>
                  </a:txBody>
                  <a:tcPr marL="68580" marR="68580" marT="0" marB="0"/>
                </a:tc>
                <a:extLst>
                  <a:ext uri="{0D108BD9-81ED-4DB2-BD59-A6C34878D82A}">
                    <a16:rowId xmlns:a16="http://schemas.microsoft.com/office/drawing/2014/main" val="2329702929"/>
                  </a:ext>
                </a:extLst>
              </a:tr>
              <a:tr h="1000743">
                <a:tc>
                  <a:txBody>
                    <a:bodyPr/>
                    <a:lstStyle/>
                    <a:p>
                      <a:pPr marL="0" marR="0">
                        <a:lnSpc>
                          <a:spcPct val="115000"/>
                        </a:lnSpc>
                        <a:spcBef>
                          <a:spcPts val="0"/>
                        </a:spcBef>
                        <a:spcAft>
                          <a:spcPts val="1000"/>
                        </a:spcAft>
                      </a:pPr>
                      <a:r>
                        <a:rPr lang="en-US" sz="1100" b="1" dirty="0">
                          <a:solidFill>
                            <a:schemeClr val="tx1"/>
                          </a:solidFill>
                          <a:effectLst/>
                        </a:rPr>
                        <a:t>Sequencing and Dependencies:</a:t>
                      </a:r>
                    </a:p>
                    <a:p>
                      <a:pPr marL="0" marR="0">
                        <a:lnSpc>
                          <a:spcPct val="115000"/>
                        </a:lnSpc>
                        <a:spcBef>
                          <a:spcPts val="0"/>
                        </a:spcBef>
                        <a:spcAft>
                          <a:spcPts val="1000"/>
                        </a:spcAft>
                      </a:pP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Required features of the AccelRR8 Framework open methodology and the AccelRR8 Body of Knowledge Overview MVPs (v1) will be developed before they are needed by the Consortium’s Professional Networking Service v1.</a:t>
                      </a:r>
                    </a:p>
                  </a:txBody>
                  <a:tcPr marL="68580" marR="68580" marT="0" marB="0"/>
                </a:tc>
                <a:extLst>
                  <a:ext uri="{0D108BD9-81ED-4DB2-BD59-A6C34878D82A}">
                    <a16:rowId xmlns:a16="http://schemas.microsoft.com/office/drawing/2014/main" val="2759219611"/>
                  </a:ext>
                </a:extLst>
              </a:tr>
            </a:tbl>
          </a:graphicData>
        </a:graphic>
      </p:graphicFrame>
      <p:sp>
        <p:nvSpPr>
          <p:cNvPr id="3" name="Rectangle 2">
            <a:extLst>
              <a:ext uri="{FF2B5EF4-FFF2-40B4-BE49-F238E27FC236}">
                <a16:creationId xmlns:a16="http://schemas.microsoft.com/office/drawing/2014/main" id="{46B78F2F-49FE-E010-BE57-5B187F60A2F1}"/>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4" name="Rectangle 3">
            <a:extLst>
              <a:ext uri="{FF2B5EF4-FFF2-40B4-BE49-F238E27FC236}">
                <a16:creationId xmlns:a16="http://schemas.microsoft.com/office/drawing/2014/main" id="{0EDF6E39-C3EC-1F82-A0BD-BD7DAAC9A077}"/>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5" name="Rectangle 4">
            <a:extLst>
              <a:ext uri="{FF2B5EF4-FFF2-40B4-BE49-F238E27FC236}">
                <a16:creationId xmlns:a16="http://schemas.microsoft.com/office/drawing/2014/main" id="{E646AA49-8E0E-B8DA-876A-BEF6D4BB5EE0}"/>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TextBox 5">
            <a:extLst>
              <a:ext uri="{FF2B5EF4-FFF2-40B4-BE49-F238E27FC236}">
                <a16:creationId xmlns:a16="http://schemas.microsoft.com/office/drawing/2014/main" id="{9F8D68DC-C5C8-1881-D83B-793CEBFE2E6F}"/>
              </a:ext>
            </a:extLst>
          </p:cNvPr>
          <p:cNvSpPr txBox="1"/>
          <p:nvPr/>
        </p:nvSpPr>
        <p:spPr>
          <a:xfrm>
            <a:off x="875777" y="6300592"/>
            <a:ext cx="610017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&lt;See SAFe Epics at </a:t>
            </a:r>
            <a:r>
              <a:rPr kumimoji="0" lang="en-US" sz="1400" b="0" i="0" u="none" strike="noStrike" kern="0" cap="none" spc="0" normalizeH="0" baseline="0" noProof="0" dirty="0">
                <a:ln>
                  <a:noFill/>
                </a:ln>
                <a:solidFill>
                  <a:srgbClr val="000000"/>
                </a:solidFill>
                <a:effectLst/>
                <a:uLnTx/>
                <a:uFillTx/>
                <a:latin typeface="Arial"/>
                <a:cs typeface="Arial"/>
                <a:sym typeface="Arial"/>
                <a:hlinkClick r:id="rId4"/>
              </a:rPr>
              <a:t>this link</a:t>
            </a:r>
            <a:r>
              <a:rPr kumimoji="0" lang="en-US" sz="1400" b="0" i="0" u="none" strike="noStrike" kern="0" cap="none" spc="0" normalizeH="0" baseline="0" noProof="0" dirty="0">
                <a:ln>
                  <a:noFill/>
                </a:ln>
                <a:solidFill>
                  <a:srgbClr val="000000"/>
                </a:solidFill>
                <a:effectLst/>
                <a:uLnTx/>
                <a:uFillTx/>
                <a:latin typeface="Arial"/>
                <a:cs typeface="Arial"/>
                <a:sym typeface="Arial"/>
              </a:rPr>
              <a:t>&gt;</a:t>
            </a:r>
          </a:p>
        </p:txBody>
      </p:sp>
      <p:sp>
        <p:nvSpPr>
          <p:cNvPr id="7" name="Google Shape;18;p9">
            <a:extLst>
              <a:ext uri="{FF2B5EF4-FFF2-40B4-BE49-F238E27FC236}">
                <a16:creationId xmlns:a16="http://schemas.microsoft.com/office/drawing/2014/main" id="{E84B6E51-E573-5BC3-2F49-2CB36E1EC08D}"/>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67448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(5/5)</a:t>
            </a:r>
            <a:endParaRPr dirty="0"/>
          </a:p>
        </p:txBody>
      </p:sp>
      <p:graphicFrame>
        <p:nvGraphicFramePr>
          <p:cNvPr id="3" name="Table 2">
            <a:extLst>
              <a:ext uri="{FF2B5EF4-FFF2-40B4-BE49-F238E27FC236}">
                <a16:creationId xmlns:a16="http://schemas.microsoft.com/office/drawing/2014/main" id="{F1699409-9005-50C8-4771-BC86CF9F9048}"/>
              </a:ext>
            </a:extLst>
          </p:cNvPr>
          <p:cNvGraphicFramePr>
            <a:graphicFrameLocks noGrp="1"/>
          </p:cNvGraphicFramePr>
          <p:nvPr>
            <p:extLst>
              <p:ext uri="{D42A27DB-BD31-4B8C-83A1-F6EECF244321}">
                <p14:modId xmlns:p14="http://schemas.microsoft.com/office/powerpoint/2010/main" val="1356048251"/>
              </p:ext>
            </p:extLst>
          </p:nvPr>
        </p:nvGraphicFramePr>
        <p:xfrm>
          <a:off x="838199" y="1859153"/>
          <a:ext cx="10522908" cy="3589669"/>
        </p:xfrm>
        <a:graphic>
          <a:graphicData uri="http://schemas.openxmlformats.org/drawingml/2006/table">
            <a:tbl>
              <a:tblPr firstRow="1" firstCol="1" bandRow="1" bandCol="1">
                <a:tableStyleId>{5940675A-B579-460E-94D1-54222C63F5DA}</a:tableStyleId>
              </a:tblPr>
              <a:tblGrid>
                <a:gridCol w="10522908">
                  <a:extLst>
                    <a:ext uri="{9D8B030D-6E8A-4147-A177-3AD203B41FA5}">
                      <a16:colId xmlns:a16="http://schemas.microsoft.com/office/drawing/2014/main" val="2176383689"/>
                    </a:ext>
                  </a:extLst>
                </a:gridCol>
              </a:tblGrid>
              <a:tr h="412372">
                <a:tc>
                  <a:txBody>
                    <a:bodyPr/>
                    <a:lstStyle/>
                    <a:p>
                      <a:pPr marL="0" marR="0" algn="ctr">
                        <a:lnSpc>
                          <a:spcPct val="115000"/>
                        </a:lnSpc>
                        <a:spcBef>
                          <a:spcPts val="0"/>
                        </a:spcBef>
                        <a:spcAft>
                          <a:spcPts val="0"/>
                        </a:spcAft>
                      </a:pPr>
                      <a:r>
                        <a:rPr lang="en-US" sz="1100" b="1" dirty="0">
                          <a:solidFill>
                            <a:schemeClr val="tx1"/>
                          </a:solidFill>
                          <a:effectLst/>
                        </a:rPr>
                        <a:t>Additional Supporting Data </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983676439"/>
                  </a:ext>
                </a:extLst>
              </a:tr>
              <a:tr h="1584438">
                <a:tc>
                  <a:txBody>
                    <a:bodyPr/>
                    <a:lstStyle/>
                    <a:p>
                      <a:pPr marL="0" marR="0">
                        <a:lnSpc>
                          <a:spcPct val="115000"/>
                        </a:lnSpc>
                        <a:spcBef>
                          <a:spcPts val="0"/>
                        </a:spcBef>
                        <a:spcAft>
                          <a:spcPts val="1000"/>
                        </a:spcAft>
                      </a:pPr>
                      <a:r>
                        <a:rPr lang="en-US" sz="1100" b="1" dirty="0">
                          <a:solidFill>
                            <a:schemeClr val="tx1"/>
                          </a:solidFill>
                          <a:effectLst/>
                        </a:rPr>
                        <a:t>Attachments:</a:t>
                      </a:r>
                    </a:p>
                    <a:p>
                      <a:pPr marL="0" marR="0">
                        <a:lnSpc>
                          <a:spcPct val="115000"/>
                        </a:lnSpc>
                        <a:spcBef>
                          <a:spcPts val="0"/>
                        </a:spcBef>
                        <a:spcAft>
                          <a:spcPts val="1000"/>
                        </a:spcAft>
                      </a:pPr>
                      <a:r>
                        <a:rPr lang="en-US" sz="1100" dirty="0">
                          <a:solidFill>
                            <a:schemeClr val="tx1"/>
                          </a:solidFill>
                          <a:effectLst/>
                        </a:rPr>
                        <a:t>See Professional Networking Service Components on Next Slide.</a:t>
                      </a:r>
                    </a:p>
                    <a:p>
                      <a:pPr marL="0" marR="0">
                        <a:lnSpc>
                          <a:spcPct val="115000"/>
                        </a:lnSpc>
                        <a:spcBef>
                          <a:spcPts val="0"/>
                        </a:spcBef>
                        <a:spcAft>
                          <a:spcPts val="1000"/>
                        </a:spcAft>
                      </a:pPr>
                      <a:r>
                        <a:rPr lang="en-US" sz="1100" dirty="0">
                          <a:solidFill>
                            <a:schemeClr val="tx1"/>
                          </a:solidFill>
                          <a:effectLst/>
                        </a:rPr>
                        <a:t>These include Service Strategy, Context, Intent, Development Kit, Demand Generation Kit, Customer Acquisition Kit, and Service Fulfillment Kit components.</a:t>
                      </a:r>
                    </a:p>
                    <a:p>
                      <a:pPr marL="0" marR="0">
                        <a:lnSpc>
                          <a:spcPct val="115000"/>
                        </a:lnSpc>
                        <a:spcBef>
                          <a:spcPts val="0"/>
                        </a:spcBef>
                        <a:spcAft>
                          <a:spcPts val="1000"/>
                        </a:spcAft>
                      </a:pPr>
                      <a:endParaRPr lang="en-US" sz="1100" dirty="0">
                        <a:solidFill>
                          <a:schemeClr val="tx1"/>
                        </a:solidFill>
                        <a:effectLst/>
                      </a:endParaRPr>
                    </a:p>
                  </a:txBody>
                  <a:tcPr marL="68580" marR="68580" marT="0" marB="0"/>
                </a:tc>
                <a:extLst>
                  <a:ext uri="{0D108BD9-81ED-4DB2-BD59-A6C34878D82A}">
                    <a16:rowId xmlns:a16="http://schemas.microsoft.com/office/drawing/2014/main" val="1559136522"/>
                  </a:ext>
                </a:extLst>
              </a:tr>
              <a:tr h="1592859">
                <a:tc>
                  <a:txBody>
                    <a:bodyPr/>
                    <a:lstStyle/>
                    <a:p>
                      <a:pPr marL="0" marR="0">
                        <a:lnSpc>
                          <a:spcPct val="115000"/>
                        </a:lnSpc>
                        <a:spcBef>
                          <a:spcPts val="0"/>
                        </a:spcBef>
                        <a:spcAft>
                          <a:spcPts val="1000"/>
                        </a:spcAft>
                      </a:pPr>
                      <a:r>
                        <a:rPr lang="en-US" sz="1100" b="1" dirty="0">
                          <a:solidFill>
                            <a:schemeClr val="tx1"/>
                          </a:solidFill>
                          <a:effectLst/>
                        </a:rPr>
                        <a:t>Other Notes and Comments:</a:t>
                      </a:r>
                    </a:p>
                    <a:p>
                      <a:pPr marL="0" marR="0">
                        <a:lnSpc>
                          <a:spcPct val="115000"/>
                        </a:lnSpc>
                        <a:spcBef>
                          <a:spcPts val="0"/>
                        </a:spcBef>
                        <a:spcAft>
                          <a:spcPts val="1000"/>
                        </a:spcAft>
                      </a:pPr>
                      <a:r>
                        <a:rPr lang="en-US" sz="1100" dirty="0">
                          <a:solidFill>
                            <a:schemeClr val="tx1"/>
                          </a:solidFill>
                          <a:effectLst/>
                        </a:rPr>
                        <a:t>Methodologies used to develop the Professional Networking Service MVP include:</a:t>
                      </a:r>
                    </a:p>
                    <a:p>
                      <a:pPr marL="0" marR="0">
                        <a:lnSpc>
                          <a:spcPct val="115000"/>
                        </a:lnSpc>
                        <a:spcBef>
                          <a:spcPts val="0"/>
                        </a:spcBef>
                        <a:spcAft>
                          <a:spcPts val="1000"/>
                        </a:spcAft>
                      </a:pPr>
                      <a:r>
                        <a:rPr lang="en-US" sz="1100" dirty="0">
                          <a:solidFill>
                            <a:schemeClr val="tx1"/>
                          </a:solidFill>
                          <a:effectLst/>
                        </a:rPr>
                        <a:t>- The </a:t>
                      </a:r>
                      <a:r>
                        <a:rPr lang="en-US" sz="1100" dirty="0">
                          <a:solidFill>
                            <a:schemeClr val="tx1"/>
                          </a:solidFill>
                          <a:effectLst/>
                          <a:hlinkClick r:id="rId3"/>
                        </a:rPr>
                        <a:t>AccelRR8 Framework</a:t>
                      </a:r>
                      <a:r>
                        <a:rPr lang="en-US" sz="1100" dirty="0">
                          <a:solidFill>
                            <a:schemeClr val="tx1"/>
                          </a:solidFill>
                          <a:effectLst/>
                        </a:rPr>
                        <a:t> produced by AccelRR8 LLC</a:t>
                      </a:r>
                    </a:p>
                    <a:p>
                      <a:pPr marL="0" marR="0">
                        <a:lnSpc>
                          <a:spcPct val="115000"/>
                        </a:lnSpc>
                        <a:spcBef>
                          <a:spcPts val="0"/>
                        </a:spcBef>
                        <a:spcAft>
                          <a:spcPts val="1000"/>
                        </a:spcAft>
                      </a:pPr>
                      <a:r>
                        <a:rPr lang="en-US" sz="1100" dirty="0">
                          <a:solidFill>
                            <a:schemeClr val="tx1"/>
                          </a:solidFill>
                          <a:effectLst/>
                        </a:rPr>
                        <a:t>- The </a:t>
                      </a:r>
                      <a:r>
                        <a:rPr lang="en-US" sz="1100" dirty="0">
                          <a:solidFill>
                            <a:schemeClr val="tx1"/>
                          </a:solidFill>
                          <a:effectLst/>
                          <a:hlinkClick r:id="rId4"/>
                        </a:rPr>
                        <a:t>Scaled Agile Framework</a:t>
                      </a:r>
                      <a:r>
                        <a:rPr lang="en-US" sz="1100" dirty="0">
                          <a:solidFill>
                            <a:schemeClr val="tx1"/>
                          </a:solidFill>
                          <a:effectLst/>
                        </a:rPr>
                        <a:t> produced by Scaled Agile, Inc.</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889054867"/>
                  </a:ext>
                </a:extLst>
              </a:tr>
            </a:tbl>
          </a:graphicData>
        </a:graphic>
      </p:graphicFrame>
      <p:sp>
        <p:nvSpPr>
          <p:cNvPr id="2" name="Rectangle 1">
            <a:extLst>
              <a:ext uri="{FF2B5EF4-FFF2-40B4-BE49-F238E27FC236}">
                <a16:creationId xmlns:a16="http://schemas.microsoft.com/office/drawing/2014/main" id="{402CEF7E-7FA3-2DA3-9852-7A50C2CE2E0E}"/>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4" name="Rectangle 3">
            <a:extLst>
              <a:ext uri="{FF2B5EF4-FFF2-40B4-BE49-F238E27FC236}">
                <a16:creationId xmlns:a16="http://schemas.microsoft.com/office/drawing/2014/main" id="{98FB1201-7179-C239-7E9F-258DB1E5E2E6}"/>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5" name="Rectangle 4">
            <a:extLst>
              <a:ext uri="{FF2B5EF4-FFF2-40B4-BE49-F238E27FC236}">
                <a16:creationId xmlns:a16="http://schemas.microsoft.com/office/drawing/2014/main" id="{77206C13-F7F8-689F-704C-B5EA77615E13}"/>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TextBox 5">
            <a:extLst>
              <a:ext uri="{FF2B5EF4-FFF2-40B4-BE49-F238E27FC236}">
                <a16:creationId xmlns:a16="http://schemas.microsoft.com/office/drawing/2014/main" id="{547832F2-FAD4-C5E7-657F-527F59EE2B1C}"/>
              </a:ext>
            </a:extLst>
          </p:cNvPr>
          <p:cNvSpPr txBox="1"/>
          <p:nvPr/>
        </p:nvSpPr>
        <p:spPr>
          <a:xfrm>
            <a:off x="875777" y="6300592"/>
            <a:ext cx="610017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&lt;See SAFe Epics at </a:t>
            </a:r>
            <a:r>
              <a:rPr kumimoji="0" lang="en-US" sz="1400" b="0" i="0" u="none" strike="noStrike" kern="0" cap="none" spc="0" normalizeH="0" baseline="0" noProof="0" dirty="0">
                <a:ln>
                  <a:noFill/>
                </a:ln>
                <a:solidFill>
                  <a:srgbClr val="000000"/>
                </a:solidFill>
                <a:effectLst/>
                <a:uLnTx/>
                <a:uFillTx/>
                <a:latin typeface="Arial"/>
                <a:cs typeface="Arial"/>
                <a:sym typeface="Arial"/>
                <a:hlinkClick r:id="rId5"/>
              </a:rPr>
              <a:t>this link</a:t>
            </a:r>
            <a:r>
              <a:rPr kumimoji="0" lang="en-US" sz="1400" b="0" i="0" u="none" strike="noStrike" kern="0" cap="none" spc="0" normalizeH="0" baseline="0" noProof="0" dirty="0">
                <a:ln>
                  <a:noFill/>
                </a:ln>
                <a:solidFill>
                  <a:srgbClr val="000000"/>
                </a:solidFill>
                <a:effectLst/>
                <a:uLnTx/>
                <a:uFillTx/>
                <a:latin typeface="Arial"/>
                <a:cs typeface="Arial"/>
                <a:sym typeface="Arial"/>
              </a:rPr>
              <a:t>&gt;</a:t>
            </a:r>
          </a:p>
        </p:txBody>
      </p:sp>
      <p:sp>
        <p:nvSpPr>
          <p:cNvPr id="7" name="Google Shape;18;p9">
            <a:extLst>
              <a:ext uri="{FF2B5EF4-FFF2-40B4-BE49-F238E27FC236}">
                <a16:creationId xmlns:a16="http://schemas.microsoft.com/office/drawing/2014/main" id="{8FA3F51F-BAA5-391C-B500-D450E50CA7E6}"/>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3088802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Service MVP </a:t>
            </a:r>
            <a:br>
              <a:rPr lang="en-US" dirty="0"/>
            </a:br>
            <a:r>
              <a:rPr lang="en-US" dirty="0"/>
              <a:t>Component Descriptions</a:t>
            </a:r>
            <a:endParaRPr dirty="0"/>
          </a:p>
        </p:txBody>
      </p:sp>
      <p:graphicFrame>
        <p:nvGraphicFramePr>
          <p:cNvPr id="5" name="Table 4">
            <a:extLst>
              <a:ext uri="{FF2B5EF4-FFF2-40B4-BE49-F238E27FC236}">
                <a16:creationId xmlns:a16="http://schemas.microsoft.com/office/drawing/2014/main" id="{4B70F3A5-8062-29A2-30D0-2783CB3DFCCA}"/>
              </a:ext>
            </a:extLst>
          </p:cNvPr>
          <p:cNvGraphicFramePr>
            <a:graphicFrameLocks noGrp="1"/>
          </p:cNvGraphicFramePr>
          <p:nvPr>
            <p:extLst>
              <p:ext uri="{D42A27DB-BD31-4B8C-83A1-F6EECF244321}">
                <p14:modId xmlns:p14="http://schemas.microsoft.com/office/powerpoint/2010/main" val="994885008"/>
              </p:ext>
            </p:extLst>
          </p:nvPr>
        </p:nvGraphicFramePr>
        <p:xfrm>
          <a:off x="969319" y="1690687"/>
          <a:ext cx="10806369" cy="4609754"/>
        </p:xfrm>
        <a:graphic>
          <a:graphicData uri="http://schemas.openxmlformats.org/drawingml/2006/table">
            <a:tbl>
              <a:tblPr firstRow="1" bandRow="1">
                <a:tableStyleId>{5940675A-B579-460E-94D1-54222C63F5DA}</a:tableStyleId>
              </a:tblPr>
              <a:tblGrid>
                <a:gridCol w="1929998">
                  <a:extLst>
                    <a:ext uri="{9D8B030D-6E8A-4147-A177-3AD203B41FA5}">
                      <a16:colId xmlns:a16="http://schemas.microsoft.com/office/drawing/2014/main" val="533583650"/>
                    </a:ext>
                  </a:extLst>
                </a:gridCol>
                <a:gridCol w="8876371">
                  <a:extLst>
                    <a:ext uri="{9D8B030D-6E8A-4147-A177-3AD203B41FA5}">
                      <a16:colId xmlns:a16="http://schemas.microsoft.com/office/drawing/2014/main" val="20127695"/>
                    </a:ext>
                  </a:extLst>
                </a:gridCol>
              </a:tblGrid>
              <a:tr h="393080">
                <a:tc>
                  <a:txBody>
                    <a:bodyPr/>
                    <a:lstStyle/>
                    <a:p>
                      <a:r>
                        <a:rPr lang="en-US" sz="1600" b="0" dirty="0"/>
                        <a:t>Service Name</a:t>
                      </a:r>
                    </a:p>
                  </a:txBody>
                  <a:tcPr/>
                </a:tc>
                <a:tc>
                  <a:txBody>
                    <a:bodyPr/>
                    <a:lstStyle/>
                    <a:p>
                      <a:r>
                        <a:rPr lang="en-US" dirty="0"/>
                        <a:t>Professional Networking</a:t>
                      </a:r>
                    </a:p>
                  </a:txBody>
                  <a:tcPr/>
                </a:tc>
                <a:extLst>
                  <a:ext uri="{0D108BD9-81ED-4DB2-BD59-A6C34878D82A}">
                    <a16:rowId xmlns:a16="http://schemas.microsoft.com/office/drawing/2014/main" val="2683780345"/>
                  </a:ext>
                </a:extLst>
              </a:tr>
              <a:tr h="393080">
                <a:tc>
                  <a:txBody>
                    <a:bodyPr/>
                    <a:lstStyle/>
                    <a:p>
                      <a:r>
                        <a:rPr lang="en-US" sz="1600" b="0" dirty="0"/>
                        <a:t>Service Strategy</a:t>
                      </a:r>
                    </a:p>
                  </a:txBody>
                  <a:tcPr/>
                </a:tc>
                <a:tc>
                  <a:txBody>
                    <a:bodyPr/>
                    <a:lstStyle/>
                    <a:p>
                      <a:r>
                        <a:rPr lang="en-US" dirty="0"/>
                        <a:t>&lt;3-Horizon Strategy for the Service&gt;</a:t>
                      </a:r>
                    </a:p>
                  </a:txBody>
                  <a:tcPr/>
                </a:tc>
                <a:extLst>
                  <a:ext uri="{0D108BD9-81ED-4DB2-BD59-A6C34878D82A}">
                    <a16:rowId xmlns:a16="http://schemas.microsoft.com/office/drawing/2014/main" val="2707085893"/>
                  </a:ext>
                </a:extLst>
              </a:tr>
              <a:tr h="607487">
                <a:tc>
                  <a:txBody>
                    <a:bodyPr/>
                    <a:lstStyle/>
                    <a:p>
                      <a:r>
                        <a:rPr lang="en-US" sz="1600" b="0" dirty="0"/>
                        <a:t>Service Context</a:t>
                      </a:r>
                    </a:p>
                  </a:txBody>
                  <a:tcPr/>
                </a:tc>
                <a:tc>
                  <a:txBody>
                    <a:bodyPr/>
                    <a:lstStyle/>
                    <a:p>
                      <a:r>
                        <a:rPr lang="en-US" dirty="0"/>
                        <a:t>&lt;See SAFe Solution Context at </a:t>
                      </a:r>
                      <a:r>
                        <a:rPr lang="en-US" dirty="0">
                          <a:hlinkClick r:id="rId3"/>
                        </a:rPr>
                        <a:t>this link</a:t>
                      </a:r>
                      <a:r>
                        <a:rPr lang="en-US" dirty="0"/>
                        <a:t>&gt;</a:t>
                      </a:r>
                    </a:p>
                  </a:txBody>
                  <a:tcPr/>
                </a:tc>
                <a:extLst>
                  <a:ext uri="{0D108BD9-81ED-4DB2-BD59-A6C34878D82A}">
                    <a16:rowId xmlns:a16="http://schemas.microsoft.com/office/drawing/2014/main" val="1092281396"/>
                  </a:ext>
                </a:extLst>
              </a:tr>
              <a:tr h="607487">
                <a:tc>
                  <a:txBody>
                    <a:bodyPr/>
                    <a:lstStyle/>
                    <a:p>
                      <a:r>
                        <a:rPr lang="en-US" sz="1600" b="0" dirty="0"/>
                        <a:t>Service Intent</a:t>
                      </a:r>
                    </a:p>
                  </a:txBody>
                  <a:tcPr/>
                </a:tc>
                <a:tc>
                  <a:txBody>
                    <a:bodyPr/>
                    <a:lstStyle/>
                    <a:p>
                      <a:r>
                        <a:rPr lang="en-US" dirty="0"/>
                        <a:t>&lt;See SAFe Solution Intent at </a:t>
                      </a:r>
                      <a:r>
                        <a:rPr lang="en-US" dirty="0">
                          <a:hlinkClick r:id="rId4"/>
                        </a:rPr>
                        <a:t>this link</a:t>
                      </a:r>
                      <a:r>
                        <a:rPr lang="en-US" dirty="0"/>
                        <a:t>&gt;</a:t>
                      </a:r>
                    </a:p>
                  </a:txBody>
                  <a:tcPr/>
                </a:tc>
                <a:extLst>
                  <a:ext uri="{0D108BD9-81ED-4DB2-BD59-A6C34878D82A}">
                    <a16:rowId xmlns:a16="http://schemas.microsoft.com/office/drawing/2014/main" val="2029769333"/>
                  </a:ext>
                </a:extLst>
              </a:tr>
              <a:tr h="393080">
                <a:tc>
                  <a:txBody>
                    <a:bodyPr/>
                    <a:lstStyle/>
                    <a:p>
                      <a:r>
                        <a:rPr lang="en-US" sz="1600" b="0" dirty="0"/>
                        <a:t>Development Kit</a:t>
                      </a:r>
                    </a:p>
                  </a:txBody>
                  <a:tcPr/>
                </a:tc>
                <a:tc>
                  <a:txBody>
                    <a:bodyPr/>
                    <a:lstStyle/>
                    <a:p>
                      <a:r>
                        <a:rPr lang="en-US" dirty="0"/>
                        <a:t>&lt;Descriptions of Collateral and Tools used by the Products team to develop the service&gt;</a:t>
                      </a:r>
                    </a:p>
                  </a:txBody>
                  <a:tcPr/>
                </a:tc>
                <a:extLst>
                  <a:ext uri="{0D108BD9-81ED-4DB2-BD59-A6C34878D82A}">
                    <a16:rowId xmlns:a16="http://schemas.microsoft.com/office/drawing/2014/main" val="52804956"/>
                  </a:ext>
                </a:extLst>
              </a:tr>
              <a:tr h="857628">
                <a:tc>
                  <a:txBody>
                    <a:bodyPr/>
                    <a:lstStyle/>
                    <a:p>
                      <a:r>
                        <a:rPr lang="en-US" sz="1600" b="0" dirty="0"/>
                        <a:t>Demand </a:t>
                      </a:r>
                      <a:br>
                        <a:rPr lang="en-US" sz="1600" b="0" dirty="0"/>
                      </a:br>
                      <a:r>
                        <a:rPr lang="en-US" sz="1600" b="0" dirty="0"/>
                        <a:t>Generation Kit</a:t>
                      </a:r>
                    </a:p>
                  </a:txBody>
                  <a:tcPr/>
                </a:tc>
                <a:tc>
                  <a:txBody>
                    <a:bodyPr/>
                    <a:lstStyle/>
                    <a:p>
                      <a:r>
                        <a:rPr lang="en-US" dirty="0"/>
                        <a:t>&lt;Descriptions of Collateral and Tools used by Demand Generation to engage with potential Customers in market segments about the service&gt;</a:t>
                      </a:r>
                    </a:p>
                  </a:txBody>
                  <a:tcPr/>
                </a:tc>
                <a:extLst>
                  <a:ext uri="{0D108BD9-81ED-4DB2-BD59-A6C34878D82A}">
                    <a16:rowId xmlns:a16="http://schemas.microsoft.com/office/drawing/2014/main" val="872717509"/>
                  </a:ext>
                </a:extLst>
              </a:tr>
              <a:tr h="678956">
                <a:tc>
                  <a:txBody>
                    <a:bodyPr/>
                    <a:lstStyle/>
                    <a:p>
                      <a:r>
                        <a:rPr lang="en-US" sz="1600" b="0" dirty="0"/>
                        <a:t>Beneficiaries Engagement Kit</a:t>
                      </a:r>
                    </a:p>
                  </a:txBody>
                  <a:tcPr/>
                </a:tc>
                <a:tc>
                  <a:txBody>
                    <a:bodyPr/>
                    <a:lstStyle/>
                    <a:p>
                      <a:pPr lvl="2"/>
                      <a:r>
                        <a:rPr lang="en-US" dirty="0"/>
                        <a:t>&lt;Descriptions of Collateral and Tools used by Beneficiaries Engagement to engage with specific potential beneficiaries about the service&gt;</a:t>
                      </a:r>
                      <a:endParaRPr lang="en-US" sz="1400" b="0" i="0" u="none" strike="noStrike" cap="none" dirty="0">
                        <a:solidFill>
                          <a:schemeClr val="tx1"/>
                        </a:solidFill>
                        <a:effectLst/>
                        <a:latin typeface="+mn-lt"/>
                        <a:ea typeface="+mn-ea"/>
                        <a:cs typeface="+mn-cs"/>
                        <a:sym typeface="Arial"/>
                      </a:endParaRPr>
                    </a:p>
                  </a:txBody>
                  <a:tcPr/>
                </a:tc>
                <a:extLst>
                  <a:ext uri="{0D108BD9-81ED-4DB2-BD59-A6C34878D82A}">
                    <a16:rowId xmlns:a16="http://schemas.microsoft.com/office/drawing/2014/main" val="2047728929"/>
                  </a:ext>
                </a:extLst>
              </a:tr>
              <a:tr h="678956">
                <a:tc>
                  <a:txBody>
                    <a:bodyPr/>
                    <a:lstStyle/>
                    <a:p>
                      <a:r>
                        <a:rPr lang="en-US" sz="1600" b="0" dirty="0"/>
                        <a:t>Delivery of </a:t>
                      </a:r>
                      <a:br>
                        <a:rPr lang="en-US" sz="1600" b="0" dirty="0"/>
                      </a:br>
                      <a:r>
                        <a:rPr lang="en-US" sz="1600" b="0" dirty="0"/>
                        <a:t>Service Kit</a:t>
                      </a:r>
                    </a:p>
                  </a:txBody>
                  <a:tcPr/>
                </a:tc>
                <a:tc>
                  <a:txBody>
                    <a:bodyPr/>
                    <a:lstStyle/>
                    <a:p>
                      <a:r>
                        <a:rPr lang="en-US" dirty="0"/>
                        <a:t>&lt;Descriptions of Collateral and Tools used by Delivery of Services to engage with beneficiaries about the service&gt;</a:t>
                      </a:r>
                    </a:p>
                  </a:txBody>
                  <a:tcPr/>
                </a:tc>
                <a:extLst>
                  <a:ext uri="{0D108BD9-81ED-4DB2-BD59-A6C34878D82A}">
                    <a16:rowId xmlns:a16="http://schemas.microsoft.com/office/drawing/2014/main" val="2321847728"/>
                  </a:ext>
                </a:extLst>
              </a:tr>
            </a:tbl>
          </a:graphicData>
        </a:graphic>
      </p:graphicFrame>
      <p:sp>
        <p:nvSpPr>
          <p:cNvPr id="6" name="Rectangle 5">
            <a:extLst>
              <a:ext uri="{FF2B5EF4-FFF2-40B4-BE49-F238E27FC236}">
                <a16:creationId xmlns:a16="http://schemas.microsoft.com/office/drawing/2014/main" id="{A7372D81-FEF0-F693-D686-F9DF46C1643F}"/>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Reviewing Stage</a:t>
            </a:r>
          </a:p>
        </p:txBody>
      </p:sp>
      <p:sp>
        <p:nvSpPr>
          <p:cNvPr id="7" name="Rectangle 6">
            <a:extLst>
              <a:ext uri="{FF2B5EF4-FFF2-40B4-BE49-F238E27FC236}">
                <a16:creationId xmlns:a16="http://schemas.microsoft.com/office/drawing/2014/main" id="{CF9C5A52-20CA-F258-B608-01820FE0C522}"/>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Analysis Stage</a:t>
            </a:r>
          </a:p>
        </p:txBody>
      </p:sp>
      <p:sp>
        <p:nvSpPr>
          <p:cNvPr id="8" name="Rectangle 7">
            <a:extLst>
              <a:ext uri="{FF2B5EF4-FFF2-40B4-BE49-F238E27FC236}">
                <a16:creationId xmlns:a16="http://schemas.microsoft.com/office/drawing/2014/main" id="{5A08F55C-5399-5D3A-6145-A00CC01B7E5F}"/>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Implementing - MVP Stage</a:t>
            </a:r>
          </a:p>
        </p:txBody>
      </p:sp>
    </p:spTree>
    <p:extLst>
      <p:ext uri="{BB962C8B-B14F-4D97-AF65-F5344CB8AC3E}">
        <p14:creationId xmlns:p14="http://schemas.microsoft.com/office/powerpoint/2010/main" val="3960435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EB244C-C85F-010E-A084-D8B6D90C7236}"/>
              </a:ext>
            </a:extLst>
          </p:cNvPr>
          <p:cNvSpPr>
            <a:spLocks noGrp="1"/>
          </p:cNvSpPr>
          <p:nvPr>
            <p:ph type="title"/>
          </p:nvPr>
        </p:nvSpPr>
        <p:spPr/>
        <p:txBody>
          <a:bodyPr/>
          <a:lstStyle/>
          <a:p>
            <a:r>
              <a:rPr lang="en-US" dirty="0"/>
              <a:t>Deliverables Produced During the</a:t>
            </a:r>
            <a:br>
              <a:rPr lang="en-US" dirty="0"/>
            </a:br>
            <a:r>
              <a:rPr lang="en-US" dirty="0"/>
              <a:t>Implementing - MVP Stage</a:t>
            </a:r>
          </a:p>
        </p:txBody>
      </p:sp>
      <p:sp>
        <p:nvSpPr>
          <p:cNvPr id="2" name="Rectangle 1">
            <a:extLst>
              <a:ext uri="{FF2B5EF4-FFF2-40B4-BE49-F238E27FC236}">
                <a16:creationId xmlns:a16="http://schemas.microsoft.com/office/drawing/2014/main" id="{2080D088-D60A-E04C-3455-F07D0ED3B9D3}"/>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3" name="Rectangle 2">
            <a:extLst>
              <a:ext uri="{FF2B5EF4-FFF2-40B4-BE49-F238E27FC236}">
                <a16:creationId xmlns:a16="http://schemas.microsoft.com/office/drawing/2014/main" id="{BF9836CB-4917-29CA-7AC0-92843E145652}"/>
              </a:ext>
            </a:extLst>
          </p:cNvPr>
          <p:cNvSpPr/>
          <p:nvPr/>
        </p:nvSpPr>
        <p:spPr>
          <a:xfrm>
            <a:off x="3733400"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Analysis Stage</a:t>
            </a:r>
          </a:p>
        </p:txBody>
      </p:sp>
      <p:sp>
        <p:nvSpPr>
          <p:cNvPr id="4" name="Rectangle 3">
            <a:extLst>
              <a:ext uri="{FF2B5EF4-FFF2-40B4-BE49-F238E27FC236}">
                <a16:creationId xmlns:a16="http://schemas.microsoft.com/office/drawing/2014/main" id="{FC1CCD8A-8B41-9B93-2D05-D8CF2AC3F89C}"/>
              </a:ext>
            </a:extLst>
          </p:cNvPr>
          <p:cNvSpPr/>
          <p:nvPr/>
        </p:nvSpPr>
        <p:spPr>
          <a:xfrm>
            <a:off x="6484954"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Implementing - MVP Stage</a:t>
            </a:r>
          </a:p>
        </p:txBody>
      </p:sp>
      <p:sp>
        <p:nvSpPr>
          <p:cNvPr id="6" name="Google Shape;18;p9">
            <a:extLst>
              <a:ext uri="{FF2B5EF4-FFF2-40B4-BE49-F238E27FC236}">
                <a16:creationId xmlns:a16="http://schemas.microsoft.com/office/drawing/2014/main" id="{ED514B9A-C821-414D-27E7-22058443F6B3}"/>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29702258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Service MVP </a:t>
            </a:r>
            <a:br>
              <a:rPr lang="en-US" dirty="0"/>
            </a:br>
            <a:r>
              <a:rPr lang="en-US" dirty="0"/>
              <a:t>Component Descriptions</a:t>
            </a:r>
            <a:endParaRPr dirty="0"/>
          </a:p>
        </p:txBody>
      </p:sp>
      <p:sp>
        <p:nvSpPr>
          <p:cNvPr id="2" name="Rectangle 1">
            <a:extLst>
              <a:ext uri="{FF2B5EF4-FFF2-40B4-BE49-F238E27FC236}">
                <a16:creationId xmlns:a16="http://schemas.microsoft.com/office/drawing/2014/main" id="{1911BEFC-1920-CDC4-D668-C6A225FD1E80}"/>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3" name="Rectangle 2">
            <a:extLst>
              <a:ext uri="{FF2B5EF4-FFF2-40B4-BE49-F238E27FC236}">
                <a16:creationId xmlns:a16="http://schemas.microsoft.com/office/drawing/2014/main" id="{40E67E27-965B-E3ED-DB12-8F7EC8856408}"/>
              </a:ext>
            </a:extLst>
          </p:cNvPr>
          <p:cNvSpPr/>
          <p:nvPr/>
        </p:nvSpPr>
        <p:spPr>
          <a:xfrm>
            <a:off x="3733400"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Analysis Stage</a:t>
            </a:r>
          </a:p>
        </p:txBody>
      </p:sp>
      <p:sp>
        <p:nvSpPr>
          <p:cNvPr id="4" name="Rectangle 3">
            <a:extLst>
              <a:ext uri="{FF2B5EF4-FFF2-40B4-BE49-F238E27FC236}">
                <a16:creationId xmlns:a16="http://schemas.microsoft.com/office/drawing/2014/main" id="{08128C04-B19B-2E05-3473-28A909FEAFDE}"/>
              </a:ext>
            </a:extLst>
          </p:cNvPr>
          <p:cNvSpPr/>
          <p:nvPr/>
        </p:nvSpPr>
        <p:spPr>
          <a:xfrm>
            <a:off x="6484954"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Implementing - MVP Stage</a:t>
            </a:r>
          </a:p>
        </p:txBody>
      </p:sp>
      <p:sp>
        <p:nvSpPr>
          <p:cNvPr id="6" name="Google Shape;18;p9">
            <a:extLst>
              <a:ext uri="{FF2B5EF4-FFF2-40B4-BE49-F238E27FC236}">
                <a16:creationId xmlns:a16="http://schemas.microsoft.com/office/drawing/2014/main" id="{7C30D5DC-2695-01BA-B05D-C3CC4747D7F4}"/>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graphicFrame>
        <p:nvGraphicFramePr>
          <p:cNvPr id="8" name="Table 7">
            <a:extLst>
              <a:ext uri="{FF2B5EF4-FFF2-40B4-BE49-F238E27FC236}">
                <a16:creationId xmlns:a16="http://schemas.microsoft.com/office/drawing/2014/main" id="{EAC54515-146B-F050-4501-5918908F45C7}"/>
              </a:ext>
            </a:extLst>
          </p:cNvPr>
          <p:cNvGraphicFramePr>
            <a:graphicFrameLocks noGrp="1"/>
          </p:cNvGraphicFramePr>
          <p:nvPr>
            <p:extLst>
              <p:ext uri="{D42A27DB-BD31-4B8C-83A1-F6EECF244321}">
                <p14:modId xmlns:p14="http://schemas.microsoft.com/office/powerpoint/2010/main" val="3123682310"/>
              </p:ext>
            </p:extLst>
          </p:nvPr>
        </p:nvGraphicFramePr>
        <p:xfrm>
          <a:off x="969319" y="1690687"/>
          <a:ext cx="10806369" cy="4609754"/>
        </p:xfrm>
        <a:graphic>
          <a:graphicData uri="http://schemas.openxmlformats.org/drawingml/2006/table">
            <a:tbl>
              <a:tblPr firstRow="1" bandRow="1">
                <a:tableStyleId>{5940675A-B579-460E-94D1-54222C63F5DA}</a:tableStyleId>
              </a:tblPr>
              <a:tblGrid>
                <a:gridCol w="1929998">
                  <a:extLst>
                    <a:ext uri="{9D8B030D-6E8A-4147-A177-3AD203B41FA5}">
                      <a16:colId xmlns:a16="http://schemas.microsoft.com/office/drawing/2014/main" val="533583650"/>
                    </a:ext>
                  </a:extLst>
                </a:gridCol>
                <a:gridCol w="8876371">
                  <a:extLst>
                    <a:ext uri="{9D8B030D-6E8A-4147-A177-3AD203B41FA5}">
                      <a16:colId xmlns:a16="http://schemas.microsoft.com/office/drawing/2014/main" val="20127695"/>
                    </a:ext>
                  </a:extLst>
                </a:gridCol>
              </a:tblGrid>
              <a:tr h="393080">
                <a:tc>
                  <a:txBody>
                    <a:bodyPr/>
                    <a:lstStyle/>
                    <a:p>
                      <a:r>
                        <a:rPr lang="en-US" sz="1600" b="0" dirty="0"/>
                        <a:t>Service Name</a:t>
                      </a:r>
                    </a:p>
                  </a:txBody>
                  <a:tcPr/>
                </a:tc>
                <a:tc>
                  <a:txBody>
                    <a:bodyPr/>
                    <a:lstStyle/>
                    <a:p>
                      <a:r>
                        <a:rPr lang="en-US" dirty="0"/>
                        <a:t>Professional Networking</a:t>
                      </a:r>
                    </a:p>
                  </a:txBody>
                  <a:tcPr/>
                </a:tc>
                <a:extLst>
                  <a:ext uri="{0D108BD9-81ED-4DB2-BD59-A6C34878D82A}">
                    <a16:rowId xmlns:a16="http://schemas.microsoft.com/office/drawing/2014/main" val="2683780345"/>
                  </a:ext>
                </a:extLst>
              </a:tr>
              <a:tr h="393080">
                <a:tc>
                  <a:txBody>
                    <a:bodyPr/>
                    <a:lstStyle/>
                    <a:p>
                      <a:r>
                        <a:rPr lang="en-US" sz="1600" b="0" dirty="0"/>
                        <a:t>Service Strategy</a:t>
                      </a:r>
                    </a:p>
                  </a:txBody>
                  <a:tcPr/>
                </a:tc>
                <a:tc>
                  <a:txBody>
                    <a:bodyPr/>
                    <a:lstStyle/>
                    <a:p>
                      <a:r>
                        <a:rPr lang="en-US" dirty="0"/>
                        <a:t>&lt;3-Horizon Strategy for the Service&gt;</a:t>
                      </a:r>
                    </a:p>
                  </a:txBody>
                  <a:tcPr/>
                </a:tc>
                <a:extLst>
                  <a:ext uri="{0D108BD9-81ED-4DB2-BD59-A6C34878D82A}">
                    <a16:rowId xmlns:a16="http://schemas.microsoft.com/office/drawing/2014/main" val="2707085893"/>
                  </a:ext>
                </a:extLst>
              </a:tr>
              <a:tr h="607487">
                <a:tc>
                  <a:txBody>
                    <a:bodyPr/>
                    <a:lstStyle/>
                    <a:p>
                      <a:r>
                        <a:rPr lang="en-US" sz="1600" b="0" dirty="0"/>
                        <a:t>Service Context</a:t>
                      </a:r>
                    </a:p>
                  </a:txBody>
                  <a:tcPr/>
                </a:tc>
                <a:tc>
                  <a:txBody>
                    <a:bodyPr/>
                    <a:lstStyle/>
                    <a:p>
                      <a:r>
                        <a:rPr lang="en-US" dirty="0"/>
                        <a:t>&lt;See SAFe Solution Context at </a:t>
                      </a:r>
                      <a:r>
                        <a:rPr lang="en-US" dirty="0">
                          <a:hlinkClick r:id="rId3"/>
                        </a:rPr>
                        <a:t>this link</a:t>
                      </a:r>
                      <a:r>
                        <a:rPr lang="en-US" dirty="0"/>
                        <a:t>&gt;</a:t>
                      </a:r>
                    </a:p>
                  </a:txBody>
                  <a:tcPr/>
                </a:tc>
                <a:extLst>
                  <a:ext uri="{0D108BD9-81ED-4DB2-BD59-A6C34878D82A}">
                    <a16:rowId xmlns:a16="http://schemas.microsoft.com/office/drawing/2014/main" val="1092281396"/>
                  </a:ext>
                </a:extLst>
              </a:tr>
              <a:tr h="607487">
                <a:tc>
                  <a:txBody>
                    <a:bodyPr/>
                    <a:lstStyle/>
                    <a:p>
                      <a:r>
                        <a:rPr lang="en-US" sz="1600" b="0" dirty="0"/>
                        <a:t>Service Intent</a:t>
                      </a:r>
                    </a:p>
                  </a:txBody>
                  <a:tcPr/>
                </a:tc>
                <a:tc>
                  <a:txBody>
                    <a:bodyPr/>
                    <a:lstStyle/>
                    <a:p>
                      <a:r>
                        <a:rPr lang="en-US" dirty="0"/>
                        <a:t>&lt;See SAFe Solution Intent at </a:t>
                      </a:r>
                      <a:r>
                        <a:rPr lang="en-US" dirty="0">
                          <a:hlinkClick r:id="rId4"/>
                        </a:rPr>
                        <a:t>this link</a:t>
                      </a:r>
                      <a:r>
                        <a:rPr lang="en-US" dirty="0"/>
                        <a:t>&gt;</a:t>
                      </a:r>
                    </a:p>
                  </a:txBody>
                  <a:tcPr/>
                </a:tc>
                <a:extLst>
                  <a:ext uri="{0D108BD9-81ED-4DB2-BD59-A6C34878D82A}">
                    <a16:rowId xmlns:a16="http://schemas.microsoft.com/office/drawing/2014/main" val="2029769333"/>
                  </a:ext>
                </a:extLst>
              </a:tr>
              <a:tr h="393080">
                <a:tc>
                  <a:txBody>
                    <a:bodyPr/>
                    <a:lstStyle/>
                    <a:p>
                      <a:r>
                        <a:rPr lang="en-US" sz="1600" b="0" dirty="0"/>
                        <a:t>Development Kit</a:t>
                      </a:r>
                    </a:p>
                  </a:txBody>
                  <a:tcPr/>
                </a:tc>
                <a:tc>
                  <a:txBody>
                    <a:bodyPr/>
                    <a:lstStyle/>
                    <a:p>
                      <a:r>
                        <a:rPr lang="en-US" dirty="0"/>
                        <a:t>&lt;Descriptions of Collateral and Tools used by the Products team to develop the service&gt;</a:t>
                      </a:r>
                    </a:p>
                  </a:txBody>
                  <a:tcPr/>
                </a:tc>
                <a:extLst>
                  <a:ext uri="{0D108BD9-81ED-4DB2-BD59-A6C34878D82A}">
                    <a16:rowId xmlns:a16="http://schemas.microsoft.com/office/drawing/2014/main" val="52804956"/>
                  </a:ext>
                </a:extLst>
              </a:tr>
              <a:tr h="857628">
                <a:tc>
                  <a:txBody>
                    <a:bodyPr/>
                    <a:lstStyle/>
                    <a:p>
                      <a:r>
                        <a:rPr lang="en-US" sz="1600" b="0" dirty="0"/>
                        <a:t>Demand </a:t>
                      </a:r>
                      <a:br>
                        <a:rPr lang="en-US" sz="1600" b="0" dirty="0"/>
                      </a:br>
                      <a:r>
                        <a:rPr lang="en-US" sz="1600" b="0" dirty="0"/>
                        <a:t>Generation Kit</a:t>
                      </a:r>
                    </a:p>
                  </a:txBody>
                  <a:tcPr/>
                </a:tc>
                <a:tc>
                  <a:txBody>
                    <a:bodyPr/>
                    <a:lstStyle/>
                    <a:p>
                      <a:r>
                        <a:rPr lang="en-US" dirty="0"/>
                        <a:t>&lt;Descriptions of Collateral and Tools used by Demand Generation to engage with potential Customers in market segments about the service&gt;</a:t>
                      </a:r>
                    </a:p>
                  </a:txBody>
                  <a:tcPr/>
                </a:tc>
                <a:extLst>
                  <a:ext uri="{0D108BD9-81ED-4DB2-BD59-A6C34878D82A}">
                    <a16:rowId xmlns:a16="http://schemas.microsoft.com/office/drawing/2014/main" val="872717509"/>
                  </a:ext>
                </a:extLst>
              </a:tr>
              <a:tr h="678956">
                <a:tc>
                  <a:txBody>
                    <a:bodyPr/>
                    <a:lstStyle/>
                    <a:p>
                      <a:r>
                        <a:rPr lang="en-US" sz="1600" b="0" dirty="0"/>
                        <a:t>Beneficiaries Engagement Kit</a:t>
                      </a:r>
                    </a:p>
                  </a:txBody>
                  <a:tcPr/>
                </a:tc>
                <a:tc>
                  <a:txBody>
                    <a:bodyPr/>
                    <a:lstStyle/>
                    <a:p>
                      <a:pPr lvl="2"/>
                      <a:r>
                        <a:rPr lang="en-US" dirty="0"/>
                        <a:t>&lt;Descriptions of Collateral and Tools used by Beneficiaries Engagement to engage with specific potential beneficiaries about the service&gt;</a:t>
                      </a:r>
                      <a:endParaRPr lang="en-US" sz="1400" b="0" i="0" u="none" strike="noStrike" cap="none" dirty="0">
                        <a:solidFill>
                          <a:schemeClr val="tx1"/>
                        </a:solidFill>
                        <a:effectLst/>
                        <a:latin typeface="+mn-lt"/>
                        <a:ea typeface="+mn-ea"/>
                        <a:cs typeface="+mn-cs"/>
                        <a:sym typeface="Arial"/>
                      </a:endParaRPr>
                    </a:p>
                  </a:txBody>
                  <a:tcPr/>
                </a:tc>
                <a:extLst>
                  <a:ext uri="{0D108BD9-81ED-4DB2-BD59-A6C34878D82A}">
                    <a16:rowId xmlns:a16="http://schemas.microsoft.com/office/drawing/2014/main" val="2047728929"/>
                  </a:ext>
                </a:extLst>
              </a:tr>
              <a:tr h="678956">
                <a:tc>
                  <a:txBody>
                    <a:bodyPr/>
                    <a:lstStyle/>
                    <a:p>
                      <a:r>
                        <a:rPr lang="en-US" sz="1600" b="0" dirty="0"/>
                        <a:t>Delivery of </a:t>
                      </a:r>
                      <a:br>
                        <a:rPr lang="en-US" sz="1600" b="0" dirty="0"/>
                      </a:br>
                      <a:r>
                        <a:rPr lang="en-US" sz="1600" b="0" dirty="0"/>
                        <a:t>Service Kit</a:t>
                      </a:r>
                    </a:p>
                  </a:txBody>
                  <a:tcPr/>
                </a:tc>
                <a:tc>
                  <a:txBody>
                    <a:bodyPr/>
                    <a:lstStyle/>
                    <a:p>
                      <a:r>
                        <a:rPr lang="en-US" dirty="0"/>
                        <a:t>&lt;Descriptions of Collateral and Tools used by Delivery of Services to engage with beneficiaries about the service&gt;</a:t>
                      </a:r>
                    </a:p>
                  </a:txBody>
                  <a:tcPr/>
                </a:tc>
                <a:extLst>
                  <a:ext uri="{0D108BD9-81ED-4DB2-BD59-A6C34878D82A}">
                    <a16:rowId xmlns:a16="http://schemas.microsoft.com/office/drawing/2014/main" val="2321847728"/>
                  </a:ext>
                </a:extLst>
              </a:tr>
            </a:tbl>
          </a:graphicData>
        </a:graphic>
      </p:graphicFrame>
    </p:spTree>
    <p:extLst>
      <p:ext uri="{BB962C8B-B14F-4D97-AF65-F5344CB8AC3E}">
        <p14:creationId xmlns:p14="http://schemas.microsoft.com/office/powerpoint/2010/main" val="263968245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14582</TotalTime>
  <Words>2544</Words>
  <Application>Microsoft Macintosh PowerPoint</Application>
  <PresentationFormat>Widescreen</PresentationFormat>
  <Paragraphs>263</Paragraphs>
  <Slides>15</Slides>
  <Notes>12</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15</vt:i4>
      </vt:variant>
    </vt:vector>
  </HeadingPairs>
  <TitlesOfParts>
    <vt:vector size="20" baseType="lpstr">
      <vt:lpstr>Arial</vt:lpstr>
      <vt:lpstr>Calibri</vt:lpstr>
      <vt:lpstr>Symbol</vt:lpstr>
      <vt:lpstr>Office Theme</vt:lpstr>
      <vt:lpstr>1_Office Theme</vt:lpstr>
      <vt:lpstr>  AccelRR8 Consortium NonProfit Professional Networking Service v1 </vt:lpstr>
      <vt:lpstr>Deliverables Produced During the Review Stage</vt:lpstr>
      <vt:lpstr>Service Hypothesis</vt:lpstr>
      <vt:lpstr>Preliminary Cost Estimates and WSJF</vt:lpstr>
      <vt:lpstr>Deliverables Produced During the Analysis Stage</vt:lpstr>
      <vt:lpstr>Service Alternatives</vt:lpstr>
      <vt:lpstr>Refined Cost Estimates and WSJF</vt:lpstr>
      <vt:lpstr>Lean Business Case (1/5)</vt:lpstr>
      <vt:lpstr>Lean Business Case (2/5)</vt:lpstr>
      <vt:lpstr>Lean Business Case (3/5)</vt:lpstr>
      <vt:lpstr>Lean Business Case (4/5)</vt:lpstr>
      <vt:lpstr>Lean Business Case (5/5)</vt:lpstr>
      <vt:lpstr>Service MVP  Component Descriptions</vt:lpstr>
      <vt:lpstr>Deliverables Produced During the Implementing - MVP Stage</vt:lpstr>
      <vt:lpstr>Service MVP  Component Descriptions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Proposal for Digital Architect Consulting Services</dc:title>
  <dc:creator>Rich Reba</dc:creator>
  <cp:lastModifiedBy>Rich Reba</cp:lastModifiedBy>
  <cp:revision>135</cp:revision>
  <cp:lastPrinted>2026-08-09T19:26:34Z</cp:lastPrinted>
  <dcterms:created xsi:type="dcterms:W3CDTF">2023-08-22T19:09:59Z</dcterms:created>
  <dcterms:modified xsi:type="dcterms:W3CDTF">2026-08-09T19:39:59Z</dcterms:modified>
</cp:coreProperties>
</file>