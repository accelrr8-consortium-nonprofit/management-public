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78" r:id="rId4"/>
    <p:sldId id="264" r:id="rId5"/>
    <p:sldId id="266" r:id="rId6"/>
    <p:sldId id="279" r:id="rId7"/>
    <p:sldId id="276" r:id="rId8"/>
    <p:sldId id="277" r:id="rId9"/>
    <p:sldId id="268" r:id="rId10"/>
    <p:sldId id="281" r:id="rId11"/>
    <p:sldId id="280" r:id="rId12"/>
    <p:sldId id="275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9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AB143F-4C99-C24B-ABCA-9A1BBADA0156}" v="3" dt="2026-08-09T19:39:54.7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61"/>
    <p:restoredTop sz="95704"/>
  </p:normalViewPr>
  <p:slideViewPr>
    <p:cSldViewPr snapToGrid="0">
      <p:cViewPr varScale="1">
        <p:scale>
          <a:sx n="136" d="100"/>
          <a:sy n="136" d="100"/>
        </p:scale>
        <p:origin x="4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undo custSel addSld delSld modSld">
      <pc:chgData name="Rich Reba" userId="55db41ab6eb3f845" providerId="LiveId" clId="{0E19DA16-244C-5B50-BE0F-52911DD4CA7E}" dt="2026-08-12T12:15:41.277" v="895" actId="2696"/>
      <pc:docMkLst>
        <pc:docMk/>
      </pc:docMkLst>
      <pc:sldChg chg="modSp mod">
        <pc:chgData name="Rich Reba" userId="55db41ab6eb3f845" providerId="LiveId" clId="{0E19DA16-244C-5B50-BE0F-52911DD4CA7E}" dt="2026-08-09T19:25:47.601" v="718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9T19:25:47.601" v="718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Sp add del mod">
        <pc:chgData name="Rich Reba" userId="55db41ab6eb3f845" providerId="LiveId" clId="{0E19DA16-244C-5B50-BE0F-52911DD4CA7E}" dt="2026-08-12T12:15:16.727" v="889" actId="478"/>
        <pc:sldMkLst>
          <pc:docMk/>
          <pc:sldMk cId="1272635936" sldId="264"/>
        </pc:sldMkLst>
        <pc:graphicFrameChg chg="del modGraphic">
          <ac:chgData name="Rich Reba" userId="55db41ab6eb3f845" providerId="LiveId" clId="{0E19DA16-244C-5B50-BE0F-52911DD4CA7E}" dt="2026-08-12T12:15:16.727" v="889" actId="478"/>
          <ac:graphicFrameMkLst>
            <pc:docMk/>
            <pc:sldMk cId="1272635936" sldId="264"/>
            <ac:graphicFrameMk id="5" creationId="{4B70F3A5-8062-29A2-30D0-2783CB3DFCCA}"/>
          </ac:graphicFrameMkLst>
        </pc:graphicFrameChg>
      </pc:sldChg>
      <pc:sldChg chg="modSp mod">
        <pc:chgData name="Rich Reba" userId="55db41ab6eb3f845" providerId="LiveId" clId="{0E19DA16-244C-5B50-BE0F-52911DD4CA7E}" dt="2026-08-09T19:15:26.765" v="158" actId="20577"/>
        <pc:sldMkLst>
          <pc:docMk/>
          <pc:sldMk cId="4188122143" sldId="266"/>
        </pc:sldMkLst>
        <pc:graphicFrameChg chg="modGraphic">
          <ac:chgData name="Rich Reba" userId="55db41ab6eb3f845" providerId="LiveId" clId="{0E19DA16-244C-5B50-BE0F-52911DD4CA7E}" dt="2026-08-09T19:15:26.765" v="158" actId="20577"/>
          <ac:graphicFrameMkLst>
            <pc:docMk/>
            <pc:sldMk cId="4188122143" sldId="266"/>
            <ac:graphicFrameMk id="6" creationId="{DA3B7C68-A7A8-1CF8-C46B-DD7B5A05617E}"/>
          </ac:graphicFrameMkLst>
        </pc:graphicFrameChg>
      </pc:sldChg>
      <pc:sldChg chg="delSp modSp mod">
        <pc:chgData name="Rich Reba" userId="55db41ab6eb3f845" providerId="LiveId" clId="{0E19DA16-244C-5B50-BE0F-52911DD4CA7E}" dt="2026-08-12T12:15:34.987" v="891" actId="478"/>
        <pc:sldMkLst>
          <pc:docMk/>
          <pc:sldMk cId="1243007551" sldId="268"/>
        </pc:sldMkLst>
        <pc:spChg chg="mod">
          <ac:chgData name="Rich Reba" userId="55db41ab6eb3f845" providerId="LiveId" clId="{0E19DA16-244C-5B50-BE0F-52911DD4CA7E}" dt="2026-08-12T12:15:30.623" v="890" actId="20577"/>
          <ac:spMkLst>
            <pc:docMk/>
            <pc:sldMk cId="1243007551" sldId="268"/>
            <ac:spMk id="96" creationId="{00000000-0000-0000-0000-000000000000}"/>
          </ac:spMkLst>
        </pc:spChg>
        <pc:graphicFrameChg chg="del modGraphic">
          <ac:chgData name="Rich Reba" userId="55db41ab6eb3f845" providerId="LiveId" clId="{0E19DA16-244C-5B50-BE0F-52911DD4CA7E}" dt="2026-08-12T12:15:34.987" v="891" actId="478"/>
          <ac:graphicFrameMkLst>
            <pc:docMk/>
            <pc:sldMk cId="1243007551" sldId="268"/>
            <ac:graphicFrameMk id="2" creationId="{849548E0-A616-4177-21C8-C63119ADCD53}"/>
          </ac:graphicFrameMkLst>
        </pc:graphicFrameChg>
      </pc:sldChg>
      <pc:sldChg chg="modSp del mod">
        <pc:chgData name="Rich Reba" userId="55db41ab6eb3f845" providerId="LiveId" clId="{0E19DA16-244C-5B50-BE0F-52911DD4CA7E}" dt="2026-08-12T12:15:36.827" v="892" actId="2696"/>
        <pc:sldMkLst>
          <pc:docMk/>
          <pc:sldMk cId="450257364" sldId="269"/>
        </pc:sldMkLst>
        <pc:graphicFrameChg chg="modGraphic">
          <ac:chgData name="Rich Reba" userId="55db41ab6eb3f845" providerId="LiveId" clId="{0E19DA16-244C-5B50-BE0F-52911DD4CA7E}" dt="2026-08-09T19:18:38.979" v="405" actId="20577"/>
          <ac:graphicFrameMkLst>
            <pc:docMk/>
            <pc:sldMk cId="450257364" sldId="269"/>
            <ac:graphicFrameMk id="2" creationId="{849548E0-A616-4177-21C8-C63119ADCD53}"/>
          </ac:graphicFrameMkLst>
        </pc:graphicFrameChg>
      </pc:sldChg>
      <pc:sldChg chg="modSp del mod">
        <pc:chgData name="Rich Reba" userId="55db41ab6eb3f845" providerId="LiveId" clId="{0E19DA16-244C-5B50-BE0F-52911DD4CA7E}" dt="2026-08-12T12:15:37.368" v="893" actId="2696"/>
        <pc:sldMkLst>
          <pc:docMk/>
          <pc:sldMk cId="4255637138" sldId="270"/>
        </pc:sldMkLst>
        <pc:graphicFrameChg chg="modGraphic">
          <ac:chgData name="Rich Reba" userId="55db41ab6eb3f845" providerId="LiveId" clId="{0E19DA16-244C-5B50-BE0F-52911DD4CA7E}" dt="2026-08-09T19:21:32.870" v="556" actId="20577"/>
          <ac:graphicFrameMkLst>
            <pc:docMk/>
            <pc:sldMk cId="4255637138" sldId="270"/>
            <ac:graphicFrameMk id="3" creationId="{14B79CD4-17D9-A460-45EE-070B6CD3DAFF}"/>
          </ac:graphicFrameMkLst>
        </pc:graphicFrameChg>
      </pc:sldChg>
      <pc:sldChg chg="modSp del mod">
        <pc:chgData name="Rich Reba" userId="55db41ab6eb3f845" providerId="LiveId" clId="{0E19DA16-244C-5B50-BE0F-52911DD4CA7E}" dt="2026-08-12T12:15:37.861" v="894" actId="2696"/>
        <pc:sldMkLst>
          <pc:docMk/>
          <pc:sldMk cId="67448461" sldId="271"/>
        </pc:sldMkLst>
        <pc:graphicFrameChg chg="modGraphic">
          <ac:chgData name="Rich Reba" userId="55db41ab6eb3f845" providerId="LiveId" clId="{0E19DA16-244C-5B50-BE0F-52911DD4CA7E}" dt="2026-08-09T19:24:10.574" v="667" actId="20577"/>
          <ac:graphicFrameMkLst>
            <pc:docMk/>
            <pc:sldMk cId="67448461" sldId="271"/>
            <ac:graphicFrameMk id="2" creationId="{59DCEAC8-DB72-C8D9-0DB4-F8D83D801ADB}"/>
          </ac:graphicFrameMkLst>
        </pc:graphicFrameChg>
      </pc:sldChg>
      <pc:sldChg chg="modSp del mod">
        <pc:chgData name="Rich Reba" userId="55db41ab6eb3f845" providerId="LiveId" clId="{0E19DA16-244C-5B50-BE0F-52911DD4CA7E}" dt="2026-08-12T12:15:41.277" v="895" actId="2696"/>
        <pc:sldMkLst>
          <pc:docMk/>
          <pc:sldMk cId="3088802820" sldId="272"/>
        </pc:sldMkLst>
        <pc:spChg chg="mod">
          <ac:chgData name="Rich Reba" userId="55db41ab6eb3f845" providerId="LiveId" clId="{0E19DA16-244C-5B50-BE0F-52911DD4CA7E}" dt="2026-08-12T12:02:02.611" v="886" actId="20577"/>
          <ac:spMkLst>
            <pc:docMk/>
            <pc:sldMk cId="3088802820" sldId="272"/>
            <ac:spMk id="96" creationId="{00000000-0000-0000-0000-000000000000}"/>
          </ac:spMkLst>
        </pc:spChg>
        <pc:graphicFrameChg chg="modGraphic">
          <ac:chgData name="Rich Reba" userId="55db41ab6eb3f845" providerId="LiveId" clId="{0E19DA16-244C-5B50-BE0F-52911DD4CA7E}" dt="2026-08-09T19:24:21.846" v="679" actId="20577"/>
          <ac:graphicFrameMkLst>
            <pc:docMk/>
            <pc:sldMk cId="3088802820" sldId="272"/>
            <ac:graphicFrameMk id="3" creationId="{F1699409-9005-50C8-4771-BC86CF9F9048}"/>
          </ac:graphicFrameMkLst>
        </pc:graphicFrameChg>
      </pc:sldChg>
      <pc:sldChg chg="modSp">
        <pc:chgData name="Rich Reba" userId="55db41ab6eb3f845" providerId="LiveId" clId="{0E19DA16-244C-5B50-BE0F-52911DD4CA7E}" dt="2026-08-09T19:39:54.762" v="885"/>
        <pc:sldMkLst>
          <pc:docMk/>
          <pc:sldMk cId="2639682451" sldId="275"/>
        </pc:sldMkLst>
        <pc:graphicFrameChg chg="mod">
          <ac:chgData name="Rich Reba" userId="55db41ab6eb3f845" providerId="LiveId" clId="{0E19DA16-244C-5B50-BE0F-52911DD4CA7E}" dt="2026-08-09T19:39:54.762" v="885"/>
          <ac:graphicFrameMkLst>
            <pc:docMk/>
            <pc:sldMk cId="2639682451" sldId="275"/>
            <ac:graphicFrameMk id="8" creationId="{EAC54515-146B-F050-4501-5918908F45C7}"/>
          </ac:graphicFrameMkLst>
        </pc:graphicFrameChg>
      </pc:sldChg>
      <pc:sldChg chg="modSp mod">
        <pc:chgData name="Rich Reba" userId="55db41ab6eb3f845" providerId="LiveId" clId="{0E19DA16-244C-5B50-BE0F-52911DD4CA7E}" dt="2026-08-09T19:16:36.022" v="255" actId="20577"/>
        <pc:sldMkLst>
          <pc:docMk/>
          <pc:sldMk cId="368434212" sldId="277"/>
        </pc:sldMkLst>
        <pc:graphicFrameChg chg="modGraphic">
          <ac:chgData name="Rich Reba" userId="55db41ab6eb3f845" providerId="LiveId" clId="{0E19DA16-244C-5B50-BE0F-52911DD4CA7E}" dt="2026-08-09T19:16:36.022" v="255" actId="20577"/>
          <ac:graphicFrameMkLst>
            <pc:docMk/>
            <pc:sldMk cId="368434212" sldId="277"/>
            <ac:graphicFrameMk id="4" creationId="{DF0CCA37-1217-B7D3-8320-72D1D9B53C50}"/>
          </ac:graphicFrameMkLst>
        </pc:graphicFrameChg>
      </pc:sldChg>
      <pc:sldChg chg="modSp mod">
        <pc:chgData name="Rich Reba" userId="55db41ab6eb3f845" providerId="LiveId" clId="{0E19DA16-244C-5B50-BE0F-52911DD4CA7E}" dt="2026-08-09T19:39:31.854" v="883" actId="20577"/>
        <pc:sldMkLst>
          <pc:docMk/>
          <pc:sldMk cId="3960435043" sldId="281"/>
        </pc:sldMkLst>
        <pc:graphicFrameChg chg="modGraphic">
          <ac:chgData name="Rich Reba" userId="55db41ab6eb3f845" providerId="LiveId" clId="{0E19DA16-244C-5B50-BE0F-52911DD4CA7E}" dt="2026-08-09T19:39:31.854" v="883" actId="20577"/>
          <ac:graphicFrameMkLst>
            <pc:docMk/>
            <pc:sldMk cId="3960435043" sldId="281"/>
            <ac:graphicFrameMk id="5" creationId="{4B70F3A5-8062-29A2-30D0-2783CB3DFCCA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2669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3178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60340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0382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91149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9184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67367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4636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36622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1836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0138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31410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5894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6" r:id="rId3"/>
    <p:sldLayoutId id="2147483657" r:id="rId4"/>
    <p:sldLayoutId id="2147483658" r:id="rId5"/>
    <p:sldLayoutId id="2147483659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263506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caledagileframework.com/wsjf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aledagileframework.com/solution-context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aledagileframework.com/solution-intent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aledagileframework.com/solution-context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aledagileframework.com/solution-inten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005444" y="2785676"/>
            <a:ext cx="10181112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r>
              <a:rPr lang="en-US" dirty="0"/>
              <a:t>Professional Networking Service v1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Professional Networking Service Leader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9, 2026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B78BEAA4-CC48-1EF1-1035-C48CDEB46C1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EB244C-C85F-010E-A084-D8B6D90C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 Produced During the Review Stage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7596B8-DA7D-1389-CC1D-C0EF98524A91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965822-0847-B892-7BF1-00B31C259B5C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7354B4-F67E-5C6D-DE69-888030925B00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048B8078-0A98-B723-6D07-9C874B8373F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8112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Hypothesis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989B31-3419-2492-D5BA-841085EFFD20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FC860D-600B-CFAA-AA67-87D20B2848A4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E98312-7BF3-634D-DE2E-782C5EA05BB7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F57F7845-FD8A-DCA4-39DB-1B7D9CF0BA2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55676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2635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Preliminary Cost Estimates and WSJF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ADFCCD-21B2-3785-8E68-1D6E82E2DA76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3EA3BE-F73F-61F7-3F9D-5A3302400620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9D7C28-1555-09D1-4AEE-8F09AA4FB520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A3B7C68-A7A8-1CF8-C46B-DD7B5A0561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108967"/>
              </p:ext>
            </p:extLst>
          </p:nvPr>
        </p:nvGraphicFramePr>
        <p:xfrm>
          <a:off x="969319" y="1590327"/>
          <a:ext cx="10795218" cy="472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1940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4327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Preliminary Cost Estimates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Donation of volunteer time by leaders at no cost to AccelRR8 Consortium Non-Profit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Use of LinkedIn and other platforms at no cost to AccelRR8 Consortium Non-Profit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Relative Priority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200" b="0" i="1" dirty="0"/>
                        <a:t>Method:  Weighted Shortest Job First (WSJF) Score*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WSJF = 4, which is COST OF DELAY / JOB SIZE = 35 / 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COST OF DELAY = 11 + 11 + 13 = 35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USER-BUSINESS VALUE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Do subscribers prefer this over other services?   13:  the “grow value exponentially at scale” skill is valued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revenue impact on the Consortium?   1:  the MVP is a free service, though some may donate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Are there negative effects if we delay?   20:  the Consortium’s other services depend on this one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TIME CRITICALITY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a fixed deadline?   1:  no fixed deadline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Will they wait for us or move to another Solution?   20:  AI maturity threatens relevancy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current effect on subscriber satisfaction?   13:  collaborators want exposure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RISK REDUCTION AND/OR OPPORTUNITY ENABLEMENT = 13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Reduces the risk of this or future delivery?   13:  critical mass of subscribers is needed for network effects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value in the information we receive?  13:  willingness of subscribers to engage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Enable new business opportunities?  13:  subscribers will learn about other Consortium services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JOB SIZE = 8;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personally engage 100+ initial subscribers (6 months);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Each new subscriber will need to engage 10 additional subscribers (6 months)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</a:tbl>
          </a:graphicData>
        </a:graphic>
      </p:graphicFrame>
      <p:sp>
        <p:nvSpPr>
          <p:cNvPr id="5" name="Google Shape;18;p9">
            <a:extLst>
              <a:ext uri="{FF2B5EF4-FFF2-40B4-BE49-F238E27FC236}">
                <a16:creationId xmlns:a16="http://schemas.microsoft.com/office/drawing/2014/main" id="{C5748C3E-8A70-958C-B8E4-332FC5861B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54591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6D51B8-EAEB-EAC5-1B5E-A8C3E5DDAE00}"/>
              </a:ext>
            </a:extLst>
          </p:cNvPr>
          <p:cNvSpPr txBox="1"/>
          <p:nvPr/>
        </p:nvSpPr>
        <p:spPr>
          <a:xfrm>
            <a:off x="969319" y="6284748"/>
            <a:ext cx="70904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*See </a:t>
            </a:r>
            <a:r>
              <a:rPr lang="en-US" sz="1000" dirty="0">
                <a:hlinkClick r:id="rId3"/>
              </a:rPr>
              <a:t>SAFe WSJF article</a:t>
            </a:r>
            <a:r>
              <a:rPr lang="en-US" sz="1000" dirty="0"/>
              <a:t>; scale for each root parameter is 1, 2, 3, 5, 8, 13, 20 (subset of the modified Fibonacci sequence)</a:t>
            </a:r>
          </a:p>
        </p:txBody>
      </p:sp>
    </p:spTree>
    <p:extLst>
      <p:ext uri="{BB962C8B-B14F-4D97-AF65-F5344CB8AC3E}">
        <p14:creationId xmlns:p14="http://schemas.microsoft.com/office/powerpoint/2010/main" val="4188122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EB244C-C85F-010E-A084-D8B6D90C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 Produced During the</a:t>
            </a:r>
            <a:br>
              <a:rPr lang="en-US" dirty="0"/>
            </a:br>
            <a:r>
              <a:rPr lang="en-US" dirty="0"/>
              <a:t>Analysis Stage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7D92EC-B5B2-F4BF-5DE9-95612E9E3BED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B6C110-0BBD-1173-FD61-0D99BC146576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C5FF28-EDA5-D92B-FEB5-078711BC8358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7CAB671F-9BEE-E2C8-B532-9AAC16B0D9F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9550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Alternatives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22605"/>
              </p:ext>
            </p:extLst>
          </p:nvPr>
        </p:nvGraphicFramePr>
        <p:xfrm>
          <a:off x="969319" y="1690688"/>
          <a:ext cx="9991124" cy="43165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5579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7735329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2274358">
                <a:tc>
                  <a:txBody>
                    <a:bodyPr/>
                    <a:lstStyle/>
                    <a:p>
                      <a:r>
                        <a:rPr lang="en-US" sz="1600" b="1" dirty="0"/>
                        <a:t>Alternative 1: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Global, Free, Virtual Professional Network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0" i="1" dirty="0"/>
                        <a:t>SELECTED</a:t>
                      </a:r>
                    </a:p>
                    <a:p>
                      <a:endParaRPr lang="en-US" sz="1600" b="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enterprising Tech Services leaders make connections and network virtually via free electronic platforms such as LinkedIn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1" dirty="0"/>
                        <a:t>Alternative 2: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Local, Fee-based,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In-Person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Professional Network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0" i="1" dirty="0"/>
                        <a:t>CONSIDER FOR FUTURE VERSION</a:t>
                      </a:r>
                    </a:p>
                    <a:p>
                      <a:endParaRPr lang="en-US" sz="1600" b="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(Like Toastmasters) Sponsor and host fee-based events to help enterprising Tech Services leaders make in-person connections and network in localities starting with the Washington, D.C. metro area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EEA9109-11FD-F460-0725-95712E9F1A03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CE2DB-9695-6846-EBC0-CDDAB593C84D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825B23-224F-30BC-1255-BD6819F53A15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B53C39C2-BA45-92C3-D93B-96BF2FF7E2E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1730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Refined Cost Estimates and WSJF</a:t>
            </a:r>
            <a:endParaRPr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E44920-E1DB-DBA8-39D2-0F97A8DAB792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465CE0-9D8F-416A-DC1E-6FAA36024E82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93366-078D-A801-5B4A-525F4CD74719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3" name="Google Shape;18;p9">
            <a:extLst>
              <a:ext uri="{FF2B5EF4-FFF2-40B4-BE49-F238E27FC236}">
                <a16:creationId xmlns:a16="http://schemas.microsoft.com/office/drawing/2014/main" id="{7EF92490-8763-C122-9420-8771007CA2F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0CCA37-1217-B7D3-8320-72D1D9B53C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039925"/>
              </p:ext>
            </p:extLst>
          </p:nvPr>
        </p:nvGraphicFramePr>
        <p:xfrm>
          <a:off x="969319" y="1590327"/>
          <a:ext cx="10795218" cy="472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1940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4327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Preliminary Cost Estimates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Donation of volunteer time by leaders at no cost to AccelRR8 Consortium Non-Profit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Use of LinkedIn and other platforms at no cost to AccelRR8 Consortium Non-Profit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Relative Priority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200" b="0" i="1" dirty="0"/>
                        <a:t>Method:  Weighted Shortest Job First (WSJF) Score*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WSJF = 4, which is COST OF DELAY / JOB SIZE = 35 / 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COST OF DELAY = 11 + 11 + 13 = 35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USER-BUSINESS VALUE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Do subscribers prefer this over other services?   13:  the “grow value exponentially at scale” skill is valued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revenue impact on the Consortium?   1:  the MVP is a free service, though some may donate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Are there negative effects if we delay?   20:  the Consortium’s other services depend on this one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TIME CRITICALITY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a fixed deadline?   1:  no fixed deadline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Will they wait for us or move to another Solution?   20:  AI maturity threatens relevancy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current effect on subscriber satisfaction?   13:  subscribers want exposure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RISK REDUCTION AND/OR OPPORTUNITY ENABLEMENT = 13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Reduces the risk of this or future delivery?   13:  critical mass of subscribers is needed for network effects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value in the information we receive?  13:  willingness of subscribers to engage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Enable new business opportunities?  13:  subscribers will learn about other Consortium services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JOB SIZE = 8;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personally engage 100+ initial subscribers (6 months);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Each new subscriber will need to engage 10 additional subscribers (6 months)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434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Lean Business Case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C16F5D-3110-F78F-4BCE-2771F94F23F4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B45135-FB35-B334-1389-8F4FC41447E6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952194-1B19-D864-7329-44E737966261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FC3986F6-425A-0514-DE8E-DE31978EAAD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3007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MVP </a:t>
            </a:r>
            <a:br>
              <a:rPr lang="en-US" dirty="0"/>
            </a:br>
            <a:r>
              <a:rPr lang="en-US" dirty="0"/>
              <a:t>Component Descriptions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4885008"/>
              </p:ext>
            </p:extLst>
          </p:nvPr>
        </p:nvGraphicFramePr>
        <p:xfrm>
          <a:off x="969319" y="1690687"/>
          <a:ext cx="10806369" cy="46097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9998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876371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Professional Networking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780345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&lt;3-Horizon Strategy for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085893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Context at </a:t>
                      </a:r>
                      <a:r>
                        <a:rPr lang="en-US" dirty="0">
                          <a:hlinkClick r:id="rId3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Intent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Intent at </a:t>
                      </a:r>
                      <a:r>
                        <a:rPr lang="en-US" dirty="0">
                          <a:hlinkClick r:id="rId4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the Products team to develop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04956"/>
                  </a:ext>
                </a:extLst>
              </a:tr>
              <a:tr h="857628">
                <a:tc>
                  <a:txBody>
                    <a:bodyPr/>
                    <a:lstStyle/>
                    <a:p>
                      <a:r>
                        <a:rPr lang="en-US" sz="1600" b="0" dirty="0"/>
                        <a:t>Demand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Generation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Demand Generation to engage with potential Customers in market segments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Beneficiaries Engagement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r>
                        <a:rPr lang="en-US" dirty="0"/>
                        <a:t>&lt;Descriptions of Collateral and Tools used by Beneficiaries Engagement to engage with specific potential beneficiaries about the service&gt;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Delivery of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Service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Delivery of Services to engage with beneficiaries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7372D81-FEF0-F693-D686-F9DF46C1643F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Reviewing Stage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9C5A52-20CA-F258-B608-01820FE0C522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Stage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08F55C-5399-5D3A-6145-A00CC01B7E5F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Implementing - MVP Stage</a:t>
            </a:r>
          </a:p>
        </p:txBody>
      </p:sp>
    </p:spTree>
    <p:extLst>
      <p:ext uri="{BB962C8B-B14F-4D97-AF65-F5344CB8AC3E}">
        <p14:creationId xmlns:p14="http://schemas.microsoft.com/office/powerpoint/2010/main" val="39604350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EB244C-C85F-010E-A084-D8B6D90C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 Produced During the</a:t>
            </a:r>
            <a:br>
              <a:rPr lang="en-US" dirty="0"/>
            </a:br>
            <a:r>
              <a:rPr lang="en-US" dirty="0"/>
              <a:t>Implementing - MVP Stage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80D088-D60A-E04C-3455-F07D0ED3B9D3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9836CB-4917-29CA-7AC0-92843E145652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CCD8A-8B41-9B93-2D05-D8CF2AC3F89C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ED514B9A-C821-414D-27E7-22058443F6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0225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MVP </a:t>
            </a:r>
            <a:br>
              <a:rPr lang="en-US" dirty="0"/>
            </a:br>
            <a:r>
              <a:rPr lang="en-US" dirty="0"/>
              <a:t>Component Descriptions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11BEFC-1920-CDC4-D668-C6A225FD1E80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E67E27-965B-E3ED-DB12-8F7EC8856408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28C04-B19B-2E05-3473-28A909FEAFDE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7C30D5DC-2695-01BA-B05D-C3CC4747D7F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AC54515-146B-F050-4501-5918908F4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682310"/>
              </p:ext>
            </p:extLst>
          </p:nvPr>
        </p:nvGraphicFramePr>
        <p:xfrm>
          <a:off x="969319" y="1690687"/>
          <a:ext cx="10806369" cy="46097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9998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876371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Professional Networking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780345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&lt;3-Horizon Strategy for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085893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Context at </a:t>
                      </a:r>
                      <a:r>
                        <a:rPr lang="en-US" dirty="0">
                          <a:hlinkClick r:id="rId3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Intent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Intent at </a:t>
                      </a:r>
                      <a:r>
                        <a:rPr lang="en-US" dirty="0">
                          <a:hlinkClick r:id="rId4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the Products team to develop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04956"/>
                  </a:ext>
                </a:extLst>
              </a:tr>
              <a:tr h="857628">
                <a:tc>
                  <a:txBody>
                    <a:bodyPr/>
                    <a:lstStyle/>
                    <a:p>
                      <a:r>
                        <a:rPr lang="en-US" sz="1600" b="0" dirty="0"/>
                        <a:t>Demand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Generation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Demand Generation to engage with potential Customers in market segments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Beneficiaries Engagement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r>
                        <a:rPr lang="en-US" dirty="0"/>
                        <a:t>&lt;Descriptions of Collateral and Tools used by Beneficiaries Engagement to engage with specific potential beneficiaries about the service&gt;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Delivery of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Service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Delivery of Services to engage with beneficiaries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9682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14607</TotalTime>
  <Words>1136</Words>
  <Application>Microsoft Macintosh PowerPoint</Application>
  <PresentationFormat>Widescreen</PresentationFormat>
  <Paragraphs>144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Office Theme</vt:lpstr>
      <vt:lpstr>1_Office Theme</vt:lpstr>
      <vt:lpstr>  AccelRR8 Consortium NonProfit Professional Networking Service v1 </vt:lpstr>
      <vt:lpstr>Deliverables Produced During the Review Stage</vt:lpstr>
      <vt:lpstr>Service Hypothesis</vt:lpstr>
      <vt:lpstr>Preliminary Cost Estimates and WSJF</vt:lpstr>
      <vt:lpstr>Deliverables Produced During the Analysis Stage</vt:lpstr>
      <vt:lpstr>Service Alternatives</vt:lpstr>
      <vt:lpstr>Refined Cost Estimates and WSJF</vt:lpstr>
      <vt:lpstr>Lean Business Case</vt:lpstr>
      <vt:lpstr>Service MVP  Component Descriptions</vt:lpstr>
      <vt:lpstr>Deliverables Produced During the Implementing - MVP Stage</vt:lpstr>
      <vt:lpstr>Service MVP  Component Descriptions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135</cp:revision>
  <cp:lastPrinted>2026-08-09T19:26:34Z</cp:lastPrinted>
  <dcterms:created xsi:type="dcterms:W3CDTF">2023-08-22T19:09:59Z</dcterms:created>
  <dcterms:modified xsi:type="dcterms:W3CDTF">2026-08-12T12:15:47Z</dcterms:modified>
</cp:coreProperties>
</file>