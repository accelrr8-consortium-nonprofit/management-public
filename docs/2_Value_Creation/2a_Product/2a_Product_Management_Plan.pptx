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1" r:id="rId1"/>
  </p:sldMasterIdLst>
  <p:notesMasterIdLst>
    <p:notesMasterId r:id="rId11"/>
  </p:notesMasterIdLst>
  <p:sldIdLst>
    <p:sldId id="256" r:id="rId2"/>
    <p:sldId id="417" r:id="rId3"/>
    <p:sldId id="418" r:id="rId4"/>
    <p:sldId id="274" r:id="rId5"/>
    <p:sldId id="400" r:id="rId6"/>
    <p:sldId id="409" r:id="rId7"/>
    <p:sldId id="401" r:id="rId8"/>
    <p:sldId id="275" r:id="rId9"/>
    <p:sldId id="273" r:id="rId1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23" roundtripDataSignature="AMtx7mhwEp+Eio5qReXqYqUwMP31HB0A8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0B050"/>
    <a:srgbClr val="FFFFFF"/>
    <a:srgbClr val="ED7D31"/>
    <a:srgbClr val="282828"/>
    <a:srgbClr val="F2F2F2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489"/>
    <p:restoredTop sz="87008"/>
  </p:normalViewPr>
  <p:slideViewPr>
    <p:cSldViewPr snapToGrid="0">
      <p:cViewPr varScale="1">
        <p:scale>
          <a:sx n="123" d="100"/>
          <a:sy n="123" d="100"/>
        </p:scale>
        <p:origin x="16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23" Type="http://customschemas.google.com/relationships/presentationmetadata" Target="metadata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h Reba" userId="55db41ab6eb3f845" providerId="LiveId" clId="{0E19DA16-244C-5B50-BE0F-52911DD4CA7E}"/>
    <pc:docChg chg="custSel delSld modSld">
      <pc:chgData name="Rich Reba" userId="55db41ab6eb3f845" providerId="LiveId" clId="{0E19DA16-244C-5B50-BE0F-52911DD4CA7E}" dt="2026-08-06T20:27:05.955" v="29" actId="478"/>
      <pc:docMkLst>
        <pc:docMk/>
      </pc:docMkLst>
      <pc:sldChg chg="modSp mod">
        <pc:chgData name="Rich Reba" userId="55db41ab6eb3f845" providerId="LiveId" clId="{0E19DA16-244C-5B50-BE0F-52911DD4CA7E}" dt="2026-08-06T20:19:00.182" v="13" actId="20577"/>
        <pc:sldMkLst>
          <pc:docMk/>
          <pc:sldMk cId="0" sldId="256"/>
        </pc:sldMkLst>
        <pc:spChg chg="mod">
          <ac:chgData name="Rich Reba" userId="55db41ab6eb3f845" providerId="LiveId" clId="{0E19DA16-244C-5B50-BE0F-52911DD4CA7E}" dt="2026-08-06T20:19:00.182" v="13" actId="20577"/>
          <ac:spMkLst>
            <pc:docMk/>
            <pc:sldMk cId="0" sldId="256"/>
            <ac:spMk id="91" creationId="{00000000-0000-0000-0000-000000000000}"/>
          </ac:spMkLst>
        </pc:spChg>
      </pc:sldChg>
      <pc:sldChg chg="delSp mod">
        <pc:chgData name="Rich Reba" userId="55db41ab6eb3f845" providerId="LiveId" clId="{0E19DA16-244C-5B50-BE0F-52911DD4CA7E}" dt="2026-08-06T20:27:05.955" v="29" actId="478"/>
        <pc:sldMkLst>
          <pc:docMk/>
          <pc:sldMk cId="3601186110" sldId="273"/>
        </pc:sldMkLst>
        <pc:spChg chg="del">
          <ac:chgData name="Rich Reba" userId="55db41ab6eb3f845" providerId="LiveId" clId="{0E19DA16-244C-5B50-BE0F-52911DD4CA7E}" dt="2026-08-06T20:27:05.955" v="29" actId="478"/>
          <ac:spMkLst>
            <pc:docMk/>
            <pc:sldMk cId="3601186110" sldId="273"/>
            <ac:spMk id="29" creationId="{CC6B3F18-B157-6C8F-94BB-433A9E2AAE5A}"/>
          </ac:spMkLst>
        </pc:spChg>
      </pc:sldChg>
      <pc:sldChg chg="delSp mod">
        <pc:chgData name="Rich Reba" userId="55db41ab6eb3f845" providerId="LiveId" clId="{0E19DA16-244C-5B50-BE0F-52911DD4CA7E}" dt="2026-08-06T20:26:50.113" v="25" actId="478"/>
        <pc:sldMkLst>
          <pc:docMk/>
          <pc:sldMk cId="1961190671" sldId="274"/>
        </pc:sldMkLst>
        <pc:spChg chg="del">
          <ac:chgData name="Rich Reba" userId="55db41ab6eb3f845" providerId="LiveId" clId="{0E19DA16-244C-5B50-BE0F-52911DD4CA7E}" dt="2026-08-06T20:26:50.113" v="25" actId="478"/>
          <ac:spMkLst>
            <pc:docMk/>
            <pc:sldMk cId="1961190671" sldId="274"/>
            <ac:spMk id="29" creationId="{CC6B3F18-B157-6C8F-94BB-433A9E2AAE5A}"/>
          </ac:spMkLst>
        </pc:spChg>
      </pc:sldChg>
      <pc:sldChg chg="delSp del mod">
        <pc:chgData name="Rich Reba" userId="55db41ab6eb3f845" providerId="LiveId" clId="{0E19DA16-244C-5B50-BE0F-52911DD4CA7E}" dt="2026-08-06T20:19:11.548" v="16" actId="2696"/>
        <pc:sldMkLst>
          <pc:docMk/>
          <pc:sldMk cId="4261285587" sldId="291"/>
        </pc:sldMkLst>
        <pc:spChg chg="del">
          <ac:chgData name="Rich Reba" userId="55db41ab6eb3f845" providerId="LiveId" clId="{0E19DA16-244C-5B50-BE0F-52911DD4CA7E}" dt="2026-08-05T20:16:51.271" v="0" actId="478"/>
          <ac:spMkLst>
            <pc:docMk/>
            <pc:sldMk cId="4261285587" sldId="291"/>
            <ac:spMk id="2" creationId="{CD994921-CA85-D524-D4AC-39A78EB65DD8}"/>
          </ac:spMkLst>
        </pc:spChg>
      </pc:sldChg>
      <pc:sldChg chg="delSp mod">
        <pc:chgData name="Rich Reba" userId="55db41ab6eb3f845" providerId="LiveId" clId="{0E19DA16-244C-5B50-BE0F-52911DD4CA7E}" dt="2026-08-06T20:26:53.708" v="26" actId="478"/>
        <pc:sldMkLst>
          <pc:docMk/>
          <pc:sldMk cId="797649862" sldId="400"/>
        </pc:sldMkLst>
        <pc:spChg chg="del">
          <ac:chgData name="Rich Reba" userId="55db41ab6eb3f845" providerId="LiveId" clId="{0E19DA16-244C-5B50-BE0F-52911DD4CA7E}" dt="2026-08-06T20:26:53.708" v="26" actId="478"/>
          <ac:spMkLst>
            <pc:docMk/>
            <pc:sldMk cId="797649862" sldId="400"/>
            <ac:spMk id="2" creationId="{FAEC2788-BD9D-9EED-BC5E-1AED8264C6F9}"/>
          </ac:spMkLst>
        </pc:spChg>
      </pc:sldChg>
      <pc:sldChg chg="delSp mod">
        <pc:chgData name="Rich Reba" userId="55db41ab6eb3f845" providerId="LiveId" clId="{0E19DA16-244C-5B50-BE0F-52911DD4CA7E}" dt="2026-08-06T20:27:01.277" v="28" actId="478"/>
        <pc:sldMkLst>
          <pc:docMk/>
          <pc:sldMk cId="4204179867" sldId="401"/>
        </pc:sldMkLst>
        <pc:spChg chg="del">
          <ac:chgData name="Rich Reba" userId="55db41ab6eb3f845" providerId="LiveId" clId="{0E19DA16-244C-5B50-BE0F-52911DD4CA7E}" dt="2026-08-06T20:27:01.277" v="28" actId="478"/>
          <ac:spMkLst>
            <pc:docMk/>
            <pc:sldMk cId="4204179867" sldId="401"/>
            <ac:spMk id="2" creationId="{0568B886-68A7-D88F-D2EF-A93DC06210B0}"/>
          </ac:spMkLst>
        </pc:spChg>
      </pc:sldChg>
      <pc:sldChg chg="delSp mod">
        <pc:chgData name="Rich Reba" userId="55db41ab6eb3f845" providerId="LiveId" clId="{0E19DA16-244C-5B50-BE0F-52911DD4CA7E}" dt="2026-08-06T20:26:57.007" v="27" actId="478"/>
        <pc:sldMkLst>
          <pc:docMk/>
          <pc:sldMk cId="401125609" sldId="409"/>
        </pc:sldMkLst>
        <pc:spChg chg="del">
          <ac:chgData name="Rich Reba" userId="55db41ab6eb3f845" providerId="LiveId" clId="{0E19DA16-244C-5B50-BE0F-52911DD4CA7E}" dt="2026-08-06T20:26:57.007" v="27" actId="478"/>
          <ac:spMkLst>
            <pc:docMk/>
            <pc:sldMk cId="401125609" sldId="409"/>
            <ac:spMk id="2" creationId="{E1AC71C2-3A98-1EDD-95E0-0996A2B53388}"/>
          </ac:spMkLst>
        </pc:spChg>
      </pc:sldChg>
      <pc:sldChg chg="del">
        <pc:chgData name="Rich Reba" userId="55db41ab6eb3f845" providerId="LiveId" clId="{0E19DA16-244C-5B50-BE0F-52911DD4CA7E}" dt="2026-08-06T20:19:11.544" v="14" actId="2696"/>
        <pc:sldMkLst>
          <pc:docMk/>
          <pc:sldMk cId="1335389885" sldId="419"/>
        </pc:sldMkLst>
      </pc:sldChg>
      <pc:sldChg chg="del">
        <pc:chgData name="Rich Reba" userId="55db41ab6eb3f845" providerId="LiveId" clId="{0E19DA16-244C-5B50-BE0F-52911DD4CA7E}" dt="2026-08-06T20:19:11.568" v="22" actId="2696"/>
        <pc:sldMkLst>
          <pc:docMk/>
          <pc:sldMk cId="3537629373" sldId="422"/>
        </pc:sldMkLst>
      </pc:sldChg>
      <pc:sldChg chg="del">
        <pc:chgData name="Rich Reba" userId="55db41ab6eb3f845" providerId="LiveId" clId="{0E19DA16-244C-5B50-BE0F-52911DD4CA7E}" dt="2026-08-06T20:19:11.560" v="19" actId="2696"/>
        <pc:sldMkLst>
          <pc:docMk/>
          <pc:sldMk cId="681584822" sldId="423"/>
        </pc:sldMkLst>
      </pc:sldChg>
      <pc:sldChg chg="del">
        <pc:chgData name="Rich Reba" userId="55db41ab6eb3f845" providerId="LiveId" clId="{0E19DA16-244C-5B50-BE0F-52911DD4CA7E}" dt="2026-08-06T20:19:11.567" v="21" actId="2696"/>
        <pc:sldMkLst>
          <pc:docMk/>
          <pc:sldMk cId="647313039" sldId="424"/>
        </pc:sldMkLst>
      </pc:sldChg>
      <pc:sldChg chg="del">
        <pc:chgData name="Rich Reba" userId="55db41ab6eb3f845" providerId="LiveId" clId="{0E19DA16-244C-5B50-BE0F-52911DD4CA7E}" dt="2026-08-06T20:19:11.575" v="23" actId="2696"/>
        <pc:sldMkLst>
          <pc:docMk/>
          <pc:sldMk cId="521678706" sldId="428"/>
        </pc:sldMkLst>
      </pc:sldChg>
      <pc:sldChg chg="del">
        <pc:chgData name="Rich Reba" userId="55db41ab6eb3f845" providerId="LiveId" clId="{0E19DA16-244C-5B50-BE0F-52911DD4CA7E}" dt="2026-08-06T20:19:11.558" v="18" actId="2696"/>
        <pc:sldMkLst>
          <pc:docMk/>
          <pc:sldMk cId="1588215340" sldId="429"/>
        </pc:sldMkLst>
      </pc:sldChg>
      <pc:sldChg chg="del">
        <pc:chgData name="Rich Reba" userId="55db41ab6eb3f845" providerId="LiveId" clId="{0E19DA16-244C-5B50-BE0F-52911DD4CA7E}" dt="2026-08-06T20:19:11.561" v="20" actId="2696"/>
        <pc:sldMkLst>
          <pc:docMk/>
          <pc:sldMk cId="1078706708" sldId="431"/>
        </pc:sldMkLst>
      </pc:sldChg>
      <pc:sldChg chg="del">
        <pc:chgData name="Rich Reba" userId="55db41ab6eb3f845" providerId="LiveId" clId="{0E19DA16-244C-5B50-BE0F-52911DD4CA7E}" dt="2026-08-06T20:19:11.580" v="24" actId="2696"/>
        <pc:sldMkLst>
          <pc:docMk/>
          <pc:sldMk cId="2186535311" sldId="432"/>
        </pc:sldMkLst>
      </pc:sldChg>
      <pc:sldChg chg="del">
        <pc:chgData name="Rich Reba" userId="55db41ab6eb3f845" providerId="LiveId" clId="{0E19DA16-244C-5B50-BE0F-52911DD4CA7E}" dt="2026-08-06T20:19:11.552" v="17" actId="2696"/>
        <pc:sldMkLst>
          <pc:docMk/>
          <pc:sldMk cId="3013373299" sldId="433"/>
        </pc:sldMkLst>
      </pc:sldChg>
      <pc:sldChg chg="delSp del mod">
        <pc:chgData name="Rich Reba" userId="55db41ab6eb3f845" providerId="LiveId" clId="{0E19DA16-244C-5B50-BE0F-52911DD4CA7E}" dt="2026-08-06T20:19:11.546" v="15" actId="2696"/>
        <pc:sldMkLst>
          <pc:docMk/>
          <pc:sldMk cId="756971190" sldId="434"/>
        </pc:sldMkLst>
        <pc:spChg chg="del">
          <ac:chgData name="Rich Reba" userId="55db41ab6eb3f845" providerId="LiveId" clId="{0E19DA16-244C-5B50-BE0F-52911DD4CA7E}" dt="2026-08-05T20:16:55.074" v="1" actId="478"/>
          <ac:spMkLst>
            <pc:docMk/>
            <pc:sldMk cId="756971190" sldId="434"/>
            <ac:spMk id="2" creationId="{C9FBF93F-D84F-C8FE-0DF9-0956282C6C6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dirty="0"/>
              <a:t>In this view we show how we will use the AccelRR8 Framework to launch and grow the AccelRR8 Consortium’s value exponentially as it climbs toward achieving exponential benefits at scale.</a:t>
            </a:r>
          </a:p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dirty="0"/>
              <a:t>This is how we will achieve one of our key Success Factors:  “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Our own success will be a key proof point of our core premise”</a:t>
            </a:r>
            <a:endParaRPr lang="en-US" dirty="0"/>
          </a:p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dirty="0"/>
              <a:t>Specific actions we will take, and leading indicators we will measure, are shown in both Launch and Climb / Scale stages.</a:t>
            </a:r>
          </a:p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dirty="0"/>
              <a:t>These actions are organized into 3 services:  Professional Networking, Open Knowledge Sharing, and Industry Innovation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57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our most important near-term Product priorities</a:t>
            </a:r>
          </a:p>
        </p:txBody>
      </p:sp>
    </p:spTree>
    <p:extLst>
      <p:ext uri="{BB962C8B-B14F-4D97-AF65-F5344CB8AC3E}">
        <p14:creationId xmlns:p14="http://schemas.microsoft.com/office/powerpoint/2010/main" val="15238067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90C09D71-CBB1-6E55-4E31-D06238FB6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>
            <a:extLst>
              <a:ext uri="{FF2B5EF4-FFF2-40B4-BE49-F238E27FC236}">
                <a16:creationId xmlns:a16="http://schemas.microsoft.com/office/drawing/2014/main" id="{891206F9-4E12-D7E8-B8BF-F3FD1BB1A7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This is a double click on our Consortium’s first Product Priority, “To improve our services and be credible, we should use Lean Product Management”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From the beginning, we have been using Lean Portfolio Management (LPM) to </a:t>
            </a:r>
            <a:r>
              <a:rPr lang="en-US" sz="1100" dirty="0">
                <a:solidFill>
                  <a:schemeClr val="bg1"/>
                </a:solidFill>
              </a:rPr>
              <a:t>develop Consortium Services and ignite compounding innovation.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This is a view of the SAFe v6 Portfolio Kanban for our Services Portfolio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SAFe is an acronym that stands for Scaled Agile Framework</a:t>
            </a:r>
            <a:endParaRPr lang="en-US" dirty="0"/>
          </a:p>
        </p:txBody>
      </p:sp>
      <p:sp>
        <p:nvSpPr>
          <p:cNvPr id="119" name="Google Shape;119;p5:notes">
            <a:extLst>
              <a:ext uri="{FF2B5EF4-FFF2-40B4-BE49-F238E27FC236}">
                <a16:creationId xmlns:a16="http://schemas.microsoft.com/office/drawing/2014/main" id="{E4728C29-31A3-627C-3B86-090AE73E11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1860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This is a double click on our Consortium’s first Product Priority, “To improve our services and be credible, we should use Lean Product Management”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 have defined the scope of our Services using Lean Product Management</a:t>
            </a:r>
            <a:endParaRPr dirty="0"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837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EE2389B-20BC-28BE-17DD-C7442B7B6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5901D355-D9B0-4941-6DE8-D42A33FD27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These are specific actions we are taking for our Services during the Launch Stage.  Actions aligned to our Consortium’s priorities are highlighted in yellow.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We have made progress on our top two Product priorities:  using LPM, and identifying the right Collaboration Platforms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cs typeface="Arial"/>
                <a:sym typeface="Arial"/>
              </a:rPr>
              <a:t>t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Arial"/>
                <a:cs typeface="Arial"/>
                <a:sym typeface="Arial"/>
              </a:rPr>
              <a:t>o connect our network and be credible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Arial"/>
                <a:cs typeface="Arial"/>
                <a:sym typeface="Arial"/>
              </a:rPr>
              <a:t>To win advocacy from credible industry influencers and go viral, we must hone our messages and launch a campaign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Arial"/>
                <a:cs typeface="Arial"/>
                <a:sym typeface="Arial"/>
              </a:rPr>
              <a:t>To scale quickly, we must learn from leaders experienced in similar non-profits, especially ASUG and the Bender Leadership Academy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kern="1200" cap="none" dirty="0">
                <a:solidFill>
                  <a:schemeClr val="tx1"/>
                </a:solidFill>
                <a:latin typeface="Aptos" panose="02110004020202020204"/>
                <a:ea typeface="Arial"/>
                <a:cs typeface="Arial"/>
                <a:sym typeface="Arial"/>
              </a:rPr>
              <a:t>To help us scale and be credible, we must experiment with and practice using AI for all of these activities</a:t>
            </a:r>
            <a:endParaRPr lang="en-US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ptos" panose="02110004020202020204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6A26A731-D905-CACD-CC70-0AAAFAC158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470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1ABD1B5E-5265-9315-FFF5-A9C22132F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1E333E59-A97F-4826-DB87-3EC8472FFC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These are potential features and pricing models for our Services when we enter the Climb Stage, and our services begin to achieve scale</a:t>
            </a:r>
            <a:endParaRPr dirty="0"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DC51EB2C-F23C-5C2E-880A-658096A260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4969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90C09D71-CBB1-6E55-4E31-D06238FB6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>
            <a:extLst>
              <a:ext uri="{FF2B5EF4-FFF2-40B4-BE49-F238E27FC236}">
                <a16:creationId xmlns:a16="http://schemas.microsoft.com/office/drawing/2014/main" id="{891206F9-4E12-D7E8-B8BF-F3FD1BB1A7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119" name="Google Shape;119;p5:notes">
            <a:extLst>
              <a:ext uri="{FF2B5EF4-FFF2-40B4-BE49-F238E27FC236}">
                <a16:creationId xmlns:a16="http://schemas.microsoft.com/office/drawing/2014/main" id="{E4728C29-31A3-627C-3B86-090AE73E11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5935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 preserve="1">
  <p:cSld name="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1724" y="-27804"/>
            <a:ext cx="12252960" cy="224286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9"/>
          <p:cNvSpPr/>
          <p:nvPr/>
        </p:nvSpPr>
        <p:spPr>
          <a:xfrm>
            <a:off x="10036908" y="136525"/>
            <a:ext cx="1914769" cy="131640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9"/>
          <p:cNvSpPr txBox="1">
            <a:spLocks noGrp="1"/>
          </p:cNvSpPr>
          <p:nvPr>
            <p:ph type="ctrTitle"/>
          </p:nvPr>
        </p:nvSpPr>
        <p:spPr>
          <a:xfrm>
            <a:off x="1524000" y="2215660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9"/>
          <p:cNvSpPr txBox="1">
            <a:spLocks noGrp="1"/>
          </p:cNvSpPr>
          <p:nvPr>
            <p:ph type="subTitle" idx="1"/>
          </p:nvPr>
        </p:nvSpPr>
        <p:spPr>
          <a:xfrm>
            <a:off x="1524000" y="4223361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sp>
        <p:nvSpPr>
          <p:cNvPr id="19" name="Google Shape;19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0" name="Google Shape;20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56095" y="227868"/>
            <a:ext cx="1649044" cy="1133718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47188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 preserve="1">
  <p:cSld name="Title and Conten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0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74827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 preserve="1">
  <p:cSld name="Section 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08531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 preserve="1">
  <p:cSld name="Two Conte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1221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 preserve="1">
  <p:cSld name="Comparison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893725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67199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 preserve="1">
  <p:cSld name="Content with Caption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body" idx="1"/>
          </p:nvPr>
        </p:nvSpPr>
        <p:spPr>
          <a:xfrm>
            <a:off x="5183188" y="1594339"/>
            <a:ext cx="6172200" cy="42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40645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 preserve="1">
  <p:cSld name="Picture with Caption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>
            <a:spLocks noGrp="1"/>
          </p:cNvSpPr>
          <p:nvPr>
            <p:ph type="pic" idx="2"/>
          </p:nvPr>
        </p:nvSpPr>
        <p:spPr>
          <a:xfrm>
            <a:off x="5183188" y="1594338"/>
            <a:ext cx="6172200" cy="42667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959388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 preserve="1">
  <p:cSld name="Title and Vertical 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68256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 preserve="1">
  <p:cSld name="Vertical Title and 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768604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 preserve="1">
  <p:cSld name="Title 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1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340506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14D81E-56A4-A0A2-279F-38C8B3343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09AF2-51A2-8243-A29F-680495D2BD2C}" type="datetimeFigureOut">
              <a:rPr lang="en-US" smtClean="0"/>
              <a:t>8/6/26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6CC58C-80F3-655C-2597-7F3B6D317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13EB0-DD69-7589-AA19-77F3D50D9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7FD95-7936-6347-9F0B-72114436E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6319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8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10023232" y="136525"/>
            <a:ext cx="1914769" cy="1316404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8012053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8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5.emf"/><Relationship Id="rId7" Type="http://schemas.openxmlformats.org/officeDocument/2006/relationships/hyperlink" Target="https://accelrr8llc-my.sharepoint.com/:p:/g/personal/rich_reba_accelrr8_com/EcF3bEjquEpDoRftWrfxB0sBZYt2UJ-TSivDs2QFVH_mcw?e=JVsZXE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Relationship Id="rId6" Type="http://schemas.openxmlformats.org/officeDocument/2006/relationships/hyperlink" Target="https://accelrr8llc-my.sharepoint.com/:p:/g/personal/rich_reba_accelrr8_com/ER8Bgu_vwthHmMksXErOsaYB6A6W08lOcMc-nR8uyRPMrQ?e=6uSXVp" TargetMode="External"/><Relationship Id="rId5" Type="http://schemas.openxmlformats.org/officeDocument/2006/relationships/hyperlink" Target="https://accelrr8llc-my.sharepoint.com/:p:/g/personal/rich_reba_accelrr8_com/Ecg-JCUAze9Ej5M6BPH6t5QBCd3OOyPEreQv3CsIOJel0Q" TargetMode="Externa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Relationship Id="rId4" Type="http://schemas.openxmlformats.org/officeDocument/2006/relationships/hyperlink" Target="https://scaledagileframework.com/portfolio-backlo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 txBox="1">
            <a:spLocks noGrp="1"/>
          </p:cNvSpPr>
          <p:nvPr>
            <p:ph type="ctrTitle"/>
          </p:nvPr>
        </p:nvSpPr>
        <p:spPr>
          <a:xfrm>
            <a:off x="1524000" y="2785676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br>
              <a:rPr lang="en-US" dirty="0"/>
            </a:br>
            <a:br>
              <a:rPr lang="en-US" dirty="0"/>
            </a:br>
            <a:r>
              <a:rPr lang="en-US" dirty="0"/>
              <a:t>AccelRR8 Consortium NonProfit</a:t>
            </a:r>
            <a:br>
              <a:rPr lang="en-US" dirty="0"/>
            </a:br>
            <a:r>
              <a:rPr lang="en-US" dirty="0"/>
              <a:t>Products Plan</a:t>
            </a:r>
            <a:br>
              <a:rPr lang="en-US" dirty="0"/>
            </a:br>
            <a:endParaRPr sz="4000" dirty="0"/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1524000" y="4793377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August 6, 2026</a:t>
            </a:r>
          </a:p>
        </p:txBody>
      </p:sp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3AD78C72-379A-E1B5-EFA1-9131465029E3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8A191-60DA-7178-4AA9-712BCB1CC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96;p2">
            <a:extLst>
              <a:ext uri="{FF2B5EF4-FFF2-40B4-BE49-F238E27FC236}">
                <a16:creationId xmlns:a16="http://schemas.microsoft.com/office/drawing/2014/main" id="{278CDA1C-9746-8737-E977-E13F1843DD8E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tabLst/>
              <a:defRPr/>
            </a:pPr>
            <a:r>
              <a:rPr kumimoji="0" lang="en-US" sz="4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Consortium Product Plan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251142-AFE9-20A0-A16F-3C7CBAEA2B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194" y="2587051"/>
            <a:ext cx="4757057" cy="2565080"/>
          </a:xfrm>
          <a:prstGeom prst="rect">
            <a:avLst/>
          </a:prstGeom>
        </p:spPr>
      </p:pic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D6474217-ABEC-A6EA-9151-B71EFE80D53F}"/>
              </a:ext>
            </a:extLst>
          </p:cNvPr>
          <p:cNvGraphicFramePr>
            <a:graphicFrameLocks noGrp="1"/>
          </p:cNvGraphicFramePr>
          <p:nvPr/>
        </p:nvGraphicFramePr>
        <p:xfrm>
          <a:off x="5919435" y="2031814"/>
          <a:ext cx="5767164" cy="377961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67164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1000635"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endParaRPr kumimoji="0" lang="en-US" sz="140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Arial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723122"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endParaRPr kumimoji="0" lang="en-US" sz="140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Arial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709666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683579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662613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22269"/>
                  </a:ext>
                </a:extLst>
              </a:tr>
            </a:tbl>
          </a:graphicData>
        </a:graphic>
      </p:graphicFrame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10F0D5E-B3A7-C15F-E7E4-FB9BC83DE9A2}"/>
              </a:ext>
            </a:extLst>
          </p:cNvPr>
          <p:cNvCxnSpPr>
            <a:cxnSpLocks/>
          </p:cNvCxnSpPr>
          <p:nvPr/>
        </p:nvCxnSpPr>
        <p:spPr>
          <a:xfrm flipV="1">
            <a:off x="5110587" y="2030795"/>
            <a:ext cx="805107" cy="99927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D61CF38-CCAA-9867-0AC2-DE2EF1BC6EC9}"/>
              </a:ext>
            </a:extLst>
          </p:cNvPr>
          <p:cNvCxnSpPr>
            <a:cxnSpLocks/>
          </p:cNvCxnSpPr>
          <p:nvPr/>
        </p:nvCxnSpPr>
        <p:spPr>
          <a:xfrm flipV="1">
            <a:off x="5110587" y="3030070"/>
            <a:ext cx="805107" cy="37795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6F35091-77BE-6B3B-00CA-FB1DD33B1F6A}"/>
              </a:ext>
            </a:extLst>
          </p:cNvPr>
          <p:cNvCxnSpPr>
            <a:cxnSpLocks/>
          </p:cNvCxnSpPr>
          <p:nvPr/>
        </p:nvCxnSpPr>
        <p:spPr>
          <a:xfrm>
            <a:off x="5110587" y="3757977"/>
            <a:ext cx="80510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629667B-249A-E98D-36A0-56DA92AFC590}"/>
              </a:ext>
            </a:extLst>
          </p:cNvPr>
          <p:cNvCxnSpPr>
            <a:cxnSpLocks/>
          </p:cNvCxnSpPr>
          <p:nvPr/>
        </p:nvCxnSpPr>
        <p:spPr>
          <a:xfrm>
            <a:off x="5110587" y="4119222"/>
            <a:ext cx="805107" cy="34679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F55AE74-C89D-D93F-9786-D18B80792D69}"/>
              </a:ext>
            </a:extLst>
          </p:cNvPr>
          <p:cNvCxnSpPr>
            <a:cxnSpLocks/>
          </p:cNvCxnSpPr>
          <p:nvPr/>
        </p:nvCxnSpPr>
        <p:spPr>
          <a:xfrm>
            <a:off x="5110587" y="4463533"/>
            <a:ext cx="805107" cy="68610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5717EBB-9B32-6ADB-6B3E-3C8E82766FFA}"/>
              </a:ext>
            </a:extLst>
          </p:cNvPr>
          <p:cNvCxnSpPr>
            <a:cxnSpLocks/>
          </p:cNvCxnSpPr>
          <p:nvPr/>
        </p:nvCxnSpPr>
        <p:spPr>
          <a:xfrm>
            <a:off x="5110587" y="4830422"/>
            <a:ext cx="805107" cy="98118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entagon 3">
            <a:extLst>
              <a:ext uri="{FF2B5EF4-FFF2-40B4-BE49-F238E27FC236}">
                <a16:creationId xmlns:a16="http://schemas.microsoft.com/office/drawing/2014/main" id="{ED218EB5-EBBB-2F33-3A31-65CCFFAB4034}"/>
              </a:ext>
            </a:extLst>
          </p:cNvPr>
          <p:cNvSpPr/>
          <p:nvPr/>
        </p:nvSpPr>
        <p:spPr>
          <a:xfrm>
            <a:off x="5919601" y="2127510"/>
            <a:ext cx="5852160" cy="164387"/>
          </a:xfrm>
          <a:prstGeom prst="homePlate">
            <a:avLst/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Use LPM to Develop Consortium Services and ignite compounding innovation</a:t>
            </a:r>
          </a:p>
        </p:txBody>
      </p:sp>
      <p:sp>
        <p:nvSpPr>
          <p:cNvPr id="5" name="Pentagon 4">
            <a:extLst>
              <a:ext uri="{FF2B5EF4-FFF2-40B4-BE49-F238E27FC236}">
                <a16:creationId xmlns:a16="http://schemas.microsoft.com/office/drawing/2014/main" id="{A73C06B2-49D1-BA28-7A35-09758A55A1D1}"/>
              </a:ext>
            </a:extLst>
          </p:cNvPr>
          <p:cNvSpPr/>
          <p:nvPr/>
        </p:nvSpPr>
        <p:spPr>
          <a:xfrm>
            <a:off x="5949052" y="3260284"/>
            <a:ext cx="1920240" cy="457200"/>
          </a:xfrm>
          <a:prstGeom prst="homePlat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Build enough momentum; use a platform to grow the professional network</a:t>
            </a:r>
          </a:p>
        </p:txBody>
      </p:sp>
      <p:sp>
        <p:nvSpPr>
          <p:cNvPr id="7" name="Pentagon 6">
            <a:extLst>
              <a:ext uri="{FF2B5EF4-FFF2-40B4-BE49-F238E27FC236}">
                <a16:creationId xmlns:a16="http://schemas.microsoft.com/office/drawing/2014/main" id="{A34B04F2-31FC-1FBF-CC96-1F8B0E7A008C}"/>
              </a:ext>
            </a:extLst>
          </p:cNvPr>
          <p:cNvSpPr/>
          <p:nvPr/>
        </p:nvSpPr>
        <p:spPr>
          <a:xfrm>
            <a:off x="6225166" y="3976372"/>
            <a:ext cx="1828800" cy="457200"/>
          </a:xfrm>
          <a:prstGeom prst="homePlat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Build enough credibility; attract influencers who openly share knowledge</a:t>
            </a:r>
          </a:p>
        </p:txBody>
      </p:sp>
      <p:sp>
        <p:nvSpPr>
          <p:cNvPr id="9" name="Pentagon 8">
            <a:extLst>
              <a:ext uri="{FF2B5EF4-FFF2-40B4-BE49-F238E27FC236}">
                <a16:creationId xmlns:a16="http://schemas.microsoft.com/office/drawing/2014/main" id="{93935D54-1614-A6B0-CE90-C1CA6E64D476}"/>
              </a:ext>
            </a:extLst>
          </p:cNvPr>
          <p:cNvSpPr/>
          <p:nvPr/>
        </p:nvSpPr>
        <p:spPr>
          <a:xfrm>
            <a:off x="8710551" y="2589535"/>
            <a:ext cx="2286000" cy="372545"/>
          </a:xfrm>
          <a:prstGeom prst="homePlat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…industry innovation using LPM </a:t>
            </a:r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to develop relevant solutions…</a:t>
            </a:r>
          </a:p>
        </p:txBody>
      </p:sp>
      <p:sp>
        <p:nvSpPr>
          <p:cNvPr id="13" name="Pentagon 12">
            <a:extLst>
              <a:ext uri="{FF2B5EF4-FFF2-40B4-BE49-F238E27FC236}">
                <a16:creationId xmlns:a16="http://schemas.microsoft.com/office/drawing/2014/main" id="{2F0FF083-1087-6E53-80C3-6AFDFC6B41B6}"/>
              </a:ext>
            </a:extLst>
          </p:cNvPr>
          <p:cNvSpPr/>
          <p:nvPr/>
        </p:nvSpPr>
        <p:spPr>
          <a:xfrm>
            <a:off x="9250713" y="3260285"/>
            <a:ext cx="1828800" cy="445707"/>
          </a:xfrm>
          <a:prstGeom prst="homePlat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…attracting more collaborators to join 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our network…</a:t>
            </a:r>
          </a:p>
        </p:txBody>
      </p:sp>
      <p:sp>
        <p:nvSpPr>
          <p:cNvPr id="14" name="Pentagon 13">
            <a:extLst>
              <a:ext uri="{FF2B5EF4-FFF2-40B4-BE49-F238E27FC236}">
                <a16:creationId xmlns:a16="http://schemas.microsoft.com/office/drawing/2014/main" id="{FD543737-CEF8-86BE-67DF-F58E75417DF0}"/>
              </a:ext>
            </a:extLst>
          </p:cNvPr>
          <p:cNvSpPr/>
          <p:nvPr/>
        </p:nvSpPr>
        <p:spPr>
          <a:xfrm>
            <a:off x="8942075" y="3976372"/>
            <a:ext cx="1938767" cy="457200"/>
          </a:xfrm>
          <a:prstGeom prst="homePlat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…adding content to the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Body of Knowledge and attracting more influencers…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B336C8F-867D-9140-665C-DA27325EB80D}"/>
              </a:ext>
            </a:extLst>
          </p:cNvPr>
          <p:cNvSpPr txBox="1"/>
          <p:nvPr/>
        </p:nvSpPr>
        <p:spPr>
          <a:xfrm>
            <a:off x="6064312" y="1723018"/>
            <a:ext cx="56372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Using our own Framework to grow Consortium value exponentially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3" name="Pentagon 22">
            <a:extLst>
              <a:ext uri="{FF2B5EF4-FFF2-40B4-BE49-F238E27FC236}">
                <a16:creationId xmlns:a16="http://schemas.microsoft.com/office/drawing/2014/main" id="{A4C31464-7D17-7AC9-3E35-5673908B899C}"/>
              </a:ext>
            </a:extLst>
          </p:cNvPr>
          <p:cNvSpPr/>
          <p:nvPr/>
        </p:nvSpPr>
        <p:spPr>
          <a:xfrm>
            <a:off x="5915693" y="5909615"/>
            <a:ext cx="5212080" cy="164592"/>
          </a:xfrm>
          <a:prstGeom prst="homePlat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Launch:  Version 1 of Consortium Services</a:t>
            </a:r>
          </a:p>
        </p:txBody>
      </p:sp>
      <p:sp>
        <p:nvSpPr>
          <p:cNvPr id="24" name="Pentagon 23">
            <a:extLst>
              <a:ext uri="{FF2B5EF4-FFF2-40B4-BE49-F238E27FC236}">
                <a16:creationId xmlns:a16="http://schemas.microsoft.com/office/drawing/2014/main" id="{E0E03ECB-0B31-BD76-EAF7-78F37688F172}"/>
              </a:ext>
            </a:extLst>
          </p:cNvPr>
          <p:cNvSpPr/>
          <p:nvPr/>
        </p:nvSpPr>
        <p:spPr>
          <a:xfrm>
            <a:off x="8942075" y="6134998"/>
            <a:ext cx="2843784" cy="164592"/>
          </a:xfrm>
          <a:prstGeom prst="homePlat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Climb / Scale:  V2+ of Consortium Services</a:t>
            </a:r>
          </a:p>
        </p:txBody>
      </p:sp>
      <p:sp>
        <p:nvSpPr>
          <p:cNvPr id="3" name="Pentagon 2">
            <a:extLst>
              <a:ext uri="{FF2B5EF4-FFF2-40B4-BE49-F238E27FC236}">
                <a16:creationId xmlns:a16="http://schemas.microsoft.com/office/drawing/2014/main" id="{339E02F6-43BF-3083-40B0-BE6A09095ECC}"/>
              </a:ext>
            </a:extLst>
          </p:cNvPr>
          <p:cNvSpPr/>
          <p:nvPr/>
        </p:nvSpPr>
        <p:spPr>
          <a:xfrm>
            <a:off x="5945359" y="3080606"/>
            <a:ext cx="5806440" cy="164387"/>
          </a:xfrm>
          <a:prstGeom prst="homePlat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</a:rPr>
              <a:t>Professional Networking Service</a:t>
            </a:r>
          </a:p>
        </p:txBody>
      </p:sp>
      <p:sp>
        <p:nvSpPr>
          <p:cNvPr id="10" name="Pentagon 9">
            <a:extLst>
              <a:ext uri="{FF2B5EF4-FFF2-40B4-BE49-F238E27FC236}">
                <a16:creationId xmlns:a16="http://schemas.microsoft.com/office/drawing/2014/main" id="{9D8C291D-B680-2288-9467-EB7173C3AE86}"/>
              </a:ext>
            </a:extLst>
          </p:cNvPr>
          <p:cNvSpPr/>
          <p:nvPr/>
        </p:nvSpPr>
        <p:spPr>
          <a:xfrm>
            <a:off x="6222844" y="3800233"/>
            <a:ext cx="5532120" cy="164387"/>
          </a:xfrm>
          <a:prstGeom prst="homePlat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</a:rPr>
              <a:t>Open Knowledge Sharing Service</a:t>
            </a:r>
          </a:p>
        </p:txBody>
      </p:sp>
      <p:sp>
        <p:nvSpPr>
          <p:cNvPr id="11" name="Triangle 10">
            <a:extLst>
              <a:ext uri="{FF2B5EF4-FFF2-40B4-BE49-F238E27FC236}">
                <a16:creationId xmlns:a16="http://schemas.microsoft.com/office/drawing/2014/main" id="{728E3192-00D6-8993-A13C-1280631F5F15}"/>
              </a:ext>
            </a:extLst>
          </p:cNvPr>
          <p:cNvSpPr/>
          <p:nvPr/>
        </p:nvSpPr>
        <p:spPr>
          <a:xfrm rot="551475">
            <a:off x="8132847" y="2579161"/>
            <a:ext cx="755979" cy="2526546"/>
          </a:xfrm>
          <a:prstGeom prst="triangl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338109-59E2-5036-E6C4-6A50B8EDA5DF}"/>
              </a:ext>
            </a:extLst>
          </p:cNvPr>
          <p:cNvSpPr txBox="1"/>
          <p:nvPr/>
        </p:nvSpPr>
        <p:spPr>
          <a:xfrm rot="16991493">
            <a:off x="8029286" y="3880680"/>
            <a:ext cx="84510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…igniting…</a:t>
            </a:r>
          </a:p>
        </p:txBody>
      </p:sp>
      <p:sp>
        <p:nvSpPr>
          <p:cNvPr id="17" name="Triangle 16">
            <a:extLst>
              <a:ext uri="{FF2B5EF4-FFF2-40B4-BE49-F238E27FC236}">
                <a16:creationId xmlns:a16="http://schemas.microsoft.com/office/drawing/2014/main" id="{C38FEB2E-1E8E-2804-E6D2-1656E9287E42}"/>
              </a:ext>
            </a:extLst>
          </p:cNvPr>
          <p:cNvSpPr/>
          <p:nvPr/>
        </p:nvSpPr>
        <p:spPr>
          <a:xfrm rot="551475">
            <a:off x="10906527" y="2579161"/>
            <a:ext cx="755979" cy="2526546"/>
          </a:xfrm>
          <a:prstGeom prst="triangl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AA4E00-E6C7-1130-9484-2D03D1133F1C}"/>
              </a:ext>
            </a:extLst>
          </p:cNvPr>
          <p:cNvSpPr txBox="1"/>
          <p:nvPr/>
        </p:nvSpPr>
        <p:spPr>
          <a:xfrm rot="16991493">
            <a:off x="10679513" y="3803735"/>
            <a:ext cx="10647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…creating a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virtuous cycle !!</a:t>
            </a:r>
          </a:p>
        </p:txBody>
      </p:sp>
      <p:sp>
        <p:nvSpPr>
          <p:cNvPr id="8" name="Pentagon 7">
            <a:extLst>
              <a:ext uri="{FF2B5EF4-FFF2-40B4-BE49-F238E27FC236}">
                <a16:creationId xmlns:a16="http://schemas.microsoft.com/office/drawing/2014/main" id="{DA77EAD3-EBB5-51F9-1AC6-91A3DCFBC6C9}"/>
              </a:ext>
            </a:extLst>
          </p:cNvPr>
          <p:cNvSpPr/>
          <p:nvPr/>
        </p:nvSpPr>
        <p:spPr>
          <a:xfrm>
            <a:off x="6561349" y="4555278"/>
            <a:ext cx="2103120" cy="1204475"/>
          </a:xfrm>
          <a:prstGeom prst="homePlat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Attract enough initial innovators who donate </a:t>
            </a:r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labor and/or technology </a:t>
            </a:r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for agile teams and AI…</a:t>
            </a:r>
          </a:p>
        </p:txBody>
      </p:sp>
      <p:sp>
        <p:nvSpPr>
          <p:cNvPr id="16" name="Pentagon 15">
            <a:extLst>
              <a:ext uri="{FF2B5EF4-FFF2-40B4-BE49-F238E27FC236}">
                <a16:creationId xmlns:a16="http://schemas.microsoft.com/office/drawing/2014/main" id="{30333F45-8C2C-4F18-C6DB-F9A33261929B}"/>
              </a:ext>
            </a:extLst>
          </p:cNvPr>
          <p:cNvSpPr/>
          <p:nvPr/>
        </p:nvSpPr>
        <p:spPr>
          <a:xfrm>
            <a:off x="9507280" y="4538111"/>
            <a:ext cx="1938767" cy="1221642"/>
          </a:xfrm>
          <a:prstGeom prst="homePlat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…attracting patrons 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who invest in 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additional agile teams 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and better AI…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166E80-38A4-924A-1EB6-564DD0D2F89D}"/>
              </a:ext>
            </a:extLst>
          </p:cNvPr>
          <p:cNvSpPr/>
          <p:nvPr/>
        </p:nvSpPr>
        <p:spPr>
          <a:xfrm>
            <a:off x="11477426" y="2576656"/>
            <a:ext cx="209173" cy="3749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Pentagon 17">
            <a:extLst>
              <a:ext uri="{FF2B5EF4-FFF2-40B4-BE49-F238E27FC236}">
                <a16:creationId xmlns:a16="http://schemas.microsoft.com/office/drawing/2014/main" id="{0F079EB4-D9B0-1975-39B0-811C7D2F4F93}"/>
              </a:ext>
            </a:extLst>
          </p:cNvPr>
          <p:cNvSpPr/>
          <p:nvPr/>
        </p:nvSpPr>
        <p:spPr>
          <a:xfrm>
            <a:off x="6582367" y="2396436"/>
            <a:ext cx="5166360" cy="164387"/>
          </a:xfrm>
          <a:prstGeom prst="homePlat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</a:rPr>
              <a:t>Industry Innovation Service</a:t>
            </a:r>
          </a:p>
        </p:txBody>
      </p:sp>
      <p:sp>
        <p:nvSpPr>
          <p:cNvPr id="31" name="Right Arrow 30">
            <a:extLst>
              <a:ext uri="{FF2B5EF4-FFF2-40B4-BE49-F238E27FC236}">
                <a16:creationId xmlns:a16="http://schemas.microsoft.com/office/drawing/2014/main" id="{1D21C691-E8A3-08CD-C986-42AFFAF30BDC}"/>
              </a:ext>
            </a:extLst>
          </p:cNvPr>
          <p:cNvSpPr/>
          <p:nvPr/>
        </p:nvSpPr>
        <p:spPr>
          <a:xfrm>
            <a:off x="4104067" y="5749595"/>
            <a:ext cx="1841292" cy="484632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WE ARE HERE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013D3988-ACFF-15C3-4BC6-F55C87BB5495}"/>
              </a:ext>
            </a:extLst>
          </p:cNvPr>
          <p:cNvSpPr/>
          <p:nvPr/>
        </p:nvSpPr>
        <p:spPr>
          <a:xfrm>
            <a:off x="5766244" y="3324855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C7B2351-573F-9E24-3C2F-E41E68288632}"/>
              </a:ext>
            </a:extLst>
          </p:cNvPr>
          <p:cNvSpPr/>
          <p:nvPr/>
        </p:nvSpPr>
        <p:spPr>
          <a:xfrm>
            <a:off x="6069485" y="4033193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2B1BE7D0-52CA-33C0-BA18-C3E07BA39BC1}"/>
              </a:ext>
            </a:extLst>
          </p:cNvPr>
          <p:cNvSpPr/>
          <p:nvPr/>
        </p:nvSpPr>
        <p:spPr>
          <a:xfrm>
            <a:off x="6412732" y="5021855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4044B24A-2165-91C8-B99B-F716497C5401}"/>
              </a:ext>
            </a:extLst>
          </p:cNvPr>
          <p:cNvSpPr/>
          <p:nvPr/>
        </p:nvSpPr>
        <p:spPr>
          <a:xfrm>
            <a:off x="8783288" y="4046072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39142393-DD24-7C7A-9594-6EC999FCCF33}"/>
              </a:ext>
            </a:extLst>
          </p:cNvPr>
          <p:cNvSpPr/>
          <p:nvPr/>
        </p:nvSpPr>
        <p:spPr>
          <a:xfrm>
            <a:off x="9098485" y="3337734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234D3393-6867-38AB-D884-26FB65F909A9}"/>
              </a:ext>
            </a:extLst>
          </p:cNvPr>
          <p:cNvSpPr/>
          <p:nvPr/>
        </p:nvSpPr>
        <p:spPr>
          <a:xfrm>
            <a:off x="9346571" y="5021855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" name="Pentagon 1">
            <a:extLst>
              <a:ext uri="{FF2B5EF4-FFF2-40B4-BE49-F238E27FC236}">
                <a16:creationId xmlns:a16="http://schemas.microsoft.com/office/drawing/2014/main" id="{E784D012-7A1F-18A3-3348-751E5B913066}"/>
              </a:ext>
            </a:extLst>
          </p:cNvPr>
          <p:cNvSpPr/>
          <p:nvPr/>
        </p:nvSpPr>
        <p:spPr>
          <a:xfrm>
            <a:off x="5949052" y="2576656"/>
            <a:ext cx="1920240" cy="389604"/>
          </a:xfrm>
          <a:prstGeom prst="homePlat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Develop concepts </a:t>
            </a:r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that resonate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B270B48-C5B1-49DA-EA81-5F0BAC308088}"/>
              </a:ext>
            </a:extLst>
          </p:cNvPr>
          <p:cNvSpPr/>
          <p:nvPr/>
        </p:nvSpPr>
        <p:spPr>
          <a:xfrm>
            <a:off x="5766244" y="2641439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8AB1605-EA78-62B7-55FA-AE0BDD275015}"/>
              </a:ext>
            </a:extLst>
          </p:cNvPr>
          <p:cNvSpPr/>
          <p:nvPr/>
        </p:nvSpPr>
        <p:spPr>
          <a:xfrm>
            <a:off x="7642224" y="5312509"/>
            <a:ext cx="498787" cy="14658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and AI…</a:t>
            </a:r>
            <a:endParaRPr lang="en-US" sz="1000" dirty="0"/>
          </a:p>
        </p:txBody>
      </p:sp>
      <p:sp>
        <p:nvSpPr>
          <p:cNvPr id="32" name="Arc 31">
            <a:extLst>
              <a:ext uri="{FF2B5EF4-FFF2-40B4-BE49-F238E27FC236}">
                <a16:creationId xmlns:a16="http://schemas.microsoft.com/office/drawing/2014/main" id="{D22A8E0C-04B9-660C-7F8C-A467BDA7ACDB}"/>
              </a:ext>
            </a:extLst>
          </p:cNvPr>
          <p:cNvSpPr/>
          <p:nvPr/>
        </p:nvSpPr>
        <p:spPr>
          <a:xfrm rot="5654947">
            <a:off x="7280987" y="4406734"/>
            <a:ext cx="1704422" cy="472221"/>
          </a:xfrm>
          <a:prstGeom prst="arc">
            <a:avLst>
              <a:gd name="adj1" fmla="val 14577930"/>
              <a:gd name="adj2" fmla="val 20965184"/>
            </a:avLst>
          </a:prstGeom>
          <a:ln>
            <a:solidFill>
              <a:srgbClr val="FFFFFF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c 34">
            <a:extLst>
              <a:ext uri="{FF2B5EF4-FFF2-40B4-BE49-F238E27FC236}">
                <a16:creationId xmlns:a16="http://schemas.microsoft.com/office/drawing/2014/main" id="{64EED895-E510-2FD7-11EF-7115BF5AEA24}"/>
              </a:ext>
            </a:extLst>
          </p:cNvPr>
          <p:cNvSpPr/>
          <p:nvPr/>
        </p:nvSpPr>
        <p:spPr>
          <a:xfrm rot="5753069" flipH="1" flipV="1">
            <a:off x="7646411" y="3618861"/>
            <a:ext cx="2175668" cy="465909"/>
          </a:xfrm>
          <a:prstGeom prst="arc">
            <a:avLst>
              <a:gd name="adj1" fmla="val 20050895"/>
              <a:gd name="adj2" fmla="val 21502558"/>
            </a:avLst>
          </a:prstGeom>
          <a:ln>
            <a:solidFill>
              <a:srgbClr val="FFFFFF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Arc 35">
            <a:extLst>
              <a:ext uri="{FF2B5EF4-FFF2-40B4-BE49-F238E27FC236}">
                <a16:creationId xmlns:a16="http://schemas.microsoft.com/office/drawing/2014/main" id="{D447D1FA-9AB8-6584-2694-203D1C0B1646}"/>
              </a:ext>
            </a:extLst>
          </p:cNvPr>
          <p:cNvSpPr/>
          <p:nvPr/>
        </p:nvSpPr>
        <p:spPr>
          <a:xfrm rot="5654947">
            <a:off x="10106484" y="4406734"/>
            <a:ext cx="1704422" cy="472221"/>
          </a:xfrm>
          <a:prstGeom prst="arc">
            <a:avLst>
              <a:gd name="adj1" fmla="val 14577930"/>
              <a:gd name="adj2" fmla="val 20965184"/>
            </a:avLst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Arc 36">
            <a:extLst>
              <a:ext uri="{FF2B5EF4-FFF2-40B4-BE49-F238E27FC236}">
                <a16:creationId xmlns:a16="http://schemas.microsoft.com/office/drawing/2014/main" id="{A60ADD18-B6AB-4604-92C8-195FC10A32DD}"/>
              </a:ext>
            </a:extLst>
          </p:cNvPr>
          <p:cNvSpPr/>
          <p:nvPr/>
        </p:nvSpPr>
        <p:spPr>
          <a:xfrm rot="5753069" flipH="1" flipV="1">
            <a:off x="10471908" y="3618861"/>
            <a:ext cx="2175668" cy="465909"/>
          </a:xfrm>
          <a:prstGeom prst="arc">
            <a:avLst>
              <a:gd name="adj1" fmla="val 20050895"/>
              <a:gd name="adj2" fmla="val 2150255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2">
            <a:extLst>
              <a:ext uri="{FF2B5EF4-FFF2-40B4-BE49-F238E27FC236}">
                <a16:creationId xmlns:a16="http://schemas.microsoft.com/office/drawing/2014/main" id="{0700237B-4157-47BC-ADBB-70DB421440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199" y="1843589"/>
            <a:ext cx="1287166" cy="649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7141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8A191-60DA-7178-4AA9-712BCB1CC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96;p2">
            <a:extLst>
              <a:ext uri="{FF2B5EF4-FFF2-40B4-BE49-F238E27FC236}">
                <a16:creationId xmlns:a16="http://schemas.microsoft.com/office/drawing/2014/main" id="{278CDA1C-9746-8737-E977-E13F1843DD8E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90000"/>
              </a:lnSpc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 dirty="0">
                <a:latin typeface="Calibri" panose="020F0502020204030204" pitchFamily="34" charset="0"/>
                <a:cs typeface="Calibri" panose="020F0502020204030204" pitchFamily="34" charset="0"/>
              </a:rPr>
              <a:t>Consortium Product Priorities</a:t>
            </a:r>
          </a:p>
          <a:p>
            <a:pPr>
              <a:lnSpc>
                <a:spcPct val="90000"/>
              </a:lnSpc>
              <a:buClr>
                <a:schemeClr val="dk1"/>
              </a:buClr>
              <a:buSzPts val="4400"/>
              <a:buFont typeface="Calibri"/>
              <a:buNone/>
            </a:pPr>
            <a:r>
              <a:rPr lang="en-US" sz="2400" i="1" dirty="0">
                <a:latin typeface="Calibri" panose="020F0502020204030204" pitchFamily="34" charset="0"/>
                <a:cs typeface="Calibri" panose="020F0502020204030204" pitchFamily="34" charset="0"/>
              </a:rPr>
              <a:t>Using our own Framework to grow Consortium value exponentially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251142-AFE9-20A0-A16F-3C7CBAEA2B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607" y="2726901"/>
            <a:ext cx="4757057" cy="2565080"/>
          </a:xfrm>
          <a:prstGeom prst="rect">
            <a:avLst/>
          </a:prstGeom>
        </p:spPr>
      </p:pic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D6474217-ABEC-A6EA-9151-B71EFE80D53F}"/>
              </a:ext>
            </a:extLst>
          </p:cNvPr>
          <p:cNvGraphicFramePr>
            <a:graphicFrameLocks noGrp="1"/>
          </p:cNvGraphicFramePr>
          <p:nvPr/>
        </p:nvGraphicFramePr>
        <p:xfrm>
          <a:off x="6901107" y="2423595"/>
          <a:ext cx="3855286" cy="35278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55286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748583"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improve our services and be credible, we should use Lean Product Management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728133"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connect our network and be credible, we should use the right Collaboration Platforms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704954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go viral, we must win advocacy from credible industry influencers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683579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scale quickly, we should learn from leaders experienced in similar non-profits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662613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Aptos" panose="02110004020202020204"/>
                          <a:ea typeface="+mn-ea"/>
                        </a:rPr>
                        <a:t>To help us scale and be credible, we must experiment with and practice using AI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22269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47F7FEC5-E4F2-4640-BABB-2DC3CF664665}"/>
              </a:ext>
            </a:extLst>
          </p:cNvPr>
          <p:cNvSpPr txBox="1"/>
          <p:nvPr/>
        </p:nvSpPr>
        <p:spPr>
          <a:xfrm>
            <a:off x="7195646" y="1843223"/>
            <a:ext cx="31905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What we need to do now to grow </a:t>
            </a:r>
            <a:b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</a:b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Consortium value exponentially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10F0D5E-B3A7-C15F-E7E4-FB9BC83DE9A2}"/>
              </a:ext>
            </a:extLst>
          </p:cNvPr>
          <p:cNvCxnSpPr/>
          <p:nvPr/>
        </p:nvCxnSpPr>
        <p:spPr>
          <a:xfrm flipV="1">
            <a:off x="6096000" y="2423595"/>
            <a:ext cx="805107" cy="7463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D61CF38-CCAA-9867-0AC2-DE2EF1BC6EC9}"/>
              </a:ext>
            </a:extLst>
          </p:cNvPr>
          <p:cNvCxnSpPr>
            <a:cxnSpLocks/>
          </p:cNvCxnSpPr>
          <p:nvPr/>
        </p:nvCxnSpPr>
        <p:spPr>
          <a:xfrm flipV="1">
            <a:off x="6096000" y="3169920"/>
            <a:ext cx="805107" cy="37795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6F35091-77BE-6B3B-00CA-FB1DD33B1F6A}"/>
              </a:ext>
            </a:extLst>
          </p:cNvPr>
          <p:cNvCxnSpPr>
            <a:cxnSpLocks/>
          </p:cNvCxnSpPr>
          <p:nvPr/>
        </p:nvCxnSpPr>
        <p:spPr>
          <a:xfrm>
            <a:off x="6096000" y="3897827"/>
            <a:ext cx="80510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629667B-249A-E98D-36A0-56DA92AFC590}"/>
              </a:ext>
            </a:extLst>
          </p:cNvPr>
          <p:cNvCxnSpPr>
            <a:cxnSpLocks/>
          </p:cNvCxnSpPr>
          <p:nvPr/>
        </p:nvCxnSpPr>
        <p:spPr>
          <a:xfrm>
            <a:off x="6096000" y="4259072"/>
            <a:ext cx="805107" cy="34679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F55AE74-C89D-D93F-9786-D18B80792D69}"/>
              </a:ext>
            </a:extLst>
          </p:cNvPr>
          <p:cNvCxnSpPr>
            <a:cxnSpLocks/>
          </p:cNvCxnSpPr>
          <p:nvPr/>
        </p:nvCxnSpPr>
        <p:spPr>
          <a:xfrm>
            <a:off x="6096000" y="4603383"/>
            <a:ext cx="805107" cy="68610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5717EBB-9B32-6ADB-6B3E-3C8E82766FFA}"/>
              </a:ext>
            </a:extLst>
          </p:cNvPr>
          <p:cNvCxnSpPr>
            <a:cxnSpLocks/>
          </p:cNvCxnSpPr>
          <p:nvPr/>
        </p:nvCxnSpPr>
        <p:spPr>
          <a:xfrm>
            <a:off x="6096000" y="4970272"/>
            <a:ext cx="805107" cy="98118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5824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ECDE25D5-7ABB-9ADA-350B-500231E65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3046D7FA-AC43-5B45-5C70-02617D0DD8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948"/>
            <a:ext cx="1586753" cy="892549"/>
          </a:xfrm>
          <a:prstGeom prst="rect">
            <a:avLst/>
          </a:prstGeom>
        </p:spPr>
      </p:pic>
      <p:sp>
        <p:nvSpPr>
          <p:cNvPr id="121" name="Google Shape;121;p5">
            <a:extLst>
              <a:ext uri="{FF2B5EF4-FFF2-40B4-BE49-F238E27FC236}">
                <a16:creationId xmlns:a16="http://schemas.microsoft.com/office/drawing/2014/main" id="{D1FD5753-66B3-EA4B-4895-9891C1AB67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Product Portfolio Kanban</a:t>
            </a:r>
            <a:endParaRPr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3616900-0C58-1E90-22AE-07E41FA90C5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80376"/>
          <a:stretch/>
        </p:blipFill>
        <p:spPr>
          <a:xfrm>
            <a:off x="116361" y="1431266"/>
            <a:ext cx="11959278" cy="93192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E041642-A5C3-0EEF-A34D-9E290DD48A4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9400" r="15610" b="72942"/>
          <a:stretch/>
        </p:blipFill>
        <p:spPr>
          <a:xfrm>
            <a:off x="7232072" y="1431266"/>
            <a:ext cx="2988624" cy="128491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AB2BC0F-D677-68CA-5058-F508656F3201}"/>
              </a:ext>
            </a:extLst>
          </p:cNvPr>
          <p:cNvSpPr/>
          <p:nvPr/>
        </p:nvSpPr>
        <p:spPr>
          <a:xfrm>
            <a:off x="4128425" y="2428345"/>
            <a:ext cx="1318162" cy="46313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Professional Networking v1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7F2D88-BE13-EA14-DBCE-30D59708F3D0}"/>
              </a:ext>
            </a:extLst>
          </p:cNvPr>
          <p:cNvSpPr/>
          <p:nvPr/>
        </p:nvSpPr>
        <p:spPr>
          <a:xfrm>
            <a:off x="4128425" y="2956634"/>
            <a:ext cx="1318162" cy="46313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Knowledge Sharing v1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07CA5A-7918-0A85-5800-6FF76F8C2206}"/>
              </a:ext>
            </a:extLst>
          </p:cNvPr>
          <p:cNvSpPr/>
          <p:nvPr/>
        </p:nvSpPr>
        <p:spPr>
          <a:xfrm>
            <a:off x="4128425" y="3484923"/>
            <a:ext cx="1318162" cy="46313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Industry </a:t>
            </a:r>
            <a:br>
              <a:rPr lang="en-US" sz="1200" dirty="0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en-US" sz="1200" dirty="0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Innovation v1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0C990AD-B0DD-7340-DCC6-168F34AE8AE7}"/>
              </a:ext>
            </a:extLst>
          </p:cNvPr>
          <p:cNvSpPr/>
          <p:nvPr/>
        </p:nvSpPr>
        <p:spPr>
          <a:xfrm>
            <a:off x="599413" y="2428345"/>
            <a:ext cx="1318162" cy="46313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Professional Networking v2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38CAEEE-8EBF-4333-F24E-26C124F62E13}"/>
              </a:ext>
            </a:extLst>
          </p:cNvPr>
          <p:cNvSpPr/>
          <p:nvPr/>
        </p:nvSpPr>
        <p:spPr>
          <a:xfrm>
            <a:off x="599413" y="2956634"/>
            <a:ext cx="1318162" cy="46313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Open Knowledge Sharing v2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2B6AE4-E2C8-6A47-45FE-71E80CAE16F1}"/>
              </a:ext>
            </a:extLst>
          </p:cNvPr>
          <p:cNvSpPr/>
          <p:nvPr/>
        </p:nvSpPr>
        <p:spPr>
          <a:xfrm>
            <a:off x="599413" y="3484923"/>
            <a:ext cx="1318162" cy="46313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Industry </a:t>
            </a:r>
            <a:br>
              <a:rPr lang="en-US" sz="1200" dirty="0">
                <a:solidFill>
                  <a:schemeClr val="bg1"/>
                </a:solidFill>
              </a:rPr>
            </a:br>
            <a:r>
              <a:rPr lang="en-US" sz="1200" dirty="0">
                <a:solidFill>
                  <a:schemeClr val="bg1"/>
                </a:solidFill>
              </a:rPr>
              <a:t>Innovation v2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FE8F92F-8E46-85DD-4116-26EF501AC20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0241" y="154912"/>
            <a:ext cx="2960441" cy="420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190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F858C6-D24B-275F-C277-0DF9F5D07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948"/>
            <a:ext cx="1586753" cy="892549"/>
          </a:xfrm>
          <a:prstGeom prst="rect">
            <a:avLst/>
          </a:prstGeom>
        </p:spPr>
      </p:pic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Services (our Products)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B70F3A5-8062-29A2-30D0-2783CB3DFC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4559339"/>
              </p:ext>
            </p:extLst>
          </p:nvPr>
        </p:nvGraphicFramePr>
        <p:xfrm>
          <a:off x="838199" y="1428007"/>
          <a:ext cx="10329673" cy="492834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9113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  <a:gridCol w="6169152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sz="1400" b="1" dirty="0"/>
                        <a:t>Service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Accelerators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Description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1376151">
                <a:tc>
                  <a:txBody>
                    <a:bodyPr/>
                    <a:lstStyle/>
                    <a:p>
                      <a:r>
                        <a:rPr lang="en-US" sz="2000" b="1" dirty="0"/>
                        <a:t>Professional Networking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Network Effects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chemeClr val="accent2"/>
                          </a:solidFill>
                        </a:rPr>
                        <a:t>AI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US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enterprising leaders involved or interested in the Tech Services industry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THIS SERVICE 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connects a global AccelRR8 professional network, supported by </a:t>
                      </a:r>
                      <a:r>
                        <a:rPr lang="en-US" sz="1200" b="1" i="0" u="none" strike="noStrike" cap="none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AI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THAT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helps leaders to network and practice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growing value exponentially at scale together, to </a:t>
                      </a:r>
                      <a:r>
                        <a:rPr lang="en-US" sz="1200" dirty="0"/>
                        <a:t>accelerate success for themselves, their industry, and all humanity.  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Due to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network effects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, value for all collaborators grows exponentially as their numbers grow linearly.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658013">
                <a:tc>
                  <a:txBody>
                    <a:bodyPr/>
                    <a:lstStyle/>
                    <a:p>
                      <a:r>
                        <a:rPr lang="en-US" sz="2000" b="1" dirty="0"/>
                        <a:t>Open Knowledge Sharing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Viral Ideation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Generative </a:t>
                      </a:r>
                      <a:br>
                        <a:rPr lang="en-US" b="1" dirty="0">
                          <a:solidFill>
                            <a:srgbClr val="00B050"/>
                          </a:solidFill>
                        </a:rPr>
                      </a:b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Learning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chemeClr val="accent2"/>
                          </a:solidFill>
                        </a:rPr>
                        <a:t>AI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enterprising leaders involved or interested in the Tech Services industry</a:t>
                      </a:r>
                      <a:b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THIS SERVICE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facilitates viral ideation across the AccelRR8 network, supported by </a:t>
                      </a:r>
                      <a:r>
                        <a:rPr lang="en-US" sz="1200" b="1" i="0" u="none" strike="noStrike" cap="none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AI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THAT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helps leaders rapidly share ideas and align on authoritative best practices for growing value exponentially at scale</a:t>
                      </a:r>
                      <a:r>
                        <a:rPr lang="en-US" sz="1200" dirty="0"/>
                        <a:t>.  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High-value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ideas go viral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, propagating exponentially fast and wide across the network.  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Successful ideas are added via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generative learning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to the AccelRR8 Body of Knowledge, curated with the help of expert advisors.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1578641">
                <a:tc>
                  <a:txBody>
                    <a:bodyPr/>
                    <a:lstStyle/>
                    <a:p>
                      <a:r>
                        <a:rPr lang="en-US" sz="2000" b="1" dirty="0"/>
                        <a:t>Industry</a:t>
                      </a:r>
                    </a:p>
                    <a:p>
                      <a:r>
                        <a:rPr lang="en-US" sz="2000" b="1" dirty="0"/>
                        <a:t>Innovation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Compounding     </a:t>
                      </a:r>
                      <a:br>
                        <a:rPr lang="en-US" b="1" dirty="0">
                          <a:solidFill>
                            <a:srgbClr val="00B050"/>
                          </a:solidFill>
                        </a:rPr>
                      </a:b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Innovation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Generative </a:t>
                      </a:r>
                      <a:br>
                        <a:rPr lang="en-US" b="1" dirty="0">
                          <a:solidFill>
                            <a:srgbClr val="00B050"/>
                          </a:solidFill>
                        </a:rPr>
                      </a:b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Learning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chemeClr val="accent2"/>
                          </a:solidFill>
                        </a:rPr>
                        <a:t>AI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enterprising leaders involved or interested in the Tech Services industry</a:t>
                      </a:r>
                      <a:b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THIS SERVICE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develops innovative solutions to vexing industry challenges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THAT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help leaders grow value exponentially at scale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sz="1200" dirty="0"/>
                        <a:t>accelerating material success for themselves, their enterprises, their industry, and all humanity.  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Patrons finance and support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compounding innovation,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 provided by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generative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teams supported by </a:t>
                      </a: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AI,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 to develop exponential solutions that address priority industry challenges, advance the state-of-the-art, and benefit humanity.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11E7C6CA-1629-36F8-F9B9-6EA9D804C1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241" y="154912"/>
            <a:ext cx="2960441" cy="420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649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9CF0030E-C778-6057-7F00-D64497814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34C8B3-CAA6-7C3E-29FF-A014181AB5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948"/>
            <a:ext cx="1586753" cy="892549"/>
          </a:xfrm>
          <a:prstGeom prst="rect">
            <a:avLst/>
          </a:prstGeom>
        </p:spPr>
      </p:pic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213A3A61-4044-D39A-7839-F3AEFE0C29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Roadmap to Launch (v1 Services)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855B0BF-5869-4C17-DDB9-4330FF90D6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7839243"/>
              </p:ext>
            </p:extLst>
          </p:nvPr>
        </p:nvGraphicFramePr>
        <p:xfrm>
          <a:off x="410934" y="1560399"/>
          <a:ext cx="11370132" cy="485155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79172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5856515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3434445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sz="1400" b="1" dirty="0"/>
                        <a:t>Service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When Feasible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900682">
                <a:tc>
                  <a:txBody>
                    <a:bodyPr/>
                    <a:lstStyle/>
                    <a:p>
                      <a:r>
                        <a:rPr lang="en-US" sz="2000" b="1" dirty="0"/>
                        <a:t>All Services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Use Lean Product Management to publish Services info on our LinkedIn page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Explore low-cost options for setting up a website (e.g., Wordpress)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Experiment with and practice using AI to help our Consortium scale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Explore ideas for raising seed money (donations and grants)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  <a:sym typeface="Arial"/>
                        </a:rPr>
                        <a:t>Set up a website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  <a:sym typeface="Arial"/>
                        </a:rPr>
                        <a:t>Publish learnings (e.g., how we’re using AI) in the AccelRR8 Body of Knowledge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01597007"/>
                  </a:ext>
                </a:extLst>
              </a:tr>
              <a:tr h="723820">
                <a:tc>
                  <a:txBody>
                    <a:bodyPr/>
                    <a:lstStyle/>
                    <a:p>
                      <a:r>
                        <a:rPr lang="en-US" sz="2000" b="1" dirty="0"/>
                        <a:t>Professional Networking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ASUG, Toastmasters, and PMI leaders how they grew their networks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Grow the number of Collaborators to 100 via the Board of Directors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platforms to enhance collaboration (e.g., LinkedIn Groups, Discord)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Prepare a campaign to grow the number of Collaborators to 300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Freemium options for generating revenues (e.g., local chapters)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Leader for Professional Network Service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campaigns to grow the number of Collaborators to 300 and then to 1,000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 for collaboration platform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Freemium options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128631">
                <a:tc>
                  <a:txBody>
                    <a:bodyPr/>
                    <a:lstStyle/>
                    <a:p>
                      <a:r>
                        <a:rPr lang="en-US" sz="2000" b="1" dirty="0"/>
                        <a:t>Open Knowledge Sharing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 and PMI leaders how they developed and curate their BOKs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platforms for publishing and curating the AccelRR8 Framework and AccelRR8 Body of Knowledge (e.g., Github)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advisory board leaders for various topics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ways to enhance our credibility with Tech Services leaders, e.g., influencer endorsements and webinars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Freemium options for generating revenues (e.g., contributors)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Leader for Open Knowledge Sharing Service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Publish the AccelRR8 Framework v2 on KM platform with help from Advisory board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webinars with influencers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Freemium options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1075015">
                <a:tc>
                  <a:txBody>
                    <a:bodyPr/>
                    <a:lstStyle/>
                    <a:p>
                      <a:r>
                        <a:rPr lang="en-US" sz="2000" b="1" dirty="0"/>
                        <a:t>Industry</a:t>
                      </a:r>
                    </a:p>
                    <a:p>
                      <a:r>
                        <a:rPr lang="en-US" sz="2000" b="1" dirty="0"/>
                        <a:t>Innovation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 and PMI leaders how they generate revenues from patron organizations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opportunities to learn from and help the Bender Leadership Academy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AI for Good leaders how they use technology to help humanity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Freemium options for generating revenues (e.g., patron organizations)</a:t>
                      </a:r>
                      <a:endParaRPr lang="en-US" sz="1200" b="0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Leader for Industry Innovation Service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Freemium options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98161617-7B83-FBD0-E788-6EDFBDE6F761}"/>
              </a:ext>
            </a:extLst>
          </p:cNvPr>
          <p:cNvSpPr txBox="1"/>
          <p:nvPr/>
        </p:nvSpPr>
        <p:spPr>
          <a:xfrm>
            <a:off x="935019" y="211236"/>
            <a:ext cx="4443805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tabLst/>
              <a:defRPr/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Actions aligned to the priorities are highlighted in yellow</a:t>
            </a:r>
          </a:p>
        </p:txBody>
      </p:sp>
    </p:spTree>
    <p:extLst>
      <p:ext uri="{BB962C8B-B14F-4D97-AF65-F5344CB8AC3E}">
        <p14:creationId xmlns:p14="http://schemas.microsoft.com/office/powerpoint/2010/main" val="4011256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3F9E8A64-92E5-8A5C-3A71-8DA546359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EA8827-7200-657E-4854-70B29D6152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948"/>
            <a:ext cx="1586753" cy="892549"/>
          </a:xfrm>
          <a:prstGeom prst="rect">
            <a:avLst/>
          </a:prstGeom>
        </p:spPr>
      </p:pic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52522E90-5AE9-9FBE-04B3-D747C0792C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9438862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Maturing our Services (v2+ Services)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AE03268-FBA5-47E1-5FB7-A69965E75B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0920061"/>
              </p:ext>
            </p:extLst>
          </p:nvPr>
        </p:nvGraphicFramePr>
        <p:xfrm>
          <a:off x="382860" y="1559348"/>
          <a:ext cx="10970941" cy="492834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6513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4246948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4707480">
                  <a:extLst>
                    <a:ext uri="{9D8B030D-6E8A-4147-A177-3AD203B41FA5}">
                      <a16:colId xmlns:a16="http://schemas.microsoft.com/office/drawing/2014/main" val="2931972607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sz="1400" b="1" dirty="0"/>
                        <a:t>Service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Free (v1 Services)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Premium / For-Fee (v2+ Services)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1376151">
                <a:tc>
                  <a:txBody>
                    <a:bodyPr/>
                    <a:lstStyle/>
                    <a:p>
                      <a:r>
                        <a:rPr lang="en-US" sz="2000" b="1" dirty="0"/>
                        <a:t>Professional Networking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Enterprising Tech Services leaders can join the AccelRR8 Consortium network as collaborators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(Like Toastmasters) Individual leaders can join a club / local chapter for $X new member fee and $Y / month</a:t>
                      </a:r>
                    </a:p>
                    <a:p>
                      <a:pPr marL="119063" marR="0" lvl="2" indent="-11906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(Like ASUG) Organizations can pay an annual fee that covers Professional Networking fees for all employees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658013">
                <a:tc>
                  <a:txBody>
                    <a:bodyPr/>
                    <a:lstStyle/>
                    <a:p>
                      <a:r>
                        <a:rPr lang="en-US" sz="2000" b="1" dirty="0"/>
                        <a:t>Open Knowledge Sharing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Collaborators can share ideas with one another via an online platform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Collaborators can access the AccelRR8 Body of Knowledge, including the AccelRR8 Framework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Collaborators can participate in Consortium webinars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(Like PMI) Individual leaders can take an exam for $XX and maintain a certification for $YY per year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(Like ASUG) Organizations can pay an annual fee that covers Open Knowledge Sharing fees for all employees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(Like various standards bodies) Organizations can pay an annual fee to help govern and evolve the AccelRR8 BOK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1578641">
                <a:tc>
                  <a:txBody>
                    <a:bodyPr/>
                    <a:lstStyle/>
                    <a:p>
                      <a:r>
                        <a:rPr lang="en-US" sz="2000" b="1" dirty="0"/>
                        <a:t>Industry</a:t>
                      </a:r>
                    </a:p>
                    <a:p>
                      <a:r>
                        <a:rPr lang="en-US" sz="2000" b="1" dirty="0"/>
                        <a:t>Innovation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Individuals and organizations can join the AccelRR8 Consortium as innovators (free advertising, e.g., Bronze Tier) who donate labor and/or technology to co-develop exponential solutions for priority industry challenges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Individuals and organizations can pay an annual fee and become patrons (e.g., Diamond, Platinum, Gold, Silver) to co-develop exponential solutions for priority industry challenges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41798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DD0A9-564C-5358-F049-D4FFBE44C8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4639853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ECDE25D5-7ABB-9ADA-350B-500231E65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>
            <a:extLst>
              <a:ext uri="{FF2B5EF4-FFF2-40B4-BE49-F238E27FC236}">
                <a16:creationId xmlns:a16="http://schemas.microsoft.com/office/drawing/2014/main" id="{D1FD5753-66B3-EA4B-4895-9891C1AB67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Portfolio Kanban Reference</a:t>
            </a:r>
            <a:endParaRPr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3616900-0C58-1E90-22AE-07E41FA90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361" y="1609391"/>
            <a:ext cx="11959278" cy="474887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A549193-7BF6-72BD-7395-1DB5F0173929}"/>
              </a:ext>
            </a:extLst>
          </p:cNvPr>
          <p:cNvSpPr txBox="1"/>
          <p:nvPr/>
        </p:nvSpPr>
        <p:spPr>
          <a:xfrm>
            <a:off x="385763" y="6050491"/>
            <a:ext cx="58673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 learn more, visit the </a:t>
            </a:r>
            <a:r>
              <a:rPr lang="en-US" dirty="0">
                <a:hlinkClick r:id="rId4"/>
              </a:rPr>
              <a:t>Scaled Agile Framework Portfolio Backlog article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118611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62688</TotalTime>
  <Words>1550</Words>
  <Application>Microsoft Macintosh PowerPoint</Application>
  <PresentationFormat>Widescreen</PresentationFormat>
  <Paragraphs>148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Wingdings</vt:lpstr>
      <vt:lpstr>1_Office Theme</vt:lpstr>
      <vt:lpstr>  AccelRR8 Consortium NonProfit Products Plan </vt:lpstr>
      <vt:lpstr>PowerPoint Presentation</vt:lpstr>
      <vt:lpstr>PowerPoint Presentation</vt:lpstr>
      <vt:lpstr>Consortium Product Portfolio Kanban</vt:lpstr>
      <vt:lpstr>Consortium Services (our Products)</vt:lpstr>
      <vt:lpstr>Roadmap to Launch (v1 Services)</vt:lpstr>
      <vt:lpstr>Maturing our Services (v2+ Services)</vt:lpstr>
      <vt:lpstr>Appendix</vt:lpstr>
      <vt:lpstr>Portfolio Kanban Reference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for Digital Architect Consulting Services</dc:title>
  <dc:creator>Rich Reba</dc:creator>
  <cp:lastModifiedBy>Rich Reba</cp:lastModifiedBy>
  <cp:revision>137</cp:revision>
  <cp:lastPrinted>2025-10-26T03:25:25Z</cp:lastPrinted>
  <dcterms:created xsi:type="dcterms:W3CDTF">2023-08-22T19:09:59Z</dcterms:created>
  <dcterms:modified xsi:type="dcterms:W3CDTF">2026-08-06T20:27:08Z</dcterms:modified>
</cp:coreProperties>
</file>