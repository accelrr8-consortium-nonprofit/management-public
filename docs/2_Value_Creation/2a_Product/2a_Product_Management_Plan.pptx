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12"/>
  </p:notesMasterIdLst>
  <p:sldIdLst>
    <p:sldId id="256" r:id="rId2"/>
    <p:sldId id="417" r:id="rId3"/>
    <p:sldId id="418" r:id="rId4"/>
    <p:sldId id="274" r:id="rId5"/>
    <p:sldId id="400" r:id="rId6"/>
    <p:sldId id="419" r:id="rId7"/>
    <p:sldId id="409" r:id="rId8"/>
    <p:sldId id="401" r:id="rId9"/>
    <p:sldId id="275" r:id="rId10"/>
    <p:sldId id="273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2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B050"/>
    <a:srgbClr val="FFFFFF"/>
    <a:srgbClr val="ED7D31"/>
    <a:srgbClr val="282828"/>
    <a:srgbClr val="F2F2F2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43809C-D10A-264C-B7BA-94778C12E332}" v="2" dt="2026-08-09T15:50:30.7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89"/>
    <p:restoredTop sz="86975"/>
  </p:normalViewPr>
  <p:slideViewPr>
    <p:cSldViewPr snapToGrid="0">
      <p:cViewPr varScale="1">
        <p:scale>
          <a:sx n="122" d="100"/>
          <a:sy n="122" d="100"/>
        </p:scale>
        <p:origin x="16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customschemas.google.com/relationships/presentationmetadata" Target="meta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custSel addSld delSld modSld">
      <pc:chgData name="Rich Reba" userId="55db41ab6eb3f845" providerId="LiveId" clId="{0E19DA16-244C-5B50-BE0F-52911DD4CA7E}" dt="2026-08-14T12:38:25.664" v="265" actId="20577"/>
      <pc:docMkLst>
        <pc:docMk/>
      </pc:docMkLst>
      <pc:sldChg chg="modSp mod">
        <pc:chgData name="Rich Reba" userId="55db41ab6eb3f845" providerId="LiveId" clId="{0E19DA16-244C-5B50-BE0F-52911DD4CA7E}" dt="2026-08-06T20:19:00.182" v="13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6T20:19:00.182" v="13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06T20:27:05.955" v="29" actId="478"/>
        <pc:sldMkLst>
          <pc:docMk/>
          <pc:sldMk cId="3601186110" sldId="273"/>
        </pc:sldMkLst>
      </pc:sldChg>
      <pc:sldChg chg="delSp mod">
        <pc:chgData name="Rich Reba" userId="55db41ab6eb3f845" providerId="LiveId" clId="{0E19DA16-244C-5B50-BE0F-52911DD4CA7E}" dt="2026-08-06T20:26:50.113" v="25" actId="478"/>
        <pc:sldMkLst>
          <pc:docMk/>
          <pc:sldMk cId="1961190671" sldId="274"/>
        </pc:sldMkLst>
      </pc:sldChg>
      <pc:sldChg chg="delSp mod">
        <pc:chgData name="Rich Reba" userId="55db41ab6eb3f845" providerId="LiveId" clId="{0E19DA16-244C-5B50-BE0F-52911DD4CA7E}" dt="2026-08-06T20:26:53.708" v="26" actId="478"/>
        <pc:sldMkLst>
          <pc:docMk/>
          <pc:sldMk cId="797649862" sldId="400"/>
        </pc:sldMkLst>
      </pc:sldChg>
      <pc:sldChg chg="delSp mod">
        <pc:chgData name="Rich Reba" userId="55db41ab6eb3f845" providerId="LiveId" clId="{0E19DA16-244C-5B50-BE0F-52911DD4CA7E}" dt="2026-08-06T20:27:01.277" v="28" actId="478"/>
        <pc:sldMkLst>
          <pc:docMk/>
          <pc:sldMk cId="4204179867" sldId="401"/>
        </pc:sldMkLst>
      </pc:sldChg>
      <pc:sldChg chg="delSp modSp mod">
        <pc:chgData name="Rich Reba" userId="55db41ab6eb3f845" providerId="LiveId" clId="{0E19DA16-244C-5B50-BE0F-52911DD4CA7E}" dt="2026-08-09T15:53:38.015" v="264" actId="20577"/>
        <pc:sldMkLst>
          <pc:docMk/>
          <pc:sldMk cId="401125609" sldId="409"/>
        </pc:sldMkLst>
        <pc:spChg chg="mod">
          <ac:chgData name="Rich Reba" userId="55db41ab6eb3f845" providerId="LiveId" clId="{0E19DA16-244C-5B50-BE0F-52911DD4CA7E}" dt="2026-08-09T15:53:38.015" v="264" actId="20577"/>
          <ac:spMkLst>
            <pc:docMk/>
            <pc:sldMk cId="401125609" sldId="409"/>
            <ac:spMk id="96" creationId="{213A3A61-4044-D39A-7839-F3AEFE0C296B}"/>
          </ac:spMkLst>
        </pc:spChg>
        <pc:graphicFrameChg chg="mod modGraphic">
          <ac:chgData name="Rich Reba" userId="55db41ab6eb3f845" providerId="LiveId" clId="{0E19DA16-244C-5B50-BE0F-52911DD4CA7E}" dt="2026-08-09T15:49:44.453" v="132" actId="12"/>
          <ac:graphicFrameMkLst>
            <pc:docMk/>
            <pc:sldMk cId="401125609" sldId="409"/>
            <ac:graphicFrameMk id="5" creationId="{5855B0BF-5869-4C17-DDB9-4330FF90D640}"/>
          </ac:graphicFrameMkLst>
        </pc:graphicFrameChg>
      </pc:sldChg>
      <pc:sldChg chg="modSp mod">
        <pc:chgData name="Rich Reba" userId="55db41ab6eb3f845" providerId="LiveId" clId="{0E19DA16-244C-5B50-BE0F-52911DD4CA7E}" dt="2026-08-14T12:38:25.664" v="265" actId="20577"/>
        <pc:sldMkLst>
          <pc:docMk/>
          <pc:sldMk cId="3955824805" sldId="418"/>
        </pc:sldMkLst>
        <pc:spChg chg="mod">
          <ac:chgData name="Rich Reba" userId="55db41ab6eb3f845" providerId="LiveId" clId="{0E19DA16-244C-5B50-BE0F-52911DD4CA7E}" dt="2026-08-14T12:38:25.664" v="265" actId="20577"/>
          <ac:spMkLst>
            <pc:docMk/>
            <pc:sldMk cId="3955824805" sldId="418"/>
            <ac:spMk id="22" creationId="{278CDA1C-9746-8737-E977-E13F1843DD8E}"/>
          </ac:spMkLst>
        </pc:spChg>
      </pc:sldChg>
      <pc:sldChg chg="modSp add mod">
        <pc:chgData name="Rich Reba" userId="55db41ab6eb3f845" providerId="LiveId" clId="{0E19DA16-244C-5B50-BE0F-52911DD4CA7E}" dt="2026-08-09T15:51:46.495" v="223" actId="20577"/>
        <pc:sldMkLst>
          <pc:docMk/>
          <pc:sldMk cId="2470097404" sldId="419"/>
        </pc:sldMkLst>
        <pc:spChg chg="mod">
          <ac:chgData name="Rich Reba" userId="55db41ab6eb3f845" providerId="LiveId" clId="{0E19DA16-244C-5B50-BE0F-52911DD4CA7E}" dt="2026-08-09T15:51:46.495" v="223" actId="20577"/>
          <ac:spMkLst>
            <pc:docMk/>
            <pc:sldMk cId="2470097404" sldId="419"/>
            <ac:spMk id="96" creationId="{5BB72075-6DCE-1BA7-0DFB-18E282181700}"/>
          </ac:spMkLst>
        </pc:spChg>
        <pc:graphicFrameChg chg="modGraphic">
          <ac:chgData name="Rich Reba" userId="55db41ab6eb3f845" providerId="LiveId" clId="{0E19DA16-244C-5B50-BE0F-52911DD4CA7E}" dt="2026-08-09T15:51:15.273" v="214" actId="12"/>
          <ac:graphicFrameMkLst>
            <pc:docMk/>
            <pc:sldMk cId="2470097404" sldId="419"/>
            <ac:graphicFrameMk id="5" creationId="{0204BFE6-DD22-5495-F04C-8E7063C6DE71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In this view we show how we will use the AccelRR8 Framework to launch and grow the AccelRR8 Consortium’s value exponentially as it climbs toward achieving exponential benefits at scale.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This is how we will achieve one of our key Success Factors:  “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Our own success will be a key proof point of our core premise”</a:t>
            </a:r>
            <a:endParaRPr lang="en-US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Specific actions we will take, and leading indicators we will measure, are shown in both Launch and Climb / Scale stages.</a:t>
            </a:r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These actions are organized into 3 services:  Professional Networking, Open Knowledge Sharing, and Industry Innovation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5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our most important near-term Product priorities</a:t>
            </a:r>
          </a:p>
        </p:txBody>
      </p:sp>
    </p:spTree>
    <p:extLst>
      <p:ext uri="{BB962C8B-B14F-4D97-AF65-F5344CB8AC3E}">
        <p14:creationId xmlns:p14="http://schemas.microsoft.com/office/powerpoint/2010/main" val="1523806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09D71-CBB1-6E55-4E31-D06238FB6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891206F9-4E12-D7E8-B8BF-F3FD1BB1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From the beginning, we have been using Lean Portfolio Management (LPM) to </a:t>
            </a:r>
            <a:r>
              <a:rPr lang="en-US" sz="1100" dirty="0">
                <a:solidFill>
                  <a:schemeClr val="bg1"/>
                </a:solidFill>
              </a:rPr>
              <a:t>develop Consortium Services and ignite compounding innovation.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This is a view of the SAFe v6 Portfolio Kanban for our Services Portfolio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SAFe is an acronym that stands for Scaled Agile Framework</a:t>
            </a:r>
            <a:endParaRPr lang="en-US" dirty="0"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E4728C29-31A3-627C-3B86-090AE73E1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18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a double click on our Consortium’s first Product Priority, “To improve our services and be credible, we should use Lean Product Management”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 have defined the scope of our Services using Lean Product Management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83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C475177C-B137-6FF5-FED4-0934F4B85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F678E11F-61A9-C022-26CC-D38B3F55B1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specific actions we are taking for our Services during the Launch Stage.  Actions aligned to our Consortium’s priorities are highlighted in yellow.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have made progress on our top two Product priorities:  using LPM, and identifying the right Collaboration Platforms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cs typeface="Arial"/>
                <a:sym typeface="Arial"/>
              </a:rPr>
              <a:t>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o connect our network and be credible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win advocacy from credible industry influencers and go viral, we must hone our messages and launch a campaign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scale quickly, we must learn from leaders experienced in similar non-profits, especially ASUG and the Bender Leadership Academy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kern="1200" cap="none" dirty="0">
                <a:solidFill>
                  <a:schemeClr val="tx1"/>
                </a:solidFill>
                <a:latin typeface="Aptos" panose="02110004020202020204"/>
                <a:ea typeface="Arial"/>
                <a:cs typeface="Arial"/>
                <a:sym typeface="Arial"/>
              </a:rPr>
              <a:t>To help us scale and be credible, we must experiment with and practice using AI for all of these activities</a:t>
            </a: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E21D8678-910C-3FFB-BE6D-C6AF4F27C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336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E2389B-20BC-28BE-17DD-C7442B7B6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901D355-D9B0-4941-6DE8-D42A33FD2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specific actions we are taking for our Services during the Launch Stage.  Actions aligned to our Consortium’s priorities are highlighted in yellow.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have made progress on our top two Product priorities:  using LPM, and identifying the right Collaboration Platforms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cs typeface="Arial"/>
                <a:sym typeface="Arial"/>
              </a:rPr>
              <a:t>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o connect our network and be credible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win advocacy from credible industry influencers and go viral, we must hone our messages and launch a campaign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Arial"/>
                <a:cs typeface="Arial"/>
                <a:sym typeface="Arial"/>
              </a:rPr>
              <a:t>To scale quickly, we must learn from leaders experienced in similar non-profits, especially ASUG and the Bender Leadership Academy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kern="1200" cap="none" dirty="0">
                <a:solidFill>
                  <a:schemeClr val="tx1"/>
                </a:solidFill>
                <a:latin typeface="Aptos" panose="02110004020202020204"/>
                <a:ea typeface="Arial"/>
                <a:cs typeface="Arial"/>
                <a:sym typeface="Arial"/>
              </a:rPr>
              <a:t>To help us scale and be credible, we must experiment with and practice using AI for all of these activities</a:t>
            </a: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>
              <a:solidFill>
                <a:schemeClr val="tx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6A26A731-D905-CACD-CC70-0AAAFAC15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47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ABD1B5E-5265-9315-FFF5-A9C22132F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E333E59-A97F-4826-DB87-3EC8472FFC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are potential features and pricing models for our Services when we enter the Climb Stage, and our services begin to achieve scale</a:t>
            </a:r>
            <a:endParaRPr dirty="0"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DC51EB2C-F23C-5C2E-880A-658096A26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49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90C09D71-CBB1-6E55-4E31-D06238FB6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891206F9-4E12-D7E8-B8BF-F3FD1BB1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E4728C29-31A3-627C-3B86-090AE73E1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93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4718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482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08531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1221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67199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40645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5938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8256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76860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34050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14D81E-56A4-A0A2-279F-38C8B334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09AF2-51A2-8243-A29F-680495D2BD2C}" type="datetimeFigureOut">
              <a:rPr lang="en-US" smtClean="0"/>
              <a:t>8/14/26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CC58C-80F3-655C-2597-7F3B6D317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13EB0-DD69-7589-AA19-77F3D50D9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D7FD95-7936-6347-9F0B-72114436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631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8012053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8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.emf"/><Relationship Id="rId7" Type="http://schemas.openxmlformats.org/officeDocument/2006/relationships/hyperlink" Target="https://accelrr8llc-my.sharepoint.com/:p:/g/personal/rich_reba_accelrr8_com/EcF3bEjquEpDoRftWrfxB0sBZYt2UJ-TSivDs2QFVH_mcw?e=JVsZX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accelrr8llc-my.sharepoint.com/:p:/g/personal/rich_reba_accelrr8_com/ER8Bgu_vwthHmMksXErOsaYB6A6W08lOcMc-nR8uyRPMrQ?e=6uSXVp" TargetMode="External"/><Relationship Id="rId5" Type="http://schemas.openxmlformats.org/officeDocument/2006/relationships/hyperlink" Target="https://accelrr8llc-my.sharepoint.com/:p:/g/personal/rich_reba_accelrr8_com/Ecg-JCUAze9Ej5M6BPH6t5QBCd3OOyPEreQv3CsIOJel0Q" TargetMode="Externa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scaledagileframework.com/portfolio-backlo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r>
              <a:rPr lang="en-US" dirty="0"/>
              <a:t>Products Plan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3AD78C72-379A-E1B5-EFA1-9131465029E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tabLst/>
              <a:defRPr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Consortium Product Plan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94" y="258705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5919435" y="2031814"/>
          <a:ext cx="5767164" cy="37796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67164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000635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3122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endParaRPr kumimoji="0" lang="en-US" sz="1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Arial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9666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>
            <a:cxnSpLocks/>
          </p:cNvCxnSpPr>
          <p:nvPr/>
        </p:nvCxnSpPr>
        <p:spPr>
          <a:xfrm flipV="1">
            <a:off x="5110587" y="2030795"/>
            <a:ext cx="805107" cy="9992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5110587" y="303007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5110587" y="3757977"/>
            <a:ext cx="80510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5110587" y="411922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5110587" y="446353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5110587" y="483042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Pentagon 3">
            <a:extLst>
              <a:ext uri="{FF2B5EF4-FFF2-40B4-BE49-F238E27FC236}">
                <a16:creationId xmlns:a16="http://schemas.microsoft.com/office/drawing/2014/main" id="{ED218EB5-EBBB-2F33-3A31-65CCFFAB4034}"/>
              </a:ext>
            </a:extLst>
          </p:cNvPr>
          <p:cNvSpPr/>
          <p:nvPr/>
        </p:nvSpPr>
        <p:spPr>
          <a:xfrm>
            <a:off x="5919601" y="2127510"/>
            <a:ext cx="5852160" cy="164387"/>
          </a:xfrm>
          <a:prstGeom prst="homePlate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Use LPM to Develop Consortium Services and ignite compounding innovation</a:t>
            </a:r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A73C06B2-49D1-BA28-7A35-09758A55A1D1}"/>
              </a:ext>
            </a:extLst>
          </p:cNvPr>
          <p:cNvSpPr/>
          <p:nvPr/>
        </p:nvSpPr>
        <p:spPr>
          <a:xfrm>
            <a:off x="5949052" y="3260284"/>
            <a:ext cx="192024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momentum; use a platform to grow the professional network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A34B04F2-31FC-1FBF-CC96-1F8B0E7A008C}"/>
              </a:ext>
            </a:extLst>
          </p:cNvPr>
          <p:cNvSpPr/>
          <p:nvPr/>
        </p:nvSpPr>
        <p:spPr>
          <a:xfrm>
            <a:off x="6225166" y="3976372"/>
            <a:ext cx="1828800" cy="457200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Build enough credibility; attract influencers who openly share knowledge</a:t>
            </a:r>
          </a:p>
        </p:txBody>
      </p:sp>
      <p:sp>
        <p:nvSpPr>
          <p:cNvPr id="9" name="Pentagon 8">
            <a:extLst>
              <a:ext uri="{FF2B5EF4-FFF2-40B4-BE49-F238E27FC236}">
                <a16:creationId xmlns:a16="http://schemas.microsoft.com/office/drawing/2014/main" id="{93935D54-1614-A6B0-CE90-C1CA6E64D476}"/>
              </a:ext>
            </a:extLst>
          </p:cNvPr>
          <p:cNvSpPr/>
          <p:nvPr/>
        </p:nvSpPr>
        <p:spPr>
          <a:xfrm>
            <a:off x="8710551" y="2589535"/>
            <a:ext cx="2286000" cy="37254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…industry innovation using LPM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to develop relevant solutions…</a:t>
            </a:r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2F0FF083-1087-6E53-80C3-6AFDFC6B41B6}"/>
              </a:ext>
            </a:extLst>
          </p:cNvPr>
          <p:cNvSpPr/>
          <p:nvPr/>
        </p:nvSpPr>
        <p:spPr>
          <a:xfrm>
            <a:off x="9250713" y="3260285"/>
            <a:ext cx="1828800" cy="445707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more collaborators to join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our network…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FD543737-CEF8-86BE-67DF-F58E75417DF0}"/>
              </a:ext>
            </a:extLst>
          </p:cNvPr>
          <p:cNvSpPr/>
          <p:nvPr/>
        </p:nvSpPr>
        <p:spPr>
          <a:xfrm>
            <a:off x="8942075" y="3976372"/>
            <a:ext cx="1938767" cy="457200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…adding content to the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Body of Knowledge and attracting more influencers…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336C8F-867D-9140-665C-DA27325EB80D}"/>
              </a:ext>
            </a:extLst>
          </p:cNvPr>
          <p:cNvSpPr txBox="1"/>
          <p:nvPr/>
        </p:nvSpPr>
        <p:spPr>
          <a:xfrm>
            <a:off x="6064312" y="1723018"/>
            <a:ext cx="5637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Using our own Framework to grow 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Pentagon 22">
            <a:extLst>
              <a:ext uri="{FF2B5EF4-FFF2-40B4-BE49-F238E27FC236}">
                <a16:creationId xmlns:a16="http://schemas.microsoft.com/office/drawing/2014/main" id="{A4C31464-7D17-7AC9-3E35-5673908B899C}"/>
              </a:ext>
            </a:extLst>
          </p:cNvPr>
          <p:cNvSpPr/>
          <p:nvPr/>
        </p:nvSpPr>
        <p:spPr>
          <a:xfrm>
            <a:off x="5915693" y="5909615"/>
            <a:ext cx="5212080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Launch:  Version 1 of Consortium Services</a:t>
            </a:r>
          </a:p>
        </p:txBody>
      </p:sp>
      <p:sp>
        <p:nvSpPr>
          <p:cNvPr id="24" name="Pentagon 23">
            <a:extLst>
              <a:ext uri="{FF2B5EF4-FFF2-40B4-BE49-F238E27FC236}">
                <a16:creationId xmlns:a16="http://schemas.microsoft.com/office/drawing/2014/main" id="{E0E03ECB-0B31-BD76-EAF7-78F37688F172}"/>
              </a:ext>
            </a:extLst>
          </p:cNvPr>
          <p:cNvSpPr/>
          <p:nvPr/>
        </p:nvSpPr>
        <p:spPr>
          <a:xfrm>
            <a:off x="8942075" y="6134998"/>
            <a:ext cx="2843784" cy="16459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Climb / Scale:  V2+ of Consortium Services</a:t>
            </a:r>
          </a:p>
        </p:txBody>
      </p:sp>
      <p:sp>
        <p:nvSpPr>
          <p:cNvPr id="3" name="Pentagon 2">
            <a:extLst>
              <a:ext uri="{FF2B5EF4-FFF2-40B4-BE49-F238E27FC236}">
                <a16:creationId xmlns:a16="http://schemas.microsoft.com/office/drawing/2014/main" id="{339E02F6-43BF-3083-40B0-BE6A09095ECC}"/>
              </a:ext>
            </a:extLst>
          </p:cNvPr>
          <p:cNvSpPr/>
          <p:nvPr/>
        </p:nvSpPr>
        <p:spPr>
          <a:xfrm>
            <a:off x="5945359" y="3080606"/>
            <a:ext cx="580644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Professional Networking Service</a:t>
            </a:r>
          </a:p>
        </p:txBody>
      </p:sp>
      <p:sp>
        <p:nvSpPr>
          <p:cNvPr id="10" name="Pentagon 9">
            <a:extLst>
              <a:ext uri="{FF2B5EF4-FFF2-40B4-BE49-F238E27FC236}">
                <a16:creationId xmlns:a16="http://schemas.microsoft.com/office/drawing/2014/main" id="{9D8C291D-B680-2288-9467-EB7173C3AE86}"/>
              </a:ext>
            </a:extLst>
          </p:cNvPr>
          <p:cNvSpPr/>
          <p:nvPr/>
        </p:nvSpPr>
        <p:spPr>
          <a:xfrm>
            <a:off x="6222844" y="3800233"/>
            <a:ext cx="553212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Open Knowledge Sharing Service</a:t>
            </a:r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728E3192-00D6-8993-A13C-1280631F5F15}"/>
              </a:ext>
            </a:extLst>
          </p:cNvPr>
          <p:cNvSpPr/>
          <p:nvPr/>
        </p:nvSpPr>
        <p:spPr>
          <a:xfrm rot="551475">
            <a:off x="8132847" y="2579161"/>
            <a:ext cx="755979" cy="2526546"/>
          </a:xfrm>
          <a:prstGeom prst="triangl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338109-59E2-5036-E6C4-6A50B8EDA5DF}"/>
              </a:ext>
            </a:extLst>
          </p:cNvPr>
          <p:cNvSpPr txBox="1"/>
          <p:nvPr/>
        </p:nvSpPr>
        <p:spPr>
          <a:xfrm rot="16991493">
            <a:off x="8029286" y="3880680"/>
            <a:ext cx="8451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…igniting…</a:t>
            </a:r>
          </a:p>
        </p:txBody>
      </p:sp>
      <p:sp>
        <p:nvSpPr>
          <p:cNvPr id="17" name="Triangle 16">
            <a:extLst>
              <a:ext uri="{FF2B5EF4-FFF2-40B4-BE49-F238E27FC236}">
                <a16:creationId xmlns:a16="http://schemas.microsoft.com/office/drawing/2014/main" id="{C38FEB2E-1E8E-2804-E6D2-1656E9287E42}"/>
              </a:ext>
            </a:extLst>
          </p:cNvPr>
          <p:cNvSpPr/>
          <p:nvPr/>
        </p:nvSpPr>
        <p:spPr>
          <a:xfrm rot="551475">
            <a:off x="10906527" y="2579161"/>
            <a:ext cx="755979" cy="2526546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AA4E00-E6C7-1130-9484-2D03D1133F1C}"/>
              </a:ext>
            </a:extLst>
          </p:cNvPr>
          <p:cNvSpPr txBox="1"/>
          <p:nvPr/>
        </p:nvSpPr>
        <p:spPr>
          <a:xfrm rot="16991493">
            <a:off x="10679513" y="3803735"/>
            <a:ext cx="10647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…creating a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virtuous cycle !!</a:t>
            </a:r>
          </a:p>
        </p:txBody>
      </p:sp>
      <p:sp>
        <p:nvSpPr>
          <p:cNvPr id="8" name="Pentagon 7">
            <a:extLst>
              <a:ext uri="{FF2B5EF4-FFF2-40B4-BE49-F238E27FC236}">
                <a16:creationId xmlns:a16="http://schemas.microsoft.com/office/drawing/2014/main" id="{DA77EAD3-EBB5-51F9-1AC6-91A3DCFBC6C9}"/>
              </a:ext>
            </a:extLst>
          </p:cNvPr>
          <p:cNvSpPr/>
          <p:nvPr/>
        </p:nvSpPr>
        <p:spPr>
          <a:xfrm>
            <a:off x="6561349" y="4555278"/>
            <a:ext cx="2103120" cy="1204475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Attract enough initial innovators who donate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labor and/or technology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for agile teams and AI…</a:t>
            </a:r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30333F45-8C2C-4F18-C6DB-F9A33261929B}"/>
              </a:ext>
            </a:extLst>
          </p:cNvPr>
          <p:cNvSpPr/>
          <p:nvPr/>
        </p:nvSpPr>
        <p:spPr>
          <a:xfrm>
            <a:off x="9507280" y="4538111"/>
            <a:ext cx="1938767" cy="1221642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…attracting patrons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who invest in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additional agile teams 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and better AI…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166E80-38A4-924A-1EB6-564DD0D2F89D}"/>
              </a:ext>
            </a:extLst>
          </p:cNvPr>
          <p:cNvSpPr/>
          <p:nvPr/>
        </p:nvSpPr>
        <p:spPr>
          <a:xfrm>
            <a:off x="11477426" y="2576656"/>
            <a:ext cx="209173" cy="3749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0F079EB4-D9B0-1975-39B0-811C7D2F4F93}"/>
              </a:ext>
            </a:extLst>
          </p:cNvPr>
          <p:cNvSpPr/>
          <p:nvPr/>
        </p:nvSpPr>
        <p:spPr>
          <a:xfrm>
            <a:off x="6582367" y="2396436"/>
            <a:ext cx="5166360" cy="164387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bg1"/>
                </a:solidFill>
              </a:rPr>
              <a:t>Industry Innovation Service</a:t>
            </a: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1D21C691-E8A3-08CD-C986-42AFFAF30BDC}"/>
              </a:ext>
            </a:extLst>
          </p:cNvPr>
          <p:cNvSpPr/>
          <p:nvPr/>
        </p:nvSpPr>
        <p:spPr>
          <a:xfrm>
            <a:off x="4104067" y="5749595"/>
            <a:ext cx="1841292" cy="484632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ARE HERE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013D3988-ACFF-15C3-4BC6-F55C87BB5495}"/>
              </a:ext>
            </a:extLst>
          </p:cNvPr>
          <p:cNvSpPr/>
          <p:nvPr/>
        </p:nvSpPr>
        <p:spPr>
          <a:xfrm>
            <a:off x="5766244" y="3324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C7B2351-573F-9E24-3C2F-E41E68288632}"/>
              </a:ext>
            </a:extLst>
          </p:cNvPr>
          <p:cNvSpPr/>
          <p:nvPr/>
        </p:nvSpPr>
        <p:spPr>
          <a:xfrm>
            <a:off x="6069485" y="4033193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B1BE7D0-52CA-33C0-BA18-C3E07BA39BC1}"/>
              </a:ext>
            </a:extLst>
          </p:cNvPr>
          <p:cNvSpPr/>
          <p:nvPr/>
        </p:nvSpPr>
        <p:spPr>
          <a:xfrm>
            <a:off x="6412732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044B24A-2165-91C8-B99B-F716497C5401}"/>
              </a:ext>
            </a:extLst>
          </p:cNvPr>
          <p:cNvSpPr/>
          <p:nvPr/>
        </p:nvSpPr>
        <p:spPr>
          <a:xfrm>
            <a:off x="8783288" y="4046072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142393-DD24-7C7A-9594-6EC999FCCF33}"/>
              </a:ext>
            </a:extLst>
          </p:cNvPr>
          <p:cNvSpPr/>
          <p:nvPr/>
        </p:nvSpPr>
        <p:spPr>
          <a:xfrm>
            <a:off x="9098485" y="3337734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34D3393-6867-38AB-D884-26FB65F909A9}"/>
              </a:ext>
            </a:extLst>
          </p:cNvPr>
          <p:cNvSpPr/>
          <p:nvPr/>
        </p:nvSpPr>
        <p:spPr>
          <a:xfrm>
            <a:off x="9346571" y="5021855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E784D012-7A1F-18A3-3348-751E5B913066}"/>
              </a:ext>
            </a:extLst>
          </p:cNvPr>
          <p:cNvSpPr/>
          <p:nvPr/>
        </p:nvSpPr>
        <p:spPr>
          <a:xfrm>
            <a:off x="5949052" y="2576656"/>
            <a:ext cx="1920240" cy="389604"/>
          </a:xfrm>
          <a:prstGeom prst="homePlat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Develop concepts </a:t>
            </a:r>
            <a:br>
              <a:rPr lang="en-US" sz="1000" dirty="0">
                <a:solidFill>
                  <a:schemeClr val="bg1"/>
                </a:solidFill>
              </a:rPr>
            </a:br>
            <a:r>
              <a:rPr lang="en-US" sz="1000" dirty="0">
                <a:solidFill>
                  <a:schemeClr val="bg1"/>
                </a:solidFill>
              </a:rPr>
              <a:t>that resonate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B270B48-C5B1-49DA-EA81-5F0BAC308088}"/>
              </a:ext>
            </a:extLst>
          </p:cNvPr>
          <p:cNvSpPr/>
          <p:nvPr/>
        </p:nvSpPr>
        <p:spPr>
          <a:xfrm>
            <a:off x="5766244" y="2641439"/>
            <a:ext cx="281382" cy="28138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AB1605-EA78-62B7-55FA-AE0BDD275015}"/>
              </a:ext>
            </a:extLst>
          </p:cNvPr>
          <p:cNvSpPr/>
          <p:nvPr/>
        </p:nvSpPr>
        <p:spPr>
          <a:xfrm>
            <a:off x="7642224" y="5312509"/>
            <a:ext cx="498787" cy="146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and AI…</a:t>
            </a:r>
            <a:endParaRPr lang="en-US" sz="1000" dirty="0"/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D22A8E0C-04B9-660C-7F8C-A467BDA7ACDB}"/>
              </a:ext>
            </a:extLst>
          </p:cNvPr>
          <p:cNvSpPr/>
          <p:nvPr/>
        </p:nvSpPr>
        <p:spPr>
          <a:xfrm rot="5654947">
            <a:off x="7280987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rgbClr val="FFFFFF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64EED895-E510-2FD7-11EF-7115BF5AEA24}"/>
              </a:ext>
            </a:extLst>
          </p:cNvPr>
          <p:cNvSpPr/>
          <p:nvPr/>
        </p:nvSpPr>
        <p:spPr>
          <a:xfrm rot="5753069" flipH="1" flipV="1">
            <a:off x="7646411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rgbClr val="FFFF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c 35">
            <a:extLst>
              <a:ext uri="{FF2B5EF4-FFF2-40B4-BE49-F238E27FC236}">
                <a16:creationId xmlns:a16="http://schemas.microsoft.com/office/drawing/2014/main" id="{D447D1FA-9AB8-6584-2694-203D1C0B1646}"/>
              </a:ext>
            </a:extLst>
          </p:cNvPr>
          <p:cNvSpPr/>
          <p:nvPr/>
        </p:nvSpPr>
        <p:spPr>
          <a:xfrm rot="5654947">
            <a:off x="10106484" y="4406734"/>
            <a:ext cx="1704422" cy="472221"/>
          </a:xfrm>
          <a:prstGeom prst="arc">
            <a:avLst>
              <a:gd name="adj1" fmla="val 14577930"/>
              <a:gd name="adj2" fmla="val 20965184"/>
            </a:avLst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A60ADD18-B6AB-4604-92C8-195FC10A32DD}"/>
              </a:ext>
            </a:extLst>
          </p:cNvPr>
          <p:cNvSpPr/>
          <p:nvPr/>
        </p:nvSpPr>
        <p:spPr>
          <a:xfrm rot="5753069" flipH="1" flipV="1">
            <a:off x="10471908" y="3618861"/>
            <a:ext cx="2175668" cy="465909"/>
          </a:xfrm>
          <a:prstGeom prst="arc">
            <a:avLst>
              <a:gd name="adj1" fmla="val 20050895"/>
              <a:gd name="adj2" fmla="val 2150255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0700237B-4157-47BC-ADBB-70DB42144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199" y="1843589"/>
            <a:ext cx="1287166" cy="649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7141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8A191-60DA-7178-4AA9-712BCB1CC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96;p2">
            <a:extLst>
              <a:ext uri="{FF2B5EF4-FFF2-40B4-BE49-F238E27FC236}">
                <a16:creationId xmlns:a16="http://schemas.microsoft.com/office/drawing/2014/main" id="{278CDA1C-9746-8737-E977-E13F1843DD8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 dirty="0">
                <a:latin typeface="Calibri" panose="020F0502020204030204" pitchFamily="34" charset="0"/>
                <a:cs typeface="Calibri" panose="020F0502020204030204" pitchFamily="34" charset="0"/>
              </a:rPr>
              <a:t>Consortium Priorities</a:t>
            </a:r>
          </a:p>
          <a:p>
            <a:pPr>
              <a:lnSpc>
                <a:spcPct val="90000"/>
              </a:lnSpc>
              <a:buClr>
                <a:schemeClr val="dk1"/>
              </a:buClr>
              <a:buSzPts val="4400"/>
              <a:buFont typeface="Calibri"/>
              <a:buNone/>
            </a:pPr>
            <a:r>
              <a:rPr lang="en-US" sz="2400" i="1" dirty="0">
                <a:latin typeface="Calibri" panose="020F0502020204030204" pitchFamily="34" charset="0"/>
                <a:cs typeface="Calibri" panose="020F0502020204030204" pitchFamily="34" charset="0"/>
              </a:rPr>
              <a:t>Using our own Framework to grow Consortium value exponentially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251142-AFE9-20A0-A16F-3C7CBAEA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7" y="2726901"/>
            <a:ext cx="4757057" cy="2565080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6474217-ABEC-A6EA-9151-B71EFE80D53F}"/>
              </a:ext>
            </a:extLst>
          </p:cNvPr>
          <p:cNvGraphicFramePr>
            <a:graphicFrameLocks noGrp="1"/>
          </p:cNvGraphicFramePr>
          <p:nvPr/>
        </p:nvGraphicFramePr>
        <p:xfrm>
          <a:off x="6901107" y="2423595"/>
          <a:ext cx="3855286" cy="35278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528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4858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improve our services and be credible, we should use Lean Product Management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28133"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itchFamily="2" charset="2"/>
                        <a:buChar char="q"/>
                        <a:tabLst/>
                        <a:defRPr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connect our network and be credible, we should use the right Collaboration Platforms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704954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go viral, we must win advocacy from credible industry influencers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83579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kumimoji="0" lang="en-US" sz="140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Arial"/>
                          <a:sym typeface="Arial"/>
                        </a:rPr>
                        <a:t>To scale quickly, we should learn from leaders experienced in similar non-profits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2613">
                <a:tc>
                  <a:txBody>
                    <a:bodyPr/>
                    <a:lstStyle/>
                    <a:p>
                      <a:pPr marL="285750" indent="-285750">
                        <a:buFont typeface="Wingdings" pitchFamily="2" charset="2"/>
                        <a:buChar char="q"/>
                        <a:tabLst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Aptos" panose="02110004020202020204"/>
                          <a:ea typeface="+mn-ea"/>
                        </a:rPr>
                        <a:t>To help us scale and be credible, we must experiment with and practice using AI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47F7FEC5-E4F2-4640-BABB-2DC3CF664665}"/>
              </a:ext>
            </a:extLst>
          </p:cNvPr>
          <p:cNvSpPr txBox="1"/>
          <p:nvPr/>
        </p:nvSpPr>
        <p:spPr>
          <a:xfrm>
            <a:off x="7195646" y="1843223"/>
            <a:ext cx="31905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What we need to do now to grow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t>Consortium value exponentially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10F0D5E-B3A7-C15F-E7E4-FB9BC83DE9A2}"/>
              </a:ext>
            </a:extLst>
          </p:cNvPr>
          <p:cNvCxnSpPr/>
          <p:nvPr/>
        </p:nvCxnSpPr>
        <p:spPr>
          <a:xfrm flipV="1">
            <a:off x="6096000" y="2423595"/>
            <a:ext cx="805107" cy="7463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D61CF38-CCAA-9867-0AC2-DE2EF1BC6EC9}"/>
              </a:ext>
            </a:extLst>
          </p:cNvPr>
          <p:cNvCxnSpPr>
            <a:cxnSpLocks/>
          </p:cNvCxnSpPr>
          <p:nvPr/>
        </p:nvCxnSpPr>
        <p:spPr>
          <a:xfrm flipV="1">
            <a:off x="6096000" y="3169920"/>
            <a:ext cx="805107" cy="37795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6F35091-77BE-6B3B-00CA-FB1DD33B1F6A}"/>
              </a:ext>
            </a:extLst>
          </p:cNvPr>
          <p:cNvCxnSpPr>
            <a:cxnSpLocks/>
          </p:cNvCxnSpPr>
          <p:nvPr/>
        </p:nvCxnSpPr>
        <p:spPr>
          <a:xfrm>
            <a:off x="6096000" y="3897827"/>
            <a:ext cx="80510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29667B-249A-E98D-36A0-56DA92AFC590}"/>
              </a:ext>
            </a:extLst>
          </p:cNvPr>
          <p:cNvCxnSpPr>
            <a:cxnSpLocks/>
          </p:cNvCxnSpPr>
          <p:nvPr/>
        </p:nvCxnSpPr>
        <p:spPr>
          <a:xfrm>
            <a:off x="6096000" y="4259072"/>
            <a:ext cx="805107" cy="3467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55AE74-C89D-D93F-9786-D18B80792D69}"/>
              </a:ext>
            </a:extLst>
          </p:cNvPr>
          <p:cNvCxnSpPr>
            <a:cxnSpLocks/>
          </p:cNvCxnSpPr>
          <p:nvPr/>
        </p:nvCxnSpPr>
        <p:spPr>
          <a:xfrm>
            <a:off x="6096000" y="4603383"/>
            <a:ext cx="805107" cy="68610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717EBB-9B32-6ADB-6B3E-3C8E82766FFA}"/>
              </a:ext>
            </a:extLst>
          </p:cNvPr>
          <p:cNvCxnSpPr>
            <a:cxnSpLocks/>
          </p:cNvCxnSpPr>
          <p:nvPr/>
        </p:nvCxnSpPr>
        <p:spPr>
          <a:xfrm>
            <a:off x="6096000" y="4970272"/>
            <a:ext cx="805107" cy="98118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824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CDE25D5-7ABB-9ADA-350B-500231E6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046D7FA-AC43-5B45-5C70-02617D0DD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1FD5753-66B3-EA4B-4895-9891C1AB67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Product Portfolio Kanban</a:t>
            </a:r>
            <a:endParaRPr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3616900-0C58-1E90-22AE-07E41FA90C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80376"/>
          <a:stretch/>
        </p:blipFill>
        <p:spPr>
          <a:xfrm>
            <a:off x="116361" y="1431266"/>
            <a:ext cx="11959278" cy="9319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041642-A5C3-0EEF-A34D-9E290DD48A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400" r="15610" b="72942"/>
          <a:stretch/>
        </p:blipFill>
        <p:spPr>
          <a:xfrm>
            <a:off x="7232072" y="1431266"/>
            <a:ext cx="2988624" cy="128491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B2BC0F-D677-68CA-5058-F508656F3201}"/>
              </a:ext>
            </a:extLst>
          </p:cNvPr>
          <p:cNvSpPr/>
          <p:nvPr/>
        </p:nvSpPr>
        <p:spPr>
          <a:xfrm>
            <a:off x="4128425" y="2428345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Professional Networking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7F2D88-BE13-EA14-DBCE-30D59708F3D0}"/>
              </a:ext>
            </a:extLst>
          </p:cNvPr>
          <p:cNvSpPr/>
          <p:nvPr/>
        </p:nvSpPr>
        <p:spPr>
          <a:xfrm>
            <a:off x="4128425" y="2956634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Knowledge Sharing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07CA5A-7918-0A85-5800-6FF76F8C2206}"/>
              </a:ext>
            </a:extLst>
          </p:cNvPr>
          <p:cNvSpPr/>
          <p:nvPr/>
        </p:nvSpPr>
        <p:spPr>
          <a:xfrm>
            <a:off x="4128425" y="3484923"/>
            <a:ext cx="1318162" cy="4631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Industry </a:t>
            </a:r>
            <a:b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en-US" sz="120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Innovation v1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C990AD-B0DD-7340-DCC6-168F34AE8AE7}"/>
              </a:ext>
            </a:extLst>
          </p:cNvPr>
          <p:cNvSpPr/>
          <p:nvPr/>
        </p:nvSpPr>
        <p:spPr>
          <a:xfrm>
            <a:off x="599413" y="2428345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Professional Networking v2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8CAEEE-8EBF-4333-F24E-26C124F62E13}"/>
              </a:ext>
            </a:extLst>
          </p:cNvPr>
          <p:cNvSpPr/>
          <p:nvPr/>
        </p:nvSpPr>
        <p:spPr>
          <a:xfrm>
            <a:off x="599413" y="2956634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Open Knowledge Sharing v2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2B6AE4-E2C8-6A47-45FE-71E80CAE16F1}"/>
              </a:ext>
            </a:extLst>
          </p:cNvPr>
          <p:cNvSpPr/>
          <p:nvPr/>
        </p:nvSpPr>
        <p:spPr>
          <a:xfrm>
            <a:off x="599413" y="3484923"/>
            <a:ext cx="1318162" cy="4631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Industry </a:t>
            </a:r>
            <a:br>
              <a:rPr lang="en-US" sz="1200" dirty="0">
                <a:solidFill>
                  <a:schemeClr val="bg1"/>
                </a:solidFill>
              </a:rPr>
            </a:br>
            <a:r>
              <a:rPr lang="en-US" sz="1200" dirty="0">
                <a:solidFill>
                  <a:schemeClr val="bg1"/>
                </a:solidFill>
              </a:rPr>
              <a:t>Innovation v2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E8F92F-8E46-85DD-4116-26EF501AC2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241" y="154912"/>
            <a:ext cx="2960441" cy="42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190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F858C6-D24B-275F-C277-0DF9F5D07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Services (our Products)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4559339"/>
              </p:ext>
            </p:extLst>
          </p:nvPr>
        </p:nvGraphicFramePr>
        <p:xfrm>
          <a:off x="838199" y="1428007"/>
          <a:ext cx="10329673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91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169152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Accelerators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Description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connects a global AccelRR8 professional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to network and practice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growing value exponentially at scale together, to </a:t>
                      </a:r>
                      <a:r>
                        <a:rPr lang="en-US" sz="1200" dirty="0"/>
                        <a:t>accelerate success for themselves,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Due to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network effects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value for all collaborators grows exponentially as their numbers grow linearly.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Viral Ideation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facilitates viral ideation across the AccelRR8 network, supported by </a:t>
                      </a:r>
                      <a:r>
                        <a:rPr lang="en-US" sz="1200" b="1" i="0" u="none" strike="noStrike" cap="none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AI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helps leaders rapidly share ideas and align on authoritative best practices for growing value exponentially at scale</a:t>
                      </a:r>
                      <a:r>
                        <a:rPr lang="en-US" sz="1200" dirty="0"/>
                        <a:t>.  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High-value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ideas go viral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propagating exponentially fast and wide across the network.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Successful ideas are added via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learning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to the AccelRR8 Body of Knowledge, curated with the help of expert advisors.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Compounding    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Innovation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br>
                        <a:rPr lang="en-US" b="1" dirty="0">
                          <a:solidFill>
                            <a:srgbClr val="00B050"/>
                          </a:solidFill>
                        </a:rPr>
                      </a:b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Learning</a:t>
                      </a:r>
                    </a:p>
                    <a:p>
                      <a:pPr marL="119063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AI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enterprising leaders involved or interested in the Tech Services industry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THIS SERVICE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develops innovative solutions to vexing industry challenges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THAT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help leaders grow value exponentially at scale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1200" dirty="0"/>
                        <a:t>accelerating material success for themselves, their enterprises, their industry, and all humanity.  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Patrons finance and support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compounding innovation,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provided by 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generative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teams supported by </a:t>
                      </a: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AI,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 to develop exponential solutions that address priority industry challenges, advance the state-of-the-art, and benefit humanity.</a:t>
                      </a:r>
                      <a:r>
                        <a:rPr lang="en-US" sz="1200" b="1" dirty="0">
                          <a:solidFill>
                            <a:srgbClr val="00B050"/>
                          </a:solidFill>
                        </a:rPr>
                        <a:t>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11E7C6CA-1629-36F8-F9B9-6EA9D804C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41" y="154912"/>
            <a:ext cx="2960441" cy="42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49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22D3A38C-4689-0FCF-EAD8-339EAB86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BB72075-6DCE-1BA7-0DFB-18E2821817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Roadmap to Launch (Horizon 1)</a:t>
            </a:r>
            <a:br>
              <a:rPr lang="en-US" dirty="0"/>
            </a:br>
            <a:r>
              <a:rPr lang="en-US" dirty="0"/>
              <a:t>Baseline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204BFE6-DD22-5495-F04C-8E7063C6D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647132"/>
              </p:ext>
            </p:extLst>
          </p:nvPr>
        </p:nvGraphicFramePr>
        <p:xfrm>
          <a:off x="410934" y="1560399"/>
          <a:ext cx="11370132" cy="50258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Subscribers to 100 via the Board of Directors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Groups, Discord)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Subscribers to 300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Subscribers to 300 and then to 1,000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(e.g., Github)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opportunities to learn from and help initial Patron organizations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Services Platform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 (e.g., Wordpress)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2362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0097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9CF0030E-C778-6057-7F00-D6449781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13A3A61-4044-D39A-7839-F3AEFE0C29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Roadmap to Launch (Horizon 1)</a:t>
            </a:r>
            <a:br>
              <a:rPr lang="en-US" dirty="0"/>
            </a:br>
            <a:r>
              <a:rPr lang="en-US" dirty="0"/>
              <a:t>Status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855B0BF-5869-4C17-DDB9-4330FF90D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126813"/>
              </p:ext>
            </p:extLst>
          </p:nvPr>
        </p:nvGraphicFramePr>
        <p:xfrm>
          <a:off x="410934" y="1560399"/>
          <a:ext cx="11370132" cy="50258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79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5856515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434445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When Feasible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ASUG, Toastmasters, and PMI leaders how they grew their networks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Grow the number of Subscribers to 100 via the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to enhance collaboration (e.g., LinkedIn Groups, Discord)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Prepare a campaign to grow the number of Subscribers to 300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local chapters)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Professional Network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campaigns to grow the number of Subscribers to 300 and then to 1,000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 for collaboration platform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developed and curate their BOKs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platforms for publishing and curating the AccelRR8 Framework and AccelRR8 Body of Knowledge (e.g., Github)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advisory board leaders for various topics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ways to enhance our credibility with Tech Services leaders, e.g., influencer endorsements and webinars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contributors)</a:t>
                      </a: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Open Knowledge Sharing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the AccelRR8 Framework v2 on KM platform with help from Advisory board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webinars with influencers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ASUG and PMI leaders how they generate revenues from Patron organizations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opportunities to learn from and help initial Patron organizations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Learn from AI for Good leaders how they use technology to help humanity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Explore Freemium options for generating revenues (e.g., patron organizations)</a:t>
                      </a: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Leader for Industry Innovation Service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Run MVPs for Freemium options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75015">
                <a:tc>
                  <a:txBody>
                    <a:bodyPr/>
                    <a:lstStyle/>
                    <a:p>
                      <a:r>
                        <a:rPr lang="en-US" sz="2000" b="1" dirty="0"/>
                        <a:t>Services Platform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Use Lean Product Management to publish Services info on our LinkedIn page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low-cost options for setting up a website (e.g., Wordpress)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Experiment with and practice using AI to help our Consortium scale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Explore ideas for raising seed money (donations and grants)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Set up a website</a:t>
                      </a:r>
                    </a:p>
                    <a:p>
                      <a:pPr marL="171450" marR="0" lvl="2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Wingdings" pitchFamily="2" charset="2"/>
                        <a:buChar char="q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Publish learnings (e.g., how we’re using AI)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22362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25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F9E8A64-92E5-8A5C-3A71-8DA54635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EA8827-7200-657E-4854-70B29D615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948"/>
            <a:ext cx="1586753" cy="892549"/>
          </a:xfrm>
          <a:prstGeom prst="rect">
            <a:avLst/>
          </a:prstGeom>
        </p:spPr>
      </p:pic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2522E90-5AE9-9FBE-04B3-D747C0792C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943886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Maturing our Services (v2+ Services)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E03268-FBA5-47E1-5FB7-A69965E75B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920061"/>
              </p:ext>
            </p:extLst>
          </p:nvPr>
        </p:nvGraphicFramePr>
        <p:xfrm>
          <a:off x="382860" y="1559348"/>
          <a:ext cx="10970941" cy="492834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651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246948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4707480">
                  <a:extLst>
                    <a:ext uri="{9D8B030D-6E8A-4147-A177-3AD203B41FA5}">
                      <a16:colId xmlns:a16="http://schemas.microsoft.com/office/drawing/2014/main" val="2931972607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Free (v1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Premium / For-Fee (v2+ Services)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376151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Enterprising Tech Services leaders can join the AccelRR8 Consortium network as collaborators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Toastmasters) Individual leaders can join a club / local chapter for $X new member fee and $Y / month</a:t>
                      </a:r>
                    </a:p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Professional Networking fees for all employees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658013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share ideas with one another via an online platform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access the AccelRR8 Body of Knowledge, including the AccelRR8 Framework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Collaborators can participate in Consortium webinars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PMI) Individual leaders can take an exam for $XX and maintain a certification for $YY per year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ASUG) Organizations can pay an annual fee that covers Open Knowledge Sharing fees for all employees</a:t>
                      </a:r>
                    </a:p>
                    <a:p>
                      <a:pPr marL="119063" lvl="2" indent="-119063">
                        <a:spcBef>
                          <a:spcPts val="6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(Like various standards bodies) Organizations can pay an annual fee to help govern and evolve the AccelRR8 BOK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1578641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Individuals and organizations can join the AccelRR8 Consortium as innovators (free advertising, e.g., Bronze Tier) who donate labor and/or technology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Individuals and organizations can pay an annual fee and become patrons (e.g., Diamond, Platinum, Gold, Silver) to co-develop exponential solutions for priority industry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179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DD0A9-564C-5358-F049-D4FFBE44C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463985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CDE25D5-7ABB-9ADA-350B-500231E6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1FD5753-66B3-EA4B-4895-9891C1AB67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Portfolio Kanban Reference</a:t>
            </a:r>
            <a:endParaRPr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3616900-0C58-1E90-22AE-07E41FA9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61" y="1609391"/>
            <a:ext cx="11959278" cy="474887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549193-7BF6-72BD-7395-1DB5F0173929}"/>
              </a:ext>
            </a:extLst>
          </p:cNvPr>
          <p:cNvSpPr txBox="1"/>
          <p:nvPr/>
        </p:nvSpPr>
        <p:spPr>
          <a:xfrm>
            <a:off x="385763" y="6050491"/>
            <a:ext cx="5867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learn more, visit the </a:t>
            </a:r>
            <a:r>
              <a:rPr lang="en-US" dirty="0">
                <a:hlinkClick r:id="rId4"/>
              </a:rPr>
              <a:t>Scaled Agile Framework Portfolio Backlog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18611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62695</TotalTime>
  <Words>2010</Words>
  <Application>Microsoft Macintosh PowerPoint</Application>
  <PresentationFormat>Widescreen</PresentationFormat>
  <Paragraphs>192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Wingdings</vt:lpstr>
      <vt:lpstr>1_Office Theme</vt:lpstr>
      <vt:lpstr>  AccelRR8 Consortium NonProfit Products Plan </vt:lpstr>
      <vt:lpstr>PowerPoint Presentation</vt:lpstr>
      <vt:lpstr>PowerPoint Presentation</vt:lpstr>
      <vt:lpstr>Consortium Product Portfolio Kanban</vt:lpstr>
      <vt:lpstr>Consortium Services (our Products)</vt:lpstr>
      <vt:lpstr>Roadmap to Launch (Horizon 1) Baseline</vt:lpstr>
      <vt:lpstr>Roadmap to Launch (Horizon 1) Status</vt:lpstr>
      <vt:lpstr>Maturing our Services (v2+ Services)</vt:lpstr>
      <vt:lpstr>Appendix</vt:lpstr>
      <vt:lpstr>Portfolio Kanban 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137</cp:revision>
  <cp:lastPrinted>2026-08-09T15:51:42Z</cp:lastPrinted>
  <dcterms:created xsi:type="dcterms:W3CDTF">2023-08-22T19:09:59Z</dcterms:created>
  <dcterms:modified xsi:type="dcterms:W3CDTF">2026-08-14T12:38:29Z</dcterms:modified>
</cp:coreProperties>
</file>