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48" r:id="rId1"/>
    <p:sldMasterId id="2147483660" r:id="rId2"/>
  </p:sldMasterIdLst>
  <p:notesMasterIdLst>
    <p:notesMasterId r:id="rId14"/>
  </p:notesMasterIdLst>
  <p:sldIdLst>
    <p:sldId id="256" r:id="rId3"/>
    <p:sldId id="278" r:id="rId4"/>
    <p:sldId id="264" r:id="rId5"/>
    <p:sldId id="282" r:id="rId6"/>
    <p:sldId id="279" r:id="rId7"/>
    <p:sldId id="276" r:id="rId8"/>
    <p:sldId id="277" r:id="rId9"/>
    <p:sldId id="268" r:id="rId10"/>
    <p:sldId id="283" r:id="rId11"/>
    <p:sldId id="280" r:id="rId12"/>
    <p:sldId id="275" r:id="rId13"/>
  </p:sldIdLst>
  <p:sldSz cx="12192000" cy="6858000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  <p:ext uri="GoogleSlidesCustomDataVersion2">
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r:id="rId19" roundtripDataSignature="AMtx7mhwEp+Eio5qReXqYqUwMP31HB0A8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5AC05174-BA9D-FB4D-903E-06F7B3087031}" v="6" dt="2026-08-13T02:43:55.210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10A1B5D5-9B99-4C35-A422-299274C87663}" styleName="Medium Style 1 - Accent 6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6">
              <a:tint val="20000"/>
            </a:schemeClr>
          </a:solidFill>
        </a:fill>
      </a:tcStyle>
    </a:band1H>
    <a:band1V>
      <a:tcStyle>
        <a:tcBdr/>
        <a:fill>
          <a:solidFill>
            <a:schemeClr val="accent6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Row>
  </a:tblStyle>
  <a:tblStyle styleId="{912C8C85-51F0-491E-9774-3900AFEF0FD7}" styleName="Light Style 2 - Accent 6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</a:tcStyle>
    </a:band1H>
    <a:band1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1V>
    <a:band2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6"/>
        </a:fillRef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959"/>
    <p:restoredTop sz="96233"/>
  </p:normalViewPr>
  <p:slideViewPr>
    <p:cSldViewPr snapToGrid="0">
      <p:cViewPr varScale="1">
        <p:scale>
          <a:sx n="118" d="100"/>
          <a:sy n="118" d="100"/>
        </p:scale>
        <p:origin x="720" y="1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3" Type="http://schemas.openxmlformats.org/officeDocument/2006/relationships/slide" Target="slides/slide1.xml"/><Relationship Id="rId21" Type="http://schemas.openxmlformats.org/officeDocument/2006/relationships/viewProps" Target="viewProps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25" Type="http://schemas.microsoft.com/office/2015/10/relationships/revisionInfo" Target="revisionInfo.xml"/><Relationship Id="rId2" Type="http://schemas.openxmlformats.org/officeDocument/2006/relationships/slideMaster" Target="slideMasters/slideMaster2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microsoft.com/office/2016/11/relationships/changesInfo" Target="changesInfos/changesInfo1.xml"/><Relationship Id="rId5" Type="http://schemas.openxmlformats.org/officeDocument/2006/relationships/slide" Target="slides/slide3.xml"/><Relationship Id="rId23" Type="http://schemas.openxmlformats.org/officeDocument/2006/relationships/tableStyles" Target="tableStyles.xml"/><Relationship Id="rId10" Type="http://schemas.openxmlformats.org/officeDocument/2006/relationships/slide" Target="slides/slide8.xml"/><Relationship Id="rId19" Type="http://customschemas.google.com/relationships/presentationmetadata" Target="metadata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notesMaster" Target="notesMasters/notesMaster1.xml"/><Relationship Id="rId22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Rich Reba" userId="55db41ab6eb3f845" providerId="LiveId" clId="{0E19DA16-244C-5B50-BE0F-52911DD4CA7E}"/>
    <pc:docChg chg="undo custSel delSld modSld">
      <pc:chgData name="Rich Reba" userId="55db41ab6eb3f845" providerId="LiveId" clId="{0E19DA16-244C-5B50-BE0F-52911DD4CA7E}" dt="2026-08-13T02:43:22.215" v="899" actId="20577"/>
      <pc:docMkLst>
        <pc:docMk/>
      </pc:docMkLst>
      <pc:sldChg chg="modSp mod">
        <pc:chgData name="Rich Reba" userId="55db41ab6eb3f845" providerId="LiveId" clId="{0E19DA16-244C-5B50-BE0F-52911DD4CA7E}" dt="2026-08-09T19:29:08.650" v="46" actId="20577"/>
        <pc:sldMkLst>
          <pc:docMk/>
          <pc:sldMk cId="0" sldId="256"/>
        </pc:sldMkLst>
        <pc:spChg chg="mod">
          <ac:chgData name="Rich Reba" userId="55db41ab6eb3f845" providerId="LiveId" clId="{0E19DA16-244C-5B50-BE0F-52911DD4CA7E}" dt="2026-08-09T19:29:08.650" v="46" actId="20577"/>
          <ac:spMkLst>
            <pc:docMk/>
            <pc:sldMk cId="0" sldId="256"/>
            <ac:spMk id="91" creationId="{00000000-0000-0000-0000-000000000000}"/>
          </ac:spMkLst>
        </pc:spChg>
      </pc:sldChg>
      <pc:sldChg chg="addSp delSp modSp mod">
        <pc:chgData name="Rich Reba" userId="55db41ab6eb3f845" providerId="LiveId" clId="{0E19DA16-244C-5B50-BE0F-52911DD4CA7E}" dt="2026-08-13T02:42:15.319" v="872" actId="20577"/>
        <pc:sldMkLst>
          <pc:docMk/>
          <pc:sldMk cId="1272635936" sldId="264"/>
        </pc:sldMkLst>
        <pc:spChg chg="add mod">
          <ac:chgData name="Rich Reba" userId="55db41ab6eb3f845" providerId="LiveId" clId="{0E19DA16-244C-5B50-BE0F-52911DD4CA7E}" dt="2026-08-13T02:42:15.319" v="872" actId="20577"/>
          <ac:spMkLst>
            <pc:docMk/>
            <pc:sldMk cId="1272635936" sldId="264"/>
            <ac:spMk id="5" creationId="{279C2539-A599-CF7E-944F-5C23705E39F9}"/>
          </ac:spMkLst>
        </pc:spChg>
        <pc:graphicFrameChg chg="del modGraphic">
          <ac:chgData name="Rich Reba" userId="55db41ab6eb3f845" providerId="LiveId" clId="{0E19DA16-244C-5B50-BE0F-52911DD4CA7E}" dt="2026-08-13T02:38:10.059" v="849" actId="478"/>
          <ac:graphicFrameMkLst>
            <pc:docMk/>
            <pc:sldMk cId="1272635936" sldId="264"/>
            <ac:graphicFrameMk id="5" creationId="{4B70F3A5-8062-29A2-30D0-2783CB3DFCCA}"/>
          </ac:graphicFrameMkLst>
        </pc:graphicFrameChg>
      </pc:sldChg>
      <pc:sldChg chg="addSp delSp modSp mod">
        <pc:chgData name="Rich Reba" userId="55db41ab6eb3f845" providerId="LiveId" clId="{0E19DA16-244C-5B50-BE0F-52911DD4CA7E}" dt="2026-08-13T02:43:22.215" v="899" actId="20577"/>
        <pc:sldMkLst>
          <pc:docMk/>
          <pc:sldMk cId="1243007551" sldId="268"/>
        </pc:sldMkLst>
        <pc:spChg chg="add mod">
          <ac:chgData name="Rich Reba" userId="55db41ab6eb3f845" providerId="LiveId" clId="{0E19DA16-244C-5B50-BE0F-52911DD4CA7E}" dt="2026-08-13T02:43:22.215" v="899" actId="20577"/>
          <ac:spMkLst>
            <pc:docMk/>
            <pc:sldMk cId="1243007551" sldId="268"/>
            <ac:spMk id="2" creationId="{E3F46F6A-701E-095B-90D8-0F5F5319F795}"/>
          </ac:spMkLst>
        </pc:spChg>
        <pc:spChg chg="mod">
          <ac:chgData name="Rich Reba" userId="55db41ab6eb3f845" providerId="LiveId" clId="{0E19DA16-244C-5B50-BE0F-52911DD4CA7E}" dt="2026-08-13T02:31:58.055" v="847" actId="20577"/>
          <ac:spMkLst>
            <pc:docMk/>
            <pc:sldMk cId="1243007551" sldId="268"/>
            <ac:spMk id="96" creationId="{00000000-0000-0000-0000-000000000000}"/>
          </ac:spMkLst>
        </pc:spChg>
        <pc:graphicFrameChg chg="del mod modGraphic">
          <ac:chgData name="Rich Reba" userId="55db41ab6eb3f845" providerId="LiveId" clId="{0E19DA16-244C-5B50-BE0F-52911DD4CA7E}" dt="2026-08-13T02:32:02.216" v="848" actId="478"/>
          <ac:graphicFrameMkLst>
            <pc:docMk/>
            <pc:sldMk cId="1243007551" sldId="268"/>
            <ac:graphicFrameMk id="2" creationId="{849548E0-A616-4177-21C8-C63119ADCD53}"/>
          </ac:graphicFrameMkLst>
        </pc:graphicFrameChg>
      </pc:sldChg>
      <pc:sldChg chg="modSp del mod">
        <pc:chgData name="Rich Reba" userId="55db41ab6eb3f845" providerId="LiveId" clId="{0E19DA16-244C-5B50-BE0F-52911DD4CA7E}" dt="2026-08-13T02:31:51.673" v="846" actId="2696"/>
        <pc:sldMkLst>
          <pc:docMk/>
          <pc:sldMk cId="450257364" sldId="269"/>
        </pc:sldMkLst>
      </pc:sldChg>
      <pc:sldChg chg="modSp del mod">
        <pc:chgData name="Rich Reba" userId="55db41ab6eb3f845" providerId="LiveId" clId="{0E19DA16-244C-5B50-BE0F-52911DD4CA7E}" dt="2026-08-13T02:31:49.478" v="845" actId="2696"/>
        <pc:sldMkLst>
          <pc:docMk/>
          <pc:sldMk cId="4255637138" sldId="270"/>
        </pc:sldMkLst>
      </pc:sldChg>
      <pc:sldChg chg="modSp del mod">
        <pc:chgData name="Rich Reba" userId="55db41ab6eb3f845" providerId="LiveId" clId="{0E19DA16-244C-5B50-BE0F-52911DD4CA7E}" dt="2026-08-13T02:31:47.960" v="844" actId="2696"/>
        <pc:sldMkLst>
          <pc:docMk/>
          <pc:sldMk cId="67448461" sldId="271"/>
        </pc:sldMkLst>
      </pc:sldChg>
      <pc:sldChg chg="modSp del mod">
        <pc:chgData name="Rich Reba" userId="55db41ab6eb3f845" providerId="LiveId" clId="{0E19DA16-244C-5B50-BE0F-52911DD4CA7E}" dt="2026-08-13T02:31:45.265" v="843" actId="2696"/>
        <pc:sldMkLst>
          <pc:docMk/>
          <pc:sldMk cId="3088802820" sldId="272"/>
        </pc:sldMkLst>
      </pc:sldChg>
      <pc:sldChg chg="modSp">
        <pc:chgData name="Rich Reba" userId="55db41ab6eb3f845" providerId="LiveId" clId="{0E19DA16-244C-5B50-BE0F-52911DD4CA7E}" dt="2026-08-09T19:40:57.788" v="838"/>
        <pc:sldMkLst>
          <pc:docMk/>
          <pc:sldMk cId="2639682451" sldId="275"/>
        </pc:sldMkLst>
        <pc:graphicFrameChg chg="mod">
          <ac:chgData name="Rich Reba" userId="55db41ab6eb3f845" providerId="LiveId" clId="{0E19DA16-244C-5B50-BE0F-52911DD4CA7E}" dt="2026-08-09T19:40:57.788" v="838"/>
          <ac:graphicFrameMkLst>
            <pc:docMk/>
            <pc:sldMk cId="2639682451" sldId="275"/>
            <ac:graphicFrameMk id="7" creationId="{86EDB53E-860A-E121-26F6-57064FD09AEE}"/>
          </ac:graphicFrameMkLst>
        </pc:graphicFrameChg>
      </pc:sldChg>
      <pc:sldChg chg="modSp mod">
        <pc:chgData name="Rich Reba" userId="55db41ab6eb3f845" providerId="LiveId" clId="{0E19DA16-244C-5B50-BE0F-52911DD4CA7E}" dt="2026-08-09T19:30:43.734" v="166" actId="20577"/>
        <pc:sldMkLst>
          <pc:docMk/>
          <pc:sldMk cId="3191730488" sldId="276"/>
        </pc:sldMkLst>
        <pc:graphicFrameChg chg="modGraphic">
          <ac:chgData name="Rich Reba" userId="55db41ab6eb3f845" providerId="LiveId" clId="{0E19DA16-244C-5B50-BE0F-52911DD4CA7E}" dt="2026-08-09T19:30:43.734" v="166" actId="20577"/>
          <ac:graphicFrameMkLst>
            <pc:docMk/>
            <pc:sldMk cId="3191730488" sldId="276"/>
            <ac:graphicFrameMk id="5" creationId="{4B70F3A5-8062-29A2-30D0-2783CB3DFCCA}"/>
          </ac:graphicFrameMkLst>
        </pc:graphicFrameChg>
      </pc:sldChg>
      <pc:sldChg chg="modSp mod">
        <pc:chgData name="Rich Reba" userId="55db41ab6eb3f845" providerId="LiveId" clId="{0E19DA16-244C-5B50-BE0F-52911DD4CA7E}" dt="2026-08-09T19:31:23.796" v="231" actId="20577"/>
        <pc:sldMkLst>
          <pc:docMk/>
          <pc:sldMk cId="368434212" sldId="277"/>
        </pc:sldMkLst>
        <pc:graphicFrameChg chg="modGraphic">
          <ac:chgData name="Rich Reba" userId="55db41ab6eb3f845" providerId="LiveId" clId="{0E19DA16-244C-5B50-BE0F-52911DD4CA7E}" dt="2026-08-09T19:31:23.796" v="231" actId="20577"/>
          <ac:graphicFrameMkLst>
            <pc:docMk/>
            <pc:sldMk cId="368434212" sldId="277"/>
            <ac:graphicFrameMk id="4" creationId="{27601DD6-DAE5-888B-0F9A-3C9911942417}"/>
          </ac:graphicFrameMkLst>
        </pc:graphicFrameChg>
      </pc:sldChg>
      <pc:sldChg chg="modSp mod">
        <pc:chgData name="Rich Reba" userId="55db41ab6eb3f845" providerId="LiveId" clId="{0E19DA16-244C-5B50-BE0F-52911DD4CA7E}" dt="2026-08-09T19:30:27" v="133" actId="20577"/>
        <pc:sldMkLst>
          <pc:docMk/>
          <pc:sldMk cId="2988147867" sldId="282"/>
        </pc:sldMkLst>
        <pc:graphicFrameChg chg="modGraphic">
          <ac:chgData name="Rich Reba" userId="55db41ab6eb3f845" providerId="LiveId" clId="{0E19DA16-244C-5B50-BE0F-52911DD4CA7E}" dt="2026-08-09T19:30:27" v="133" actId="20577"/>
          <ac:graphicFrameMkLst>
            <pc:docMk/>
            <pc:sldMk cId="2988147867" sldId="282"/>
            <ac:graphicFrameMk id="6" creationId="{DA3B7C68-A7A8-1CF8-C46B-DD7B5A05617E}"/>
          </ac:graphicFrameMkLst>
        </pc:graphicFrameChg>
      </pc:sldChg>
      <pc:sldChg chg="modSp mod">
        <pc:chgData name="Rich Reba" userId="55db41ab6eb3f845" providerId="LiveId" clId="{0E19DA16-244C-5B50-BE0F-52911DD4CA7E}" dt="2026-08-09T19:36:40.304" v="799" actId="20577"/>
        <pc:sldMkLst>
          <pc:docMk/>
          <pc:sldMk cId="3960435043" sldId="283"/>
        </pc:sldMkLst>
        <pc:graphicFrameChg chg="modGraphic">
          <ac:chgData name="Rich Reba" userId="55db41ab6eb3f845" providerId="LiveId" clId="{0E19DA16-244C-5B50-BE0F-52911DD4CA7E}" dt="2026-08-09T19:36:40.304" v="799" actId="20577"/>
          <ac:graphicFrameMkLst>
            <pc:docMk/>
            <pc:sldMk cId="3960435043" sldId="283"/>
            <ac:graphicFrameMk id="5" creationId="{4B70F3A5-8062-29A2-30D0-2783CB3DFCCA}"/>
          </ac:graphicFrameMkLst>
        </pc:graphicFrame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8" name="Google Shape;88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4" name="Google Shape;94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60266913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4" name="Google Shape;94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00317883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4" name="Google Shape;94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426034084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4" name="Google Shape;94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510382118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4" name="Google Shape;94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789114965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4" name="Google Shape;94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799184939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4" name="Google Shape;94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66736749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Google Shape;13;p9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-11724" y="-27804"/>
            <a:ext cx="12252960" cy="2242865"/>
          </a:xfrm>
          <a:prstGeom prst="rect">
            <a:avLst/>
          </a:prstGeom>
          <a:noFill/>
          <a:ln>
            <a:noFill/>
          </a:ln>
        </p:spPr>
      </p:pic>
      <p:sp>
        <p:nvSpPr>
          <p:cNvPr id="14" name="Google Shape;14;p9"/>
          <p:cNvSpPr/>
          <p:nvPr/>
        </p:nvSpPr>
        <p:spPr>
          <a:xfrm>
            <a:off x="10036908" y="136525"/>
            <a:ext cx="1914769" cy="1316404"/>
          </a:xfrm>
          <a:prstGeom prst="rect">
            <a:avLst/>
          </a:prstGeom>
          <a:solidFill>
            <a:schemeClr val="lt1"/>
          </a:solidFill>
          <a:ln w="12700" cap="flat" cmpd="sng">
            <a:solidFill>
              <a:srgbClr val="1C3052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" name="Google Shape;15;p9"/>
          <p:cNvSpPr txBox="1">
            <a:spLocks noGrp="1"/>
          </p:cNvSpPr>
          <p:nvPr>
            <p:ph type="ctrTitle"/>
          </p:nvPr>
        </p:nvSpPr>
        <p:spPr>
          <a:xfrm>
            <a:off x="1524000" y="2215660"/>
            <a:ext cx="9144000" cy="1915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6" name="Google Shape;16;p9"/>
          <p:cNvSpPr txBox="1">
            <a:spLocks noGrp="1"/>
          </p:cNvSpPr>
          <p:nvPr>
            <p:ph type="subTitle" idx="1"/>
          </p:nvPr>
        </p:nvSpPr>
        <p:spPr>
          <a:xfrm>
            <a:off x="1524000" y="4223361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>
            <a:endParaRPr/>
          </a:p>
        </p:txBody>
      </p:sp>
      <p:sp>
        <p:nvSpPr>
          <p:cNvPr id="17" name="Google Shape;17;p9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9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 dirty="0"/>
              <a:t>Proprietary and Confidential Information</a:t>
            </a:r>
            <a:endParaRPr dirty="0"/>
          </a:p>
        </p:txBody>
      </p:sp>
      <p:sp>
        <p:nvSpPr>
          <p:cNvPr id="19" name="Google Shape;19;p9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20" name="Google Shape;20;p9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156095" y="227868"/>
            <a:ext cx="1649044" cy="1133718"/>
          </a:xfrm>
          <a:prstGeom prst="rect">
            <a:avLst/>
          </a:prstGeom>
          <a:solidFill>
            <a:schemeClr val="lt1"/>
          </a:solidFill>
          <a:ln>
            <a:noFill/>
          </a:ln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p14"/>
          <p:cNvSpPr txBox="1">
            <a:spLocks noGrp="1"/>
          </p:cNvSpPr>
          <p:nvPr>
            <p:ph type="title"/>
          </p:nvPr>
        </p:nvSpPr>
        <p:spPr>
          <a:xfrm>
            <a:off x="839788" y="365125"/>
            <a:ext cx="8937258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9" name="Google Shape;49;p14"/>
          <p:cNvSpPr txBox="1"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50" name="Google Shape;50;p14"/>
          <p:cNvSpPr txBox="1">
            <a:spLocks noGrp="1"/>
          </p:cNvSpPr>
          <p:nvPr>
            <p:ph type="body" idx="2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51" name="Google Shape;51;p14"/>
          <p:cNvSpPr txBox="1">
            <a:spLocks noGrp="1"/>
          </p:cNvSpPr>
          <p:nvPr>
            <p:ph type="body" idx="3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52" name="Google Shape;52;p14"/>
          <p:cNvSpPr txBox="1">
            <a:spLocks noGrp="1"/>
          </p:cNvSpPr>
          <p:nvPr>
            <p:ph type="body" idx="4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53" name="Google Shape;53;p14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4" name="Google Shape;54;p14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5" name="Google Shape;55;p14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16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2" name="Google Shape;62;p16"/>
          <p:cNvSpPr txBox="1">
            <a:spLocks noGrp="1"/>
          </p:cNvSpPr>
          <p:nvPr>
            <p:ph type="body" idx="1"/>
          </p:nvPr>
        </p:nvSpPr>
        <p:spPr>
          <a:xfrm>
            <a:off x="5183188" y="1594339"/>
            <a:ext cx="6172200" cy="42667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marL="1371600" lvl="2" indent="-381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marL="2286000" lvl="4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marL="2743200" lvl="5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63" name="Google Shape;63;p16"/>
          <p:cNvSpPr txBox="1">
            <a:spLocks noGrp="1"/>
          </p:cNvSpPr>
          <p:nvPr>
            <p:ph type="body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64" name="Google Shape;64;p16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5" name="Google Shape;65;p16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16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17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9" name="Google Shape;69;p17"/>
          <p:cNvSpPr>
            <a:spLocks noGrp="1"/>
          </p:cNvSpPr>
          <p:nvPr>
            <p:ph type="pic" idx="2"/>
          </p:nvPr>
        </p:nvSpPr>
        <p:spPr>
          <a:xfrm>
            <a:off x="5183188" y="1594338"/>
            <a:ext cx="6172200" cy="4266712"/>
          </a:xfrm>
          <a:prstGeom prst="rect">
            <a:avLst/>
          </a:prstGeom>
          <a:noFill/>
          <a:ln>
            <a:noFill/>
          </a:ln>
        </p:spPr>
      </p:sp>
      <p:sp>
        <p:nvSpPr>
          <p:cNvPr id="70" name="Google Shape;70;p17"/>
          <p:cNvSpPr txBox="1">
            <a:spLocks noGrp="1"/>
          </p:cNvSpPr>
          <p:nvPr>
            <p:ph type="body" idx="1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71" name="Google Shape;71;p17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17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17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8"/>
          <p:cNvSpPr txBox="1">
            <a:spLocks noGrp="1"/>
          </p:cNvSpPr>
          <p:nvPr>
            <p:ph type="title"/>
          </p:nvPr>
        </p:nvSpPr>
        <p:spPr>
          <a:xfrm>
            <a:off x="838199" y="365125"/>
            <a:ext cx="8950569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18"/>
          <p:cNvSpPr txBox="1">
            <a:spLocks noGrp="1"/>
          </p:cNvSpPr>
          <p:nvPr>
            <p:ph type="body" idx="1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7" name="Google Shape;77;p18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18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18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9"/>
          <p:cNvSpPr txBox="1">
            <a:spLocks noGrp="1"/>
          </p:cNvSpPr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2" name="Google Shape;82;p19"/>
          <p:cNvSpPr txBox="1">
            <a:spLocks noGrp="1"/>
          </p:cNvSpPr>
          <p:nvPr>
            <p:ph type="body" idx="1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83" name="Google Shape;83;p19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4" name="Google Shape;84;p19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5" name="Google Shape;85;p19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 Slide">
    <p:spTree>
      <p:nvGrpSpPr>
        <p:cNvPr id="1" name="Shape 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Google Shape;13;p9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-11724" y="-27804"/>
            <a:ext cx="12252960" cy="2242865"/>
          </a:xfrm>
          <a:prstGeom prst="rect">
            <a:avLst/>
          </a:prstGeom>
          <a:noFill/>
          <a:ln>
            <a:noFill/>
          </a:ln>
        </p:spPr>
      </p:pic>
      <p:sp>
        <p:nvSpPr>
          <p:cNvPr id="14" name="Google Shape;14;p9"/>
          <p:cNvSpPr/>
          <p:nvPr/>
        </p:nvSpPr>
        <p:spPr>
          <a:xfrm>
            <a:off x="10036908" y="136525"/>
            <a:ext cx="1914769" cy="1316404"/>
          </a:xfrm>
          <a:prstGeom prst="rect">
            <a:avLst/>
          </a:prstGeom>
          <a:solidFill>
            <a:schemeClr val="lt1"/>
          </a:solidFill>
          <a:ln w="12700" cap="flat" cmpd="sng">
            <a:solidFill>
              <a:srgbClr val="1C3052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" name="Google Shape;15;p9"/>
          <p:cNvSpPr txBox="1">
            <a:spLocks noGrp="1"/>
          </p:cNvSpPr>
          <p:nvPr>
            <p:ph type="ctrTitle"/>
          </p:nvPr>
        </p:nvSpPr>
        <p:spPr>
          <a:xfrm>
            <a:off x="1524000" y="2215660"/>
            <a:ext cx="9144000" cy="1915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6" name="Google Shape;16;p9"/>
          <p:cNvSpPr txBox="1">
            <a:spLocks noGrp="1"/>
          </p:cNvSpPr>
          <p:nvPr>
            <p:ph type="subTitle" idx="1"/>
          </p:nvPr>
        </p:nvSpPr>
        <p:spPr>
          <a:xfrm>
            <a:off x="1524000" y="4223361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>
            <a:endParaRPr/>
          </a:p>
        </p:txBody>
      </p:sp>
      <p:sp>
        <p:nvSpPr>
          <p:cNvPr id="17" name="Google Shape;17;p9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9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9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20" name="Google Shape;20;p9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156095" y="227868"/>
            <a:ext cx="1649044" cy="1133718"/>
          </a:xfrm>
          <a:prstGeom prst="rect">
            <a:avLst/>
          </a:prstGeom>
          <a:solidFill>
            <a:schemeClr val="lt1"/>
          </a:solidFill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67463603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Content with Caption">
    <p:spTree>
      <p:nvGrpSpPr>
        <p:cNvPr id="1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16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2" name="Google Shape;62;p16"/>
          <p:cNvSpPr txBox="1">
            <a:spLocks noGrp="1"/>
          </p:cNvSpPr>
          <p:nvPr>
            <p:ph type="body" idx="1"/>
          </p:nvPr>
        </p:nvSpPr>
        <p:spPr>
          <a:xfrm>
            <a:off x="5183188" y="1594339"/>
            <a:ext cx="6172200" cy="42667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marL="1371600" lvl="2" indent="-381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marL="2286000" lvl="4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marL="2743200" lvl="5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63" name="Google Shape;63;p16"/>
          <p:cNvSpPr txBox="1">
            <a:spLocks noGrp="1"/>
          </p:cNvSpPr>
          <p:nvPr>
            <p:ph type="body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64" name="Google Shape;64;p16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5" name="Google Shape;65;p16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16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53662231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 with Caption">
    <p:spTree>
      <p:nvGrpSpPr>
        <p:cNvPr id="1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17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9" name="Google Shape;69;p17"/>
          <p:cNvSpPr>
            <a:spLocks noGrp="1"/>
          </p:cNvSpPr>
          <p:nvPr>
            <p:ph type="pic" idx="2"/>
          </p:nvPr>
        </p:nvSpPr>
        <p:spPr>
          <a:xfrm>
            <a:off x="5183188" y="1594338"/>
            <a:ext cx="6172200" cy="4266712"/>
          </a:xfrm>
          <a:prstGeom prst="rect">
            <a:avLst/>
          </a:prstGeom>
          <a:noFill/>
          <a:ln>
            <a:noFill/>
          </a:ln>
        </p:spPr>
      </p:sp>
      <p:sp>
        <p:nvSpPr>
          <p:cNvPr id="70" name="Google Shape;70;p17"/>
          <p:cNvSpPr txBox="1">
            <a:spLocks noGrp="1"/>
          </p:cNvSpPr>
          <p:nvPr>
            <p:ph type="body" idx="1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71" name="Google Shape;71;p17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17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17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44183682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Title and Vertical Text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8"/>
          <p:cNvSpPr txBox="1">
            <a:spLocks noGrp="1"/>
          </p:cNvSpPr>
          <p:nvPr>
            <p:ph type="title"/>
          </p:nvPr>
        </p:nvSpPr>
        <p:spPr>
          <a:xfrm>
            <a:off x="838199" y="365125"/>
            <a:ext cx="8950569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18"/>
          <p:cNvSpPr txBox="1">
            <a:spLocks noGrp="1"/>
          </p:cNvSpPr>
          <p:nvPr>
            <p:ph type="body" idx="1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7" name="Google Shape;77;p18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18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18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88013815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 Title and Text"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9"/>
          <p:cNvSpPr txBox="1">
            <a:spLocks noGrp="1"/>
          </p:cNvSpPr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2" name="Google Shape;82;p19"/>
          <p:cNvSpPr txBox="1">
            <a:spLocks noGrp="1"/>
          </p:cNvSpPr>
          <p:nvPr>
            <p:ph type="body" idx="1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83" name="Google Shape;83;p19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4" name="Google Shape;84;p19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5" name="Google Shape;85;p19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88314100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 Content"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13"/>
          <p:cNvSpPr txBox="1">
            <a:spLocks noGrp="1"/>
          </p:cNvSpPr>
          <p:nvPr>
            <p:ph type="title"/>
          </p:nvPr>
        </p:nvSpPr>
        <p:spPr>
          <a:xfrm>
            <a:off x="838199" y="365125"/>
            <a:ext cx="8950569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2" name="Google Shape;42;p13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3" name="Google Shape;43;p13"/>
          <p:cNvSpPr txBox="1">
            <a:spLocks noGrp="1"/>
          </p:cNvSpPr>
          <p:nvPr>
            <p:ph type="body" idx="2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4" name="Google Shape;44;p13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5" name="Google Shape;45;p13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6" name="Google Shape;46;p13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91589483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.png"/><Relationship Id="rId3" Type="http://schemas.openxmlformats.org/officeDocument/2006/relationships/slideLayout" Target="../slideLayouts/slideLayout9.xml"/><Relationship Id="rId7" Type="http://schemas.openxmlformats.org/officeDocument/2006/relationships/theme" Target="../theme/theme2.xml"/><Relationship Id="rId2" Type="http://schemas.openxmlformats.org/officeDocument/2006/relationships/slideLayout" Target="../slideLayouts/slideLayout8.xml"/><Relationship Id="rId1" Type="http://schemas.openxmlformats.org/officeDocument/2006/relationships/slideLayout" Target="../slideLayouts/slideLayout7.xml"/><Relationship Id="rId6" Type="http://schemas.openxmlformats.org/officeDocument/2006/relationships/slideLayout" Target="../slideLayouts/slideLayout12.xml"/><Relationship Id="rId5" Type="http://schemas.openxmlformats.org/officeDocument/2006/relationships/slideLayout" Target="../slideLayouts/slideLayout11.xml"/><Relationship Id="rId4" Type="http://schemas.openxmlformats.org/officeDocument/2006/relationships/slideLayout" Target="../slideLayouts/slideLayout1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8"/>
          <p:cNvSpPr txBox="1">
            <a:spLocks noGrp="1"/>
          </p:cNvSpPr>
          <p:nvPr>
            <p:ph type="title"/>
          </p:nvPr>
        </p:nvSpPr>
        <p:spPr>
          <a:xfrm>
            <a:off x="838199" y="365125"/>
            <a:ext cx="8950569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7" name="Google Shape;7;p8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p8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9" name="Google Shape;9;p8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0" name="Google Shape;10;p8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11" name="Google Shape;11;p8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10023232" y="136525"/>
            <a:ext cx="1914769" cy="1316404"/>
          </a:xfrm>
          <a:prstGeom prst="rect">
            <a:avLst/>
          </a:prstGeom>
          <a:solidFill>
            <a:schemeClr val="lt1"/>
          </a:solidFill>
          <a:ln>
            <a:noFill/>
          </a:ln>
        </p:spPr>
      </p:pic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4" r:id="rId2"/>
    <p:sldLayoutId id="2147483656" r:id="rId3"/>
    <p:sldLayoutId id="2147483657" r:id="rId4"/>
    <p:sldLayoutId id="2147483658" r:id="rId5"/>
    <p:sldLayoutId id="2147483659" r:id="rId6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8"/>
          <p:cNvSpPr txBox="1">
            <a:spLocks noGrp="1"/>
          </p:cNvSpPr>
          <p:nvPr>
            <p:ph type="title"/>
          </p:nvPr>
        </p:nvSpPr>
        <p:spPr>
          <a:xfrm>
            <a:off x="838199" y="365125"/>
            <a:ext cx="8950569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7" name="Google Shape;7;p8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p8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9" name="Google Shape;9;p8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0" name="Google Shape;10;p8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11" name="Google Shape;11;p8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10023232" y="136525"/>
            <a:ext cx="1914769" cy="1316404"/>
          </a:xfrm>
          <a:prstGeom prst="rect">
            <a:avLst/>
          </a:prstGeom>
          <a:solidFill>
            <a:schemeClr val="lt1"/>
          </a:solidFill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132635061"/>
      </p:ext>
    </p:extLst>
  </p:cSld>
  <p:clrMap bg1="lt1" tx1="dk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AccelRR8-Consortium-NonProfit/Management-Public/blob/main/docs/2_Value_Creation/2a_Product/Open_Knowledge_Sharing/Open_Knowledge_Sharing_v1_Epic-Hypothesis-Statement.pdf" TargetMode="Externa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hyperlink" Target="https://scaledagileframework.com/wsjf/" TargetMode="External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AccelRR8-Consortium-NonProfit/Management-Public/blob/main/docs/2_Value_Creation/2a_Product/Open_Knowledge_Sharing/Open_Knowledge_Sharing_v1_Lean_Business_Case.pdf" TargetMode="External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hyperlink" Target="https://scaledagileframework.com/solution-context/" TargetMode="External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2.xml"/><Relationship Id="rId4" Type="http://schemas.openxmlformats.org/officeDocument/2006/relationships/hyperlink" Target="https://scaledagileframework.com/solution-intent/" TargetMode="Externa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1"/>
          <p:cNvSpPr txBox="1">
            <a:spLocks noGrp="1"/>
          </p:cNvSpPr>
          <p:nvPr>
            <p:ph type="ctrTitle"/>
          </p:nvPr>
        </p:nvSpPr>
        <p:spPr>
          <a:xfrm>
            <a:off x="962722" y="2785676"/>
            <a:ext cx="10266556" cy="1915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 fontScale="90000"/>
          </a:bodyPr>
          <a:lstStyle/>
          <a:p>
            <a:br>
              <a:rPr lang="en-US" dirty="0"/>
            </a:br>
            <a:br>
              <a:rPr lang="en-US" dirty="0"/>
            </a:br>
            <a:r>
              <a:rPr lang="en-US" dirty="0"/>
              <a:t>AccelRR8 Consortium NonProfit</a:t>
            </a:r>
            <a:br>
              <a:rPr lang="en-US" dirty="0"/>
            </a:br>
            <a:r>
              <a:rPr lang="en-US" dirty="0"/>
              <a:t>Open Knowledge Sharing Service v1</a:t>
            </a:r>
            <a:br>
              <a:rPr lang="en-US" dirty="0"/>
            </a:br>
            <a:endParaRPr sz="4000" dirty="0"/>
          </a:p>
        </p:txBody>
      </p:sp>
      <p:sp>
        <p:nvSpPr>
          <p:cNvPr id="91" name="Google Shape;91;p1"/>
          <p:cNvSpPr txBox="1">
            <a:spLocks noGrp="1"/>
          </p:cNvSpPr>
          <p:nvPr>
            <p:ph type="subTitle" idx="1"/>
          </p:nvPr>
        </p:nvSpPr>
        <p:spPr>
          <a:xfrm>
            <a:off x="1524000" y="4793377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US" dirty="0"/>
              <a:t>Open Knowledge Sharing Service Leader</a:t>
            </a:r>
          </a:p>
          <a:p>
            <a:pPr marL="0" lvl="0" indent="0" algn="ctr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US" dirty="0"/>
              <a:t>August 9, 2026</a:t>
            </a:r>
          </a:p>
        </p:txBody>
      </p:sp>
      <p:sp>
        <p:nvSpPr>
          <p:cNvPr id="2" name="Google Shape;18;p9">
            <a:extLst>
              <a:ext uri="{FF2B5EF4-FFF2-40B4-BE49-F238E27FC236}">
                <a16:creationId xmlns:a16="http://schemas.microsoft.com/office/drawing/2014/main" id="{B78BEAA4-CC48-1EF1-1035-C48CDEB46C11}"/>
              </a:ext>
            </a:extLst>
          </p:cNvPr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 dirty="0"/>
              <a:t>Proprietary and Confidential Information</a:t>
            </a:r>
            <a:endParaRPr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30EB244C-C85F-010E-A084-D8B6D90C72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Deliverables Produced During the Review Stage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987596B8-DA7D-1389-CC1D-C0EF98524A91}"/>
              </a:ext>
            </a:extLst>
          </p:cNvPr>
          <p:cNvSpPr/>
          <p:nvPr/>
        </p:nvSpPr>
        <p:spPr>
          <a:xfrm>
            <a:off x="969319" y="-1"/>
            <a:ext cx="2743200" cy="263047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14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+mn-cs"/>
                <a:sym typeface="Arial"/>
              </a:rPr>
              <a:t>Reviewing Stage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DD965822-0847-B892-7BF1-00B31C259B5C}"/>
              </a:ext>
            </a:extLst>
          </p:cNvPr>
          <p:cNvSpPr/>
          <p:nvPr/>
        </p:nvSpPr>
        <p:spPr>
          <a:xfrm>
            <a:off x="3733400" y="-1"/>
            <a:ext cx="2743200" cy="263047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1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+mn-cs"/>
                <a:sym typeface="Arial"/>
              </a:rPr>
              <a:t>Analysis Stage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B77354B4-F67E-5C6D-DE69-888030925B00}"/>
              </a:ext>
            </a:extLst>
          </p:cNvPr>
          <p:cNvSpPr/>
          <p:nvPr/>
        </p:nvSpPr>
        <p:spPr>
          <a:xfrm>
            <a:off x="6484954" y="-1"/>
            <a:ext cx="2743200" cy="263047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1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+mn-cs"/>
                <a:sym typeface="Arial"/>
              </a:rPr>
              <a:t>Implementing - MVP Stage</a:t>
            </a:r>
          </a:p>
        </p:txBody>
      </p:sp>
      <p:sp>
        <p:nvSpPr>
          <p:cNvPr id="2" name="Google Shape;18;p9">
            <a:extLst>
              <a:ext uri="{FF2B5EF4-FFF2-40B4-BE49-F238E27FC236}">
                <a16:creationId xmlns:a16="http://schemas.microsoft.com/office/drawing/2014/main" id="{048B8078-0A98-B723-6D07-9C874B8373FA}"/>
              </a:ext>
            </a:extLst>
          </p:cNvPr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 dirty="0"/>
              <a:t>Proprietary and Confidential Information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388811210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 dirty="0"/>
              <a:t>Service Hypothesis</a:t>
            </a:r>
            <a:endParaRPr dirty="0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82989B31-3419-2492-D5BA-841085EFFD20}"/>
              </a:ext>
            </a:extLst>
          </p:cNvPr>
          <p:cNvSpPr/>
          <p:nvPr/>
        </p:nvSpPr>
        <p:spPr>
          <a:xfrm>
            <a:off x="969319" y="-1"/>
            <a:ext cx="2743200" cy="263047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14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+mn-cs"/>
                <a:sym typeface="Arial"/>
              </a:rPr>
              <a:t>Reviewing Stage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DCFC860D-600B-CFAA-AA67-87D20B2848A4}"/>
              </a:ext>
            </a:extLst>
          </p:cNvPr>
          <p:cNvSpPr/>
          <p:nvPr/>
        </p:nvSpPr>
        <p:spPr>
          <a:xfrm>
            <a:off x="3733400" y="-1"/>
            <a:ext cx="2743200" cy="263047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1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+mn-cs"/>
                <a:sym typeface="Arial"/>
              </a:rPr>
              <a:t>Analysis Stage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CCE98312-7BF3-634D-DE2E-782C5EA05BB7}"/>
              </a:ext>
            </a:extLst>
          </p:cNvPr>
          <p:cNvSpPr/>
          <p:nvPr/>
        </p:nvSpPr>
        <p:spPr>
          <a:xfrm>
            <a:off x="6484954" y="-1"/>
            <a:ext cx="2743200" cy="263047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1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+mn-cs"/>
                <a:sym typeface="Arial"/>
              </a:rPr>
              <a:t>Implementing - MVP Stage</a:t>
            </a:r>
          </a:p>
        </p:txBody>
      </p:sp>
      <p:sp>
        <p:nvSpPr>
          <p:cNvPr id="6" name="Google Shape;18;p9">
            <a:extLst>
              <a:ext uri="{FF2B5EF4-FFF2-40B4-BE49-F238E27FC236}">
                <a16:creationId xmlns:a16="http://schemas.microsoft.com/office/drawing/2014/main" id="{F57F7845-FD8A-DCA4-39DB-1B7D9CF0BA2A}"/>
              </a:ext>
            </a:extLst>
          </p:cNvPr>
          <p:cNvSpPr txBox="1">
            <a:spLocks noGrp="1"/>
          </p:cNvSpPr>
          <p:nvPr>
            <p:ph type="ftr" idx="11"/>
          </p:nvPr>
        </p:nvSpPr>
        <p:spPr>
          <a:xfrm>
            <a:off x="4038600" y="6580557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 dirty="0"/>
              <a:t>Proprietary and Confidential Information</a:t>
            </a:r>
            <a:endParaRPr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79C2539-A599-CF7E-944F-5C23705E39F9}"/>
              </a:ext>
            </a:extLst>
          </p:cNvPr>
          <p:cNvSpPr txBox="1"/>
          <p:nvPr/>
        </p:nvSpPr>
        <p:spPr>
          <a:xfrm>
            <a:off x="914400" y="1883229"/>
            <a:ext cx="546014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hlinkClick r:id="rId3"/>
              </a:rPr>
              <a:t>Link to Open_Knowledge_Sharing_v1_Epic-Hypothesis-Statement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7263593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 dirty="0"/>
              <a:t>Preliminary Cost Estimates and WSJF</a:t>
            </a:r>
            <a:endParaRPr dirty="0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93ADFCCD-21B2-3785-8E68-1D6E82E2DA76}"/>
              </a:ext>
            </a:extLst>
          </p:cNvPr>
          <p:cNvSpPr/>
          <p:nvPr/>
        </p:nvSpPr>
        <p:spPr>
          <a:xfrm>
            <a:off x="969319" y="-1"/>
            <a:ext cx="2743200" cy="263047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14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+mn-cs"/>
                <a:sym typeface="Arial"/>
              </a:rPr>
              <a:t>Reviewing Stage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7D3EA3BE-F73F-61F7-3F9D-5A3302400620}"/>
              </a:ext>
            </a:extLst>
          </p:cNvPr>
          <p:cNvSpPr/>
          <p:nvPr/>
        </p:nvSpPr>
        <p:spPr>
          <a:xfrm>
            <a:off x="3733400" y="-1"/>
            <a:ext cx="2743200" cy="263047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1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+mn-cs"/>
                <a:sym typeface="Arial"/>
              </a:rPr>
              <a:t>Analysis Stage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B59D7C28-1555-09D1-4AEE-8F09AA4FB520}"/>
              </a:ext>
            </a:extLst>
          </p:cNvPr>
          <p:cNvSpPr/>
          <p:nvPr/>
        </p:nvSpPr>
        <p:spPr>
          <a:xfrm>
            <a:off x="6484954" y="-1"/>
            <a:ext cx="2743200" cy="263047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1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+mn-cs"/>
                <a:sym typeface="Arial"/>
              </a:rPr>
              <a:t>Implementing - MVP Stage</a:t>
            </a:r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DA3B7C68-A7A8-1CF8-C46B-DD7B5A05617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81843773"/>
              </p:ext>
            </p:extLst>
          </p:nvPr>
        </p:nvGraphicFramePr>
        <p:xfrm>
          <a:off x="969319" y="1590327"/>
          <a:ext cx="10795218" cy="47244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851940">
                  <a:extLst>
                    <a:ext uri="{9D8B030D-6E8A-4147-A177-3AD203B41FA5}">
                      <a16:colId xmlns:a16="http://schemas.microsoft.com/office/drawing/2014/main" val="533583650"/>
                    </a:ext>
                  </a:extLst>
                </a:gridCol>
                <a:gridCol w="8943278">
                  <a:extLst>
                    <a:ext uri="{9D8B030D-6E8A-4147-A177-3AD203B41FA5}">
                      <a16:colId xmlns:a16="http://schemas.microsoft.com/office/drawing/2014/main" val="20127695"/>
                    </a:ext>
                  </a:extLst>
                </a:gridCol>
              </a:tblGrid>
              <a:tr h="146916">
                <a:tc>
                  <a:txBody>
                    <a:bodyPr/>
                    <a:lstStyle/>
                    <a:p>
                      <a:r>
                        <a:rPr lang="en-US" sz="1600" b="0" dirty="0"/>
                        <a:t>Preliminary Cost Estimates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b="0" i="0" u="none" strike="noStrike" cap="none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Arial"/>
                        </a:rPr>
                        <a:t>$0:  Donation of volunteer time by leaders at no cost to AccelRR8 Consortium Non-Profit</a:t>
                      </a:r>
                    </a:p>
                    <a:p>
                      <a:r>
                        <a:rPr lang="en-US" sz="1400" b="0" i="0" u="none" strike="noStrike" cap="none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Arial"/>
                        </a:rPr>
                        <a:t>$0:  Use of LinkedIn and other platforms at no cost to AccelRR8 Consortium Non-Profit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92281396"/>
                  </a:ext>
                </a:extLst>
              </a:tr>
              <a:tr h="146916">
                <a:tc>
                  <a:txBody>
                    <a:bodyPr/>
                    <a:lstStyle/>
                    <a:p>
                      <a:r>
                        <a:rPr lang="en-US" sz="1600" b="0" dirty="0"/>
                        <a:t>Relative Priority</a:t>
                      </a:r>
                    </a:p>
                    <a:p>
                      <a:endParaRPr lang="en-US" sz="1600" b="0" dirty="0"/>
                    </a:p>
                    <a:p>
                      <a:r>
                        <a:rPr lang="en-US" sz="1200" b="0" i="1" dirty="0"/>
                        <a:t>Method:  Weighted Shortest Job First (WSJF) Score*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dirty="0"/>
                        <a:t>WSJF = 4, which is COST OF DELAY / JOB SIZE = 35 / 8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endParaRPr lang="en-US" dirty="0"/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dirty="0"/>
                        <a:t>COST OF DELAY = 11 + 11 + 13 = 35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dirty="0"/>
                        <a:t>   USER-BUSINESS VALUE = 11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dirty="0"/>
                        <a:t>       Do subscribers prefer this over other services?   13:  the “grow value exponentially at scale” skill is valued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dirty="0"/>
                        <a:t>       What is the revenue impact on the Consortium?   1:  the MVP is a free service, though some may donate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dirty="0"/>
                        <a:t>       Are there negative effects if we delay?   20:  the Consortium’s other services depend on this one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dirty="0"/>
                        <a:t>   TIME CRITICALITY = 11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dirty="0"/>
                        <a:t>       Is there a fixed deadline?   1:  no fixed deadline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dirty="0"/>
                        <a:t>       Will they wait for us or move to another Solution?   20:  AI maturity threatens relevancy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dirty="0"/>
                        <a:t>       What is the current effect on subscriber satisfaction?   13:  subscribers want knowledge they can use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dirty="0"/>
                        <a:t>   RISK REDUCTION AND/OR OPPORTUNITY ENABLEMENT = 13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dirty="0"/>
                        <a:t>       Reduces the risk of this or future delivery?   13:  viral ideation is needed to attract and retain subscribers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dirty="0"/>
                        <a:t>       Is there value in the information we receive?  13:  willingness of subscribers to ideate and use the BOK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dirty="0"/>
                        <a:t>       Enable new business opportunities?  13:  subscribers may be interested in certifications, etc.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endParaRPr lang="en-US" dirty="0"/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dirty="0"/>
                        <a:t>JOB SIZE = 8;  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dirty="0"/>
                        <a:t>      Leaders will need to personally develop initial AccelRR8 Body of Knowledge content (6 months);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dirty="0"/>
                        <a:t>      Leaders will need to engage industry influencers to share their knowledge and advocacy (6 months)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29769333"/>
                  </a:ext>
                </a:extLst>
              </a:tr>
            </a:tbl>
          </a:graphicData>
        </a:graphic>
      </p:graphicFrame>
      <p:sp>
        <p:nvSpPr>
          <p:cNvPr id="5" name="Google Shape;18;p9">
            <a:extLst>
              <a:ext uri="{FF2B5EF4-FFF2-40B4-BE49-F238E27FC236}">
                <a16:creationId xmlns:a16="http://schemas.microsoft.com/office/drawing/2014/main" id="{C5748C3E-8A70-958C-B8E4-332FC5861BB3}"/>
              </a:ext>
            </a:extLst>
          </p:cNvPr>
          <p:cNvSpPr txBox="1">
            <a:spLocks noGrp="1"/>
          </p:cNvSpPr>
          <p:nvPr>
            <p:ph type="ftr" idx="11"/>
          </p:nvPr>
        </p:nvSpPr>
        <p:spPr>
          <a:xfrm>
            <a:off x="4038600" y="6545917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 dirty="0"/>
              <a:t>Proprietary and Confidential Information</a:t>
            </a:r>
            <a:endParaRPr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D6D51B8-EAEB-EAC5-1B5E-A8C3E5DDAE00}"/>
              </a:ext>
            </a:extLst>
          </p:cNvPr>
          <p:cNvSpPr txBox="1"/>
          <p:nvPr/>
        </p:nvSpPr>
        <p:spPr>
          <a:xfrm>
            <a:off x="969319" y="6284748"/>
            <a:ext cx="7090403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" dirty="0"/>
              <a:t>*See </a:t>
            </a:r>
            <a:r>
              <a:rPr lang="en-US" sz="1000" dirty="0">
                <a:hlinkClick r:id="rId3"/>
              </a:rPr>
              <a:t>SAFe WSJF article</a:t>
            </a:r>
            <a:r>
              <a:rPr lang="en-US" sz="1000" dirty="0"/>
              <a:t>; scale for each root parameter is 1, 2, 3, 5, 8, 13, 20 (subset of the modified Fibonacci sequence)</a:t>
            </a:r>
          </a:p>
        </p:txBody>
      </p:sp>
    </p:spTree>
    <p:extLst>
      <p:ext uri="{BB962C8B-B14F-4D97-AF65-F5344CB8AC3E}">
        <p14:creationId xmlns:p14="http://schemas.microsoft.com/office/powerpoint/2010/main" val="298814786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30EB244C-C85F-010E-A084-D8B6D90C72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Deliverables Produced During the</a:t>
            </a:r>
            <a:br>
              <a:rPr lang="en-US" dirty="0"/>
            </a:br>
            <a:r>
              <a:rPr lang="en-US" dirty="0"/>
              <a:t>Analysis Stage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127D92EC-B5B2-F4BF-5DE9-95612E9E3BED}"/>
              </a:ext>
            </a:extLst>
          </p:cNvPr>
          <p:cNvSpPr/>
          <p:nvPr/>
        </p:nvSpPr>
        <p:spPr>
          <a:xfrm>
            <a:off x="969319" y="-1"/>
            <a:ext cx="2743200" cy="263047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1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+mn-cs"/>
                <a:sym typeface="Arial"/>
              </a:rPr>
              <a:t>Reviewing Stage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1EB6C110-0BBD-1173-FD61-0D99BC146576}"/>
              </a:ext>
            </a:extLst>
          </p:cNvPr>
          <p:cNvSpPr/>
          <p:nvPr/>
        </p:nvSpPr>
        <p:spPr>
          <a:xfrm>
            <a:off x="3733400" y="-1"/>
            <a:ext cx="2743200" cy="263047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14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+mn-cs"/>
                <a:sym typeface="Arial"/>
              </a:rPr>
              <a:t>Analysis Stage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F6C5FF28-EDA5-D92B-FEB5-078711BC8358}"/>
              </a:ext>
            </a:extLst>
          </p:cNvPr>
          <p:cNvSpPr/>
          <p:nvPr/>
        </p:nvSpPr>
        <p:spPr>
          <a:xfrm>
            <a:off x="6484954" y="-1"/>
            <a:ext cx="2743200" cy="263047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1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+mn-cs"/>
                <a:sym typeface="Arial"/>
              </a:rPr>
              <a:t>Implementing - MVP Stage</a:t>
            </a:r>
          </a:p>
        </p:txBody>
      </p:sp>
      <p:sp>
        <p:nvSpPr>
          <p:cNvPr id="6" name="Google Shape;18;p9">
            <a:extLst>
              <a:ext uri="{FF2B5EF4-FFF2-40B4-BE49-F238E27FC236}">
                <a16:creationId xmlns:a16="http://schemas.microsoft.com/office/drawing/2014/main" id="{7CAB671F-9BEE-E2C8-B532-9AAC16B0D9FC}"/>
              </a:ext>
            </a:extLst>
          </p:cNvPr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 dirty="0"/>
              <a:t>Proprietary and Confidential Information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409955008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 dirty="0"/>
              <a:t>Service Alternatives</a:t>
            </a:r>
            <a:endParaRPr dirty="0"/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4B70F3A5-8062-29A2-30D0-2783CB3DFCC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0311085"/>
              </p:ext>
            </p:extLst>
          </p:nvPr>
        </p:nvGraphicFramePr>
        <p:xfrm>
          <a:off x="969319" y="1690688"/>
          <a:ext cx="9991124" cy="4312286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255795">
                  <a:extLst>
                    <a:ext uri="{9D8B030D-6E8A-4147-A177-3AD203B41FA5}">
                      <a16:colId xmlns:a16="http://schemas.microsoft.com/office/drawing/2014/main" val="533583650"/>
                    </a:ext>
                  </a:extLst>
                </a:gridCol>
                <a:gridCol w="7735329">
                  <a:extLst>
                    <a:ext uri="{9D8B030D-6E8A-4147-A177-3AD203B41FA5}">
                      <a16:colId xmlns:a16="http://schemas.microsoft.com/office/drawing/2014/main" val="20127695"/>
                    </a:ext>
                  </a:extLst>
                </a:gridCol>
              </a:tblGrid>
              <a:tr h="146916">
                <a:tc>
                  <a:txBody>
                    <a:bodyPr/>
                    <a:lstStyle/>
                    <a:p>
                      <a:r>
                        <a:rPr lang="en-US" sz="1600" b="1" dirty="0"/>
                        <a:t>Alternative 1:</a:t>
                      </a:r>
                      <a:br>
                        <a:rPr lang="en-US" sz="1600" b="0" dirty="0"/>
                      </a:br>
                      <a:r>
                        <a:rPr lang="en-US" sz="1600" b="0" dirty="0"/>
                        <a:t>Free</a:t>
                      </a:r>
                    </a:p>
                    <a:p>
                      <a:endParaRPr lang="en-US" sz="1600" b="0" dirty="0"/>
                    </a:p>
                    <a:p>
                      <a:r>
                        <a:rPr lang="en-US" sz="1600" b="0" i="1" dirty="0"/>
                        <a:t>SELECTED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123825" marR="0" lvl="0" indent="-123825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Symbol" pitchFamily="2" charset="2"/>
                        <a:buChar char=""/>
                        <a:tabLst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  <a:effectLst/>
                        </a:rPr>
                        <a:t>Subscribers can share ideas with one another via an online platform</a:t>
                      </a:r>
                    </a:p>
                    <a:p>
                      <a:pPr marL="123825" marR="0" lvl="0" indent="-123825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Symbol" pitchFamily="2" charset="2"/>
                        <a:buChar char=""/>
                        <a:tabLst/>
                      </a:pPr>
                      <a:endParaRPr lang="en-US" sz="1400" dirty="0">
                        <a:solidFill>
                          <a:schemeClr val="tx1"/>
                        </a:solidFill>
                        <a:effectLst/>
                      </a:endParaRPr>
                    </a:p>
                    <a:p>
                      <a:pPr marL="123825" marR="0" lvl="0" indent="-123825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Symbol" pitchFamily="2" charset="2"/>
                        <a:buChar char=""/>
                        <a:tabLst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  <a:effectLst/>
                        </a:rPr>
                        <a:t>Subscribers can access the AccelRR8 Body of Knowledge, including the AccelRR8 Framework</a:t>
                      </a:r>
                    </a:p>
                    <a:p>
                      <a:pPr marL="123825" marR="0" lvl="0" indent="-123825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Symbol" pitchFamily="2" charset="2"/>
                        <a:buChar char=""/>
                        <a:tabLst/>
                      </a:pPr>
                      <a:endParaRPr lang="en-US" sz="1400" dirty="0">
                        <a:solidFill>
                          <a:schemeClr val="tx1"/>
                        </a:solidFill>
                        <a:effectLst/>
                      </a:endParaRPr>
                    </a:p>
                    <a:p>
                      <a:pPr marL="123825" marR="0" lvl="0" indent="-123825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Symbol" pitchFamily="2" charset="2"/>
                        <a:buChar char=""/>
                        <a:tabLst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  <a:effectLst/>
                        </a:rPr>
                        <a:t>Subscribers can participate in Consortium webinars</a:t>
                      </a:r>
                    </a:p>
                    <a:p>
                      <a:pPr marL="123825" marR="0" lvl="0" indent="-123825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Symbol" pitchFamily="2" charset="2"/>
                        <a:buChar char=""/>
                        <a:tabLst/>
                      </a:pPr>
                      <a:endParaRPr lang="en-US" sz="1400" dirty="0">
                        <a:solidFill>
                          <a:schemeClr val="tx1"/>
                        </a:solidFill>
                        <a:effectLst/>
                      </a:endParaRPr>
                    </a:p>
                    <a:p>
                      <a:pPr marL="123825" marR="0" lvl="0" indent="-123825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Symbol" pitchFamily="2" charset="2"/>
                        <a:buChar char=""/>
                        <a:tabLst/>
                      </a:pPr>
                      <a:endParaRPr lang="en-US" sz="1400" dirty="0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92281396"/>
                  </a:ext>
                </a:extLst>
              </a:tr>
              <a:tr h="998696">
                <a:tc>
                  <a:txBody>
                    <a:bodyPr/>
                    <a:lstStyle/>
                    <a:p>
                      <a:r>
                        <a:rPr lang="en-US" sz="1600" b="1" dirty="0"/>
                        <a:t>Alternative 2:</a:t>
                      </a:r>
                      <a:br>
                        <a:rPr lang="en-US" sz="1600" b="0" dirty="0"/>
                      </a:br>
                      <a:r>
                        <a:rPr lang="en-US" sz="1600" b="0" dirty="0"/>
                        <a:t>Fee-based</a:t>
                      </a:r>
                    </a:p>
                    <a:p>
                      <a:endParaRPr lang="en-US" sz="1600" b="0" dirty="0"/>
                    </a:p>
                    <a:p>
                      <a:r>
                        <a:rPr lang="en-US" sz="1600" b="0" i="1" dirty="0"/>
                        <a:t>CONSIDER FOR FUTURE VERSION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123825" marR="0" lvl="0" indent="-123825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Symbol" pitchFamily="2" charset="2"/>
                        <a:buChar char=""/>
                        <a:tabLst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  <a:effectLst/>
                        </a:rPr>
                        <a:t>(Like PMI) Individual leaders can take an exam for a one-time fee, and maintain a certification for an annual renewal fee</a:t>
                      </a:r>
                    </a:p>
                    <a:p>
                      <a:pPr marL="123825" marR="0" lvl="0" indent="-123825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Symbol" pitchFamily="2" charset="2"/>
                        <a:buChar char=""/>
                        <a:tabLst/>
                      </a:pPr>
                      <a:endParaRPr lang="en-US" sz="1400" dirty="0">
                        <a:solidFill>
                          <a:schemeClr val="tx1"/>
                        </a:solidFill>
                        <a:effectLst/>
                      </a:endParaRPr>
                    </a:p>
                    <a:p>
                      <a:pPr marL="123825" marR="0" lvl="0" indent="-123825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Symbol" pitchFamily="2" charset="2"/>
                        <a:buChar char=""/>
                        <a:tabLst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  <a:effectLst/>
                        </a:rPr>
                        <a:t>(Like ASUG) Organizations can pay an annual fee that covers Open Knowledge Sharing fees for all employees</a:t>
                      </a:r>
                    </a:p>
                    <a:p>
                      <a:pPr marL="123825" marR="0" lvl="0" indent="-123825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Symbol" pitchFamily="2" charset="2"/>
                        <a:buChar char=""/>
                        <a:tabLst/>
                      </a:pPr>
                      <a:endParaRPr lang="en-US" sz="1400" dirty="0">
                        <a:solidFill>
                          <a:schemeClr val="tx1"/>
                        </a:solidFill>
                        <a:effectLst/>
                      </a:endParaRPr>
                    </a:p>
                    <a:p>
                      <a:pPr marL="123825" marR="0" lvl="0" indent="-123825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Symbol" pitchFamily="2" charset="2"/>
                        <a:buChar char=""/>
                        <a:tabLst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  <a:effectLst/>
                        </a:rPr>
                        <a:t>(Like various standards bodies) Organizations can pay an annual fee to help govern and evolve the AccelRR8 BOK</a:t>
                      </a:r>
                    </a:p>
                    <a:p>
                      <a:pPr marL="123825" marR="0" lvl="0" indent="-123825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Symbol" pitchFamily="2" charset="2"/>
                        <a:buChar char=""/>
                        <a:tabLst/>
                      </a:pPr>
                      <a:endParaRPr lang="en-US" sz="1400" dirty="0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29769333"/>
                  </a:ext>
                </a:extLst>
              </a:tr>
            </a:tbl>
          </a:graphicData>
        </a:graphic>
      </p:graphicFrame>
      <p:sp>
        <p:nvSpPr>
          <p:cNvPr id="6" name="Rectangle 5">
            <a:extLst>
              <a:ext uri="{FF2B5EF4-FFF2-40B4-BE49-F238E27FC236}">
                <a16:creationId xmlns:a16="http://schemas.microsoft.com/office/drawing/2014/main" id="{EEEA9109-11FD-F460-0725-95712E9F1A03}"/>
              </a:ext>
            </a:extLst>
          </p:cNvPr>
          <p:cNvSpPr/>
          <p:nvPr/>
        </p:nvSpPr>
        <p:spPr>
          <a:xfrm>
            <a:off x="969319" y="-1"/>
            <a:ext cx="2743200" cy="263047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1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+mn-cs"/>
                <a:sym typeface="Arial"/>
              </a:rPr>
              <a:t>Reviewing Stage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18ACE2DB-9695-6846-EBC0-CDDAB593C84D}"/>
              </a:ext>
            </a:extLst>
          </p:cNvPr>
          <p:cNvSpPr/>
          <p:nvPr/>
        </p:nvSpPr>
        <p:spPr>
          <a:xfrm>
            <a:off x="3733400" y="-1"/>
            <a:ext cx="2743200" cy="263047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14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+mn-cs"/>
                <a:sym typeface="Arial"/>
              </a:rPr>
              <a:t>Analysis Stage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E5825B23-224F-30BC-1255-BD6819F53A15}"/>
              </a:ext>
            </a:extLst>
          </p:cNvPr>
          <p:cNvSpPr/>
          <p:nvPr/>
        </p:nvSpPr>
        <p:spPr>
          <a:xfrm>
            <a:off x="6484954" y="-1"/>
            <a:ext cx="2743200" cy="263047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1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+mn-cs"/>
                <a:sym typeface="Arial"/>
              </a:rPr>
              <a:t>Implementing - MVP Stage</a:t>
            </a:r>
          </a:p>
        </p:txBody>
      </p:sp>
      <p:sp>
        <p:nvSpPr>
          <p:cNvPr id="2" name="Google Shape;18;p9">
            <a:extLst>
              <a:ext uri="{FF2B5EF4-FFF2-40B4-BE49-F238E27FC236}">
                <a16:creationId xmlns:a16="http://schemas.microsoft.com/office/drawing/2014/main" id="{B53C39C2-BA45-92C3-D93B-96BF2FF7E2EA}"/>
              </a:ext>
            </a:extLst>
          </p:cNvPr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 dirty="0"/>
              <a:t>Proprietary and Confidential Information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319173048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 dirty="0"/>
              <a:t>Refined Cost Estimates and WSJF</a:t>
            </a:r>
            <a:endParaRPr dirty="0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35E44920-E1DB-DBA8-39D2-0F97A8DAB792}"/>
              </a:ext>
            </a:extLst>
          </p:cNvPr>
          <p:cNvSpPr/>
          <p:nvPr/>
        </p:nvSpPr>
        <p:spPr>
          <a:xfrm>
            <a:off x="969319" y="-1"/>
            <a:ext cx="2743200" cy="263047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1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+mn-cs"/>
                <a:sym typeface="Arial"/>
              </a:rPr>
              <a:t>Reviewing Stage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1C465CE0-9D8F-416A-DC1E-6FAA36024E82}"/>
              </a:ext>
            </a:extLst>
          </p:cNvPr>
          <p:cNvSpPr/>
          <p:nvPr/>
        </p:nvSpPr>
        <p:spPr>
          <a:xfrm>
            <a:off x="3733400" y="-1"/>
            <a:ext cx="2743200" cy="263047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14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+mn-cs"/>
                <a:sym typeface="Arial"/>
              </a:rPr>
              <a:t>Analysis Stage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33A93366-078D-A801-5B4A-525F4CD74719}"/>
              </a:ext>
            </a:extLst>
          </p:cNvPr>
          <p:cNvSpPr/>
          <p:nvPr/>
        </p:nvSpPr>
        <p:spPr>
          <a:xfrm>
            <a:off x="6484954" y="-1"/>
            <a:ext cx="2743200" cy="263047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1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+mn-cs"/>
                <a:sym typeface="Arial"/>
              </a:rPr>
              <a:t>Implementing - MVP Stage</a:t>
            </a:r>
          </a:p>
        </p:txBody>
      </p:sp>
      <p:sp>
        <p:nvSpPr>
          <p:cNvPr id="3" name="Google Shape;18;p9">
            <a:extLst>
              <a:ext uri="{FF2B5EF4-FFF2-40B4-BE49-F238E27FC236}">
                <a16:creationId xmlns:a16="http://schemas.microsoft.com/office/drawing/2014/main" id="{7EF92490-8763-C122-9420-8771007CA2FA}"/>
              </a:ext>
            </a:extLst>
          </p:cNvPr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 dirty="0"/>
              <a:t>Proprietary and Confidential Information</a:t>
            </a:r>
            <a:endParaRPr dirty="0"/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27601DD6-DAE5-888B-0F9A-3C991194241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57362467"/>
              </p:ext>
            </p:extLst>
          </p:nvPr>
        </p:nvGraphicFramePr>
        <p:xfrm>
          <a:off x="969319" y="1590327"/>
          <a:ext cx="10795218" cy="47244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851940">
                  <a:extLst>
                    <a:ext uri="{9D8B030D-6E8A-4147-A177-3AD203B41FA5}">
                      <a16:colId xmlns:a16="http://schemas.microsoft.com/office/drawing/2014/main" val="533583650"/>
                    </a:ext>
                  </a:extLst>
                </a:gridCol>
                <a:gridCol w="8943278">
                  <a:extLst>
                    <a:ext uri="{9D8B030D-6E8A-4147-A177-3AD203B41FA5}">
                      <a16:colId xmlns:a16="http://schemas.microsoft.com/office/drawing/2014/main" val="20127695"/>
                    </a:ext>
                  </a:extLst>
                </a:gridCol>
              </a:tblGrid>
              <a:tr h="146916">
                <a:tc>
                  <a:txBody>
                    <a:bodyPr/>
                    <a:lstStyle/>
                    <a:p>
                      <a:r>
                        <a:rPr lang="en-US" sz="1600" b="0" dirty="0"/>
                        <a:t>Preliminary Cost Estimates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b="0" i="0" u="none" strike="noStrike" cap="none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Arial"/>
                        </a:rPr>
                        <a:t>$0:  Donation of volunteer time by leaders at no cost to AccelRR8 Consortium Non-Profit</a:t>
                      </a:r>
                    </a:p>
                    <a:p>
                      <a:r>
                        <a:rPr lang="en-US" sz="1400" b="0" i="0" u="none" strike="noStrike" cap="none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Arial"/>
                        </a:rPr>
                        <a:t>$0:  Use of LinkedIn and other platforms at no cost to AccelRR8 Consortium Non-Profit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92281396"/>
                  </a:ext>
                </a:extLst>
              </a:tr>
              <a:tr h="146916">
                <a:tc>
                  <a:txBody>
                    <a:bodyPr/>
                    <a:lstStyle/>
                    <a:p>
                      <a:r>
                        <a:rPr lang="en-US" sz="1600" b="0" dirty="0"/>
                        <a:t>Relative Priority</a:t>
                      </a:r>
                    </a:p>
                    <a:p>
                      <a:endParaRPr lang="en-US" sz="1600" b="0" dirty="0"/>
                    </a:p>
                    <a:p>
                      <a:r>
                        <a:rPr lang="en-US" sz="1200" b="0" i="1" dirty="0"/>
                        <a:t>Method:  Weighted Shortest Job First (WSJF) Score*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dirty="0"/>
                        <a:t>WSJF = 4, which is COST OF DELAY / JOB SIZE = 35 / 8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endParaRPr lang="en-US" dirty="0"/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dirty="0"/>
                        <a:t>COST OF DELAY = 11 + 11 + 13 = 35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dirty="0"/>
                        <a:t>   USER-BUSINESS VALUE = 11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dirty="0"/>
                        <a:t>       Do subscribers prefer this over other services?   13:  the “grow value exponentially at scale” skill is valued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dirty="0"/>
                        <a:t>       What is the revenue impact on the Consortium?   1:  the MVP is a free service, though some may donate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dirty="0"/>
                        <a:t>       Are there negative effects if we delay?   20:  the Consortium’s other services depend on this one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dirty="0"/>
                        <a:t>   TIME CRITICALITY = 11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dirty="0"/>
                        <a:t>       Is there a fixed deadline?   1:  no fixed deadline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dirty="0"/>
                        <a:t>       Will they wait for us or move to another Solution?   20:  AI maturity threatens relevancy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dirty="0"/>
                        <a:t>       What is the current effect on subscriber satisfaction?   13:  subscribers want knowledge they can use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dirty="0"/>
                        <a:t>   RISK REDUCTION AND/OR OPPORTUNITY ENABLEMENT = 13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dirty="0"/>
                        <a:t>       Reduces the risk of this or future delivery?   13:  viral ideation is needed to attract and retain subscribers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dirty="0"/>
                        <a:t>       Is there value in the information we receive?  13:  willingness of subscribers to ideate and use the BOK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dirty="0"/>
                        <a:t>       Enable new business opportunities?  13:  subscribers may be interested in certifications, etc.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endParaRPr lang="en-US" dirty="0"/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dirty="0"/>
                        <a:t>JOB SIZE = 8;  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dirty="0"/>
                        <a:t>      Leaders will need to personally develop initial AccelRR8 Body of Knowledge content (6 months);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dirty="0"/>
                        <a:t>      Leaders will need to engage industry influencers to share their knowledge and advocacy (6 months)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2976933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6843421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 dirty="0"/>
              <a:t>Lean Business Case</a:t>
            </a:r>
            <a:endParaRPr dirty="0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CFC16F5D-3110-F78F-4BCE-2771F94F23F4}"/>
              </a:ext>
            </a:extLst>
          </p:cNvPr>
          <p:cNvSpPr/>
          <p:nvPr/>
        </p:nvSpPr>
        <p:spPr>
          <a:xfrm>
            <a:off x="969319" y="-1"/>
            <a:ext cx="2743200" cy="263047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1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+mn-cs"/>
                <a:sym typeface="Arial"/>
              </a:rPr>
              <a:t>Reviewing Stage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DFB45135-FB35-B334-1389-8F4FC41447E6}"/>
              </a:ext>
            </a:extLst>
          </p:cNvPr>
          <p:cNvSpPr/>
          <p:nvPr/>
        </p:nvSpPr>
        <p:spPr>
          <a:xfrm>
            <a:off x="3733400" y="-1"/>
            <a:ext cx="2743200" cy="263047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14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+mn-cs"/>
                <a:sym typeface="Arial"/>
              </a:rPr>
              <a:t>Analysis Stage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CF952194-1B19-D864-7329-44E737966261}"/>
              </a:ext>
            </a:extLst>
          </p:cNvPr>
          <p:cNvSpPr/>
          <p:nvPr/>
        </p:nvSpPr>
        <p:spPr>
          <a:xfrm>
            <a:off x="6484954" y="-1"/>
            <a:ext cx="2743200" cy="263047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1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+mn-cs"/>
                <a:sym typeface="Arial"/>
              </a:rPr>
              <a:t>Implementing - MVP Stage</a:t>
            </a:r>
          </a:p>
        </p:txBody>
      </p:sp>
      <p:sp>
        <p:nvSpPr>
          <p:cNvPr id="6" name="Google Shape;18;p9">
            <a:extLst>
              <a:ext uri="{FF2B5EF4-FFF2-40B4-BE49-F238E27FC236}">
                <a16:creationId xmlns:a16="http://schemas.microsoft.com/office/drawing/2014/main" id="{FC3986F6-425A-0514-DE8E-DE31978EAAD1}"/>
              </a:ext>
            </a:extLst>
          </p:cNvPr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 dirty="0"/>
              <a:t>Proprietary and Confidential Information</a:t>
            </a:r>
            <a:endParaRPr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E3F46F6A-701E-095B-90D8-0F5F5319F795}"/>
              </a:ext>
            </a:extLst>
          </p:cNvPr>
          <p:cNvSpPr txBox="1"/>
          <p:nvPr/>
        </p:nvSpPr>
        <p:spPr>
          <a:xfrm>
            <a:off x="914400" y="1883229"/>
            <a:ext cx="5032147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hlinkClick r:id="rId3"/>
              </a:rPr>
              <a:t>Link to Open_Knowledge_Sharing_v1_Lean_Business_Case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4300755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 dirty="0"/>
              <a:t>Service MVP </a:t>
            </a:r>
            <a:br>
              <a:rPr lang="en-US" dirty="0"/>
            </a:br>
            <a:r>
              <a:rPr lang="en-US" dirty="0"/>
              <a:t>Component Descriptions</a:t>
            </a:r>
            <a:endParaRPr dirty="0"/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4B70F3A5-8062-29A2-30D0-2783CB3DFCC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76199952"/>
              </p:ext>
            </p:extLst>
          </p:nvPr>
        </p:nvGraphicFramePr>
        <p:xfrm>
          <a:off x="969319" y="1690687"/>
          <a:ext cx="10806369" cy="4609754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929998">
                  <a:extLst>
                    <a:ext uri="{9D8B030D-6E8A-4147-A177-3AD203B41FA5}">
                      <a16:colId xmlns:a16="http://schemas.microsoft.com/office/drawing/2014/main" val="533583650"/>
                    </a:ext>
                  </a:extLst>
                </a:gridCol>
                <a:gridCol w="8876371">
                  <a:extLst>
                    <a:ext uri="{9D8B030D-6E8A-4147-A177-3AD203B41FA5}">
                      <a16:colId xmlns:a16="http://schemas.microsoft.com/office/drawing/2014/main" val="20127695"/>
                    </a:ext>
                  </a:extLst>
                </a:gridCol>
              </a:tblGrid>
              <a:tr h="393080">
                <a:tc>
                  <a:txBody>
                    <a:bodyPr/>
                    <a:lstStyle/>
                    <a:p>
                      <a:r>
                        <a:rPr lang="en-US" sz="1600" b="0" dirty="0"/>
                        <a:t>Service Name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Open Knowledge Sharing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83780345"/>
                  </a:ext>
                </a:extLst>
              </a:tr>
              <a:tr h="393080">
                <a:tc>
                  <a:txBody>
                    <a:bodyPr/>
                    <a:lstStyle/>
                    <a:p>
                      <a:r>
                        <a:rPr lang="en-US" sz="1600" b="0" dirty="0"/>
                        <a:t>Service Strategy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&lt;3-Horizon Strategy for the Service&gt;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07085893"/>
                  </a:ext>
                </a:extLst>
              </a:tr>
              <a:tr h="607487">
                <a:tc>
                  <a:txBody>
                    <a:bodyPr/>
                    <a:lstStyle/>
                    <a:p>
                      <a:r>
                        <a:rPr lang="en-US" sz="1600" b="0" dirty="0"/>
                        <a:t>Service Context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&lt;See SAFe Solution Context at </a:t>
                      </a:r>
                      <a:r>
                        <a:rPr lang="en-US" dirty="0">
                          <a:hlinkClick r:id="rId3"/>
                        </a:rPr>
                        <a:t>this link</a:t>
                      </a:r>
                      <a:r>
                        <a:rPr lang="en-US" dirty="0"/>
                        <a:t>&gt;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92281396"/>
                  </a:ext>
                </a:extLst>
              </a:tr>
              <a:tr h="607487">
                <a:tc>
                  <a:txBody>
                    <a:bodyPr/>
                    <a:lstStyle/>
                    <a:p>
                      <a:r>
                        <a:rPr lang="en-US" sz="1600" b="0" dirty="0"/>
                        <a:t>Service Intent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&lt;See SAFe Solution Intent at </a:t>
                      </a:r>
                      <a:r>
                        <a:rPr lang="en-US" dirty="0">
                          <a:hlinkClick r:id="rId4"/>
                        </a:rPr>
                        <a:t>this link</a:t>
                      </a:r>
                      <a:r>
                        <a:rPr lang="en-US" dirty="0"/>
                        <a:t>&gt;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29769333"/>
                  </a:ext>
                </a:extLst>
              </a:tr>
              <a:tr h="393080">
                <a:tc>
                  <a:txBody>
                    <a:bodyPr/>
                    <a:lstStyle/>
                    <a:p>
                      <a:r>
                        <a:rPr lang="en-US" sz="1600" b="0" dirty="0"/>
                        <a:t>Development Kit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&lt;Descriptions of Collateral and Tools used by the Products team to develop the service&gt;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2804956"/>
                  </a:ext>
                </a:extLst>
              </a:tr>
              <a:tr h="857628">
                <a:tc>
                  <a:txBody>
                    <a:bodyPr/>
                    <a:lstStyle/>
                    <a:p>
                      <a:r>
                        <a:rPr lang="en-US" sz="1600" b="0" dirty="0"/>
                        <a:t>Demand </a:t>
                      </a:r>
                      <a:br>
                        <a:rPr lang="en-US" sz="1600" b="0" dirty="0"/>
                      </a:br>
                      <a:r>
                        <a:rPr lang="en-US" sz="1600" b="0" dirty="0"/>
                        <a:t>Generation Kit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&lt;Descriptions of Collateral and Tools used by Demand Generation to engage with potential Customers in market segments about the service&gt;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72717509"/>
                  </a:ext>
                </a:extLst>
              </a:tr>
              <a:tr h="678956">
                <a:tc>
                  <a:txBody>
                    <a:bodyPr/>
                    <a:lstStyle/>
                    <a:p>
                      <a:r>
                        <a:rPr lang="en-US" sz="1600" b="0" dirty="0"/>
                        <a:t>Beneficiaries Engagement Kit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2"/>
                      <a:r>
                        <a:rPr lang="en-US" dirty="0"/>
                        <a:t>&lt;Descriptions of Collateral and Tools used by Beneficiaries Engagement to engage with specific potential potential beneficiaries about the service&gt;</a:t>
                      </a:r>
                      <a:endParaRPr lang="en-US" sz="1400" b="0" i="0" u="none" strike="noStrike" cap="none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  <a:sym typeface="Arial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47728929"/>
                  </a:ext>
                </a:extLst>
              </a:tr>
              <a:tr h="678956">
                <a:tc>
                  <a:txBody>
                    <a:bodyPr/>
                    <a:lstStyle/>
                    <a:p>
                      <a:r>
                        <a:rPr lang="en-US" sz="1600" b="0" dirty="0"/>
                        <a:t>Delivery of </a:t>
                      </a:r>
                      <a:br>
                        <a:rPr lang="en-US" sz="1600" b="0" dirty="0"/>
                      </a:br>
                      <a:r>
                        <a:rPr lang="en-US" sz="1600" b="0" dirty="0"/>
                        <a:t>Service Kit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&lt;Descriptions of Collateral and Tools used by Delivery of Services to engage with beneficiaries about the service&gt;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21847728"/>
                  </a:ext>
                </a:extLst>
              </a:tr>
            </a:tbl>
          </a:graphicData>
        </a:graphic>
      </p:graphicFrame>
      <p:sp>
        <p:nvSpPr>
          <p:cNvPr id="6" name="Rectangle 5">
            <a:extLst>
              <a:ext uri="{FF2B5EF4-FFF2-40B4-BE49-F238E27FC236}">
                <a16:creationId xmlns:a16="http://schemas.microsoft.com/office/drawing/2014/main" id="{A7372D81-FEF0-F693-D686-F9DF46C1643F}"/>
              </a:ext>
            </a:extLst>
          </p:cNvPr>
          <p:cNvSpPr/>
          <p:nvPr/>
        </p:nvSpPr>
        <p:spPr>
          <a:xfrm>
            <a:off x="969319" y="-1"/>
            <a:ext cx="2743200" cy="263047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Reviewing Stage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CF9C5A52-20CA-F258-B608-01820FE0C522}"/>
              </a:ext>
            </a:extLst>
          </p:cNvPr>
          <p:cNvSpPr/>
          <p:nvPr/>
        </p:nvSpPr>
        <p:spPr>
          <a:xfrm>
            <a:off x="3733400" y="-1"/>
            <a:ext cx="2743200" cy="263047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bg1"/>
                </a:solidFill>
              </a:rPr>
              <a:t>Analysis Stage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5A08F55C-5399-5D3A-6145-A00CC01B7E5F}"/>
              </a:ext>
            </a:extLst>
          </p:cNvPr>
          <p:cNvSpPr/>
          <p:nvPr/>
        </p:nvSpPr>
        <p:spPr>
          <a:xfrm>
            <a:off x="6484954" y="-1"/>
            <a:ext cx="2743200" cy="263047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Implementing - MVP Stage</a:t>
            </a:r>
          </a:p>
        </p:txBody>
      </p:sp>
    </p:spTree>
    <p:extLst>
      <p:ext uri="{BB962C8B-B14F-4D97-AF65-F5344CB8AC3E}">
        <p14:creationId xmlns:p14="http://schemas.microsoft.com/office/powerpoint/2010/main" val="396043504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30EB244C-C85F-010E-A084-D8B6D90C72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Deliverables Produced During the</a:t>
            </a:r>
            <a:br>
              <a:rPr lang="en-US" dirty="0"/>
            </a:br>
            <a:r>
              <a:rPr lang="en-US" dirty="0"/>
              <a:t>Implementing - MVP Stage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2080D088-D60A-E04C-3455-F07D0ED3B9D3}"/>
              </a:ext>
            </a:extLst>
          </p:cNvPr>
          <p:cNvSpPr/>
          <p:nvPr/>
        </p:nvSpPr>
        <p:spPr>
          <a:xfrm>
            <a:off x="969319" y="-1"/>
            <a:ext cx="2743200" cy="263047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1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+mn-cs"/>
                <a:sym typeface="Arial"/>
              </a:rPr>
              <a:t>Reviewing Stage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BF9836CB-4917-29CA-7AC0-92843E145652}"/>
              </a:ext>
            </a:extLst>
          </p:cNvPr>
          <p:cNvSpPr/>
          <p:nvPr/>
        </p:nvSpPr>
        <p:spPr>
          <a:xfrm>
            <a:off x="3733400" y="-1"/>
            <a:ext cx="2743200" cy="263047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1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+mn-cs"/>
                <a:sym typeface="Arial"/>
              </a:rPr>
              <a:t>Analysis Stage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FC1CCD8A-8B41-9B93-2D05-D8CF2AC3F89C}"/>
              </a:ext>
            </a:extLst>
          </p:cNvPr>
          <p:cNvSpPr/>
          <p:nvPr/>
        </p:nvSpPr>
        <p:spPr>
          <a:xfrm>
            <a:off x="6484954" y="-1"/>
            <a:ext cx="2743200" cy="263047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14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+mn-cs"/>
                <a:sym typeface="Arial"/>
              </a:rPr>
              <a:t>Implementing - MVP Stage</a:t>
            </a:r>
          </a:p>
        </p:txBody>
      </p:sp>
      <p:sp>
        <p:nvSpPr>
          <p:cNvPr id="6" name="Google Shape;18;p9">
            <a:extLst>
              <a:ext uri="{FF2B5EF4-FFF2-40B4-BE49-F238E27FC236}">
                <a16:creationId xmlns:a16="http://schemas.microsoft.com/office/drawing/2014/main" id="{ED514B9A-C821-414D-27E7-22058443F6B3}"/>
              </a:ext>
            </a:extLst>
          </p:cNvPr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 dirty="0"/>
              <a:t>Proprietary and Confidential Information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97022583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 dirty="0"/>
              <a:t>Offering MVP </a:t>
            </a:r>
            <a:br>
              <a:rPr lang="en-US" dirty="0"/>
            </a:br>
            <a:r>
              <a:rPr lang="en-US" dirty="0"/>
              <a:t>Component Links</a:t>
            </a:r>
            <a:endParaRPr dirty="0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1911BEFC-1920-CDC4-D668-C6A225FD1E80}"/>
              </a:ext>
            </a:extLst>
          </p:cNvPr>
          <p:cNvSpPr/>
          <p:nvPr/>
        </p:nvSpPr>
        <p:spPr>
          <a:xfrm>
            <a:off x="969319" y="-1"/>
            <a:ext cx="2743200" cy="263047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1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+mn-cs"/>
                <a:sym typeface="Arial"/>
              </a:rPr>
              <a:t>Reviewing Stage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40E67E27-965B-E3ED-DB12-8F7EC8856408}"/>
              </a:ext>
            </a:extLst>
          </p:cNvPr>
          <p:cNvSpPr/>
          <p:nvPr/>
        </p:nvSpPr>
        <p:spPr>
          <a:xfrm>
            <a:off x="3733400" y="-1"/>
            <a:ext cx="2743200" cy="263047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1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+mn-cs"/>
                <a:sym typeface="Arial"/>
              </a:rPr>
              <a:t>Analysis Stage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08128C04-B19B-2E05-3473-28A909FEAFDE}"/>
              </a:ext>
            </a:extLst>
          </p:cNvPr>
          <p:cNvSpPr/>
          <p:nvPr/>
        </p:nvSpPr>
        <p:spPr>
          <a:xfrm>
            <a:off x="6484954" y="-1"/>
            <a:ext cx="2743200" cy="263047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14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+mn-cs"/>
                <a:sym typeface="Arial"/>
              </a:rPr>
              <a:t>Implementing - MVP Stage</a:t>
            </a:r>
          </a:p>
        </p:txBody>
      </p:sp>
      <p:sp>
        <p:nvSpPr>
          <p:cNvPr id="6" name="Google Shape;18;p9">
            <a:extLst>
              <a:ext uri="{FF2B5EF4-FFF2-40B4-BE49-F238E27FC236}">
                <a16:creationId xmlns:a16="http://schemas.microsoft.com/office/drawing/2014/main" id="{7C30D5DC-2695-01BA-B05D-C3CC4747D7F4}"/>
              </a:ext>
            </a:extLst>
          </p:cNvPr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 dirty="0"/>
              <a:t>Proprietary and Confidential Information</a:t>
            </a:r>
            <a:endParaRPr dirty="0"/>
          </a:p>
        </p:txBody>
      </p:sp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86EDB53E-860A-E121-26F6-57064FD09AE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15964776"/>
              </p:ext>
            </p:extLst>
          </p:nvPr>
        </p:nvGraphicFramePr>
        <p:xfrm>
          <a:off x="969319" y="1690688"/>
          <a:ext cx="10795218" cy="44196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929998">
                  <a:extLst>
                    <a:ext uri="{9D8B030D-6E8A-4147-A177-3AD203B41FA5}">
                      <a16:colId xmlns:a16="http://schemas.microsoft.com/office/drawing/2014/main" val="533583650"/>
                    </a:ext>
                  </a:extLst>
                </a:gridCol>
                <a:gridCol w="8865220">
                  <a:extLst>
                    <a:ext uri="{9D8B030D-6E8A-4147-A177-3AD203B41FA5}">
                      <a16:colId xmlns:a16="http://schemas.microsoft.com/office/drawing/2014/main" val="20127695"/>
                    </a:ext>
                  </a:extLst>
                </a:gridCol>
              </a:tblGrid>
              <a:tr h="146916">
                <a:tc>
                  <a:txBody>
                    <a:bodyPr/>
                    <a:lstStyle/>
                    <a:p>
                      <a:r>
                        <a:rPr lang="en-US" sz="1600" b="0" dirty="0"/>
                        <a:t>Offering Name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Open Knowledge Sharing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83780345"/>
                  </a:ext>
                </a:extLst>
              </a:tr>
              <a:tr h="146916">
                <a:tc>
                  <a:txBody>
                    <a:bodyPr/>
                    <a:lstStyle/>
                    <a:p>
                      <a:r>
                        <a:rPr lang="en-US" sz="1600" b="0" dirty="0"/>
                        <a:t>Offering Context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Enterprising Tech Services leaders want to deliver exponential benefits to their customers and organizations, but must overcome systemic cultural and technical barriers to do so at scale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92281396"/>
                  </a:ext>
                </a:extLst>
              </a:tr>
              <a:tr h="146916">
                <a:tc>
                  <a:txBody>
                    <a:bodyPr/>
                    <a:lstStyle/>
                    <a:p>
                      <a:r>
                        <a:rPr lang="en-US" sz="1600" b="0" dirty="0"/>
                        <a:t>Offering Intent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Help Tech Services leaders work together to accelerate exponential success for themselves, their companies and colleagues, the Tech Services industry and, by extension, all of humanity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29769333"/>
                  </a:ext>
                </a:extLst>
              </a:tr>
              <a:tr h="146916">
                <a:tc>
                  <a:txBody>
                    <a:bodyPr/>
                    <a:lstStyle/>
                    <a:p>
                      <a:r>
                        <a:rPr lang="en-US" sz="1600" b="0" dirty="0"/>
                        <a:t>Research &amp; </a:t>
                      </a:r>
                      <a:br>
                        <a:rPr lang="en-US" sz="1600" b="0" dirty="0"/>
                      </a:br>
                      <a:r>
                        <a:rPr lang="en-US" sz="1600" b="0" dirty="0"/>
                        <a:t>Development Kit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&lt;Descriptions of Collateral and Tools used by Product Research &amp; Development to develop the offering&gt;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2804956"/>
                  </a:ext>
                </a:extLst>
              </a:tr>
              <a:tr h="146916">
                <a:tc>
                  <a:txBody>
                    <a:bodyPr/>
                    <a:lstStyle/>
                    <a:p>
                      <a:r>
                        <a:rPr lang="en-US" sz="1600" b="0" dirty="0"/>
                        <a:t>Media and Analyst Relations Kit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The MVP will include low-cost advertisements through select media, and will attempt to enlist the help of select industry analysts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53897587"/>
                  </a:ext>
                </a:extLst>
              </a:tr>
              <a:tr h="146916">
                <a:tc>
                  <a:txBody>
                    <a:bodyPr/>
                    <a:lstStyle/>
                    <a:p>
                      <a:r>
                        <a:rPr lang="en-US" sz="1600" b="0" dirty="0"/>
                        <a:t>Demand </a:t>
                      </a:r>
                      <a:br>
                        <a:rPr lang="en-US" sz="1600" b="0" dirty="0"/>
                      </a:br>
                      <a:r>
                        <a:rPr lang="en-US" sz="1600" b="0" dirty="0"/>
                        <a:t>Generation Kit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The MVP will include demand generation collateral that will be featured on the AccelRR8 Consortium LinkedIn page, and advertised to potential collaborators via:</a:t>
                      </a:r>
                    </a:p>
                    <a:p>
                      <a:pPr marL="123825" indent="-123825">
                        <a:buFontTx/>
                        <a:buChar char="-"/>
                        <a:tabLst/>
                      </a:pPr>
                      <a:r>
                        <a:rPr lang="en-US" dirty="0"/>
                        <a:t>LinkedIn to AccelRR8 Consortium Board Members’ professional LinkedIn Networks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72717509"/>
                  </a:ext>
                </a:extLst>
              </a:tr>
              <a:tr h="225835">
                <a:tc>
                  <a:txBody>
                    <a:bodyPr/>
                    <a:lstStyle/>
                    <a:p>
                      <a:r>
                        <a:rPr lang="en-US" sz="1600" b="0" dirty="0"/>
                        <a:t>Beneficiaries Engagement Kit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2"/>
                      <a:r>
                        <a:rPr lang="en-US" dirty="0"/>
                        <a:t>&lt;Descriptions of Collateral and Tools used by Beneficiaries Engagement to engage with specific potential potential beneficiaries about the service&gt;</a:t>
                      </a:r>
                      <a:endParaRPr lang="en-US" sz="1400" b="0" i="0" u="none" strike="noStrike" cap="none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  <a:sym typeface="Arial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47728929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1600" b="0" dirty="0"/>
                        <a:t>Delivery of </a:t>
                      </a:r>
                      <a:br>
                        <a:rPr lang="en-US" sz="1600" b="0" dirty="0"/>
                      </a:br>
                      <a:r>
                        <a:rPr lang="en-US" sz="1600" b="0" dirty="0"/>
                        <a:t>Service Kit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&lt;Descriptions of Collateral and Tools used by Delivery of Services to engage with beneficiaries about the service&gt;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2184772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63968245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1_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13269</TotalTime>
  <Words>1299</Words>
  <Application>Microsoft Macintosh PowerPoint</Application>
  <PresentationFormat>Widescreen</PresentationFormat>
  <Paragraphs>155</Paragraphs>
  <Slides>11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11</vt:i4>
      </vt:variant>
    </vt:vector>
  </HeadingPairs>
  <TitlesOfParts>
    <vt:vector size="16" baseType="lpstr">
      <vt:lpstr>Arial</vt:lpstr>
      <vt:lpstr>Calibri</vt:lpstr>
      <vt:lpstr>Symbol</vt:lpstr>
      <vt:lpstr>Office Theme</vt:lpstr>
      <vt:lpstr>1_Office Theme</vt:lpstr>
      <vt:lpstr>  AccelRR8 Consortium NonProfit Open Knowledge Sharing Service v1 </vt:lpstr>
      <vt:lpstr>Deliverables Produced During the Review Stage</vt:lpstr>
      <vt:lpstr>Service Hypothesis</vt:lpstr>
      <vt:lpstr>Preliminary Cost Estimates and WSJF</vt:lpstr>
      <vt:lpstr>Deliverables Produced During the Analysis Stage</vt:lpstr>
      <vt:lpstr>Service Alternatives</vt:lpstr>
      <vt:lpstr>Refined Cost Estimates and WSJF</vt:lpstr>
      <vt:lpstr>Lean Business Case</vt:lpstr>
      <vt:lpstr>Service MVP  Component Descriptions</vt:lpstr>
      <vt:lpstr>Deliverables Produced During the Implementing - MVP Stage</vt:lpstr>
      <vt:lpstr>Offering MVP  Component Links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Proposal for Digital Architect Consulting Services</dc:title>
  <dc:creator>Rich Reba</dc:creator>
  <cp:lastModifiedBy>Rich Reba</cp:lastModifiedBy>
  <cp:revision>136</cp:revision>
  <cp:lastPrinted>2023-12-07T14:04:48Z</cp:lastPrinted>
  <dcterms:created xsi:type="dcterms:W3CDTF">2023-08-22T19:09:59Z</dcterms:created>
  <dcterms:modified xsi:type="dcterms:W3CDTF">2026-08-13T02:43:57Z</dcterms:modified>
</cp:coreProperties>
</file>