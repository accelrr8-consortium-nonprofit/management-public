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8"/>
  </p:notesMasterIdLst>
  <p:sldIdLst>
    <p:sldId id="256" r:id="rId3"/>
    <p:sldId id="278" r:id="rId4"/>
    <p:sldId id="264" r:id="rId5"/>
    <p:sldId id="282" r:id="rId6"/>
    <p:sldId id="279" r:id="rId7"/>
    <p:sldId id="276" r:id="rId8"/>
    <p:sldId id="277" r:id="rId9"/>
    <p:sldId id="268" r:id="rId10"/>
    <p:sldId id="269" r:id="rId11"/>
    <p:sldId id="270" r:id="rId12"/>
    <p:sldId id="271" r:id="rId13"/>
    <p:sldId id="272" r:id="rId14"/>
    <p:sldId id="283" r:id="rId15"/>
    <p:sldId id="280" r:id="rId16"/>
    <p:sldId id="275"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hwEp+Eio5qReXqYqUwMP31HB0A8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C05174-BA9D-FB4D-903E-06F7B3087031}" v="2" dt="2026-08-09T19:40:57.7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56"/>
    <p:restoredTop sz="96233"/>
  </p:normalViewPr>
  <p:slideViewPr>
    <p:cSldViewPr snapToGrid="0">
      <p:cViewPr varScale="1">
        <p:scale>
          <a:sx n="118" d="100"/>
          <a:sy n="118" d="100"/>
        </p:scale>
        <p:origin x="64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 Reba" userId="55db41ab6eb3f845" providerId="LiveId" clId="{0E19DA16-244C-5B50-BE0F-52911DD4CA7E}"/>
    <pc:docChg chg="custSel modSld">
      <pc:chgData name="Rich Reba" userId="55db41ab6eb3f845" providerId="LiveId" clId="{0E19DA16-244C-5B50-BE0F-52911DD4CA7E}" dt="2026-08-09T19:40:57.788" v="838"/>
      <pc:docMkLst>
        <pc:docMk/>
      </pc:docMkLst>
      <pc:sldChg chg="modSp mod">
        <pc:chgData name="Rich Reba" userId="55db41ab6eb3f845" providerId="LiveId" clId="{0E19DA16-244C-5B50-BE0F-52911DD4CA7E}" dt="2026-08-09T19:29:08.650" v="46" actId="20577"/>
        <pc:sldMkLst>
          <pc:docMk/>
          <pc:sldMk cId="0" sldId="256"/>
        </pc:sldMkLst>
        <pc:spChg chg="mod">
          <ac:chgData name="Rich Reba" userId="55db41ab6eb3f845" providerId="LiveId" clId="{0E19DA16-244C-5B50-BE0F-52911DD4CA7E}" dt="2026-08-09T19:29:08.650" v="46" actId="20577"/>
          <ac:spMkLst>
            <pc:docMk/>
            <pc:sldMk cId="0" sldId="256"/>
            <ac:spMk id="91" creationId="{00000000-0000-0000-0000-000000000000}"/>
          </ac:spMkLst>
        </pc:spChg>
      </pc:sldChg>
      <pc:sldChg chg="modSp mod">
        <pc:chgData name="Rich Reba" userId="55db41ab6eb3f845" providerId="LiveId" clId="{0E19DA16-244C-5B50-BE0F-52911DD4CA7E}" dt="2026-08-09T19:40:41.181" v="837" actId="20577"/>
        <pc:sldMkLst>
          <pc:docMk/>
          <pc:sldMk cId="1272635936" sldId="264"/>
        </pc:sldMkLst>
        <pc:graphicFrameChg chg="modGraphic">
          <ac:chgData name="Rich Reba" userId="55db41ab6eb3f845" providerId="LiveId" clId="{0E19DA16-244C-5B50-BE0F-52911DD4CA7E}" dt="2026-08-09T19:40:41.181" v="837" actId="20577"/>
          <ac:graphicFrameMkLst>
            <pc:docMk/>
            <pc:sldMk cId="1272635936" sldId="264"/>
            <ac:graphicFrameMk id="5" creationId="{4B70F3A5-8062-29A2-30D0-2783CB3DFCCA}"/>
          </ac:graphicFrameMkLst>
        </pc:graphicFrameChg>
      </pc:sldChg>
      <pc:sldChg chg="modSp mod">
        <pc:chgData name="Rich Reba" userId="55db41ab6eb3f845" providerId="LiveId" clId="{0E19DA16-244C-5B50-BE0F-52911DD4CA7E}" dt="2026-08-09T19:32:35.410" v="358" actId="20577"/>
        <pc:sldMkLst>
          <pc:docMk/>
          <pc:sldMk cId="1243007551" sldId="268"/>
        </pc:sldMkLst>
        <pc:graphicFrameChg chg="modGraphic">
          <ac:chgData name="Rich Reba" userId="55db41ab6eb3f845" providerId="LiveId" clId="{0E19DA16-244C-5B50-BE0F-52911DD4CA7E}" dt="2026-08-09T19:32:35.410" v="358" actId="20577"/>
          <ac:graphicFrameMkLst>
            <pc:docMk/>
            <pc:sldMk cId="1243007551" sldId="268"/>
            <ac:graphicFrameMk id="2" creationId="{849548E0-A616-4177-21C8-C63119ADCD53}"/>
          </ac:graphicFrameMkLst>
        </pc:graphicFrameChg>
      </pc:sldChg>
      <pc:sldChg chg="modSp mod">
        <pc:chgData name="Rich Reba" userId="55db41ab6eb3f845" providerId="LiveId" clId="{0E19DA16-244C-5B50-BE0F-52911DD4CA7E}" dt="2026-08-09T19:33:21.908" v="435" actId="20577"/>
        <pc:sldMkLst>
          <pc:docMk/>
          <pc:sldMk cId="450257364" sldId="269"/>
        </pc:sldMkLst>
        <pc:graphicFrameChg chg="modGraphic">
          <ac:chgData name="Rich Reba" userId="55db41ab6eb3f845" providerId="LiveId" clId="{0E19DA16-244C-5B50-BE0F-52911DD4CA7E}" dt="2026-08-09T19:33:21.908" v="435" actId="20577"/>
          <ac:graphicFrameMkLst>
            <pc:docMk/>
            <pc:sldMk cId="450257364" sldId="269"/>
            <ac:graphicFrameMk id="2" creationId="{849548E0-A616-4177-21C8-C63119ADCD53}"/>
          </ac:graphicFrameMkLst>
        </pc:graphicFrameChg>
      </pc:sldChg>
      <pc:sldChg chg="modSp mod">
        <pc:chgData name="Rich Reba" userId="55db41ab6eb3f845" providerId="LiveId" clId="{0E19DA16-244C-5B50-BE0F-52911DD4CA7E}" dt="2026-08-09T19:34:30.700" v="534" actId="20577"/>
        <pc:sldMkLst>
          <pc:docMk/>
          <pc:sldMk cId="4255637138" sldId="270"/>
        </pc:sldMkLst>
        <pc:graphicFrameChg chg="modGraphic">
          <ac:chgData name="Rich Reba" userId="55db41ab6eb3f845" providerId="LiveId" clId="{0E19DA16-244C-5B50-BE0F-52911DD4CA7E}" dt="2026-08-09T19:34:30.700" v="534" actId="20577"/>
          <ac:graphicFrameMkLst>
            <pc:docMk/>
            <pc:sldMk cId="4255637138" sldId="270"/>
            <ac:graphicFrameMk id="3" creationId="{14B79CD4-17D9-A460-45EE-070B6CD3DAFF}"/>
          </ac:graphicFrameMkLst>
        </pc:graphicFrameChg>
      </pc:sldChg>
      <pc:sldChg chg="modSp mod">
        <pc:chgData name="Rich Reba" userId="55db41ab6eb3f845" providerId="LiveId" clId="{0E19DA16-244C-5B50-BE0F-52911DD4CA7E}" dt="2026-08-09T19:34:48.738" v="579" actId="20577"/>
        <pc:sldMkLst>
          <pc:docMk/>
          <pc:sldMk cId="67448461" sldId="271"/>
        </pc:sldMkLst>
        <pc:graphicFrameChg chg="modGraphic">
          <ac:chgData name="Rich Reba" userId="55db41ab6eb3f845" providerId="LiveId" clId="{0E19DA16-244C-5B50-BE0F-52911DD4CA7E}" dt="2026-08-09T19:34:48.738" v="579" actId="20577"/>
          <ac:graphicFrameMkLst>
            <pc:docMk/>
            <pc:sldMk cId="67448461" sldId="271"/>
            <ac:graphicFrameMk id="2" creationId="{59DCEAC8-DB72-C8D9-0DB4-F8D83D801ADB}"/>
          </ac:graphicFrameMkLst>
        </pc:graphicFrameChg>
      </pc:sldChg>
      <pc:sldChg chg="modSp mod">
        <pc:chgData name="Rich Reba" userId="55db41ab6eb3f845" providerId="LiveId" clId="{0E19DA16-244C-5B50-BE0F-52911DD4CA7E}" dt="2026-08-09T19:35:36.095" v="628" actId="20577"/>
        <pc:sldMkLst>
          <pc:docMk/>
          <pc:sldMk cId="3088802820" sldId="272"/>
        </pc:sldMkLst>
        <pc:graphicFrameChg chg="modGraphic">
          <ac:chgData name="Rich Reba" userId="55db41ab6eb3f845" providerId="LiveId" clId="{0E19DA16-244C-5B50-BE0F-52911DD4CA7E}" dt="2026-08-09T19:35:36.095" v="628" actId="20577"/>
          <ac:graphicFrameMkLst>
            <pc:docMk/>
            <pc:sldMk cId="3088802820" sldId="272"/>
            <ac:graphicFrameMk id="3" creationId="{F1699409-9005-50C8-4771-BC86CF9F9048}"/>
          </ac:graphicFrameMkLst>
        </pc:graphicFrameChg>
      </pc:sldChg>
      <pc:sldChg chg="modSp">
        <pc:chgData name="Rich Reba" userId="55db41ab6eb3f845" providerId="LiveId" clId="{0E19DA16-244C-5B50-BE0F-52911DD4CA7E}" dt="2026-08-09T19:40:57.788" v="838"/>
        <pc:sldMkLst>
          <pc:docMk/>
          <pc:sldMk cId="2639682451" sldId="275"/>
        </pc:sldMkLst>
        <pc:graphicFrameChg chg="mod">
          <ac:chgData name="Rich Reba" userId="55db41ab6eb3f845" providerId="LiveId" clId="{0E19DA16-244C-5B50-BE0F-52911DD4CA7E}" dt="2026-08-09T19:40:57.788" v="838"/>
          <ac:graphicFrameMkLst>
            <pc:docMk/>
            <pc:sldMk cId="2639682451" sldId="275"/>
            <ac:graphicFrameMk id="7" creationId="{86EDB53E-860A-E121-26F6-57064FD09AEE}"/>
          </ac:graphicFrameMkLst>
        </pc:graphicFrameChg>
      </pc:sldChg>
      <pc:sldChg chg="modSp mod">
        <pc:chgData name="Rich Reba" userId="55db41ab6eb3f845" providerId="LiveId" clId="{0E19DA16-244C-5B50-BE0F-52911DD4CA7E}" dt="2026-08-09T19:30:43.734" v="166" actId="20577"/>
        <pc:sldMkLst>
          <pc:docMk/>
          <pc:sldMk cId="3191730488" sldId="276"/>
        </pc:sldMkLst>
        <pc:graphicFrameChg chg="modGraphic">
          <ac:chgData name="Rich Reba" userId="55db41ab6eb3f845" providerId="LiveId" clId="{0E19DA16-244C-5B50-BE0F-52911DD4CA7E}" dt="2026-08-09T19:30:43.734" v="166" actId="20577"/>
          <ac:graphicFrameMkLst>
            <pc:docMk/>
            <pc:sldMk cId="3191730488" sldId="276"/>
            <ac:graphicFrameMk id="5" creationId="{4B70F3A5-8062-29A2-30D0-2783CB3DFCCA}"/>
          </ac:graphicFrameMkLst>
        </pc:graphicFrameChg>
      </pc:sldChg>
      <pc:sldChg chg="modSp mod">
        <pc:chgData name="Rich Reba" userId="55db41ab6eb3f845" providerId="LiveId" clId="{0E19DA16-244C-5B50-BE0F-52911DD4CA7E}" dt="2026-08-09T19:31:23.796" v="231" actId="20577"/>
        <pc:sldMkLst>
          <pc:docMk/>
          <pc:sldMk cId="368434212" sldId="277"/>
        </pc:sldMkLst>
        <pc:graphicFrameChg chg="modGraphic">
          <ac:chgData name="Rich Reba" userId="55db41ab6eb3f845" providerId="LiveId" clId="{0E19DA16-244C-5B50-BE0F-52911DD4CA7E}" dt="2026-08-09T19:31:23.796" v="231" actId="20577"/>
          <ac:graphicFrameMkLst>
            <pc:docMk/>
            <pc:sldMk cId="368434212" sldId="277"/>
            <ac:graphicFrameMk id="4" creationId="{27601DD6-DAE5-888B-0F9A-3C9911942417}"/>
          </ac:graphicFrameMkLst>
        </pc:graphicFrameChg>
      </pc:sldChg>
      <pc:sldChg chg="modSp mod">
        <pc:chgData name="Rich Reba" userId="55db41ab6eb3f845" providerId="LiveId" clId="{0E19DA16-244C-5B50-BE0F-52911DD4CA7E}" dt="2026-08-09T19:30:27" v="133" actId="20577"/>
        <pc:sldMkLst>
          <pc:docMk/>
          <pc:sldMk cId="2988147867" sldId="282"/>
        </pc:sldMkLst>
        <pc:graphicFrameChg chg="modGraphic">
          <ac:chgData name="Rich Reba" userId="55db41ab6eb3f845" providerId="LiveId" clId="{0E19DA16-244C-5B50-BE0F-52911DD4CA7E}" dt="2026-08-09T19:30:27" v="133" actId="20577"/>
          <ac:graphicFrameMkLst>
            <pc:docMk/>
            <pc:sldMk cId="2988147867" sldId="282"/>
            <ac:graphicFrameMk id="6" creationId="{DA3B7C68-A7A8-1CF8-C46B-DD7B5A05617E}"/>
          </ac:graphicFrameMkLst>
        </pc:graphicFrameChg>
      </pc:sldChg>
      <pc:sldChg chg="modSp mod">
        <pc:chgData name="Rich Reba" userId="55db41ab6eb3f845" providerId="LiveId" clId="{0E19DA16-244C-5B50-BE0F-52911DD4CA7E}" dt="2026-08-09T19:36:40.304" v="799" actId="20577"/>
        <pc:sldMkLst>
          <pc:docMk/>
          <pc:sldMk cId="3960435043" sldId="283"/>
        </pc:sldMkLst>
        <pc:graphicFrameChg chg="modGraphic">
          <ac:chgData name="Rich Reba" userId="55db41ab6eb3f845" providerId="LiveId" clId="{0E19DA16-244C-5B50-BE0F-52911DD4CA7E}" dt="2026-08-09T19:36:40.304" v="799" actId="20577"/>
          <ac:graphicFrameMkLst>
            <pc:docMk/>
            <pc:sldMk cId="3960435043" sldId="283"/>
            <ac:graphicFrameMk id="5" creationId="{4B70F3A5-8062-29A2-30D0-2783CB3DFCC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66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3178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6034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382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9114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19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5634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065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6330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9184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73674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839788" y="365125"/>
            <a:ext cx="893725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extLst>
      <p:ext uri="{BB962C8B-B14F-4D97-AF65-F5344CB8AC3E}">
        <p14:creationId xmlns:p14="http://schemas.microsoft.com/office/powerpoint/2010/main" val="2674636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6622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4183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0138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3141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15894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cSld>
  <p:clrMap bg1="lt1" tx1="dk1" bg2="dk2" tx2="lt2" accent1="accent1" accent2="accent2" accent3="accent3" accent4="accent4" accent5="accent5" accent6="accent6" hlink="hlink" folHlink="folHlink"/>
  <p:sldLayoutIdLst>
    <p:sldLayoutId id="2147483649" r:id="rId1"/>
    <p:sldLayoutId id="2147483654"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extLst>
      <p:ext uri="{BB962C8B-B14F-4D97-AF65-F5344CB8AC3E}">
        <p14:creationId xmlns:p14="http://schemas.microsoft.com/office/powerpoint/2010/main" val="313263506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scaledagileframework.com/wsjf/"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scaledagileframework.com/epic/"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www.scaledagileframework.com/implementation-strategies-for-business-epics/"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scaledagileframework.com/epi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medium.com/@rreba3/accelerate-exponential-success-with-the-accelrr8-framework-3ee5c429bc29"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hyperlink" Target="https://scaledagileframework.com/epic/" TargetMode="External"/><Relationship Id="rId4" Type="http://schemas.openxmlformats.org/officeDocument/2006/relationships/hyperlink" Target="https://scaledagileframework.co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scaledagileframework.com/solution-context/"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https://scaledagileframework.com/solution-inten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962722" y="2785676"/>
            <a:ext cx="10266556" cy="1915625"/>
          </a:xfrm>
          <a:prstGeom prst="rect">
            <a:avLst/>
          </a:prstGeom>
          <a:noFill/>
          <a:ln>
            <a:noFill/>
          </a:ln>
        </p:spPr>
        <p:txBody>
          <a:bodyPr spcFirstLastPara="1" wrap="square" lIns="91425" tIns="45700" rIns="91425" bIns="45700" anchor="b" anchorCtr="0">
            <a:normAutofit fontScale="90000"/>
          </a:bodyPr>
          <a:lstStyle/>
          <a:p>
            <a:br>
              <a:rPr lang="en-US" dirty="0"/>
            </a:br>
            <a:br>
              <a:rPr lang="en-US" dirty="0"/>
            </a:br>
            <a:r>
              <a:rPr lang="en-US" dirty="0"/>
              <a:t>AccelRR8 Consortium NonProfit</a:t>
            </a:r>
            <a:br>
              <a:rPr lang="en-US" dirty="0"/>
            </a:br>
            <a:r>
              <a:rPr lang="en-US" dirty="0"/>
              <a:t>Open Knowledge Sharing Service v1</a:t>
            </a:r>
            <a:br>
              <a:rPr lang="en-US" dirty="0"/>
            </a:br>
            <a:endParaRPr sz="4000" dirty="0"/>
          </a:p>
        </p:txBody>
      </p:sp>
      <p:sp>
        <p:nvSpPr>
          <p:cNvPr id="91" name="Google Shape;91;p1"/>
          <p:cNvSpPr txBox="1">
            <a:spLocks noGrp="1"/>
          </p:cNvSpPr>
          <p:nvPr>
            <p:ph type="subTitle" idx="1"/>
          </p:nvPr>
        </p:nvSpPr>
        <p:spPr>
          <a:xfrm>
            <a:off x="1524000" y="4793377"/>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Open Knowledge Sharing Service Leader</a:t>
            </a:r>
          </a:p>
          <a:p>
            <a:pPr marL="0" lvl="0" indent="0" algn="ctr" rtl="0">
              <a:lnSpc>
                <a:spcPct val="90000"/>
              </a:lnSpc>
              <a:spcBef>
                <a:spcPts val="1000"/>
              </a:spcBef>
              <a:spcAft>
                <a:spcPts val="0"/>
              </a:spcAft>
              <a:buClr>
                <a:schemeClr val="dk1"/>
              </a:buClr>
              <a:buSzPts val="2400"/>
              <a:buNone/>
            </a:pPr>
            <a:r>
              <a:rPr lang="en-US" dirty="0"/>
              <a:t>August 9, 2026</a:t>
            </a:r>
          </a:p>
        </p:txBody>
      </p:sp>
      <p:sp>
        <p:nvSpPr>
          <p:cNvPr id="2" name="Google Shape;18;p9">
            <a:extLst>
              <a:ext uri="{FF2B5EF4-FFF2-40B4-BE49-F238E27FC236}">
                <a16:creationId xmlns:a16="http://schemas.microsoft.com/office/drawing/2014/main" id="{B78BEAA4-CC48-1EF1-1035-C48CDEB46C1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 Review Stage</a:t>
            </a:r>
          </a:p>
        </p:txBody>
      </p:sp>
      <p:sp>
        <p:nvSpPr>
          <p:cNvPr id="8" name="Rectangle 7">
            <a:extLst>
              <a:ext uri="{FF2B5EF4-FFF2-40B4-BE49-F238E27FC236}">
                <a16:creationId xmlns:a16="http://schemas.microsoft.com/office/drawing/2014/main" id="{987596B8-DA7D-1389-CC1D-C0EF98524A91}"/>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9" name="Rectangle 8">
            <a:extLst>
              <a:ext uri="{FF2B5EF4-FFF2-40B4-BE49-F238E27FC236}">
                <a16:creationId xmlns:a16="http://schemas.microsoft.com/office/drawing/2014/main" id="{DD965822-0847-B892-7BF1-00B31C259B5C}"/>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10" name="Rectangle 9">
            <a:extLst>
              <a:ext uri="{FF2B5EF4-FFF2-40B4-BE49-F238E27FC236}">
                <a16:creationId xmlns:a16="http://schemas.microsoft.com/office/drawing/2014/main" id="{B77354B4-F67E-5C6D-DE69-888030925B0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048B8078-0A98-B723-6D07-9C874B8373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88811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Hypothesis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1394229560"/>
              </p:ext>
            </p:extLst>
          </p:nvPr>
        </p:nvGraphicFramePr>
        <p:xfrm>
          <a:off x="288100" y="1402080"/>
          <a:ext cx="11736886" cy="5242560"/>
        </p:xfrm>
        <a:graphic>
          <a:graphicData uri="http://schemas.openxmlformats.org/drawingml/2006/table">
            <a:tbl>
              <a:tblPr firstRow="1" bandRow="1">
                <a:tableStyleId>{5940675A-B579-460E-94D1-54222C63F5DA}</a:tableStyleId>
              </a:tblPr>
              <a:tblGrid>
                <a:gridCol w="1891429">
                  <a:extLst>
                    <a:ext uri="{9D8B030D-6E8A-4147-A177-3AD203B41FA5}">
                      <a16:colId xmlns:a16="http://schemas.microsoft.com/office/drawing/2014/main" val="533583650"/>
                    </a:ext>
                  </a:extLst>
                </a:gridCol>
                <a:gridCol w="9845457">
                  <a:extLst>
                    <a:ext uri="{9D8B030D-6E8A-4147-A177-3AD203B41FA5}">
                      <a16:colId xmlns:a16="http://schemas.microsoft.com/office/drawing/2014/main" val="20127695"/>
                    </a:ext>
                  </a:extLst>
                </a:gridCol>
              </a:tblGrid>
              <a:tr h="200324">
                <a:tc>
                  <a:txBody>
                    <a:bodyPr/>
                    <a:lstStyle/>
                    <a:p>
                      <a:r>
                        <a:rPr lang="en-US" sz="1600" b="0" dirty="0"/>
                        <a:t>Funnel Entry Date</a:t>
                      </a:r>
                    </a:p>
                  </a:txBody>
                  <a:tcPr/>
                </a:tc>
                <a:tc>
                  <a:txBody>
                    <a:bodyPr/>
                    <a:lstStyle/>
                    <a:p>
                      <a:r>
                        <a:rPr lang="en-US" dirty="0"/>
                        <a:t>February 1, 2024</a:t>
                      </a:r>
                    </a:p>
                  </a:txBody>
                  <a:tcPr/>
                </a:tc>
                <a:extLst>
                  <a:ext uri="{0D108BD9-81ED-4DB2-BD59-A6C34878D82A}">
                    <a16:rowId xmlns:a16="http://schemas.microsoft.com/office/drawing/2014/main" val="1092281396"/>
                  </a:ext>
                </a:extLst>
              </a:tr>
              <a:tr h="200324">
                <a:tc>
                  <a:txBody>
                    <a:bodyPr/>
                    <a:lstStyle/>
                    <a:p>
                      <a:r>
                        <a:rPr lang="en-US" sz="1600" b="0" dirty="0"/>
                        <a:t>Service Name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Open Knowledge Sharing</a:t>
                      </a:r>
                    </a:p>
                  </a:txBody>
                  <a:tcPr/>
                </a:tc>
                <a:extLst>
                  <a:ext uri="{0D108BD9-81ED-4DB2-BD59-A6C34878D82A}">
                    <a16:rowId xmlns:a16="http://schemas.microsoft.com/office/drawing/2014/main" val="2029769333"/>
                  </a:ext>
                </a:extLst>
              </a:tr>
              <a:tr h="200324">
                <a:tc>
                  <a:txBody>
                    <a:bodyPr/>
                    <a:lstStyle/>
                    <a:p>
                      <a:r>
                        <a:rPr lang="en-US" sz="1600" b="0" dirty="0"/>
                        <a:t>Service Owner</a:t>
                      </a:r>
                    </a:p>
                  </a:txBody>
                  <a:tcPr/>
                </a:tc>
                <a:tc>
                  <a:txBody>
                    <a:bodyPr/>
                    <a:lstStyle/>
                    <a:p>
                      <a:r>
                        <a:rPr lang="en-US" dirty="0"/>
                        <a:t>Open Knowledge Sharing Service Leader</a:t>
                      </a:r>
                    </a:p>
                  </a:txBody>
                  <a:tcPr/>
                </a:tc>
                <a:extLst>
                  <a:ext uri="{0D108BD9-81ED-4DB2-BD59-A6C34878D82A}">
                    <a16:rowId xmlns:a16="http://schemas.microsoft.com/office/drawing/2014/main" val="872717509"/>
                  </a:ext>
                </a:extLst>
              </a:tr>
              <a:tr h="1201945">
                <a:tc>
                  <a:txBody>
                    <a:bodyPr/>
                    <a:lstStyle/>
                    <a:p>
                      <a:r>
                        <a:rPr lang="en-US" sz="1600" b="0" dirty="0"/>
                        <a:t>Service Description</a:t>
                      </a:r>
                    </a:p>
                  </a:txBody>
                  <a:tcPr/>
                </a:tc>
                <a:tc>
                  <a:txBody>
                    <a:bodyPr/>
                    <a:lstStyle/>
                    <a:p>
                      <a:pPr lvl="2"/>
                      <a:r>
                        <a:rPr lang="en-US" sz="1400" b="1" i="0" u="none" strike="noStrike" cap="none" dirty="0">
                          <a:solidFill>
                            <a:schemeClr val="tx1"/>
                          </a:solidFill>
                          <a:effectLst/>
                          <a:latin typeface="+mn-lt"/>
                          <a:ea typeface="+mn-ea"/>
                          <a:cs typeface="+mn-cs"/>
                          <a:sym typeface="Arial"/>
                        </a:rPr>
                        <a:t>FOR</a:t>
                      </a:r>
                      <a:r>
                        <a:rPr lang="en-US" sz="1400" b="0" i="0" u="none" strike="noStrike" cap="none" dirty="0">
                          <a:solidFill>
                            <a:schemeClr val="tx1"/>
                          </a:solidFill>
                          <a:effectLst/>
                          <a:latin typeface="+mn-lt"/>
                          <a:ea typeface="+mn-ea"/>
                          <a:cs typeface="+mn-cs"/>
                          <a:sym typeface="Arial"/>
                        </a:rPr>
                        <a:t> enterprising leaders involved or interested in the Tech Services industry</a:t>
                      </a:r>
                    </a:p>
                    <a:p>
                      <a:pPr lvl="2"/>
                      <a:r>
                        <a:rPr lang="en-US" sz="1400" b="1" i="0" u="none" strike="noStrike" cap="none" dirty="0">
                          <a:solidFill>
                            <a:schemeClr val="tx1"/>
                          </a:solidFill>
                          <a:effectLst/>
                          <a:latin typeface="+mn-lt"/>
                          <a:ea typeface="+mn-ea"/>
                          <a:cs typeface="+mn-cs"/>
                          <a:sym typeface="Arial"/>
                        </a:rPr>
                        <a:t>WHO</a:t>
                      </a:r>
                      <a:r>
                        <a:rPr lang="en-US" sz="1400" b="0" i="0" u="none" strike="noStrike" cap="none" dirty="0">
                          <a:solidFill>
                            <a:schemeClr val="tx1"/>
                          </a:solidFill>
                          <a:effectLst/>
                          <a:latin typeface="+mn-lt"/>
                          <a:ea typeface="+mn-ea"/>
                          <a:cs typeface="+mn-cs"/>
                          <a:sym typeface="Arial"/>
                        </a:rPr>
                        <a:t> want to improve their career opportunities and the Tech Services industry’s impact</a:t>
                      </a:r>
                    </a:p>
                    <a:p>
                      <a:pPr lvl="2"/>
                      <a:r>
                        <a:rPr lang="en-US" sz="1400" b="1" i="0" u="none" strike="noStrike" cap="none" dirty="0">
                          <a:solidFill>
                            <a:schemeClr val="tx1"/>
                          </a:solidFill>
                          <a:effectLst/>
                          <a:latin typeface="+mn-lt"/>
                          <a:ea typeface="+mn-ea"/>
                          <a:cs typeface="+mn-cs"/>
                          <a:sym typeface="Arial"/>
                        </a:rPr>
                        <a:t>THE</a:t>
                      </a:r>
                      <a:r>
                        <a:rPr lang="en-US" sz="1400" b="0" i="0" u="none" strike="noStrike" cap="none" dirty="0">
                          <a:solidFill>
                            <a:schemeClr val="tx1"/>
                          </a:solidFill>
                          <a:effectLst/>
                          <a:latin typeface="+mn-lt"/>
                          <a:ea typeface="+mn-ea"/>
                          <a:cs typeface="+mn-cs"/>
                          <a:sym typeface="Arial"/>
                        </a:rPr>
                        <a:t> AccelRR8 Consortium Non-Profit’s Open Knowledge Sharing Service</a:t>
                      </a:r>
                    </a:p>
                    <a:p>
                      <a:pPr lvl="2"/>
                      <a:r>
                        <a:rPr lang="en-US" sz="1400" b="0" i="0" u="none" strike="noStrike" cap="none" dirty="0">
                          <a:solidFill>
                            <a:schemeClr val="tx1"/>
                          </a:solidFill>
                          <a:effectLst/>
                          <a:latin typeface="+mn-lt"/>
                          <a:ea typeface="+mn-ea"/>
                          <a:cs typeface="+mn-cs"/>
                          <a:sym typeface="Arial"/>
                        </a:rPr>
                        <a:t>I</a:t>
                      </a:r>
                      <a:r>
                        <a:rPr lang="en-US" sz="1400" b="1" i="0" u="none" strike="noStrike" cap="none" dirty="0">
                          <a:solidFill>
                            <a:schemeClr val="tx1"/>
                          </a:solidFill>
                          <a:effectLst/>
                          <a:latin typeface="+mn-lt"/>
                          <a:ea typeface="+mn-ea"/>
                          <a:cs typeface="+mn-cs"/>
                          <a:sym typeface="Arial"/>
                        </a:rPr>
                        <a:t>S AN</a:t>
                      </a:r>
                      <a:r>
                        <a:rPr lang="en-US" sz="1400" b="0" i="0" u="none" strike="noStrike" cap="none" dirty="0">
                          <a:solidFill>
                            <a:schemeClr val="tx1"/>
                          </a:solidFill>
                          <a:effectLst/>
                          <a:latin typeface="+mn-lt"/>
                          <a:ea typeface="+mn-ea"/>
                          <a:cs typeface="+mn-cs"/>
                          <a:sym typeface="Arial"/>
                        </a:rPr>
                        <a:t> </a:t>
                      </a:r>
                      <a:r>
                        <a:rPr lang="en-US" sz="1400" b="1" i="0" u="none" strike="noStrike" cap="none" dirty="0">
                          <a:solidFill>
                            <a:schemeClr val="accent2"/>
                          </a:solidFill>
                          <a:effectLst/>
                          <a:latin typeface="+mn-lt"/>
                          <a:ea typeface="+mn-ea"/>
                          <a:cs typeface="+mn-cs"/>
                          <a:sym typeface="Arial"/>
                        </a:rPr>
                        <a:t>AI</a:t>
                      </a:r>
                      <a:r>
                        <a:rPr lang="en-US" sz="1400" b="0" i="0" u="none" strike="noStrike" cap="none" dirty="0">
                          <a:solidFill>
                            <a:schemeClr val="tx1"/>
                          </a:solidFill>
                          <a:effectLst/>
                          <a:latin typeface="+mn-lt"/>
                          <a:ea typeface="+mn-ea"/>
                          <a:cs typeface="+mn-cs"/>
                          <a:sym typeface="Arial"/>
                        </a:rPr>
                        <a:t>-powered support function facilitating ideation across a global AccelRR8 professional network</a:t>
                      </a:r>
                    </a:p>
                    <a:p>
                      <a:pPr lvl="2"/>
                      <a:r>
                        <a:rPr lang="en-US" sz="1400" b="1" i="0" u="none" strike="noStrike" cap="none" dirty="0">
                          <a:solidFill>
                            <a:schemeClr val="tx1"/>
                          </a:solidFill>
                          <a:effectLst/>
                          <a:latin typeface="+mn-lt"/>
                          <a:ea typeface="+mn-ea"/>
                          <a:cs typeface="+mn-cs"/>
                          <a:sym typeface="Arial"/>
                        </a:rPr>
                        <a:t>THAT</a:t>
                      </a:r>
                      <a:r>
                        <a:rPr lang="en-US" sz="1400" b="0" i="0" u="none" strike="noStrike" cap="none" dirty="0">
                          <a:solidFill>
                            <a:schemeClr val="tx1"/>
                          </a:solidFill>
                          <a:effectLst/>
                          <a:latin typeface="+mn-lt"/>
                          <a:ea typeface="+mn-ea"/>
                          <a:cs typeface="+mn-cs"/>
                          <a:sym typeface="Arial"/>
                        </a:rPr>
                        <a:t> helps leaders rapidly share ideas and align on authoritative best practices for growing value exponentially at scale. </a:t>
                      </a:r>
                    </a:p>
                    <a:p>
                      <a:pPr lvl="2"/>
                      <a:r>
                        <a:rPr lang="en-US" sz="1400" b="1" i="0" u="none" strike="noStrike" cap="none" dirty="0">
                          <a:solidFill>
                            <a:schemeClr val="tx1"/>
                          </a:solidFill>
                          <a:effectLst/>
                          <a:latin typeface="+mn-lt"/>
                          <a:ea typeface="+mn-ea"/>
                          <a:cs typeface="+mn-cs"/>
                          <a:sym typeface="Arial"/>
                        </a:rPr>
                        <a:t>UNLIKE</a:t>
                      </a:r>
                      <a:r>
                        <a:rPr lang="en-US" sz="1400" b="0" i="0" u="none" strike="noStrike" cap="none" dirty="0">
                          <a:solidFill>
                            <a:schemeClr val="tx1"/>
                          </a:solidFill>
                          <a:effectLst/>
                          <a:latin typeface="+mn-lt"/>
                          <a:ea typeface="+mn-ea"/>
                          <a:cs typeface="+mn-cs"/>
                          <a:sym typeface="Arial"/>
                        </a:rPr>
                        <a:t> other associations that support open knowledge sharing,</a:t>
                      </a:r>
                    </a:p>
                    <a:p>
                      <a:pPr lvl="2"/>
                      <a:r>
                        <a:rPr lang="en-US" sz="1400" b="1" i="0" u="none" strike="noStrike" cap="none" dirty="0">
                          <a:solidFill>
                            <a:schemeClr val="tx1"/>
                          </a:solidFill>
                          <a:effectLst/>
                          <a:latin typeface="+mn-lt"/>
                          <a:ea typeface="+mn-ea"/>
                          <a:cs typeface="+mn-cs"/>
                          <a:sym typeface="Arial"/>
                        </a:rPr>
                        <a:t>OUR SERVICE’s</a:t>
                      </a:r>
                      <a:r>
                        <a:rPr lang="en-US" sz="1400" b="0" i="0" u="none" strike="noStrike" cap="none" dirty="0">
                          <a:solidFill>
                            <a:schemeClr val="tx1"/>
                          </a:solidFill>
                          <a:effectLst/>
                          <a:latin typeface="+mn-lt"/>
                          <a:ea typeface="+mn-ea"/>
                          <a:cs typeface="+mn-cs"/>
                          <a:sym typeface="Arial"/>
                        </a:rPr>
                        <a:t> own success will be a key proof point of our Consortium’s core premise:  (1) high-value ideas will go </a:t>
                      </a:r>
                      <a:r>
                        <a:rPr lang="en-US" sz="1400" b="1" i="0" u="none" strike="noStrike" cap="none" dirty="0">
                          <a:solidFill>
                            <a:srgbClr val="00B050"/>
                          </a:solidFill>
                          <a:effectLst/>
                          <a:latin typeface="+mn-lt"/>
                          <a:ea typeface="+mn-ea"/>
                          <a:cs typeface="+mn-cs"/>
                          <a:sym typeface="Arial"/>
                        </a:rPr>
                        <a:t>viral</a:t>
                      </a:r>
                      <a:r>
                        <a:rPr lang="en-US" sz="1400" b="0" i="0" u="none" strike="noStrike" cap="none" dirty="0">
                          <a:solidFill>
                            <a:schemeClr val="tx1"/>
                          </a:solidFill>
                          <a:effectLst/>
                          <a:latin typeface="+mn-lt"/>
                          <a:ea typeface="+mn-ea"/>
                          <a:cs typeface="+mn-cs"/>
                          <a:sym typeface="Arial"/>
                        </a:rPr>
                        <a:t>, propagating exponentially fast and wide across the network, and (2) successful ideas are added via </a:t>
                      </a:r>
                      <a:r>
                        <a:rPr lang="en-US" sz="1400" b="1" i="0" u="none" strike="noStrike" cap="none" dirty="0">
                          <a:solidFill>
                            <a:srgbClr val="00B050"/>
                          </a:solidFill>
                          <a:effectLst/>
                          <a:latin typeface="+mn-lt"/>
                          <a:ea typeface="+mn-ea"/>
                          <a:cs typeface="+mn-cs"/>
                          <a:sym typeface="Arial"/>
                        </a:rPr>
                        <a:t>generative learning</a:t>
                      </a:r>
                      <a:r>
                        <a:rPr lang="en-US" sz="1400" b="0" i="0" u="none" strike="noStrike" cap="none" dirty="0">
                          <a:solidFill>
                            <a:schemeClr val="tx1"/>
                          </a:solidFill>
                          <a:effectLst/>
                          <a:latin typeface="+mn-lt"/>
                          <a:ea typeface="+mn-ea"/>
                          <a:cs typeface="+mn-cs"/>
                          <a:sym typeface="Arial"/>
                        </a:rPr>
                        <a:t> to the AccelRR8 Body of Knowledge, curated with the help of expert advisors.</a:t>
                      </a:r>
                    </a:p>
                  </a:txBody>
                  <a:tcPr/>
                </a:tc>
                <a:extLst>
                  <a:ext uri="{0D108BD9-81ED-4DB2-BD59-A6C34878D82A}">
                    <a16:rowId xmlns:a16="http://schemas.microsoft.com/office/drawing/2014/main" val="2047728929"/>
                  </a:ext>
                </a:extLst>
              </a:tr>
              <a:tr h="437071">
                <a:tc>
                  <a:txBody>
                    <a:bodyPr/>
                    <a:lstStyle/>
                    <a:p>
                      <a:r>
                        <a:rPr lang="en-US" sz="1600" b="0" dirty="0"/>
                        <a:t>Business Outcomes</a:t>
                      </a:r>
                    </a:p>
                  </a:txBody>
                  <a:tcPr/>
                </a:tc>
                <a:tc>
                  <a:txBody>
                    <a:bodyPr/>
                    <a:lstStyle/>
                    <a:p>
                      <a:pPr marL="125413" indent="-125413">
                        <a:buFont typeface="Arial" panose="020B0604020202020204" pitchFamily="34" charset="0"/>
                        <a:buChar char="•"/>
                        <a:tabLst/>
                      </a:pPr>
                      <a:r>
                        <a:rPr lang="en-US" b="1" dirty="0"/>
                        <a:t>Subscribers</a:t>
                      </a:r>
                      <a:r>
                        <a:rPr lang="en-US" dirty="0"/>
                        <a:t>:  improve their professional network, skills, brand, and career opportunities</a:t>
                      </a:r>
                    </a:p>
                    <a:p>
                      <a:pPr marL="125413" indent="-125413">
                        <a:buFont typeface="Arial" panose="020B0604020202020204" pitchFamily="34" charset="0"/>
                        <a:buChar char="•"/>
                        <a:tabLst/>
                      </a:pPr>
                      <a:r>
                        <a:rPr lang="en-US" b="1" dirty="0"/>
                        <a:t>Tech Services industry</a:t>
                      </a:r>
                      <a:r>
                        <a:rPr lang="en-US" dirty="0"/>
                        <a:t>:  cross-company learning among leaders with scarce talents</a:t>
                      </a:r>
                    </a:p>
                    <a:p>
                      <a:pPr marL="125413" indent="-125413">
                        <a:buFont typeface="Arial" panose="020B0604020202020204" pitchFamily="34" charset="0"/>
                        <a:buChar char="•"/>
                        <a:tabLst/>
                      </a:pPr>
                      <a:r>
                        <a:rPr lang="en-US" b="1" dirty="0"/>
                        <a:t>AccelRR8 Consortium</a:t>
                      </a:r>
                      <a:r>
                        <a:rPr lang="en-US" dirty="0"/>
                        <a:t>: exponential benefits via Market Network Effects (per </a:t>
                      </a:r>
                      <a:r>
                        <a:rPr lang="en-US" dirty="0" err="1"/>
                        <a:t>nfx.com</a:t>
                      </a:r>
                      <a:r>
                        <a:rPr lang="en-US" dirty="0"/>
                        <a:t>)</a:t>
                      </a:r>
                    </a:p>
                  </a:txBody>
                  <a:tcPr/>
                </a:tc>
                <a:extLst>
                  <a:ext uri="{0D108BD9-81ED-4DB2-BD59-A6C34878D82A}">
                    <a16:rowId xmlns:a16="http://schemas.microsoft.com/office/drawing/2014/main" val="2321847728"/>
                  </a:ext>
                </a:extLst>
              </a:tr>
              <a:tr h="200324">
                <a:tc>
                  <a:txBody>
                    <a:bodyPr/>
                    <a:lstStyle/>
                    <a:p>
                      <a:r>
                        <a:rPr lang="en-US" sz="1600" b="0" dirty="0"/>
                        <a:t>Leading Indicators</a:t>
                      </a:r>
                    </a:p>
                  </a:txBody>
                  <a:tcPr/>
                </a:tc>
                <a:tc>
                  <a:txBody>
                    <a:bodyPr/>
                    <a:lstStyle/>
                    <a:p>
                      <a:r>
                        <a:rPr lang="en-US" dirty="0"/>
                        <a:t>1000 subscribers in the AccelRR8 professional network who are net promoters of this service</a:t>
                      </a:r>
                    </a:p>
                  </a:txBody>
                  <a:tcPr/>
                </a:tc>
                <a:extLst>
                  <a:ext uri="{0D108BD9-81ED-4DB2-BD59-A6C34878D82A}">
                    <a16:rowId xmlns:a16="http://schemas.microsoft.com/office/drawing/2014/main" val="1735022269"/>
                  </a:ext>
                </a:extLst>
              </a:tr>
              <a:tr h="692029">
                <a:tc>
                  <a:txBody>
                    <a:bodyPr/>
                    <a:lstStyle/>
                    <a:p>
                      <a:r>
                        <a:rPr lang="en-US" sz="1600" b="0" dirty="0"/>
                        <a:t>Non-functional Requirements</a:t>
                      </a:r>
                    </a:p>
                  </a:txBody>
                  <a:tcPr/>
                </a:tc>
                <a:tc>
                  <a:txBody>
                    <a:bodyPr/>
                    <a:lstStyle/>
                    <a:p>
                      <a:pPr marL="114300" indent="-114300">
                        <a:buFont typeface="Arial" panose="020B0604020202020204" pitchFamily="34" charset="0"/>
                        <a:buChar char="•"/>
                        <a:tabLst/>
                      </a:pPr>
                      <a:r>
                        <a:rPr lang="en-US" b="1" dirty="0"/>
                        <a:t>Desirability:</a:t>
                      </a:r>
                      <a:r>
                        <a:rPr lang="en-US" dirty="0"/>
                        <a:t>  all want exponential success, few know how to generate it, and stakeholders like our values and culture</a:t>
                      </a:r>
                    </a:p>
                    <a:p>
                      <a:pPr marL="114300" indent="-114300">
                        <a:buFont typeface="Arial" panose="020B0604020202020204" pitchFamily="34" charset="0"/>
                        <a:buChar char="•"/>
                        <a:tabLst/>
                      </a:pPr>
                      <a:r>
                        <a:rPr lang="en-US" b="1" dirty="0"/>
                        <a:t>Viability:</a:t>
                      </a:r>
                      <a:r>
                        <a:rPr lang="en-US" dirty="0"/>
                        <a:t>  the Consortium has the required capabilities and isn’t trying to boil the ocean</a:t>
                      </a:r>
                    </a:p>
                    <a:p>
                      <a:pPr marL="114300" indent="-114300">
                        <a:buFont typeface="Arial" panose="020B0604020202020204" pitchFamily="34" charset="0"/>
                        <a:buChar char="•"/>
                        <a:tabLst/>
                      </a:pPr>
                      <a:r>
                        <a:rPr lang="en-US" b="1" dirty="0"/>
                        <a:t>Sustainability:</a:t>
                      </a:r>
                      <a:r>
                        <a:rPr lang="en-US" dirty="0"/>
                        <a:t>  the core premise (proven accelerators mathematically capable of exponential results) is enduring</a:t>
                      </a:r>
                    </a:p>
                    <a:p>
                      <a:pPr marL="114300" indent="-114300">
                        <a:buFont typeface="Arial" panose="020B0604020202020204" pitchFamily="34" charset="0"/>
                        <a:buChar char="•"/>
                        <a:tabLst/>
                      </a:pPr>
                      <a:r>
                        <a:rPr lang="en-US" b="1" dirty="0"/>
                        <a:t>Performance:</a:t>
                      </a:r>
                      <a:r>
                        <a:rPr lang="en-US" dirty="0"/>
                        <a:t>  the Service’s own success will be a key proof of our core premise, creating a virtuous cycle</a:t>
                      </a:r>
                    </a:p>
                    <a:p>
                      <a:pPr marL="114300" indent="-114300">
                        <a:buFont typeface="Arial" panose="020B0604020202020204" pitchFamily="34" charset="0"/>
                        <a:buChar char="•"/>
                        <a:tabLst/>
                      </a:pPr>
                      <a:r>
                        <a:rPr lang="en-US" b="1" dirty="0"/>
                        <a:t>Usability:</a:t>
                      </a:r>
                      <a:r>
                        <a:rPr lang="en-US" dirty="0"/>
                        <a:t>  participating in ideation across the network and using the AccelRR8 BOK must be incredibly easy</a:t>
                      </a:r>
                    </a:p>
                  </a:txBody>
                  <a:tcPr/>
                </a:tc>
                <a:extLst>
                  <a:ext uri="{0D108BD9-81ED-4DB2-BD59-A6C34878D82A}">
                    <a16:rowId xmlns:a16="http://schemas.microsoft.com/office/drawing/2014/main" val="2256456919"/>
                  </a:ext>
                </a:extLst>
              </a:tr>
            </a:tbl>
          </a:graphicData>
        </a:graphic>
      </p:graphicFrame>
      <p:sp>
        <p:nvSpPr>
          <p:cNvPr id="2" name="Rectangle 1">
            <a:extLst>
              <a:ext uri="{FF2B5EF4-FFF2-40B4-BE49-F238E27FC236}">
                <a16:creationId xmlns:a16="http://schemas.microsoft.com/office/drawing/2014/main" id="{82989B31-3419-2492-D5BA-841085EFFD20}"/>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DCFC860D-600B-CFAA-AA67-87D20B2848A4}"/>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CCE98312-7BF3-634D-DE2E-782C5EA05BB7}"/>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57F7845-FD8A-DCA4-39DB-1B7D9CF0BA2A}"/>
              </a:ext>
            </a:extLst>
          </p:cNvPr>
          <p:cNvSpPr txBox="1">
            <a:spLocks noGrp="1"/>
          </p:cNvSpPr>
          <p:nvPr>
            <p:ph type="ftr" idx="11"/>
          </p:nvPr>
        </p:nvSpPr>
        <p:spPr>
          <a:xfrm>
            <a:off x="4038600" y="6580557"/>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72635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Preliminary Cost Estimates and WSJF</a:t>
            </a:r>
            <a:endParaRPr dirty="0"/>
          </a:p>
        </p:txBody>
      </p:sp>
      <p:sp>
        <p:nvSpPr>
          <p:cNvPr id="2" name="Rectangle 1">
            <a:extLst>
              <a:ext uri="{FF2B5EF4-FFF2-40B4-BE49-F238E27FC236}">
                <a16:creationId xmlns:a16="http://schemas.microsoft.com/office/drawing/2014/main" id="{93ADFCCD-21B2-3785-8E68-1D6E82E2DA76}"/>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7D3EA3BE-F73F-61F7-3F9D-5A3302400620}"/>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B59D7C28-1555-09D1-4AEE-8F09AA4FB52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graphicFrame>
        <p:nvGraphicFramePr>
          <p:cNvPr id="6" name="Table 5">
            <a:extLst>
              <a:ext uri="{FF2B5EF4-FFF2-40B4-BE49-F238E27FC236}">
                <a16:creationId xmlns:a16="http://schemas.microsoft.com/office/drawing/2014/main" id="{DA3B7C68-A7A8-1CF8-C46B-DD7B5A05617E}"/>
              </a:ext>
            </a:extLst>
          </p:cNvPr>
          <p:cNvGraphicFramePr>
            <a:graphicFrameLocks noGrp="1"/>
          </p:cNvGraphicFramePr>
          <p:nvPr>
            <p:extLst>
              <p:ext uri="{D42A27DB-BD31-4B8C-83A1-F6EECF244321}">
                <p14:modId xmlns:p14="http://schemas.microsoft.com/office/powerpoint/2010/main" val="581843773"/>
              </p:ext>
            </p:extLst>
          </p:nvPr>
        </p:nvGraphicFramePr>
        <p:xfrm>
          <a:off x="969319" y="1590327"/>
          <a:ext cx="10795218" cy="4724400"/>
        </p:xfrm>
        <a:graphic>
          <a:graphicData uri="http://schemas.openxmlformats.org/drawingml/2006/table">
            <a:tbl>
              <a:tblPr firstRow="1" bandRow="1">
                <a:tableStyleId>{5940675A-B579-460E-94D1-54222C63F5DA}</a:tableStyleId>
              </a:tblPr>
              <a:tblGrid>
                <a:gridCol w="1851940">
                  <a:extLst>
                    <a:ext uri="{9D8B030D-6E8A-4147-A177-3AD203B41FA5}">
                      <a16:colId xmlns:a16="http://schemas.microsoft.com/office/drawing/2014/main" val="533583650"/>
                    </a:ext>
                  </a:extLst>
                </a:gridCol>
                <a:gridCol w="8943278">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leaders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subscribers prefer this over other services?   13:  the “grow value exponentially at scale” skill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subscriber satisfaction?   13:  subscribers want knowledge they can use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viral ideation is needed to attract and retain subscribers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subscribers to ideate and use the BOK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subscribers may be interested in certifications, etc.</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develop initial AccelRR8 Body of Knowledge content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engage industry influencers to share their knowledge and advocacy (6 months)</a:t>
                      </a:r>
                    </a:p>
                  </a:txBody>
                  <a:tcPr/>
                </a:tc>
                <a:extLst>
                  <a:ext uri="{0D108BD9-81ED-4DB2-BD59-A6C34878D82A}">
                    <a16:rowId xmlns:a16="http://schemas.microsoft.com/office/drawing/2014/main" val="2029769333"/>
                  </a:ext>
                </a:extLst>
              </a:tr>
            </a:tbl>
          </a:graphicData>
        </a:graphic>
      </p:graphicFrame>
      <p:sp>
        <p:nvSpPr>
          <p:cNvPr id="5" name="Google Shape;18;p9">
            <a:extLst>
              <a:ext uri="{FF2B5EF4-FFF2-40B4-BE49-F238E27FC236}">
                <a16:creationId xmlns:a16="http://schemas.microsoft.com/office/drawing/2014/main" id="{C5748C3E-8A70-958C-B8E4-332FC5861BB3}"/>
              </a:ext>
            </a:extLst>
          </p:cNvPr>
          <p:cNvSpPr txBox="1">
            <a:spLocks noGrp="1"/>
          </p:cNvSpPr>
          <p:nvPr>
            <p:ph type="ftr" idx="11"/>
          </p:nvPr>
        </p:nvSpPr>
        <p:spPr>
          <a:xfrm>
            <a:off x="4038600" y="6545917"/>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7" name="TextBox 6">
            <a:extLst>
              <a:ext uri="{FF2B5EF4-FFF2-40B4-BE49-F238E27FC236}">
                <a16:creationId xmlns:a16="http://schemas.microsoft.com/office/drawing/2014/main" id="{9D6D51B8-EAEB-EAC5-1B5E-A8C3E5DDAE00}"/>
              </a:ext>
            </a:extLst>
          </p:cNvPr>
          <p:cNvSpPr txBox="1"/>
          <p:nvPr/>
        </p:nvSpPr>
        <p:spPr>
          <a:xfrm>
            <a:off x="969319" y="6284748"/>
            <a:ext cx="7090403" cy="246221"/>
          </a:xfrm>
          <a:prstGeom prst="rect">
            <a:avLst/>
          </a:prstGeom>
          <a:noFill/>
        </p:spPr>
        <p:txBody>
          <a:bodyPr wrap="none" rtlCol="0">
            <a:spAutoFit/>
          </a:bodyPr>
          <a:lstStyle/>
          <a:p>
            <a:r>
              <a:rPr lang="en-US" sz="1000" dirty="0"/>
              <a:t>*See </a:t>
            </a:r>
            <a:r>
              <a:rPr lang="en-US" sz="1000" dirty="0">
                <a:hlinkClick r:id="rId3"/>
              </a:rPr>
              <a:t>SAFe WSJF article</a:t>
            </a:r>
            <a:r>
              <a:rPr lang="en-US" sz="1000" dirty="0"/>
              <a:t>; scale for each root parameter is 1, 2, 3, 5, 8, 13, 20 (subset of the modified Fibonacci sequence)</a:t>
            </a:r>
          </a:p>
        </p:txBody>
      </p:sp>
    </p:spTree>
    <p:extLst>
      <p:ext uri="{BB962C8B-B14F-4D97-AF65-F5344CB8AC3E}">
        <p14:creationId xmlns:p14="http://schemas.microsoft.com/office/powerpoint/2010/main" val="2988147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Analysis Stage</a:t>
            </a:r>
          </a:p>
        </p:txBody>
      </p:sp>
      <p:sp>
        <p:nvSpPr>
          <p:cNvPr id="2" name="Rectangle 1">
            <a:extLst>
              <a:ext uri="{FF2B5EF4-FFF2-40B4-BE49-F238E27FC236}">
                <a16:creationId xmlns:a16="http://schemas.microsoft.com/office/drawing/2014/main" id="{127D92EC-B5B2-F4BF-5DE9-95612E9E3BE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1EB6C110-0BBD-1173-FD61-0D99BC14657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6C5FF28-EDA5-D92B-FEB5-078711BC8358}"/>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AB671F-9BEE-E2C8-B532-9AAC16B0D9F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099550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Alternatives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280311085"/>
              </p:ext>
            </p:extLst>
          </p:nvPr>
        </p:nvGraphicFramePr>
        <p:xfrm>
          <a:off x="969319" y="1690688"/>
          <a:ext cx="9991124" cy="4312286"/>
        </p:xfrm>
        <a:graphic>
          <a:graphicData uri="http://schemas.openxmlformats.org/drawingml/2006/table">
            <a:tbl>
              <a:tblPr firstRow="1" bandRow="1">
                <a:tableStyleId>{5940675A-B579-460E-94D1-54222C63F5DA}</a:tableStyleId>
              </a:tblPr>
              <a:tblGrid>
                <a:gridCol w="2255795">
                  <a:extLst>
                    <a:ext uri="{9D8B030D-6E8A-4147-A177-3AD203B41FA5}">
                      <a16:colId xmlns:a16="http://schemas.microsoft.com/office/drawing/2014/main" val="533583650"/>
                    </a:ext>
                  </a:extLst>
                </a:gridCol>
                <a:gridCol w="7735329">
                  <a:extLst>
                    <a:ext uri="{9D8B030D-6E8A-4147-A177-3AD203B41FA5}">
                      <a16:colId xmlns:a16="http://schemas.microsoft.com/office/drawing/2014/main" val="20127695"/>
                    </a:ext>
                  </a:extLst>
                </a:gridCol>
              </a:tblGrid>
              <a:tr h="146916">
                <a:tc>
                  <a:txBody>
                    <a:bodyPr/>
                    <a:lstStyle/>
                    <a:p>
                      <a:r>
                        <a:rPr lang="en-US" sz="1600" b="1" dirty="0"/>
                        <a:t>Alternative 1:</a:t>
                      </a:r>
                      <a:br>
                        <a:rPr lang="en-US" sz="1600" b="0" dirty="0"/>
                      </a:br>
                      <a:r>
                        <a:rPr lang="en-US" sz="1600" b="0" dirty="0"/>
                        <a:t>Free</a:t>
                      </a:r>
                    </a:p>
                    <a:p>
                      <a:endParaRPr lang="en-US" sz="1600" b="0" dirty="0"/>
                    </a:p>
                    <a:p>
                      <a:r>
                        <a:rPr lang="en-US" sz="1600" b="0" i="1" dirty="0"/>
                        <a:t>SELECTED</a:t>
                      </a:r>
                    </a:p>
                  </a:txBody>
                  <a:tcPr/>
                </a:tc>
                <a:tc>
                  <a:txBody>
                    <a:bodyPr/>
                    <a:lstStyle/>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Subscribers can share ideas with one another via an online platform</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Subscribers can access the AccelRR8 Body of Knowledge, including the AccelRR8 Framework</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Subscribers can participate in Consortium webinars</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txBody>
                  <a:tcPr/>
                </a:tc>
                <a:extLst>
                  <a:ext uri="{0D108BD9-81ED-4DB2-BD59-A6C34878D82A}">
                    <a16:rowId xmlns:a16="http://schemas.microsoft.com/office/drawing/2014/main" val="1092281396"/>
                  </a:ext>
                </a:extLst>
              </a:tr>
              <a:tr h="998696">
                <a:tc>
                  <a:txBody>
                    <a:bodyPr/>
                    <a:lstStyle/>
                    <a:p>
                      <a:r>
                        <a:rPr lang="en-US" sz="1600" b="1" dirty="0"/>
                        <a:t>Alternative 2:</a:t>
                      </a:r>
                      <a:br>
                        <a:rPr lang="en-US" sz="1600" b="0" dirty="0"/>
                      </a:br>
                      <a:r>
                        <a:rPr lang="en-US" sz="1600" b="0" dirty="0"/>
                        <a:t>Fee-based</a:t>
                      </a:r>
                    </a:p>
                    <a:p>
                      <a:endParaRPr lang="en-US" sz="1600" b="0" dirty="0"/>
                    </a:p>
                    <a:p>
                      <a:r>
                        <a:rPr lang="en-US" sz="1600" b="0" i="1" dirty="0"/>
                        <a:t>CONSIDER FOR FUTURE VERSION</a:t>
                      </a:r>
                    </a:p>
                  </a:txBody>
                  <a:tcPr/>
                </a:tc>
                <a:tc>
                  <a:txBody>
                    <a:bodyPr/>
                    <a:lstStyle/>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(Like PMI) Individual leaders can take an exam for a one-time fee, and maintain a certification for an annual renewal fee</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(Like ASUG) Organizations can pay an annual fee that covers Open Knowledge Sharing fees for all employees</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(Like various standards bodies) Organizations can pay an annual fee to help govern and evolve the AccelRR8 BOK</a:t>
                      </a: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txBody>
                  <a:tcPr/>
                </a:tc>
                <a:extLst>
                  <a:ext uri="{0D108BD9-81ED-4DB2-BD59-A6C34878D82A}">
                    <a16:rowId xmlns:a16="http://schemas.microsoft.com/office/drawing/2014/main" val="2029769333"/>
                  </a:ext>
                </a:extLst>
              </a:tr>
            </a:tbl>
          </a:graphicData>
        </a:graphic>
      </p:graphicFrame>
      <p:sp>
        <p:nvSpPr>
          <p:cNvPr id="6" name="Rectangle 5">
            <a:extLst>
              <a:ext uri="{FF2B5EF4-FFF2-40B4-BE49-F238E27FC236}">
                <a16:creationId xmlns:a16="http://schemas.microsoft.com/office/drawing/2014/main" id="{EEEA9109-11FD-F460-0725-95712E9F1A0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7" name="Rectangle 6">
            <a:extLst>
              <a:ext uri="{FF2B5EF4-FFF2-40B4-BE49-F238E27FC236}">
                <a16:creationId xmlns:a16="http://schemas.microsoft.com/office/drawing/2014/main" id="{18ACE2DB-9695-6846-EBC0-CDDAB593C84D}"/>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8" name="Rectangle 7">
            <a:extLst>
              <a:ext uri="{FF2B5EF4-FFF2-40B4-BE49-F238E27FC236}">
                <a16:creationId xmlns:a16="http://schemas.microsoft.com/office/drawing/2014/main" id="{E5825B23-224F-30BC-1255-BD6819F53A1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B53C39C2-BA45-92C3-D93B-96BF2FF7E2E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191730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Refined Cost Estimates and WSJF</a:t>
            </a:r>
            <a:endParaRPr dirty="0"/>
          </a:p>
        </p:txBody>
      </p:sp>
      <p:sp>
        <p:nvSpPr>
          <p:cNvPr id="9" name="Rectangle 8">
            <a:extLst>
              <a:ext uri="{FF2B5EF4-FFF2-40B4-BE49-F238E27FC236}">
                <a16:creationId xmlns:a16="http://schemas.microsoft.com/office/drawing/2014/main" id="{35E44920-E1DB-DBA8-39D2-0F97A8DAB79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10" name="Rectangle 9">
            <a:extLst>
              <a:ext uri="{FF2B5EF4-FFF2-40B4-BE49-F238E27FC236}">
                <a16:creationId xmlns:a16="http://schemas.microsoft.com/office/drawing/2014/main" id="{1C465CE0-9D8F-416A-DC1E-6FAA36024E8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11" name="Rectangle 10">
            <a:extLst>
              <a:ext uri="{FF2B5EF4-FFF2-40B4-BE49-F238E27FC236}">
                <a16:creationId xmlns:a16="http://schemas.microsoft.com/office/drawing/2014/main" id="{33A93366-078D-A801-5B4A-525F4CD74719}"/>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3" name="Google Shape;18;p9">
            <a:extLst>
              <a:ext uri="{FF2B5EF4-FFF2-40B4-BE49-F238E27FC236}">
                <a16:creationId xmlns:a16="http://schemas.microsoft.com/office/drawing/2014/main" id="{7EF92490-8763-C122-9420-8771007CA2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4" name="Table 3">
            <a:extLst>
              <a:ext uri="{FF2B5EF4-FFF2-40B4-BE49-F238E27FC236}">
                <a16:creationId xmlns:a16="http://schemas.microsoft.com/office/drawing/2014/main" id="{27601DD6-DAE5-888B-0F9A-3C9911942417}"/>
              </a:ext>
            </a:extLst>
          </p:cNvPr>
          <p:cNvGraphicFramePr>
            <a:graphicFrameLocks noGrp="1"/>
          </p:cNvGraphicFramePr>
          <p:nvPr>
            <p:extLst>
              <p:ext uri="{D42A27DB-BD31-4B8C-83A1-F6EECF244321}">
                <p14:modId xmlns:p14="http://schemas.microsoft.com/office/powerpoint/2010/main" val="4257362467"/>
              </p:ext>
            </p:extLst>
          </p:nvPr>
        </p:nvGraphicFramePr>
        <p:xfrm>
          <a:off x="969319" y="1590327"/>
          <a:ext cx="10795218" cy="4724400"/>
        </p:xfrm>
        <a:graphic>
          <a:graphicData uri="http://schemas.openxmlformats.org/drawingml/2006/table">
            <a:tbl>
              <a:tblPr firstRow="1" bandRow="1">
                <a:tableStyleId>{5940675A-B579-460E-94D1-54222C63F5DA}</a:tableStyleId>
              </a:tblPr>
              <a:tblGrid>
                <a:gridCol w="1851940">
                  <a:extLst>
                    <a:ext uri="{9D8B030D-6E8A-4147-A177-3AD203B41FA5}">
                      <a16:colId xmlns:a16="http://schemas.microsoft.com/office/drawing/2014/main" val="533583650"/>
                    </a:ext>
                  </a:extLst>
                </a:gridCol>
                <a:gridCol w="8943278">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leaders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subscribers prefer this over other services?   13:  the “grow value exponentially at scale” skill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subscriber satisfaction?   13:  subscribers want knowledge they can use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viral ideation is needed to attract and retain subscribers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subscribers to ideate and use the BOK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subscribers may be interested in certifications, etc.</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develop initial AccelRR8 Body of Knowledge content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engage industry influencers to share their knowledge and advocacy (6 months)</a:t>
                      </a:r>
                    </a:p>
                  </a:txBody>
                  <a:tcPr/>
                </a:tc>
                <a:extLst>
                  <a:ext uri="{0D108BD9-81ED-4DB2-BD59-A6C34878D82A}">
                    <a16:rowId xmlns:a16="http://schemas.microsoft.com/office/drawing/2014/main" val="2029769333"/>
                  </a:ext>
                </a:extLst>
              </a:tr>
            </a:tbl>
          </a:graphicData>
        </a:graphic>
      </p:graphicFrame>
    </p:spTree>
    <p:extLst>
      <p:ext uri="{BB962C8B-B14F-4D97-AF65-F5344CB8AC3E}">
        <p14:creationId xmlns:p14="http://schemas.microsoft.com/office/powerpoint/2010/main" val="36843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(1/5)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394072148"/>
              </p:ext>
            </p:extLst>
          </p:nvPr>
        </p:nvGraphicFramePr>
        <p:xfrm>
          <a:off x="976428" y="1690688"/>
          <a:ext cx="9971321" cy="4743786"/>
        </p:xfrm>
        <a:graphic>
          <a:graphicData uri="http://schemas.openxmlformats.org/drawingml/2006/table">
            <a:tbl>
              <a:tblPr firstRow="1" firstCol="1" bandRow="1" bandCol="1">
                <a:tableStyleId>{5940675A-B579-460E-94D1-54222C63F5DA}</a:tableStyleId>
              </a:tblPr>
              <a:tblGrid>
                <a:gridCol w="3294489">
                  <a:extLst>
                    <a:ext uri="{9D8B030D-6E8A-4147-A177-3AD203B41FA5}">
                      <a16:colId xmlns:a16="http://schemas.microsoft.com/office/drawing/2014/main" val="335540143"/>
                    </a:ext>
                  </a:extLst>
                </a:gridCol>
                <a:gridCol w="1235015">
                  <a:extLst>
                    <a:ext uri="{9D8B030D-6E8A-4147-A177-3AD203B41FA5}">
                      <a16:colId xmlns:a16="http://schemas.microsoft.com/office/drawing/2014/main" val="3520678859"/>
                    </a:ext>
                  </a:extLst>
                </a:gridCol>
                <a:gridCol w="206139">
                  <a:extLst>
                    <a:ext uri="{9D8B030D-6E8A-4147-A177-3AD203B41FA5}">
                      <a16:colId xmlns:a16="http://schemas.microsoft.com/office/drawing/2014/main" val="4207968209"/>
                    </a:ext>
                  </a:extLst>
                </a:gridCol>
                <a:gridCol w="5235678">
                  <a:extLst>
                    <a:ext uri="{9D8B030D-6E8A-4147-A177-3AD203B41FA5}">
                      <a16:colId xmlns:a16="http://schemas.microsoft.com/office/drawing/2014/main" val="1867107964"/>
                    </a:ext>
                  </a:extLst>
                </a:gridCol>
              </a:tblGrid>
              <a:tr h="1208629">
                <a:tc>
                  <a:txBody>
                    <a:bodyPr/>
                    <a:lstStyle/>
                    <a:p>
                      <a:pPr marL="0" marR="0">
                        <a:lnSpc>
                          <a:spcPct val="115000"/>
                        </a:lnSpc>
                        <a:spcBef>
                          <a:spcPts val="0"/>
                        </a:spcBef>
                        <a:spcAft>
                          <a:spcPts val="1000"/>
                        </a:spcAft>
                      </a:pPr>
                      <a:r>
                        <a:rPr lang="en-US" sz="1100" b="1" dirty="0">
                          <a:solidFill>
                            <a:schemeClr val="tx1"/>
                          </a:solidFill>
                          <a:effectLst/>
                        </a:rPr>
                        <a:t>Funnel Entry Date:   </a:t>
                      </a:r>
                    </a:p>
                    <a:p>
                      <a:pPr marL="0" marR="0">
                        <a:lnSpc>
                          <a:spcPct val="115000"/>
                        </a:lnSpc>
                        <a:spcBef>
                          <a:spcPts val="0"/>
                        </a:spcBef>
                        <a:spcAft>
                          <a:spcPts val="1000"/>
                        </a:spcAft>
                      </a:pPr>
                      <a:r>
                        <a:rPr lang="en-US" sz="1100" dirty="0">
                          <a:solidFill>
                            <a:schemeClr val="tx1"/>
                          </a:solidFill>
                          <a:effectLst/>
                        </a:rPr>
                        <a:t>February 1, 2024</a:t>
                      </a:r>
                    </a:p>
                  </a:txBody>
                  <a:tcPr marL="40793" marR="40793" marT="0" marB="0"/>
                </a:tc>
                <a:tc gridSpan="2">
                  <a:txBody>
                    <a:bodyPr/>
                    <a:lstStyle/>
                    <a:p>
                      <a:pPr marL="0" marR="0">
                        <a:lnSpc>
                          <a:spcPct val="115000"/>
                        </a:lnSpc>
                        <a:spcBef>
                          <a:spcPts val="0"/>
                        </a:spcBef>
                        <a:spcAft>
                          <a:spcPts val="1000"/>
                        </a:spcAft>
                      </a:pPr>
                      <a:r>
                        <a:rPr lang="en-US" sz="1100" b="1" dirty="0">
                          <a:solidFill>
                            <a:schemeClr val="tx1"/>
                          </a:solidFill>
                          <a:effectLst/>
                        </a:rPr>
                        <a:t>Offering Owner:</a:t>
                      </a:r>
                    </a:p>
                    <a:p>
                      <a:pPr marL="0" marR="0">
                        <a:lnSpc>
                          <a:spcPct val="115000"/>
                        </a:lnSpc>
                        <a:spcBef>
                          <a:spcPts val="0"/>
                        </a:spcBef>
                        <a:spcAft>
                          <a:spcPts val="1000"/>
                        </a:spcAft>
                      </a:pPr>
                      <a:r>
                        <a:rPr lang="en-US" sz="1100" dirty="0">
                          <a:solidFill>
                            <a:schemeClr val="tx1"/>
                          </a:solidFill>
                          <a:effectLst/>
                        </a:rPr>
                        <a:t>Open Knowledge Sharing Service Leader</a:t>
                      </a: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Key Stakeholders:</a:t>
                      </a:r>
                    </a:p>
                    <a:p>
                      <a:pPr marL="0" marR="0">
                        <a:lnSpc>
                          <a:spcPct val="115000"/>
                        </a:lnSpc>
                        <a:spcBef>
                          <a:spcPts val="0"/>
                        </a:spcBef>
                        <a:spcAft>
                          <a:spcPts val="1000"/>
                        </a:spcAft>
                      </a:pPr>
                      <a:r>
                        <a:rPr lang="en-US" sz="1100" dirty="0">
                          <a:solidFill>
                            <a:schemeClr val="tx1"/>
                          </a:solidFill>
                          <a:effectLst/>
                        </a:rPr>
                        <a:t>Core Boosters:  Board Members, Board Advisors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3298821640"/>
                  </a:ext>
                </a:extLst>
              </a:tr>
              <a:tr h="1884556">
                <a:tc gridSpan="4">
                  <a:txBody>
                    <a:bodyPr/>
                    <a:lstStyle/>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dirty="0">
                          <a:solidFill>
                            <a:schemeClr val="tx1"/>
                          </a:solidFill>
                          <a:effectLst/>
                        </a:rPr>
                        <a:t>Offering Description:</a:t>
                      </a: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r>
                        <a:rPr lang="en-US" sz="1100" b="1" i="0" u="none" strike="noStrike" cap="none" dirty="0">
                          <a:solidFill>
                            <a:schemeClr val="tx1"/>
                          </a:solidFill>
                          <a:effectLst/>
                          <a:latin typeface="+mn-lt"/>
                          <a:ea typeface="+mn-ea"/>
                          <a:cs typeface="+mn-cs"/>
                          <a:sym typeface="Arial"/>
                        </a:rPr>
                        <a:t>FOR </a:t>
                      </a:r>
                      <a:r>
                        <a:rPr lang="en-US" sz="1100" b="0" i="0" u="none" strike="noStrike" cap="none" dirty="0">
                          <a:solidFill>
                            <a:schemeClr val="tx1"/>
                          </a:solidFill>
                          <a:effectLst/>
                          <a:latin typeface="+mn-lt"/>
                          <a:ea typeface="+mn-ea"/>
                          <a:cs typeface="+mn-cs"/>
                          <a:sym typeface="Arial"/>
                        </a:rPr>
                        <a:t>enterprising leaders involved or interested in the Tech Services industry </a:t>
                      </a:r>
                      <a:r>
                        <a:rPr lang="en-US" sz="1100" b="1" i="0" u="none" strike="noStrike" cap="none" dirty="0">
                          <a:solidFill>
                            <a:schemeClr val="tx1"/>
                          </a:solidFill>
                          <a:effectLst/>
                          <a:latin typeface="+mn-lt"/>
                          <a:ea typeface="+mn-ea"/>
                          <a:cs typeface="+mn-cs"/>
                          <a:sym typeface="Arial"/>
                        </a:rPr>
                        <a:t>WHO </a:t>
                      </a:r>
                      <a:r>
                        <a:rPr lang="en-US" sz="1100" b="0" i="0" u="none" strike="noStrike" cap="none" dirty="0">
                          <a:solidFill>
                            <a:schemeClr val="tx1"/>
                          </a:solidFill>
                          <a:effectLst/>
                          <a:latin typeface="+mn-lt"/>
                          <a:ea typeface="+mn-ea"/>
                          <a:cs typeface="+mn-cs"/>
                          <a:sym typeface="Arial"/>
                        </a:rPr>
                        <a:t>want to improve their career opportunities and the Tech Services industry’s impact </a:t>
                      </a:r>
                      <a:r>
                        <a:rPr lang="en-US" sz="1100" b="1" i="0" u="none" strike="noStrike" cap="none" dirty="0">
                          <a:solidFill>
                            <a:schemeClr val="tx1"/>
                          </a:solidFill>
                          <a:effectLst/>
                          <a:latin typeface="+mn-lt"/>
                          <a:ea typeface="+mn-ea"/>
                          <a:cs typeface="+mn-cs"/>
                          <a:sym typeface="Arial"/>
                        </a:rPr>
                        <a:t>THE </a:t>
                      </a:r>
                      <a:r>
                        <a:rPr lang="en-US" sz="1100" b="0" i="0" u="none" strike="noStrike" cap="none" dirty="0">
                          <a:solidFill>
                            <a:schemeClr val="tx1"/>
                          </a:solidFill>
                          <a:effectLst/>
                          <a:latin typeface="+mn-lt"/>
                          <a:ea typeface="+mn-ea"/>
                          <a:cs typeface="+mn-cs"/>
                          <a:sym typeface="Arial"/>
                        </a:rPr>
                        <a:t>AccelRR8 Consortium Non-Profit’s Open Knowledge Sharing Service </a:t>
                      </a:r>
                      <a:r>
                        <a:rPr lang="en-US" sz="1100" b="1" i="0" u="none" strike="noStrike" cap="none" dirty="0">
                          <a:solidFill>
                            <a:schemeClr val="tx1"/>
                          </a:solidFill>
                          <a:effectLst/>
                          <a:latin typeface="+mn-lt"/>
                          <a:ea typeface="+mn-ea"/>
                          <a:cs typeface="+mn-cs"/>
                          <a:sym typeface="Arial"/>
                        </a:rPr>
                        <a:t>IS AN </a:t>
                      </a:r>
                      <a:r>
                        <a:rPr lang="en-US" sz="1100" b="1" i="0" u="none" strike="noStrike" cap="none" dirty="0">
                          <a:solidFill>
                            <a:schemeClr val="accent2"/>
                          </a:solidFill>
                          <a:effectLst/>
                          <a:latin typeface="+mn-lt"/>
                          <a:ea typeface="+mn-ea"/>
                          <a:cs typeface="+mn-cs"/>
                          <a:sym typeface="Arial"/>
                        </a:rPr>
                        <a:t>AI</a:t>
                      </a:r>
                      <a:r>
                        <a:rPr lang="en-US" sz="1100" b="0" i="0" u="none" strike="noStrike" cap="none" dirty="0">
                          <a:solidFill>
                            <a:schemeClr val="tx1"/>
                          </a:solidFill>
                          <a:effectLst/>
                          <a:latin typeface="+mn-lt"/>
                          <a:ea typeface="+mn-ea"/>
                          <a:cs typeface="+mn-cs"/>
                          <a:sym typeface="Arial"/>
                        </a:rPr>
                        <a:t>-powered support function facilitating ideation across a global AccelRR8 professional network </a:t>
                      </a:r>
                      <a:r>
                        <a:rPr lang="en-US" sz="1100" b="1" i="0" u="none" strike="noStrike" cap="none" dirty="0">
                          <a:solidFill>
                            <a:schemeClr val="tx1"/>
                          </a:solidFill>
                          <a:effectLst/>
                          <a:latin typeface="+mn-lt"/>
                          <a:ea typeface="+mn-ea"/>
                          <a:cs typeface="+mn-cs"/>
                          <a:sym typeface="Arial"/>
                        </a:rPr>
                        <a:t>THAT </a:t>
                      </a:r>
                      <a:r>
                        <a:rPr lang="en-US" sz="1100" b="0" i="0" u="none" strike="noStrike" cap="none" dirty="0">
                          <a:solidFill>
                            <a:schemeClr val="tx1"/>
                          </a:solidFill>
                          <a:effectLst/>
                          <a:latin typeface="+mn-lt"/>
                          <a:ea typeface="+mn-ea"/>
                          <a:cs typeface="+mn-cs"/>
                          <a:sym typeface="Arial"/>
                        </a:rPr>
                        <a:t>helps leaders rapidly share ideas and align on authoritative best practices for growing value exponentially at scale. </a:t>
                      </a:r>
                      <a:endParaRPr lang="en-US" sz="1100" b="1" i="0" u="none" strike="noStrike" cap="none" dirty="0">
                        <a:solidFill>
                          <a:schemeClr val="tx1"/>
                        </a:solidFill>
                        <a:effectLst/>
                        <a:latin typeface="+mn-lt"/>
                        <a:ea typeface="+mn-ea"/>
                        <a:cs typeface="+mn-cs"/>
                        <a:sym typeface="Arial"/>
                      </a:endParaRPr>
                    </a:p>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i="0" u="none" strike="noStrike" cap="none" dirty="0">
                          <a:solidFill>
                            <a:schemeClr val="tx1"/>
                          </a:solidFill>
                          <a:effectLst/>
                          <a:latin typeface="+mn-lt"/>
                          <a:ea typeface="+mn-ea"/>
                          <a:cs typeface="+mn-cs"/>
                          <a:sym typeface="Arial"/>
                        </a:rPr>
                        <a:t>UNLIKE </a:t>
                      </a:r>
                      <a:r>
                        <a:rPr lang="en-US" sz="1100" b="0" i="0" u="none" strike="noStrike" cap="none" dirty="0">
                          <a:solidFill>
                            <a:schemeClr val="tx1"/>
                          </a:solidFill>
                          <a:effectLst/>
                          <a:latin typeface="+mn-lt"/>
                          <a:ea typeface="+mn-ea"/>
                          <a:cs typeface="+mn-cs"/>
                          <a:sym typeface="Arial"/>
                        </a:rPr>
                        <a:t>other associations that support open knowledge sharing, </a:t>
                      </a:r>
                      <a:r>
                        <a:rPr lang="en-US" sz="1100" b="1" i="0" u="none" strike="noStrike" cap="none" dirty="0">
                          <a:solidFill>
                            <a:schemeClr val="tx1"/>
                          </a:solidFill>
                          <a:effectLst/>
                          <a:latin typeface="+mn-lt"/>
                          <a:ea typeface="+mn-ea"/>
                          <a:cs typeface="+mn-cs"/>
                          <a:sym typeface="Arial"/>
                        </a:rPr>
                        <a:t>OUR SERVICE’s </a:t>
                      </a:r>
                      <a:r>
                        <a:rPr lang="en-US" sz="1100" b="0" i="0" u="none" strike="noStrike" cap="none" dirty="0">
                          <a:solidFill>
                            <a:schemeClr val="tx1"/>
                          </a:solidFill>
                          <a:effectLst/>
                          <a:latin typeface="+mn-lt"/>
                          <a:ea typeface="+mn-ea"/>
                          <a:cs typeface="+mn-cs"/>
                          <a:sym typeface="Arial"/>
                        </a:rPr>
                        <a:t>own success will be a key proof point of our Consortium’s core premise:  (1) high-value ideas will go </a:t>
                      </a:r>
                      <a:r>
                        <a:rPr lang="en-US" sz="1100" b="1" i="0" u="none" strike="noStrike" cap="none" dirty="0">
                          <a:solidFill>
                            <a:srgbClr val="00B050"/>
                          </a:solidFill>
                          <a:effectLst/>
                          <a:latin typeface="+mn-lt"/>
                          <a:ea typeface="+mn-ea"/>
                          <a:cs typeface="+mn-cs"/>
                          <a:sym typeface="Arial"/>
                        </a:rPr>
                        <a:t>viral</a:t>
                      </a:r>
                      <a:r>
                        <a:rPr lang="en-US" sz="1100" b="0" i="0" u="none" strike="noStrike" cap="none" dirty="0">
                          <a:solidFill>
                            <a:schemeClr val="tx1"/>
                          </a:solidFill>
                          <a:effectLst/>
                          <a:latin typeface="+mn-lt"/>
                          <a:ea typeface="+mn-ea"/>
                          <a:cs typeface="+mn-cs"/>
                          <a:sym typeface="Arial"/>
                        </a:rPr>
                        <a:t>, propagating exponentially fast and wide across the network, and (2) successful ideas are added via </a:t>
                      </a:r>
                      <a:r>
                        <a:rPr lang="en-US" sz="1100" b="1" i="0" u="none" strike="noStrike" cap="none" dirty="0">
                          <a:solidFill>
                            <a:srgbClr val="00B050"/>
                          </a:solidFill>
                          <a:effectLst/>
                          <a:latin typeface="+mn-lt"/>
                          <a:ea typeface="+mn-ea"/>
                          <a:cs typeface="+mn-cs"/>
                          <a:sym typeface="Arial"/>
                        </a:rPr>
                        <a:t>generative learning</a:t>
                      </a:r>
                      <a:r>
                        <a:rPr lang="en-US" sz="1100" b="0" i="0" u="none" strike="noStrike" cap="none" dirty="0">
                          <a:solidFill>
                            <a:schemeClr val="tx1"/>
                          </a:solidFill>
                          <a:effectLst/>
                          <a:latin typeface="+mn-lt"/>
                          <a:ea typeface="+mn-ea"/>
                          <a:cs typeface="+mn-cs"/>
                          <a:sym typeface="Arial"/>
                        </a:rPr>
                        <a:t> to the AccelRR8 Body of Knowledge, curated with the help of expert advisors.</a:t>
                      </a:r>
                    </a:p>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endParaRPr lang="en-US" sz="1100" b="1"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4933647"/>
                  </a:ext>
                </a:extLst>
              </a:tr>
              <a:tr h="1562466">
                <a:tc gridSpan="2">
                  <a:txBody>
                    <a:bodyPr/>
                    <a:lstStyle/>
                    <a:p>
                      <a:pPr marL="0" marR="0">
                        <a:lnSpc>
                          <a:spcPct val="115000"/>
                        </a:lnSpc>
                        <a:spcBef>
                          <a:spcPts val="0"/>
                        </a:spcBef>
                        <a:spcAft>
                          <a:spcPts val="1000"/>
                        </a:spcAft>
                      </a:pPr>
                      <a:r>
                        <a:rPr lang="en-US" sz="1100" b="1" dirty="0">
                          <a:solidFill>
                            <a:schemeClr val="tx1"/>
                          </a:solidFill>
                          <a:effectLst/>
                        </a:rPr>
                        <a:t>Business Outcome Hypothesis:</a:t>
                      </a:r>
                    </a:p>
                    <a:p>
                      <a:pPr marL="0" marR="0">
                        <a:lnSpc>
                          <a:spcPct val="115000"/>
                        </a:lnSpc>
                        <a:spcBef>
                          <a:spcPts val="0"/>
                        </a:spcBef>
                        <a:spcAft>
                          <a:spcPts val="1000"/>
                        </a:spcAft>
                      </a:pPr>
                      <a:r>
                        <a:rPr lang="en-US" sz="1100" b="1" dirty="0">
                          <a:solidFill>
                            <a:schemeClr val="tx1"/>
                          </a:solidFill>
                          <a:effectLst/>
                        </a:rPr>
                        <a:t>Subscribers: </a:t>
                      </a:r>
                      <a:r>
                        <a:rPr lang="en-US" sz="1100" dirty="0">
                          <a:solidFill>
                            <a:schemeClr val="tx1"/>
                          </a:solidFill>
                          <a:effectLst/>
                        </a:rPr>
                        <a:t>improve their professional network, skills, brand, and career opportunities as measured via survey of subscribers</a:t>
                      </a:r>
                      <a:br>
                        <a:rPr lang="en-US" sz="1100" dirty="0">
                          <a:solidFill>
                            <a:schemeClr val="tx1"/>
                          </a:solidFill>
                          <a:effectLst/>
                        </a:rPr>
                      </a:br>
                      <a:r>
                        <a:rPr lang="en-US" sz="1100" b="1" dirty="0">
                          <a:solidFill>
                            <a:schemeClr val="tx1"/>
                          </a:solidFill>
                          <a:effectLst/>
                        </a:rPr>
                        <a:t>The Tech Services industry: </a:t>
                      </a:r>
                      <a:r>
                        <a:rPr lang="en-US" sz="1100" dirty="0">
                          <a:solidFill>
                            <a:schemeClr val="tx1"/>
                          </a:solidFill>
                          <a:effectLst/>
                        </a:rPr>
                        <a:t>cross-company learning among leaders with scarce talents as measured via survey of subscribers</a:t>
                      </a:r>
                      <a:br>
                        <a:rPr lang="en-US" sz="1100" dirty="0">
                          <a:solidFill>
                            <a:schemeClr val="tx1"/>
                          </a:solidFill>
                          <a:effectLst/>
                        </a:rPr>
                      </a:br>
                      <a:r>
                        <a:rPr lang="en-US" sz="1100" b="1" dirty="0">
                          <a:solidFill>
                            <a:schemeClr val="tx1"/>
                          </a:solidFill>
                          <a:effectLst/>
                        </a:rPr>
                        <a:t>AccelRR8 Consortium: </a:t>
                      </a:r>
                      <a:r>
                        <a:rPr lang="en-US" sz="1100" dirty="0">
                          <a:solidFill>
                            <a:schemeClr val="tx1"/>
                          </a:solidFill>
                          <a:effectLst/>
                        </a:rPr>
                        <a:t>exponential benefits via Market Network Effects (per </a:t>
                      </a:r>
                      <a:r>
                        <a:rPr lang="en-US" sz="1100" dirty="0" err="1">
                          <a:solidFill>
                            <a:schemeClr val="tx1"/>
                          </a:solidFill>
                          <a:effectLst/>
                        </a:rPr>
                        <a:t>nfx.com</a:t>
                      </a:r>
                      <a:r>
                        <a:rPr lang="en-US" sz="1100" dirty="0">
                          <a:solidFill>
                            <a:schemeClr val="tx1"/>
                          </a:solidFill>
                          <a:effectLst/>
                        </a:rPr>
                        <a:t>) as measured via survey of subscribers</a:t>
                      </a:r>
                    </a:p>
                  </a:txBody>
                  <a:tcPr marL="40793" marR="40793" marT="0" marB="0"/>
                </a:tc>
                <a:tc hMerge="1">
                  <a:txBody>
                    <a:bodyPr/>
                    <a:lstStyle/>
                    <a:p>
                      <a:endParaRPr lang="en-US"/>
                    </a:p>
                  </a:txBody>
                  <a:tcPr/>
                </a:tc>
                <a:tc gridSpan="2">
                  <a:txBody>
                    <a:bodyPr/>
                    <a:lstStyle/>
                    <a:p>
                      <a:pPr marL="0" marR="0">
                        <a:lnSpc>
                          <a:spcPct val="115000"/>
                        </a:lnSpc>
                        <a:spcBef>
                          <a:spcPts val="0"/>
                        </a:spcBef>
                        <a:spcAft>
                          <a:spcPts val="1000"/>
                        </a:spcAft>
                      </a:pPr>
                      <a:r>
                        <a:rPr lang="en-US" sz="1100" b="1" dirty="0">
                          <a:solidFill>
                            <a:schemeClr val="tx1"/>
                          </a:solidFill>
                          <a:effectLst/>
                        </a:rPr>
                        <a:t>Leading Indicators:</a:t>
                      </a:r>
                    </a:p>
                    <a:p>
                      <a:pPr marL="0" marR="0">
                        <a:lnSpc>
                          <a:spcPct val="115000"/>
                        </a:lnSpc>
                        <a:spcBef>
                          <a:spcPts val="0"/>
                        </a:spcBef>
                        <a:spcAft>
                          <a:spcPts val="1000"/>
                        </a:spcAft>
                      </a:pPr>
                      <a:r>
                        <a:rPr lang="en-US" sz="1100" dirty="0">
                          <a:solidFill>
                            <a:schemeClr val="tx1"/>
                          </a:solidFill>
                          <a:effectLst/>
                        </a:rPr>
                        <a:t>1000 subscribers participating in the AccelRR8 Consortium professional network</a:t>
                      </a:r>
                      <a:br>
                        <a:rPr lang="en-US" sz="1100" dirty="0">
                          <a:solidFill>
                            <a:schemeClr val="tx1"/>
                          </a:solidFill>
                          <a:effectLst/>
                        </a:rPr>
                      </a:br>
                      <a:r>
                        <a:rPr lang="en-US" sz="1100" dirty="0">
                          <a:solidFill>
                            <a:schemeClr val="tx1"/>
                          </a:solidFill>
                          <a:effectLst/>
                        </a:rPr>
                        <a:t>are Net Promoters of this service as measured via survey of subscribers.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hMerge="1">
                  <a:txBody>
                    <a:bodyPr/>
                    <a:lstStyle/>
                    <a:p>
                      <a:endParaRPr lang="en-US"/>
                    </a:p>
                  </a:txBody>
                  <a:tcPr/>
                </a:tc>
                <a:extLst>
                  <a:ext uri="{0D108BD9-81ED-4DB2-BD59-A6C34878D82A}">
                    <a16:rowId xmlns:a16="http://schemas.microsoft.com/office/drawing/2014/main" val="2522614672"/>
                  </a:ext>
                </a:extLst>
              </a:tr>
            </a:tbl>
          </a:graphicData>
        </a:graphic>
      </p:graphicFrame>
      <p:sp>
        <p:nvSpPr>
          <p:cNvPr id="3" name="Rectangle 2">
            <a:extLst>
              <a:ext uri="{FF2B5EF4-FFF2-40B4-BE49-F238E27FC236}">
                <a16:creationId xmlns:a16="http://schemas.microsoft.com/office/drawing/2014/main" id="{CFC16F5D-3110-F78F-4BCE-2771F94F23F4}"/>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DFB45135-FB35-B334-1389-8F4FC41447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CF952194-1B19-D864-7329-44E737966261}"/>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C3986F6-425A-0514-DE8E-DE31978EAAD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43007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(2/5)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3754713915"/>
              </p:ext>
            </p:extLst>
          </p:nvPr>
        </p:nvGraphicFramePr>
        <p:xfrm>
          <a:off x="363071" y="1591460"/>
          <a:ext cx="11577917" cy="4593947"/>
        </p:xfrm>
        <a:graphic>
          <a:graphicData uri="http://schemas.openxmlformats.org/drawingml/2006/table">
            <a:tbl>
              <a:tblPr firstRow="1" firstCol="1" bandRow="1" bandCol="1">
                <a:tableStyleId>{5940675A-B579-460E-94D1-54222C63F5DA}</a:tableStyleId>
              </a:tblPr>
              <a:tblGrid>
                <a:gridCol w="2339788">
                  <a:extLst>
                    <a:ext uri="{9D8B030D-6E8A-4147-A177-3AD203B41FA5}">
                      <a16:colId xmlns:a16="http://schemas.microsoft.com/office/drawing/2014/main" val="335540143"/>
                    </a:ext>
                  </a:extLst>
                </a:gridCol>
                <a:gridCol w="3307976">
                  <a:extLst>
                    <a:ext uri="{9D8B030D-6E8A-4147-A177-3AD203B41FA5}">
                      <a16:colId xmlns:a16="http://schemas.microsoft.com/office/drawing/2014/main" val="298461284"/>
                    </a:ext>
                  </a:extLst>
                </a:gridCol>
                <a:gridCol w="5930153">
                  <a:extLst>
                    <a:ext uri="{9D8B030D-6E8A-4147-A177-3AD203B41FA5}">
                      <a16:colId xmlns:a16="http://schemas.microsoft.com/office/drawing/2014/main" val="2999675910"/>
                    </a:ext>
                  </a:extLst>
                </a:gridCol>
              </a:tblGrid>
              <a:tr h="552992">
                <a:tc>
                  <a:txBody>
                    <a:bodyPr/>
                    <a:lstStyle/>
                    <a:p>
                      <a:pPr marL="0" marR="0">
                        <a:lnSpc>
                          <a:spcPct val="115000"/>
                        </a:lnSpc>
                        <a:spcBef>
                          <a:spcPts val="0"/>
                        </a:spcBef>
                        <a:spcAft>
                          <a:spcPts val="1000"/>
                        </a:spcAft>
                      </a:pPr>
                      <a:r>
                        <a:rPr lang="en-US" sz="1100" b="1" dirty="0">
                          <a:solidFill>
                            <a:schemeClr val="tx1"/>
                          </a:solidFill>
                          <a:effectLst/>
                        </a:rPr>
                        <a:t>In Scope: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Subscribers can share ideas with one another via an online platform</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Subscribers can access the AccelRR8 Body of Knowledge, including the AccelRR8 Framework</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Subscribers can participate in Consortium webinars</a:t>
                      </a: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Out of Scope: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(Like PMI) Individual leaders can take an exam for a one-time fee, and maintain a certification for an annual renewal fee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(Like ASUG) Organizations can pay an annual fee that covers Open Knowledge Sharing fees for all employees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(Like various standards bodies) Organizations can pay an annual fee to help govern and evolve the AccelRR8 BOK</a:t>
                      </a:r>
                    </a:p>
                    <a:p>
                      <a:pPr marL="123825" marR="0" lvl="0" indent="-123825">
                        <a:lnSpc>
                          <a:spcPct val="115000"/>
                        </a:lnSpc>
                        <a:spcBef>
                          <a:spcPts val="0"/>
                        </a:spcBef>
                        <a:spcAft>
                          <a:spcPts val="0"/>
                        </a:spcAft>
                        <a:buFont typeface="Symbol" pitchFamily="2" charset="2"/>
                        <a:buChar char=""/>
                        <a:tabLst/>
                      </a:pPr>
                      <a:endParaRPr lang="en-US" sz="1100" dirty="0">
                        <a:solidFill>
                          <a:schemeClr val="tx1"/>
                        </a:solidFill>
                        <a:effectLst/>
                      </a:endParaRP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Nonfunctional Requirements:</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Desirability:  </a:t>
                      </a:r>
                      <a:r>
                        <a:rPr lang="en-US" sz="1100" b="0" i="0" u="none" strike="noStrike" cap="none" dirty="0">
                          <a:solidFill>
                            <a:schemeClr val="tx1"/>
                          </a:solidFill>
                          <a:effectLst/>
                          <a:latin typeface="+mn-lt"/>
                          <a:ea typeface="+mn-ea"/>
                          <a:cs typeface="+mn-cs"/>
                          <a:sym typeface="Arial"/>
                        </a:rPr>
                        <a:t>all want exponential success, few know how to generate it, and stakeholders like our values and culture</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Viability:  </a:t>
                      </a:r>
                      <a:r>
                        <a:rPr lang="en-US" sz="1100" b="0" i="0" u="none" strike="noStrike" cap="none" dirty="0">
                          <a:solidFill>
                            <a:schemeClr val="tx1"/>
                          </a:solidFill>
                          <a:effectLst/>
                          <a:latin typeface="+mn-lt"/>
                          <a:ea typeface="+mn-ea"/>
                          <a:cs typeface="+mn-cs"/>
                          <a:sym typeface="Arial"/>
                        </a:rPr>
                        <a:t>the Consortium has the required capabilities and isn’t trying to boil the ocean</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Sustainability:  </a:t>
                      </a:r>
                      <a:r>
                        <a:rPr lang="en-US" sz="1100" b="0" i="0" u="none" strike="noStrike" cap="none" dirty="0">
                          <a:solidFill>
                            <a:schemeClr val="tx1"/>
                          </a:solidFill>
                          <a:effectLst/>
                          <a:latin typeface="+mn-lt"/>
                          <a:ea typeface="+mn-ea"/>
                          <a:cs typeface="+mn-cs"/>
                          <a:sym typeface="Arial"/>
                        </a:rPr>
                        <a:t>the core premise (proven accelerators mathematically capable of exponential results) is enduring</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Performance:  </a:t>
                      </a:r>
                      <a:r>
                        <a:rPr lang="en-US" sz="1100" b="0" i="0" u="none" strike="noStrike" cap="none" dirty="0">
                          <a:solidFill>
                            <a:schemeClr val="tx1"/>
                          </a:solidFill>
                          <a:effectLst/>
                          <a:latin typeface="+mn-lt"/>
                          <a:ea typeface="+mn-ea"/>
                          <a:cs typeface="+mn-cs"/>
                          <a:sym typeface="Arial"/>
                        </a:rPr>
                        <a:t>the Service’s own success will be a key proof of our core premise, creating a virtuous cycle</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Usability:  </a:t>
                      </a:r>
                      <a:r>
                        <a:rPr lang="en-US" sz="1100" b="0" i="0" u="none" strike="noStrike" cap="none" dirty="0">
                          <a:solidFill>
                            <a:schemeClr val="tx1"/>
                          </a:solidFill>
                          <a:effectLst/>
                          <a:latin typeface="+mn-lt"/>
                          <a:ea typeface="+mn-ea"/>
                          <a:cs typeface="+mn-cs"/>
                          <a:sym typeface="Arial"/>
                        </a:rPr>
                        <a:t>participating in ideation across the network and using the AccelRR8 BOK must be incredibly easy</a:t>
                      </a:r>
                    </a:p>
                  </a:txBody>
                  <a:tcPr marL="40793" marR="40793" marT="0" marB="0"/>
                </a:tc>
                <a:extLst>
                  <a:ext uri="{0D108BD9-81ED-4DB2-BD59-A6C34878D82A}">
                    <a16:rowId xmlns:a16="http://schemas.microsoft.com/office/drawing/2014/main" val="1803020786"/>
                  </a:ext>
                </a:extLst>
              </a:tr>
              <a:tr h="1226711">
                <a:tc gridSpan="2">
                  <a:txBody>
                    <a:bodyPr/>
                    <a:lstStyle/>
                    <a:p>
                      <a:pPr marL="0" marR="0">
                        <a:lnSpc>
                          <a:spcPct val="115000"/>
                        </a:lnSpc>
                        <a:spcBef>
                          <a:spcPts val="0"/>
                        </a:spcBef>
                        <a:spcAft>
                          <a:spcPts val="1000"/>
                        </a:spcAft>
                      </a:pPr>
                      <a:r>
                        <a:rPr lang="en-US" sz="1100" b="1" dirty="0">
                          <a:solidFill>
                            <a:schemeClr val="tx1"/>
                          </a:solidFill>
                          <a:effectLst/>
                        </a:rPr>
                        <a:t>Minimum Viable Product (MVP)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Subscribers join and use a free online platform to share ideas with one another</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Subscribers visit the AccelRR8 Body of Knowledge published on a free blog site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Subscribers sign up for and view free AccelRR8 Consortium Webinars</a:t>
                      </a: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Additional Potential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AccelRR8 Framework and its Components added to the AccelRR8 Body of Knowledge:  Compounding Innovation, Network Effects, Viral Ideation, Generative Learning, and Artificial Intelligence</a:t>
                      </a:r>
                    </a:p>
                    <a:p>
                      <a:pPr marL="0" marR="0">
                        <a:lnSpc>
                          <a:spcPct val="115000"/>
                        </a:lnSpc>
                        <a:spcBef>
                          <a:spcPts val="0"/>
                        </a:spcBef>
                        <a:spcAft>
                          <a:spcPts val="1000"/>
                        </a:spcAft>
                      </a:pPr>
                      <a:r>
                        <a:rPr lang="en-US" sz="1100" dirty="0">
                          <a:solidFill>
                            <a:schemeClr val="tx1"/>
                          </a:solidFill>
                          <a:effectLst/>
                        </a:rPr>
                        <a:t> </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2776873087"/>
                  </a:ext>
                </a:extLst>
              </a:tr>
              <a:tr h="1135973">
                <a:tc gridSpan="2">
                  <a:txBody>
                    <a:bodyPr/>
                    <a:lstStyle/>
                    <a:p>
                      <a:pPr marL="0" marR="0">
                        <a:lnSpc>
                          <a:spcPct val="115000"/>
                        </a:lnSpc>
                        <a:spcBef>
                          <a:spcPts val="0"/>
                        </a:spcBef>
                        <a:spcAft>
                          <a:spcPts val="1000"/>
                        </a:spcAft>
                      </a:pPr>
                      <a:r>
                        <a:rPr lang="en-US" sz="1100" b="1" dirty="0">
                          <a:solidFill>
                            <a:schemeClr val="tx1"/>
                          </a:solidFill>
                          <a:effectLst/>
                        </a:rPr>
                        <a:t>Analysis Summary: </a:t>
                      </a:r>
                    </a:p>
                    <a:p>
                      <a:pPr marL="114300" marR="0" indent="-114300">
                        <a:lnSpc>
                          <a:spcPct val="115000"/>
                        </a:lnSpc>
                        <a:spcBef>
                          <a:spcPts val="0"/>
                        </a:spcBef>
                        <a:spcAft>
                          <a:spcPts val="0"/>
                        </a:spcAft>
                        <a:buFont typeface="Arial" panose="020B0604020202020204" pitchFamily="34" charset="0"/>
                        <a:buChar char="•"/>
                        <a:tabLst/>
                      </a:pPr>
                      <a:r>
                        <a:rPr lang="en-US" sz="1100" dirty="0">
                          <a:solidFill>
                            <a:schemeClr val="tx1"/>
                          </a:solidFill>
                          <a:effectLst/>
                        </a:rPr>
                        <a:t>MVP desirability, viability, feasibility, and sustainability were verified by the Board of Directors as well as a subset of Advisors and Initial Subscribers.</a:t>
                      </a:r>
                      <a:endParaRPr lang="en-US" sz="1100" b="0"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Go / No-Go:</a:t>
                      </a:r>
                    </a:p>
                    <a:p>
                      <a:pPr marL="0" marR="0">
                        <a:lnSpc>
                          <a:spcPct val="115000"/>
                        </a:lnSpc>
                        <a:spcBef>
                          <a:spcPts val="0"/>
                        </a:spcBef>
                        <a:spcAft>
                          <a:spcPts val="1000"/>
                        </a:spcAft>
                      </a:pPr>
                      <a:r>
                        <a:rPr lang="en-US" sz="1100" dirty="0">
                          <a:solidFill>
                            <a:schemeClr val="tx1"/>
                          </a:solidFill>
                          <a:effectLst/>
                        </a:rPr>
                        <a:t>Go!</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121679053"/>
                  </a:ext>
                </a:extLst>
              </a:tr>
            </a:tbl>
          </a:graphicData>
        </a:graphic>
      </p:graphicFrame>
      <p:sp>
        <p:nvSpPr>
          <p:cNvPr id="3" name="Rectangle 2">
            <a:extLst>
              <a:ext uri="{FF2B5EF4-FFF2-40B4-BE49-F238E27FC236}">
                <a16:creationId xmlns:a16="http://schemas.microsoft.com/office/drawing/2014/main" id="{BE23F6AA-4D57-B5E8-FD4A-210108E1ABA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84E8032F-651C-8A52-1D58-700E366B6B5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2675ACFC-BED3-CE2E-BF13-5AF5D03D4A7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7" name="Google Shape;18;p9">
            <a:extLst>
              <a:ext uri="{FF2B5EF4-FFF2-40B4-BE49-F238E27FC236}">
                <a16:creationId xmlns:a16="http://schemas.microsoft.com/office/drawing/2014/main" id="{31CA48FC-F211-DAFD-902B-5D682C6B56DD}"/>
              </a:ext>
            </a:extLst>
          </p:cNvPr>
          <p:cNvSpPr txBox="1">
            <a:spLocks noGrp="1"/>
          </p:cNvSpPr>
          <p:nvPr>
            <p:ph type="ftr" idx="11"/>
          </p:nvPr>
        </p:nvSpPr>
        <p:spPr>
          <a:xfrm>
            <a:off x="4038600" y="6533216"/>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50257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(3/5)</a:t>
            </a:r>
            <a:endParaRPr dirty="0"/>
          </a:p>
        </p:txBody>
      </p:sp>
      <p:graphicFrame>
        <p:nvGraphicFramePr>
          <p:cNvPr id="3" name="Table 2">
            <a:extLst>
              <a:ext uri="{FF2B5EF4-FFF2-40B4-BE49-F238E27FC236}">
                <a16:creationId xmlns:a16="http://schemas.microsoft.com/office/drawing/2014/main" id="{14B79CD4-17D9-A460-45EE-070B6CD3DAFF}"/>
              </a:ext>
            </a:extLst>
          </p:cNvPr>
          <p:cNvGraphicFramePr>
            <a:graphicFrameLocks noGrp="1"/>
          </p:cNvGraphicFramePr>
          <p:nvPr>
            <p:extLst>
              <p:ext uri="{D42A27DB-BD31-4B8C-83A1-F6EECF244321}">
                <p14:modId xmlns:p14="http://schemas.microsoft.com/office/powerpoint/2010/main" val="593699632"/>
              </p:ext>
            </p:extLst>
          </p:nvPr>
        </p:nvGraphicFramePr>
        <p:xfrm>
          <a:off x="939452" y="1383519"/>
          <a:ext cx="10396603" cy="4883050"/>
        </p:xfrm>
        <a:graphic>
          <a:graphicData uri="http://schemas.openxmlformats.org/drawingml/2006/table">
            <a:tbl>
              <a:tblPr firstRow="1" firstCol="1" bandRow="1" bandCol="1">
                <a:tableStyleId>{5940675A-B579-460E-94D1-54222C63F5DA}</a:tableStyleId>
              </a:tblPr>
              <a:tblGrid>
                <a:gridCol w="5019664">
                  <a:extLst>
                    <a:ext uri="{9D8B030D-6E8A-4147-A177-3AD203B41FA5}">
                      <a16:colId xmlns:a16="http://schemas.microsoft.com/office/drawing/2014/main" val="2059904068"/>
                    </a:ext>
                  </a:extLst>
                </a:gridCol>
                <a:gridCol w="5376939">
                  <a:extLst>
                    <a:ext uri="{9D8B030D-6E8A-4147-A177-3AD203B41FA5}">
                      <a16:colId xmlns:a16="http://schemas.microsoft.com/office/drawing/2014/main" val="2673396883"/>
                    </a:ext>
                  </a:extLst>
                </a:gridCol>
              </a:tblGrid>
              <a:tr h="157843">
                <a:tc gridSpan="2">
                  <a:txBody>
                    <a:bodyPr/>
                    <a:lstStyle/>
                    <a:p>
                      <a:pPr marL="0" marR="0" algn="ctr">
                        <a:lnSpc>
                          <a:spcPct val="115000"/>
                        </a:lnSpc>
                        <a:spcBef>
                          <a:spcPts val="0"/>
                        </a:spcBef>
                        <a:spcAft>
                          <a:spcPts val="0"/>
                        </a:spcAft>
                      </a:pPr>
                      <a:r>
                        <a:rPr lang="en-US" sz="1100" b="1" dirty="0">
                          <a:solidFill>
                            <a:schemeClr val="tx1"/>
                          </a:solidFill>
                          <a:effectLst/>
                        </a:rPr>
                        <a:t>Solution Analysis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168575272"/>
                  </a:ext>
                </a:extLst>
              </a:tr>
              <a:tr h="1012009">
                <a:tc gridSpan="2">
                  <a:txBody>
                    <a:bodyPr/>
                    <a:lstStyle/>
                    <a:p>
                      <a:pPr marL="0" marR="0">
                        <a:lnSpc>
                          <a:spcPct val="115000"/>
                        </a:lnSpc>
                        <a:spcBef>
                          <a:spcPts val="0"/>
                        </a:spcBef>
                        <a:spcAft>
                          <a:spcPts val="1000"/>
                        </a:spcAft>
                      </a:pPr>
                      <a:r>
                        <a:rPr lang="en-US" sz="1100" b="1" dirty="0">
                          <a:solidFill>
                            <a:schemeClr val="tx1"/>
                          </a:solidFill>
                          <a:effectLst/>
                        </a:rPr>
                        <a:t>Which Internal and/or external customers are affected, and how?</a:t>
                      </a:r>
                    </a:p>
                    <a:p>
                      <a:pPr marL="0" marR="0">
                        <a:lnSpc>
                          <a:spcPct val="115000"/>
                        </a:lnSpc>
                        <a:spcBef>
                          <a:spcPts val="0"/>
                        </a:spcBef>
                        <a:spcAft>
                          <a:spcPts val="1000"/>
                        </a:spcAft>
                      </a:pPr>
                      <a:r>
                        <a:rPr lang="en-US" sz="1100" dirty="0">
                          <a:solidFill>
                            <a:schemeClr val="tx1"/>
                          </a:solidFill>
                          <a:effectLst/>
                        </a:rPr>
                        <a:t>Our MVP is focused on proving our core premise to establish credibility with our addressable market, which includes leaders and organizations across the Tech Services industry.  We will do this by implementing proven accelerators to create </a:t>
                      </a:r>
                      <a:r>
                        <a:rPr lang="en-US" sz="1100" b="1" dirty="0">
                          <a:solidFill>
                            <a:srgbClr val="00B050"/>
                          </a:solidFill>
                          <a:effectLst/>
                        </a:rPr>
                        <a:t>Viral Ideation</a:t>
                      </a:r>
                      <a:r>
                        <a:rPr lang="en-US" sz="1100" dirty="0">
                          <a:solidFill>
                            <a:schemeClr val="tx1"/>
                          </a:solidFill>
                          <a:effectLst/>
                        </a:rPr>
                        <a:t> among a Professional Network of 1,000+ initial subscribers while harnessing </a:t>
                      </a:r>
                      <a:r>
                        <a:rPr lang="en-US" sz="1100" b="1" dirty="0">
                          <a:solidFill>
                            <a:srgbClr val="00B050"/>
                          </a:solidFill>
                          <a:effectLst/>
                        </a:rPr>
                        <a:t>Generative Learning</a:t>
                      </a:r>
                      <a:r>
                        <a:rPr lang="en-US" sz="1100" dirty="0">
                          <a:solidFill>
                            <a:schemeClr val="tx1"/>
                          </a:solidFill>
                          <a:effectLst/>
                        </a:rPr>
                        <a:t> and </a:t>
                      </a:r>
                      <a:r>
                        <a:rPr lang="en-US" sz="1100" b="1" dirty="0">
                          <a:solidFill>
                            <a:schemeClr val="accent2"/>
                          </a:solidFill>
                          <a:effectLst/>
                        </a:rPr>
                        <a:t>Artificial Intelligence</a:t>
                      </a:r>
                      <a:r>
                        <a:rPr lang="en-US" sz="1100" dirty="0">
                          <a:solidFill>
                            <a:schemeClr val="tx1"/>
                          </a:solidFill>
                          <a:effectLst/>
                        </a:rPr>
                        <a:t>.</a:t>
                      </a:r>
                    </a:p>
                  </a:txBody>
                  <a:tcPr marL="51885" marR="51885" marT="0" marB="0"/>
                </a:tc>
                <a:tc hMerge="1">
                  <a:txBody>
                    <a:bodyPr/>
                    <a:lstStyle/>
                    <a:p>
                      <a:endParaRPr lang="en-US"/>
                    </a:p>
                  </a:txBody>
                  <a:tcPr/>
                </a:tc>
                <a:extLst>
                  <a:ext uri="{0D108BD9-81ED-4DB2-BD59-A6C34878D82A}">
                    <a16:rowId xmlns:a16="http://schemas.microsoft.com/office/drawing/2014/main" val="1776855705"/>
                  </a:ext>
                </a:extLst>
              </a:tr>
              <a:tr h="802888">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solutions, programs and services?</a:t>
                      </a:r>
                    </a:p>
                    <a:p>
                      <a:pPr marL="0" marR="0">
                        <a:lnSpc>
                          <a:spcPct val="115000"/>
                        </a:lnSpc>
                        <a:spcBef>
                          <a:spcPts val="0"/>
                        </a:spcBef>
                        <a:spcAft>
                          <a:spcPts val="1000"/>
                        </a:spcAft>
                      </a:pPr>
                      <a:r>
                        <a:rPr lang="en-US" sz="1100" dirty="0">
                          <a:solidFill>
                            <a:schemeClr val="tx1"/>
                          </a:solidFill>
                          <a:effectLst/>
                        </a:rPr>
                        <a:t>As we gain credibility, we will create a virtuous cycle of exponential growth and impact, crossing the chasm from Early Adopters into Mainstream Adoption by leaders and organizations across the Tech Services industry, materially improving the Tech Services industry and helping humanity.</a:t>
                      </a:r>
                    </a:p>
                  </a:txBody>
                  <a:tcPr marL="51885" marR="51885" marT="0" marB="0"/>
                </a:tc>
                <a:tc hMerge="1">
                  <a:txBody>
                    <a:bodyPr/>
                    <a:lstStyle/>
                    <a:p>
                      <a:endParaRPr lang="en-US"/>
                    </a:p>
                  </a:txBody>
                  <a:tcPr/>
                </a:tc>
                <a:extLst>
                  <a:ext uri="{0D108BD9-81ED-4DB2-BD59-A6C34878D82A}">
                    <a16:rowId xmlns:a16="http://schemas.microsoft.com/office/drawing/2014/main" val="3118231079"/>
                  </a:ext>
                </a:extLst>
              </a:tr>
              <a:tr h="984710">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sales, distribution, deployment and support? </a:t>
                      </a:r>
                    </a:p>
                    <a:p>
                      <a:pPr marL="0" marR="0">
                        <a:lnSpc>
                          <a:spcPct val="115000"/>
                        </a:lnSpc>
                        <a:spcBef>
                          <a:spcPts val="0"/>
                        </a:spcBef>
                        <a:spcAft>
                          <a:spcPts val="1000"/>
                        </a:spcAft>
                      </a:pPr>
                      <a:r>
                        <a:rPr lang="en-US" sz="1100" dirty="0">
                          <a:solidFill>
                            <a:schemeClr val="tx1"/>
                          </a:solidFill>
                          <a:effectLst/>
                        </a:rPr>
                        <a:t>Demand Generation, Beneficiary Engagement, and Delivery of Service for our MVP should be focused on ideation among 1,000+ initial subscribers to ensure they are Net Promoters of the Consortium’s services and its core premise.  As our Service mature beyond MVP, and we find new revenue sources, we will be able to invest in more sophisticated Demand Generation, Customer Acquisition, and Service Fulfillment activities to further accelerate growth and impact.</a:t>
                      </a:r>
                    </a:p>
                  </a:txBody>
                  <a:tcPr marL="51885" marR="51885" marT="0" marB="0"/>
                </a:tc>
                <a:tc hMerge="1">
                  <a:txBody>
                    <a:bodyPr/>
                    <a:lstStyle/>
                    <a:p>
                      <a:endParaRPr lang="en-US"/>
                    </a:p>
                  </a:txBody>
                  <a:tcPr/>
                </a:tc>
                <a:extLst>
                  <a:ext uri="{0D108BD9-81ED-4DB2-BD59-A6C34878D82A}">
                    <a16:rowId xmlns:a16="http://schemas.microsoft.com/office/drawing/2014/main" val="2482228238"/>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Costs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3811219619"/>
                  </a:ext>
                </a:extLst>
              </a:tr>
              <a:tr h="853256">
                <a:tc>
                  <a:txBody>
                    <a:bodyPr/>
                    <a:lstStyle/>
                    <a:p>
                      <a:pPr marL="0" marR="0">
                        <a:lnSpc>
                          <a:spcPct val="115000"/>
                        </a:lnSpc>
                        <a:spcBef>
                          <a:spcPts val="0"/>
                        </a:spcBef>
                        <a:spcAft>
                          <a:spcPts val="1000"/>
                        </a:spcAft>
                      </a:pPr>
                      <a:r>
                        <a:rPr lang="en-US" sz="1100" b="1" dirty="0">
                          <a:solidFill>
                            <a:schemeClr val="tx1"/>
                          </a:solidFill>
                          <a:effectLst/>
                        </a:rPr>
                        <a:t>MVP Cost:</a:t>
                      </a:r>
                    </a:p>
                    <a:p>
                      <a:pPr marL="0" marR="0">
                        <a:lnSpc>
                          <a:spcPct val="115000"/>
                        </a:lnSpc>
                        <a:spcBef>
                          <a:spcPts val="0"/>
                        </a:spcBef>
                        <a:spcAft>
                          <a:spcPts val="1000"/>
                        </a:spcAft>
                      </a:pPr>
                      <a:r>
                        <a:rPr lang="en-US" sz="1100" dirty="0">
                          <a:solidFill>
                            <a:schemeClr val="tx1"/>
                          </a:solidFill>
                          <a:effectLst/>
                        </a:rPr>
                        <a:t>Estimate:  $10K.</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a:txBody>
                    <a:bodyPr/>
                    <a:lstStyle/>
                    <a:p>
                      <a:pPr marL="0" marR="0">
                        <a:lnSpc>
                          <a:spcPct val="115000"/>
                        </a:lnSpc>
                        <a:spcBef>
                          <a:spcPts val="0"/>
                        </a:spcBef>
                        <a:spcAft>
                          <a:spcPts val="1000"/>
                        </a:spcAft>
                      </a:pPr>
                      <a:r>
                        <a:rPr lang="en-US" sz="1100" b="1" dirty="0">
                          <a:solidFill>
                            <a:schemeClr val="tx1"/>
                          </a:solidFill>
                          <a:effectLst/>
                        </a:rPr>
                        <a:t>Estimated Implementation Cost:</a:t>
                      </a:r>
                    </a:p>
                    <a:p>
                      <a:pPr marL="0" marR="0">
                        <a:lnSpc>
                          <a:spcPct val="115000"/>
                        </a:lnSpc>
                        <a:spcBef>
                          <a:spcPts val="0"/>
                        </a:spcBef>
                        <a:spcAft>
                          <a:spcPts val="1000"/>
                        </a:spcAft>
                      </a:pPr>
                      <a:r>
                        <a:rPr lang="en-US" sz="1100" dirty="0">
                          <a:solidFill>
                            <a:schemeClr val="tx1"/>
                          </a:solidFill>
                          <a:effectLst/>
                        </a:rPr>
                        <a:t>Initial estimate: $125K</a:t>
                      </a:r>
                    </a:p>
                  </a:txBody>
                  <a:tcPr marL="51885" marR="51885" marT="0" marB="0"/>
                </a:tc>
                <a:extLst>
                  <a:ext uri="{0D108BD9-81ED-4DB2-BD59-A6C34878D82A}">
                    <a16:rowId xmlns:a16="http://schemas.microsoft.com/office/drawing/2014/main" val="442753502"/>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Returns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665873674"/>
                  </a:ext>
                </a:extLst>
              </a:tr>
              <a:tr h="543128">
                <a:tc gridSpan="2">
                  <a:txBody>
                    <a:bodyPr/>
                    <a:lstStyle/>
                    <a:p>
                      <a:pPr marL="0" marR="0">
                        <a:lnSpc>
                          <a:spcPct val="115000"/>
                        </a:lnSpc>
                        <a:spcBef>
                          <a:spcPts val="0"/>
                        </a:spcBef>
                        <a:spcAft>
                          <a:spcPts val="1000"/>
                        </a:spcAft>
                      </a:pPr>
                      <a:r>
                        <a:rPr lang="en-US" sz="1100" b="1" dirty="0">
                          <a:solidFill>
                            <a:schemeClr val="tx1"/>
                          </a:solidFill>
                          <a:effectLst/>
                        </a:rPr>
                        <a:t>Type of Return:</a:t>
                      </a:r>
                    </a:p>
                    <a:p>
                      <a:pPr marL="0" marR="0">
                        <a:lnSpc>
                          <a:spcPct val="115000"/>
                        </a:lnSpc>
                        <a:spcBef>
                          <a:spcPts val="0"/>
                        </a:spcBef>
                        <a:spcAft>
                          <a:spcPts val="1000"/>
                        </a:spcAft>
                      </a:pPr>
                      <a:r>
                        <a:rPr lang="en-US" sz="1100" dirty="0">
                          <a:solidFill>
                            <a:schemeClr val="tx1"/>
                          </a:solidFill>
                          <a:effectLst/>
                        </a:rPr>
                        <a:t>Leading Indicators:  Increasing numbers of viral ideas shared across the AccelRR8 Consortium Professional Network, tripling every 2-3 years</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Lagging indicators:  Increasing benefit to subscribers, the Tech Services industry, and humanity, as measured by subscriber and patron surveys</a:t>
                      </a:r>
                      <a:endParaRPr lang="en-US" sz="1100" dirty="0">
                        <a:solidFill>
                          <a:schemeClr val="tx1"/>
                        </a:solidFill>
                        <a:effectLst/>
                        <a:latin typeface="Arial" panose="020B0604020202020204" pitchFamily="34" charset="0"/>
                        <a:cs typeface="Arial" panose="020B0604020202020204" pitchFamily="34" charset="0"/>
                      </a:endParaRPr>
                    </a:p>
                  </a:txBody>
                  <a:tcPr marL="51885" marR="51885" marT="0" marB="0"/>
                </a:tc>
                <a:tc hMerge="1">
                  <a:txBody>
                    <a:bodyPr/>
                    <a:lstStyle/>
                    <a:p>
                      <a:endParaRPr lang="en-US"/>
                    </a:p>
                  </a:txBody>
                  <a:tcPr/>
                </a:tc>
                <a:extLst>
                  <a:ext uri="{0D108BD9-81ED-4DB2-BD59-A6C34878D82A}">
                    <a16:rowId xmlns:a16="http://schemas.microsoft.com/office/drawing/2014/main" val="617274721"/>
                  </a:ext>
                </a:extLst>
              </a:tr>
            </a:tbl>
          </a:graphicData>
        </a:graphic>
      </p:graphicFrame>
      <p:sp>
        <p:nvSpPr>
          <p:cNvPr id="2" name="Rectangle 1">
            <a:extLst>
              <a:ext uri="{FF2B5EF4-FFF2-40B4-BE49-F238E27FC236}">
                <a16:creationId xmlns:a16="http://schemas.microsoft.com/office/drawing/2014/main" id="{0AFA4691-0634-7178-C749-C47ECD95F25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982B7C1-7287-28F1-91AA-FCCF5AECD71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AC5D8176-2D3A-BE52-A73C-694BE157E29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F2D42400-5633-A72C-1FD7-4E3F59FDFE1F}"/>
              </a:ext>
            </a:extLst>
          </p:cNvPr>
          <p:cNvSpPr txBox="1"/>
          <p:nvPr/>
        </p:nvSpPr>
        <p:spPr>
          <a:xfrm>
            <a:off x="939452" y="6550223"/>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3"/>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7FE450E7-5500-1557-7587-B39724023C17}"/>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25563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(4/5)</a:t>
            </a:r>
            <a:endParaRPr dirty="0"/>
          </a:p>
        </p:txBody>
      </p:sp>
      <p:graphicFrame>
        <p:nvGraphicFramePr>
          <p:cNvPr id="2" name="Table 1">
            <a:extLst>
              <a:ext uri="{FF2B5EF4-FFF2-40B4-BE49-F238E27FC236}">
                <a16:creationId xmlns:a16="http://schemas.microsoft.com/office/drawing/2014/main" id="{59DCEAC8-DB72-C8D9-0DB4-F8D83D801ADB}"/>
              </a:ext>
            </a:extLst>
          </p:cNvPr>
          <p:cNvGraphicFramePr>
            <a:graphicFrameLocks noGrp="1"/>
          </p:cNvGraphicFramePr>
          <p:nvPr>
            <p:extLst>
              <p:ext uri="{D42A27DB-BD31-4B8C-83A1-F6EECF244321}">
                <p14:modId xmlns:p14="http://schemas.microsoft.com/office/powerpoint/2010/main" val="2003878001"/>
              </p:ext>
            </p:extLst>
          </p:nvPr>
        </p:nvGraphicFramePr>
        <p:xfrm>
          <a:off x="838199" y="1690688"/>
          <a:ext cx="10610590" cy="4527117"/>
        </p:xfrm>
        <a:graphic>
          <a:graphicData uri="http://schemas.openxmlformats.org/drawingml/2006/table">
            <a:tbl>
              <a:tblPr firstRow="1" firstCol="1" bandRow="1" bandCol="1">
                <a:tableStyleId>{5940675A-B579-460E-94D1-54222C63F5DA}</a:tableStyleId>
              </a:tblPr>
              <a:tblGrid>
                <a:gridCol w="10610590">
                  <a:extLst>
                    <a:ext uri="{9D8B030D-6E8A-4147-A177-3AD203B41FA5}">
                      <a16:colId xmlns:a16="http://schemas.microsoft.com/office/drawing/2014/main" val="3385405187"/>
                    </a:ext>
                  </a:extLst>
                </a:gridCol>
              </a:tblGrid>
              <a:tr h="400405">
                <a:tc>
                  <a:txBody>
                    <a:bodyPr/>
                    <a:lstStyle/>
                    <a:p>
                      <a:pPr marL="0" marR="0" algn="ctr">
                        <a:lnSpc>
                          <a:spcPct val="115000"/>
                        </a:lnSpc>
                        <a:spcBef>
                          <a:spcPts val="0"/>
                        </a:spcBef>
                        <a:spcAft>
                          <a:spcPts val="0"/>
                        </a:spcAft>
                      </a:pPr>
                      <a:r>
                        <a:rPr lang="en-US" sz="1100" b="1" dirty="0">
                          <a:solidFill>
                            <a:schemeClr val="tx1"/>
                          </a:solidFill>
                          <a:effectLst/>
                        </a:rPr>
                        <a:t>Development Strategy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69012631"/>
                  </a:ext>
                </a:extLst>
              </a:tr>
              <a:tr h="1110418">
                <a:tc>
                  <a:txBody>
                    <a:bodyPr/>
                    <a:lstStyle/>
                    <a:p>
                      <a:pPr marL="0" marR="0">
                        <a:lnSpc>
                          <a:spcPct val="115000"/>
                        </a:lnSpc>
                        <a:spcBef>
                          <a:spcPts val="0"/>
                        </a:spcBef>
                        <a:spcAft>
                          <a:spcPts val="1000"/>
                        </a:spcAft>
                      </a:pPr>
                      <a:r>
                        <a:rPr lang="en-US" sz="1100" b="1" dirty="0">
                          <a:solidFill>
                            <a:schemeClr val="tx1"/>
                          </a:solidFill>
                          <a:effectLst/>
                        </a:rPr>
                        <a:t>In-house or Outsourced Development:</a:t>
                      </a:r>
                    </a:p>
                    <a:p>
                      <a:pPr marL="0" marR="0">
                        <a:lnSpc>
                          <a:spcPct val="115000"/>
                        </a:lnSpc>
                        <a:spcBef>
                          <a:spcPts val="0"/>
                        </a:spcBef>
                        <a:spcAft>
                          <a:spcPts val="0"/>
                        </a:spcAft>
                      </a:pPr>
                      <a:r>
                        <a:rPr lang="en-US" sz="1100" dirty="0">
                          <a:solidFill>
                            <a:schemeClr val="tx1"/>
                          </a:solidFill>
                          <a:effectLst/>
                        </a:rPr>
                        <a:t>In-house development:  </a:t>
                      </a:r>
                    </a:p>
                    <a:p>
                      <a:pPr marL="61913" marR="0" indent="-61913">
                        <a:lnSpc>
                          <a:spcPct val="115000"/>
                        </a:lnSpc>
                        <a:spcBef>
                          <a:spcPts val="0"/>
                        </a:spcBef>
                        <a:spcAft>
                          <a:spcPts val="0"/>
                        </a:spcAft>
                        <a:buFont typeface="Arial" panose="020B0604020202020204" pitchFamily="34" charset="0"/>
                        <a:buChar char="•"/>
                        <a:tabLst/>
                      </a:pPr>
                      <a:r>
                        <a:rPr lang="en-US" sz="1100" dirty="0">
                          <a:solidFill>
                            <a:schemeClr val="tx1"/>
                          </a:solidFill>
                          <a:effectLst/>
                        </a:rPr>
                        <a:t> Service Strategy, Context, Intent, Development Kit, Demand Generation Kit, Beneficiaries Engagement Kit, and Delivery of Service Kit</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p>
                      <a:pPr marL="0" marR="0" indent="0" algn="l" rtl="0">
                        <a:lnSpc>
                          <a:spcPct val="115000"/>
                        </a:lnSpc>
                        <a:spcBef>
                          <a:spcPts val="0"/>
                        </a:spcBef>
                        <a:spcAft>
                          <a:spcPts val="0"/>
                        </a:spcAft>
                        <a:buClr>
                          <a:srgbClr val="000000"/>
                        </a:buClr>
                        <a:buFont typeface="Arial" panose="020B0604020202020204" pitchFamily="34" charset="0"/>
                        <a:buNone/>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Outsourced development:  None</a:t>
                      </a:r>
                      <a:endParaRPr lang="en-US" sz="1100" b="0" i="0" u="none" strike="noStrike" cap="none" dirty="0">
                        <a:solidFill>
                          <a:schemeClr val="tx1"/>
                        </a:solidFill>
                        <a:effectLst/>
                        <a:latin typeface="+mn-lt"/>
                        <a:ea typeface="+mn-ea"/>
                        <a:cs typeface="+mn-cs"/>
                        <a:sym typeface="Arial"/>
                      </a:endParaRPr>
                    </a:p>
                    <a:p>
                      <a:pPr marL="0" marR="0">
                        <a:lnSpc>
                          <a:spcPct val="115000"/>
                        </a:lnSpc>
                        <a:spcBef>
                          <a:spcPts val="0"/>
                        </a:spcBef>
                        <a:spcAft>
                          <a:spcPts val="1000"/>
                        </a:spcAft>
                      </a:pP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49551468"/>
                  </a:ext>
                </a:extLst>
              </a:tr>
              <a:tr h="1660833">
                <a:tc>
                  <a:txBody>
                    <a:bodyPr/>
                    <a:lstStyle/>
                    <a:p>
                      <a:pPr marL="0" marR="0">
                        <a:lnSpc>
                          <a:spcPct val="115000"/>
                        </a:lnSpc>
                        <a:spcBef>
                          <a:spcPts val="0"/>
                        </a:spcBef>
                        <a:spcAft>
                          <a:spcPts val="1000"/>
                        </a:spcAft>
                      </a:pPr>
                      <a:r>
                        <a:rPr lang="en-US" sz="1100" b="1" dirty="0">
                          <a:solidFill>
                            <a:schemeClr val="tx1"/>
                          </a:solidFill>
                          <a:effectLst/>
                        </a:rPr>
                        <a:t>Incremental Implementation Strategy:</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The Product team will take the “Architectural effort precedes business functionality by one or a few iterations” strategy.  The Open Knowledge Sharing Service v1 is a Portfolio-Level Business Epic being developed concurrently with the AccelRR8 Framework open methodology and the AccelRR8 Body of Knowledge Overview MVPs (v1), which in this context are Architectural Epics that support the Business Epic.</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cs typeface="Arial" panose="020B0604020202020204" pitchFamily="34" charset="0"/>
                        </a:rPr>
                        <a:t>Click </a:t>
                      </a:r>
                      <a:r>
                        <a:rPr lang="en-US" sz="1100" u="sng" dirty="0">
                          <a:solidFill>
                            <a:schemeClr val="tx1"/>
                          </a:solidFill>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here</a:t>
                      </a:r>
                      <a:r>
                        <a:rPr lang="en-US" sz="1100" dirty="0">
                          <a:solidFill>
                            <a:schemeClr val="tx1"/>
                          </a:solidFill>
                          <a:effectLst/>
                          <a:latin typeface="Arial" panose="020B0604020202020204" pitchFamily="34" charset="0"/>
                          <a:cs typeface="Arial" panose="020B0604020202020204" pitchFamily="34" charset="0"/>
                        </a:rPr>
                        <a:t> for details on the “Architectural effort precedes business functionality by one or a few iterations” strategy.</a:t>
                      </a:r>
                      <a:br>
                        <a:rPr lang="en-US" sz="1100" dirty="0">
                          <a:latin typeface="Arial" panose="020B0604020202020204" pitchFamily="34" charset="0"/>
                          <a:cs typeface="Arial" panose="020B0604020202020204" pitchFamily="34" charset="0"/>
                        </a:rPr>
                      </a:br>
                      <a:r>
                        <a:rPr lang="en-US" sz="1100" b="0" i="0" u="none" strike="noStrike" cap="none" dirty="0">
                          <a:solidFill>
                            <a:schemeClr val="tx1"/>
                          </a:solidFill>
                          <a:effectLst/>
                          <a:latin typeface="Arial" panose="020B0604020202020204" pitchFamily="34" charset="0"/>
                          <a:ea typeface="+mn-ea"/>
                          <a:cs typeface="Arial" panose="020B0604020202020204" pitchFamily="34" charset="0"/>
                          <a:sym typeface="Arial"/>
                        </a:rPr>
                        <a:t>© Scaled Agile, Inc.</a:t>
                      </a: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329702929"/>
                  </a:ext>
                </a:extLst>
              </a:tr>
              <a:tr h="1000743">
                <a:tc>
                  <a:txBody>
                    <a:bodyPr/>
                    <a:lstStyle/>
                    <a:p>
                      <a:pPr marL="0" marR="0">
                        <a:lnSpc>
                          <a:spcPct val="115000"/>
                        </a:lnSpc>
                        <a:spcBef>
                          <a:spcPts val="0"/>
                        </a:spcBef>
                        <a:spcAft>
                          <a:spcPts val="1000"/>
                        </a:spcAft>
                      </a:pPr>
                      <a:r>
                        <a:rPr lang="en-US" sz="1100" b="1" dirty="0">
                          <a:solidFill>
                            <a:schemeClr val="tx1"/>
                          </a:solidFill>
                          <a:effectLst/>
                        </a:rPr>
                        <a:t>Sequencing and Dependencies:</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Features of the AccelRR8 Framework open methodology and the AccelRR8 Body of Knowledge Overview MVPs (v1) will be developed before they are needed by the Consortium’s Open Knowledge Sharing Service v1.</a:t>
                      </a:r>
                    </a:p>
                  </a:txBody>
                  <a:tcPr marL="68580" marR="68580" marT="0" marB="0"/>
                </a:tc>
                <a:extLst>
                  <a:ext uri="{0D108BD9-81ED-4DB2-BD59-A6C34878D82A}">
                    <a16:rowId xmlns:a16="http://schemas.microsoft.com/office/drawing/2014/main" val="2759219611"/>
                  </a:ext>
                </a:extLst>
              </a:tr>
            </a:tbl>
          </a:graphicData>
        </a:graphic>
      </p:graphicFrame>
      <p:sp>
        <p:nvSpPr>
          <p:cNvPr id="3" name="Rectangle 2">
            <a:extLst>
              <a:ext uri="{FF2B5EF4-FFF2-40B4-BE49-F238E27FC236}">
                <a16:creationId xmlns:a16="http://schemas.microsoft.com/office/drawing/2014/main" id="{46B78F2F-49FE-E010-BE57-5B187F60A2F1}"/>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0EDF6E39-C3EC-1F82-A0BD-BD7DAAC9A077}"/>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E646AA49-8E0E-B8DA-876A-BEF6D4BB5EE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9F8D68DC-C5C8-1881-D83B-793CEBFE2E6F}"/>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4"/>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E84B6E51-E573-5BC3-2F49-2CB36E1EC08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67448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(5/5)</a:t>
            </a:r>
            <a:endParaRPr dirty="0"/>
          </a:p>
        </p:txBody>
      </p:sp>
      <p:graphicFrame>
        <p:nvGraphicFramePr>
          <p:cNvPr id="3" name="Table 2">
            <a:extLst>
              <a:ext uri="{FF2B5EF4-FFF2-40B4-BE49-F238E27FC236}">
                <a16:creationId xmlns:a16="http://schemas.microsoft.com/office/drawing/2014/main" id="{F1699409-9005-50C8-4771-BC86CF9F9048}"/>
              </a:ext>
            </a:extLst>
          </p:cNvPr>
          <p:cNvGraphicFramePr>
            <a:graphicFrameLocks noGrp="1"/>
          </p:cNvGraphicFramePr>
          <p:nvPr>
            <p:extLst>
              <p:ext uri="{D42A27DB-BD31-4B8C-83A1-F6EECF244321}">
                <p14:modId xmlns:p14="http://schemas.microsoft.com/office/powerpoint/2010/main" val="237346242"/>
              </p:ext>
            </p:extLst>
          </p:nvPr>
        </p:nvGraphicFramePr>
        <p:xfrm>
          <a:off x="838199" y="1859153"/>
          <a:ext cx="10522908" cy="3589669"/>
        </p:xfrm>
        <a:graphic>
          <a:graphicData uri="http://schemas.openxmlformats.org/drawingml/2006/table">
            <a:tbl>
              <a:tblPr firstRow="1" firstCol="1" bandRow="1" bandCol="1">
                <a:tableStyleId>{5940675A-B579-460E-94D1-54222C63F5DA}</a:tableStyleId>
              </a:tblPr>
              <a:tblGrid>
                <a:gridCol w="10522908">
                  <a:extLst>
                    <a:ext uri="{9D8B030D-6E8A-4147-A177-3AD203B41FA5}">
                      <a16:colId xmlns:a16="http://schemas.microsoft.com/office/drawing/2014/main" val="2176383689"/>
                    </a:ext>
                  </a:extLst>
                </a:gridCol>
              </a:tblGrid>
              <a:tr h="412372">
                <a:tc>
                  <a:txBody>
                    <a:bodyPr/>
                    <a:lstStyle/>
                    <a:p>
                      <a:pPr marL="0" marR="0" algn="ctr">
                        <a:lnSpc>
                          <a:spcPct val="115000"/>
                        </a:lnSpc>
                        <a:spcBef>
                          <a:spcPts val="0"/>
                        </a:spcBef>
                        <a:spcAft>
                          <a:spcPts val="0"/>
                        </a:spcAft>
                      </a:pPr>
                      <a:r>
                        <a:rPr lang="en-US" sz="1100" b="1" dirty="0">
                          <a:solidFill>
                            <a:schemeClr val="tx1"/>
                          </a:solidFill>
                          <a:effectLst/>
                        </a:rPr>
                        <a:t>Additional Supporting Data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83676439"/>
                  </a:ext>
                </a:extLst>
              </a:tr>
              <a:tr h="1584438">
                <a:tc>
                  <a:txBody>
                    <a:bodyPr/>
                    <a:lstStyle/>
                    <a:p>
                      <a:pPr marL="0" marR="0">
                        <a:lnSpc>
                          <a:spcPct val="115000"/>
                        </a:lnSpc>
                        <a:spcBef>
                          <a:spcPts val="0"/>
                        </a:spcBef>
                        <a:spcAft>
                          <a:spcPts val="1000"/>
                        </a:spcAft>
                      </a:pPr>
                      <a:r>
                        <a:rPr lang="en-US" sz="1100" b="1" dirty="0">
                          <a:solidFill>
                            <a:schemeClr val="tx1"/>
                          </a:solidFill>
                          <a:effectLst/>
                        </a:rPr>
                        <a:t>Attachments:</a:t>
                      </a:r>
                    </a:p>
                    <a:p>
                      <a:pPr marL="0" marR="0">
                        <a:lnSpc>
                          <a:spcPct val="115000"/>
                        </a:lnSpc>
                        <a:spcBef>
                          <a:spcPts val="0"/>
                        </a:spcBef>
                        <a:spcAft>
                          <a:spcPts val="1000"/>
                        </a:spcAft>
                      </a:pPr>
                      <a:r>
                        <a:rPr lang="en-US" sz="1100" dirty="0">
                          <a:solidFill>
                            <a:schemeClr val="tx1"/>
                          </a:solidFill>
                          <a:effectLst/>
                        </a:rPr>
                        <a:t>See Open Knowledge Sharing Service Components on Next Slide.</a:t>
                      </a:r>
                    </a:p>
                    <a:p>
                      <a:pPr marL="0" marR="0">
                        <a:lnSpc>
                          <a:spcPct val="115000"/>
                        </a:lnSpc>
                        <a:spcBef>
                          <a:spcPts val="0"/>
                        </a:spcBef>
                        <a:spcAft>
                          <a:spcPts val="1000"/>
                        </a:spcAft>
                      </a:pPr>
                      <a:r>
                        <a:rPr lang="en-US" sz="1100" dirty="0">
                          <a:solidFill>
                            <a:schemeClr val="tx1"/>
                          </a:solidFill>
                          <a:effectLst/>
                        </a:rPr>
                        <a:t>These include Service Strategy, Context, Intent, Development Kit, Demand Generation Kit, Beneficiaries Engagement Kit, and Delivery of Service Kit components.</a:t>
                      </a:r>
                    </a:p>
                  </a:txBody>
                  <a:tcPr marL="68580" marR="68580" marT="0" marB="0"/>
                </a:tc>
                <a:extLst>
                  <a:ext uri="{0D108BD9-81ED-4DB2-BD59-A6C34878D82A}">
                    <a16:rowId xmlns:a16="http://schemas.microsoft.com/office/drawing/2014/main" val="1559136522"/>
                  </a:ext>
                </a:extLst>
              </a:tr>
              <a:tr h="1592859">
                <a:tc>
                  <a:txBody>
                    <a:bodyPr/>
                    <a:lstStyle/>
                    <a:p>
                      <a:pPr marL="0" marR="0">
                        <a:lnSpc>
                          <a:spcPct val="115000"/>
                        </a:lnSpc>
                        <a:spcBef>
                          <a:spcPts val="0"/>
                        </a:spcBef>
                        <a:spcAft>
                          <a:spcPts val="1000"/>
                        </a:spcAft>
                      </a:pPr>
                      <a:r>
                        <a:rPr lang="en-US" sz="1100" b="1" dirty="0">
                          <a:solidFill>
                            <a:schemeClr val="tx1"/>
                          </a:solidFill>
                          <a:effectLst/>
                        </a:rPr>
                        <a:t>Other Notes and Comments:</a:t>
                      </a:r>
                    </a:p>
                    <a:p>
                      <a:pPr marL="0" marR="0">
                        <a:lnSpc>
                          <a:spcPct val="115000"/>
                        </a:lnSpc>
                        <a:spcBef>
                          <a:spcPts val="0"/>
                        </a:spcBef>
                        <a:spcAft>
                          <a:spcPts val="1000"/>
                        </a:spcAft>
                      </a:pPr>
                      <a:r>
                        <a:rPr lang="en-US" sz="1100" dirty="0">
                          <a:solidFill>
                            <a:schemeClr val="tx1"/>
                          </a:solidFill>
                          <a:effectLst/>
                        </a:rPr>
                        <a:t>Methodologies used to develop the Open Knowledge Sharing Service MVP include:</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3"/>
                        </a:rPr>
                        <a:t>AccelRR8 Framework</a:t>
                      </a:r>
                      <a:r>
                        <a:rPr lang="en-US" sz="1100" dirty="0">
                          <a:solidFill>
                            <a:schemeClr val="tx1"/>
                          </a:solidFill>
                          <a:effectLst/>
                        </a:rPr>
                        <a:t> produced by AccelRR8 LLC</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4"/>
                        </a:rPr>
                        <a:t>Scaled Agile Framework</a:t>
                      </a:r>
                      <a:r>
                        <a:rPr lang="en-US" sz="1100" dirty="0">
                          <a:solidFill>
                            <a:schemeClr val="tx1"/>
                          </a:solidFill>
                          <a:effectLst/>
                        </a:rPr>
                        <a:t> produced by Scaled Agile, Inc.</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89054867"/>
                  </a:ext>
                </a:extLst>
              </a:tr>
            </a:tbl>
          </a:graphicData>
        </a:graphic>
      </p:graphicFrame>
      <p:sp>
        <p:nvSpPr>
          <p:cNvPr id="2" name="Rectangle 1">
            <a:extLst>
              <a:ext uri="{FF2B5EF4-FFF2-40B4-BE49-F238E27FC236}">
                <a16:creationId xmlns:a16="http://schemas.microsoft.com/office/drawing/2014/main" id="{402CEF7E-7FA3-2DA3-9852-7A50C2CE2E0E}"/>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8FB1201-7179-C239-7E9F-258DB1E5E2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77206C13-F7F8-689F-704C-B5EA77615E13}"/>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547832F2-FAD4-C5E7-657F-527F59EE2B1C}"/>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5"/>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8FA3F51F-BAA5-391C-B500-D450E50CA7E6}"/>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088802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MVP </a:t>
            </a:r>
            <a:br>
              <a:rPr lang="en-US" dirty="0"/>
            </a:br>
            <a:r>
              <a:rPr lang="en-US" dirty="0"/>
              <a:t>Component Descriptions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3776199952"/>
              </p:ext>
            </p:extLst>
          </p:nvPr>
        </p:nvGraphicFramePr>
        <p:xfrm>
          <a:off x="969319" y="1690687"/>
          <a:ext cx="10806369" cy="4609754"/>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76371">
                  <a:extLst>
                    <a:ext uri="{9D8B030D-6E8A-4147-A177-3AD203B41FA5}">
                      <a16:colId xmlns:a16="http://schemas.microsoft.com/office/drawing/2014/main" val="20127695"/>
                    </a:ext>
                  </a:extLst>
                </a:gridCol>
              </a:tblGrid>
              <a:tr h="393080">
                <a:tc>
                  <a:txBody>
                    <a:bodyPr/>
                    <a:lstStyle/>
                    <a:p>
                      <a:r>
                        <a:rPr lang="en-US" sz="1600" b="0" dirty="0"/>
                        <a:t>Service Name</a:t>
                      </a:r>
                    </a:p>
                  </a:txBody>
                  <a:tcPr/>
                </a:tc>
                <a:tc>
                  <a:txBody>
                    <a:bodyPr/>
                    <a:lstStyle/>
                    <a:p>
                      <a:r>
                        <a:rPr lang="en-US" dirty="0"/>
                        <a:t>Open Knowledge Sharing</a:t>
                      </a:r>
                    </a:p>
                  </a:txBody>
                  <a:tcPr/>
                </a:tc>
                <a:extLst>
                  <a:ext uri="{0D108BD9-81ED-4DB2-BD59-A6C34878D82A}">
                    <a16:rowId xmlns:a16="http://schemas.microsoft.com/office/drawing/2014/main" val="2683780345"/>
                  </a:ext>
                </a:extLst>
              </a:tr>
              <a:tr h="393080">
                <a:tc>
                  <a:txBody>
                    <a:bodyPr/>
                    <a:lstStyle/>
                    <a:p>
                      <a:r>
                        <a:rPr lang="en-US" sz="1600" b="0" dirty="0"/>
                        <a:t>Service Strategy</a:t>
                      </a:r>
                    </a:p>
                  </a:txBody>
                  <a:tcPr/>
                </a:tc>
                <a:tc>
                  <a:txBody>
                    <a:bodyPr/>
                    <a:lstStyle/>
                    <a:p>
                      <a:r>
                        <a:rPr lang="en-US" dirty="0"/>
                        <a:t>&lt;3-Horizon Strategy for the Service&gt;</a:t>
                      </a:r>
                    </a:p>
                  </a:txBody>
                  <a:tcPr/>
                </a:tc>
                <a:extLst>
                  <a:ext uri="{0D108BD9-81ED-4DB2-BD59-A6C34878D82A}">
                    <a16:rowId xmlns:a16="http://schemas.microsoft.com/office/drawing/2014/main" val="2707085893"/>
                  </a:ext>
                </a:extLst>
              </a:tr>
              <a:tr h="607487">
                <a:tc>
                  <a:txBody>
                    <a:bodyPr/>
                    <a:lstStyle/>
                    <a:p>
                      <a:r>
                        <a:rPr lang="en-US" sz="1600" b="0" dirty="0"/>
                        <a:t>Service Context</a:t>
                      </a:r>
                    </a:p>
                  </a:txBody>
                  <a:tcPr/>
                </a:tc>
                <a:tc>
                  <a:txBody>
                    <a:bodyPr/>
                    <a:lstStyle/>
                    <a:p>
                      <a:r>
                        <a:rPr lang="en-US" dirty="0"/>
                        <a:t>&lt;See SAFe Solution Context at </a:t>
                      </a:r>
                      <a:r>
                        <a:rPr lang="en-US" dirty="0">
                          <a:hlinkClick r:id="rId3"/>
                        </a:rPr>
                        <a:t>this link</a:t>
                      </a:r>
                      <a:r>
                        <a:rPr lang="en-US" dirty="0"/>
                        <a:t>&gt;</a:t>
                      </a:r>
                    </a:p>
                  </a:txBody>
                  <a:tcPr/>
                </a:tc>
                <a:extLst>
                  <a:ext uri="{0D108BD9-81ED-4DB2-BD59-A6C34878D82A}">
                    <a16:rowId xmlns:a16="http://schemas.microsoft.com/office/drawing/2014/main" val="1092281396"/>
                  </a:ext>
                </a:extLst>
              </a:tr>
              <a:tr h="607487">
                <a:tc>
                  <a:txBody>
                    <a:bodyPr/>
                    <a:lstStyle/>
                    <a:p>
                      <a:r>
                        <a:rPr lang="en-US" sz="1600" b="0" dirty="0"/>
                        <a:t>Service Intent</a:t>
                      </a:r>
                    </a:p>
                  </a:txBody>
                  <a:tcPr/>
                </a:tc>
                <a:tc>
                  <a:txBody>
                    <a:bodyPr/>
                    <a:lstStyle/>
                    <a:p>
                      <a:r>
                        <a:rPr lang="en-US" dirty="0"/>
                        <a:t>&lt;See SAFe Solution Intent at </a:t>
                      </a:r>
                      <a:r>
                        <a:rPr lang="en-US" dirty="0">
                          <a:hlinkClick r:id="rId4"/>
                        </a:rPr>
                        <a:t>this link</a:t>
                      </a:r>
                      <a:r>
                        <a:rPr lang="en-US" dirty="0"/>
                        <a:t>&gt;</a:t>
                      </a:r>
                    </a:p>
                  </a:txBody>
                  <a:tcPr/>
                </a:tc>
                <a:extLst>
                  <a:ext uri="{0D108BD9-81ED-4DB2-BD59-A6C34878D82A}">
                    <a16:rowId xmlns:a16="http://schemas.microsoft.com/office/drawing/2014/main" val="2029769333"/>
                  </a:ext>
                </a:extLst>
              </a:tr>
              <a:tr h="393080">
                <a:tc>
                  <a:txBody>
                    <a:bodyPr/>
                    <a:lstStyle/>
                    <a:p>
                      <a:r>
                        <a:rPr lang="en-US" sz="1600" b="0" dirty="0"/>
                        <a:t>Development Kit</a:t>
                      </a:r>
                    </a:p>
                  </a:txBody>
                  <a:tcPr/>
                </a:tc>
                <a:tc>
                  <a:txBody>
                    <a:bodyPr/>
                    <a:lstStyle/>
                    <a:p>
                      <a:r>
                        <a:rPr lang="en-US" dirty="0"/>
                        <a:t>&lt;Descriptions of Collateral and Tools used by the Products team to develop the service&gt;</a:t>
                      </a:r>
                    </a:p>
                  </a:txBody>
                  <a:tcPr/>
                </a:tc>
                <a:extLst>
                  <a:ext uri="{0D108BD9-81ED-4DB2-BD59-A6C34878D82A}">
                    <a16:rowId xmlns:a16="http://schemas.microsoft.com/office/drawing/2014/main" val="52804956"/>
                  </a:ext>
                </a:extLst>
              </a:tr>
              <a:tr h="857628">
                <a:tc>
                  <a:txBody>
                    <a:bodyPr/>
                    <a:lstStyle/>
                    <a:p>
                      <a:r>
                        <a:rPr lang="en-US" sz="1600" b="0" dirty="0"/>
                        <a:t>Demand </a:t>
                      </a:r>
                      <a:br>
                        <a:rPr lang="en-US" sz="1600" b="0" dirty="0"/>
                      </a:br>
                      <a:r>
                        <a:rPr lang="en-US" sz="1600" b="0" dirty="0"/>
                        <a:t>Generation Kit</a:t>
                      </a:r>
                    </a:p>
                  </a:txBody>
                  <a:tcPr/>
                </a:tc>
                <a:tc>
                  <a:txBody>
                    <a:bodyPr/>
                    <a:lstStyle/>
                    <a:p>
                      <a:r>
                        <a:rPr lang="en-US" dirty="0"/>
                        <a:t>&lt;Descriptions of Collateral and Tools used by Demand Generation to engage with potential Customers in market segments about the service&gt;</a:t>
                      </a:r>
                    </a:p>
                  </a:txBody>
                  <a:tcPr/>
                </a:tc>
                <a:extLst>
                  <a:ext uri="{0D108BD9-81ED-4DB2-BD59-A6C34878D82A}">
                    <a16:rowId xmlns:a16="http://schemas.microsoft.com/office/drawing/2014/main" val="872717509"/>
                  </a:ext>
                </a:extLst>
              </a:tr>
              <a:tr h="678956">
                <a:tc>
                  <a:txBody>
                    <a:bodyPr/>
                    <a:lstStyle/>
                    <a:p>
                      <a:r>
                        <a:rPr lang="en-US" sz="1600" b="0" dirty="0"/>
                        <a:t>Beneficiaries Engagement Kit</a:t>
                      </a:r>
                    </a:p>
                  </a:txBody>
                  <a:tcPr/>
                </a:tc>
                <a:tc>
                  <a:txBody>
                    <a:bodyPr/>
                    <a:lstStyle/>
                    <a:p>
                      <a:pPr lvl="2"/>
                      <a:r>
                        <a:rPr lang="en-US" dirty="0"/>
                        <a:t>&lt;Descriptions of Collateral and Tools used by Beneficiaries Engagement to engage with specific potential potential beneficiaries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678956">
                <a:tc>
                  <a:txBody>
                    <a:bodyPr/>
                    <a:lstStyle/>
                    <a:p>
                      <a:r>
                        <a:rPr lang="en-US" sz="1600" b="0" dirty="0"/>
                        <a:t>Delivery of </a:t>
                      </a:r>
                      <a:br>
                        <a:rPr lang="en-US" sz="1600" b="0" dirty="0"/>
                      </a:br>
                      <a:r>
                        <a:rPr lang="en-US" sz="1600" b="0" dirty="0"/>
                        <a:t>Service Kit</a:t>
                      </a:r>
                    </a:p>
                  </a:txBody>
                  <a:tcPr/>
                </a:tc>
                <a:tc>
                  <a:txBody>
                    <a:bodyPr/>
                    <a:lstStyle/>
                    <a:p>
                      <a:r>
                        <a:rPr lang="en-US" dirty="0"/>
                        <a:t>&lt;Descriptions of Collateral and Tools used by Delivery of Services to engage with beneficiaries about the service&gt;</a:t>
                      </a:r>
                    </a:p>
                  </a:txBody>
                  <a:tcPr/>
                </a:tc>
                <a:extLst>
                  <a:ext uri="{0D108BD9-81ED-4DB2-BD59-A6C34878D82A}">
                    <a16:rowId xmlns:a16="http://schemas.microsoft.com/office/drawing/2014/main" val="2321847728"/>
                  </a:ext>
                </a:extLst>
              </a:tr>
            </a:tbl>
          </a:graphicData>
        </a:graphic>
      </p:graphicFrame>
      <p:sp>
        <p:nvSpPr>
          <p:cNvPr id="6" name="Rectangle 5">
            <a:extLst>
              <a:ext uri="{FF2B5EF4-FFF2-40B4-BE49-F238E27FC236}">
                <a16:creationId xmlns:a16="http://schemas.microsoft.com/office/drawing/2014/main" id="{A7372D81-FEF0-F693-D686-F9DF46C1643F}"/>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7" name="Rectangle 6">
            <a:extLst>
              <a:ext uri="{FF2B5EF4-FFF2-40B4-BE49-F238E27FC236}">
                <a16:creationId xmlns:a16="http://schemas.microsoft.com/office/drawing/2014/main" id="{CF9C5A52-20CA-F258-B608-01820FE0C52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8" name="Rectangle 7">
            <a:extLst>
              <a:ext uri="{FF2B5EF4-FFF2-40B4-BE49-F238E27FC236}">
                <a16:creationId xmlns:a16="http://schemas.microsoft.com/office/drawing/2014/main" id="{5A08F55C-5399-5D3A-6145-A00CC01B7E5F}"/>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Tree>
    <p:extLst>
      <p:ext uri="{BB962C8B-B14F-4D97-AF65-F5344CB8AC3E}">
        <p14:creationId xmlns:p14="http://schemas.microsoft.com/office/powerpoint/2010/main" val="3960435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Implementing - MVP Stage</a:t>
            </a:r>
          </a:p>
        </p:txBody>
      </p:sp>
      <p:sp>
        <p:nvSpPr>
          <p:cNvPr id="2" name="Rectangle 1">
            <a:extLst>
              <a:ext uri="{FF2B5EF4-FFF2-40B4-BE49-F238E27FC236}">
                <a16:creationId xmlns:a16="http://schemas.microsoft.com/office/drawing/2014/main" id="{2080D088-D60A-E04C-3455-F07D0ED3B9D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BF9836CB-4917-29CA-7AC0-92843E145652}"/>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C1CCD8A-8B41-9B93-2D05-D8CF2AC3F89C}"/>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ED514B9A-C821-414D-27E7-22058443F6B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2970225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Offering MVP </a:t>
            </a:r>
            <a:br>
              <a:rPr lang="en-US" dirty="0"/>
            </a:br>
            <a:r>
              <a:rPr lang="en-US" dirty="0"/>
              <a:t>Component Links</a:t>
            </a:r>
            <a:endParaRPr dirty="0"/>
          </a:p>
        </p:txBody>
      </p:sp>
      <p:sp>
        <p:nvSpPr>
          <p:cNvPr id="2" name="Rectangle 1">
            <a:extLst>
              <a:ext uri="{FF2B5EF4-FFF2-40B4-BE49-F238E27FC236}">
                <a16:creationId xmlns:a16="http://schemas.microsoft.com/office/drawing/2014/main" id="{1911BEFC-1920-CDC4-D668-C6A225FD1E80}"/>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40E67E27-965B-E3ED-DB12-8F7EC8856408}"/>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08128C04-B19B-2E05-3473-28A909FEAFDE}"/>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30D5DC-2695-01BA-B05D-C3CC4747D7F4}"/>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7" name="Table 6">
            <a:extLst>
              <a:ext uri="{FF2B5EF4-FFF2-40B4-BE49-F238E27FC236}">
                <a16:creationId xmlns:a16="http://schemas.microsoft.com/office/drawing/2014/main" id="{86EDB53E-860A-E121-26F6-57064FD09AEE}"/>
              </a:ext>
            </a:extLst>
          </p:cNvPr>
          <p:cNvGraphicFramePr>
            <a:graphicFrameLocks noGrp="1"/>
          </p:cNvGraphicFramePr>
          <p:nvPr>
            <p:extLst>
              <p:ext uri="{D42A27DB-BD31-4B8C-83A1-F6EECF244321}">
                <p14:modId xmlns:p14="http://schemas.microsoft.com/office/powerpoint/2010/main" val="1315964776"/>
              </p:ext>
            </p:extLst>
          </p:nvPr>
        </p:nvGraphicFramePr>
        <p:xfrm>
          <a:off x="969319" y="1690688"/>
          <a:ext cx="10795218" cy="4419600"/>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65220">
                  <a:extLst>
                    <a:ext uri="{9D8B030D-6E8A-4147-A177-3AD203B41FA5}">
                      <a16:colId xmlns:a16="http://schemas.microsoft.com/office/drawing/2014/main" val="20127695"/>
                    </a:ext>
                  </a:extLst>
                </a:gridCol>
              </a:tblGrid>
              <a:tr h="146916">
                <a:tc>
                  <a:txBody>
                    <a:bodyPr/>
                    <a:lstStyle/>
                    <a:p>
                      <a:r>
                        <a:rPr lang="en-US" sz="1600" b="0" dirty="0"/>
                        <a:t>Offering Name</a:t>
                      </a:r>
                    </a:p>
                  </a:txBody>
                  <a:tcPr/>
                </a:tc>
                <a:tc>
                  <a:txBody>
                    <a:bodyPr/>
                    <a:lstStyle/>
                    <a:p>
                      <a:r>
                        <a:rPr lang="en-US" dirty="0"/>
                        <a:t>Open Knowledge Sharing</a:t>
                      </a:r>
                    </a:p>
                  </a:txBody>
                  <a:tcPr/>
                </a:tc>
                <a:extLst>
                  <a:ext uri="{0D108BD9-81ED-4DB2-BD59-A6C34878D82A}">
                    <a16:rowId xmlns:a16="http://schemas.microsoft.com/office/drawing/2014/main" val="2683780345"/>
                  </a:ext>
                </a:extLst>
              </a:tr>
              <a:tr h="146916">
                <a:tc>
                  <a:txBody>
                    <a:bodyPr/>
                    <a:lstStyle/>
                    <a:p>
                      <a:r>
                        <a:rPr lang="en-US" sz="1600" b="0" dirty="0"/>
                        <a:t>Offering Context</a:t>
                      </a:r>
                    </a:p>
                  </a:txBody>
                  <a:tcPr/>
                </a:tc>
                <a:tc>
                  <a:txBody>
                    <a:bodyPr/>
                    <a:lstStyle/>
                    <a:p>
                      <a:r>
                        <a:rPr lang="en-US" dirty="0"/>
                        <a:t>Enterprising Tech Services leaders want to deliver exponential benefits to their customers and organizations, but must overcome systemic cultural and technical barriers to do so at scale</a:t>
                      </a:r>
                    </a:p>
                  </a:txBody>
                  <a:tcPr/>
                </a:tc>
                <a:extLst>
                  <a:ext uri="{0D108BD9-81ED-4DB2-BD59-A6C34878D82A}">
                    <a16:rowId xmlns:a16="http://schemas.microsoft.com/office/drawing/2014/main" val="1092281396"/>
                  </a:ext>
                </a:extLst>
              </a:tr>
              <a:tr h="146916">
                <a:tc>
                  <a:txBody>
                    <a:bodyPr/>
                    <a:lstStyle/>
                    <a:p>
                      <a:r>
                        <a:rPr lang="en-US" sz="1600" b="0" dirty="0"/>
                        <a:t>Offering Intent</a:t>
                      </a:r>
                    </a:p>
                  </a:txBody>
                  <a:tcPr/>
                </a:tc>
                <a:tc>
                  <a:txBody>
                    <a:bodyPr/>
                    <a:lstStyle/>
                    <a:p>
                      <a:r>
                        <a:rPr lang="en-US" dirty="0"/>
                        <a:t>Help Tech Services leaders work together to accelerate exponential success for themselves, their companies and colleagues, the Tech Services industry and, by extension, all of humanity</a:t>
                      </a:r>
                    </a:p>
                  </a:txBody>
                  <a:tcPr/>
                </a:tc>
                <a:extLst>
                  <a:ext uri="{0D108BD9-81ED-4DB2-BD59-A6C34878D82A}">
                    <a16:rowId xmlns:a16="http://schemas.microsoft.com/office/drawing/2014/main" val="2029769333"/>
                  </a:ext>
                </a:extLst>
              </a:tr>
              <a:tr h="146916">
                <a:tc>
                  <a:txBody>
                    <a:bodyPr/>
                    <a:lstStyle/>
                    <a:p>
                      <a:r>
                        <a:rPr lang="en-US" sz="1600" b="0" dirty="0"/>
                        <a:t>Research &amp; </a:t>
                      </a:r>
                      <a:br>
                        <a:rPr lang="en-US" sz="1600" b="0" dirty="0"/>
                      </a:br>
                      <a:r>
                        <a:rPr lang="en-US" sz="1600" b="0" dirty="0"/>
                        <a:t>Development Kit</a:t>
                      </a:r>
                    </a:p>
                  </a:txBody>
                  <a:tcPr/>
                </a:tc>
                <a:tc>
                  <a:txBody>
                    <a:bodyPr/>
                    <a:lstStyle/>
                    <a:p>
                      <a:r>
                        <a:rPr lang="en-US" dirty="0"/>
                        <a:t>&lt;Descriptions of Collateral and Tools used by Product Research &amp; Development to develop the offering&gt;</a:t>
                      </a:r>
                    </a:p>
                  </a:txBody>
                  <a:tcPr/>
                </a:tc>
                <a:extLst>
                  <a:ext uri="{0D108BD9-81ED-4DB2-BD59-A6C34878D82A}">
                    <a16:rowId xmlns:a16="http://schemas.microsoft.com/office/drawing/2014/main" val="52804956"/>
                  </a:ext>
                </a:extLst>
              </a:tr>
              <a:tr h="146916">
                <a:tc>
                  <a:txBody>
                    <a:bodyPr/>
                    <a:lstStyle/>
                    <a:p>
                      <a:r>
                        <a:rPr lang="en-US" sz="1600" b="0" dirty="0"/>
                        <a:t>Media and Analyst Relations Kit</a:t>
                      </a:r>
                    </a:p>
                  </a:txBody>
                  <a:tcPr/>
                </a:tc>
                <a:tc>
                  <a:txBody>
                    <a:bodyPr/>
                    <a:lstStyle/>
                    <a:p>
                      <a:r>
                        <a:rPr lang="en-US" dirty="0"/>
                        <a:t>The MVP will include low-cost advertisements through select media, and will attempt to enlist the help of select industry analysts</a:t>
                      </a:r>
                    </a:p>
                  </a:txBody>
                  <a:tcPr/>
                </a:tc>
                <a:extLst>
                  <a:ext uri="{0D108BD9-81ED-4DB2-BD59-A6C34878D82A}">
                    <a16:rowId xmlns:a16="http://schemas.microsoft.com/office/drawing/2014/main" val="653897587"/>
                  </a:ext>
                </a:extLst>
              </a:tr>
              <a:tr h="146916">
                <a:tc>
                  <a:txBody>
                    <a:bodyPr/>
                    <a:lstStyle/>
                    <a:p>
                      <a:r>
                        <a:rPr lang="en-US" sz="1600" b="0" dirty="0"/>
                        <a:t>Demand </a:t>
                      </a:r>
                      <a:br>
                        <a:rPr lang="en-US" sz="1600" b="0" dirty="0"/>
                      </a:br>
                      <a:r>
                        <a:rPr lang="en-US" sz="1600" b="0" dirty="0"/>
                        <a:t>Generation Kit</a:t>
                      </a:r>
                    </a:p>
                  </a:txBody>
                  <a:tcPr/>
                </a:tc>
                <a:tc>
                  <a:txBody>
                    <a:bodyPr/>
                    <a:lstStyle/>
                    <a:p>
                      <a:r>
                        <a:rPr lang="en-US" dirty="0"/>
                        <a:t>The MVP will include demand generation collateral that will be featured on the AccelRR8 Consortium LinkedIn page, and advertised to potential collaborators via:</a:t>
                      </a:r>
                    </a:p>
                    <a:p>
                      <a:pPr marL="123825" indent="-123825">
                        <a:buFontTx/>
                        <a:buChar char="-"/>
                        <a:tabLst/>
                      </a:pPr>
                      <a:r>
                        <a:rPr lang="en-US" dirty="0"/>
                        <a:t>LinkedIn to AccelRR8 Consortium Board Members’ professional LinkedIn Networks</a:t>
                      </a:r>
                    </a:p>
                  </a:txBody>
                  <a:tcPr/>
                </a:tc>
                <a:extLst>
                  <a:ext uri="{0D108BD9-81ED-4DB2-BD59-A6C34878D82A}">
                    <a16:rowId xmlns:a16="http://schemas.microsoft.com/office/drawing/2014/main" val="872717509"/>
                  </a:ext>
                </a:extLst>
              </a:tr>
              <a:tr h="225835">
                <a:tc>
                  <a:txBody>
                    <a:bodyPr/>
                    <a:lstStyle/>
                    <a:p>
                      <a:r>
                        <a:rPr lang="en-US" sz="1600" b="0" dirty="0"/>
                        <a:t>Beneficiaries Engagement Kit</a:t>
                      </a:r>
                    </a:p>
                  </a:txBody>
                  <a:tcPr/>
                </a:tc>
                <a:tc>
                  <a:txBody>
                    <a:bodyPr/>
                    <a:lstStyle/>
                    <a:p>
                      <a:pPr lvl="2"/>
                      <a:r>
                        <a:rPr lang="en-US" dirty="0"/>
                        <a:t>&lt;Descriptions of Collateral and Tools used by Beneficiaries Engagement to engage with specific potential potential beneficiaries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0">
                <a:tc>
                  <a:txBody>
                    <a:bodyPr/>
                    <a:lstStyle/>
                    <a:p>
                      <a:r>
                        <a:rPr lang="en-US" sz="1600" b="0" dirty="0"/>
                        <a:t>Delivery of </a:t>
                      </a:r>
                      <a:br>
                        <a:rPr lang="en-US" sz="1600" b="0" dirty="0"/>
                      </a:br>
                      <a:r>
                        <a:rPr lang="en-US" sz="1600" b="0" dirty="0"/>
                        <a:t>Service Kit</a:t>
                      </a:r>
                    </a:p>
                  </a:txBody>
                  <a:tcPr/>
                </a:tc>
                <a:tc>
                  <a:txBody>
                    <a:bodyPr/>
                    <a:lstStyle/>
                    <a:p>
                      <a:r>
                        <a:rPr lang="en-US" dirty="0"/>
                        <a:t>&lt;Descriptions of Collateral and Tools used by Delivery of Services to engage with beneficiaries about the service&gt;</a:t>
                      </a:r>
                    </a:p>
                  </a:txBody>
                  <a:tcPr/>
                </a:tc>
                <a:extLst>
                  <a:ext uri="{0D108BD9-81ED-4DB2-BD59-A6C34878D82A}">
                    <a16:rowId xmlns:a16="http://schemas.microsoft.com/office/drawing/2014/main" val="2321847728"/>
                  </a:ext>
                </a:extLst>
              </a:tr>
            </a:tbl>
          </a:graphicData>
        </a:graphic>
      </p:graphicFrame>
    </p:spTree>
    <p:extLst>
      <p:ext uri="{BB962C8B-B14F-4D97-AF65-F5344CB8AC3E}">
        <p14:creationId xmlns:p14="http://schemas.microsoft.com/office/powerpoint/2010/main" val="2639682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13249</TotalTime>
  <Words>2780</Words>
  <Application>Microsoft Macintosh PowerPoint</Application>
  <PresentationFormat>Widescreen</PresentationFormat>
  <Paragraphs>273</Paragraphs>
  <Slides>15</Slides>
  <Notes>12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Calibri</vt:lpstr>
      <vt:lpstr>Symbol</vt:lpstr>
      <vt:lpstr>Office Theme</vt:lpstr>
      <vt:lpstr>1_Office Theme</vt:lpstr>
      <vt:lpstr>  AccelRR8 Consortium NonProfit Open Knowledge Sharing Service v1 </vt:lpstr>
      <vt:lpstr>Deliverables Produced During the Review Stage</vt:lpstr>
      <vt:lpstr>Service Hypothesis</vt:lpstr>
      <vt:lpstr>Preliminary Cost Estimates and WSJF</vt:lpstr>
      <vt:lpstr>Deliverables Produced During the Analysis Stage</vt:lpstr>
      <vt:lpstr>Service Alternatives</vt:lpstr>
      <vt:lpstr>Refined Cost Estimates and WSJF</vt:lpstr>
      <vt:lpstr>Lean Business Case (1/5)</vt:lpstr>
      <vt:lpstr>Lean Business Case (2/5)</vt:lpstr>
      <vt:lpstr>Lean Business Case (3/5)</vt:lpstr>
      <vt:lpstr>Lean Business Case (4/5)</vt:lpstr>
      <vt:lpstr>Lean Business Case (5/5)</vt:lpstr>
      <vt:lpstr>Service MVP  Component Descriptions</vt:lpstr>
      <vt:lpstr>Deliverables Produced During the Implementing - MVP Stage</vt:lpstr>
      <vt:lpstr>Offering MVP  Component 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Digital Architect Consulting Services</dc:title>
  <dc:creator>Rich Reba</dc:creator>
  <cp:lastModifiedBy>Rich Reba</cp:lastModifiedBy>
  <cp:revision>136</cp:revision>
  <cp:lastPrinted>2023-12-07T14:04:48Z</cp:lastPrinted>
  <dcterms:created xsi:type="dcterms:W3CDTF">2023-08-22T19:09:59Z</dcterms:created>
  <dcterms:modified xsi:type="dcterms:W3CDTF">2026-08-09T19:41:00Z</dcterms:modified>
</cp:coreProperties>
</file>