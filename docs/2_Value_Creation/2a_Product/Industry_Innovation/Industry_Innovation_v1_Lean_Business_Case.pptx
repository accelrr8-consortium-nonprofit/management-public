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8"/>
  </p:notesMasterIdLst>
  <p:sldIdLst>
    <p:sldId id="256" r:id="rId3"/>
    <p:sldId id="278" r:id="rId4"/>
    <p:sldId id="264" r:id="rId5"/>
    <p:sldId id="266" r:id="rId6"/>
    <p:sldId id="279" r:id="rId7"/>
    <p:sldId id="282" r:id="rId8"/>
    <p:sldId id="277" r:id="rId9"/>
    <p:sldId id="268" r:id="rId10"/>
    <p:sldId id="269" r:id="rId11"/>
    <p:sldId id="270" r:id="rId12"/>
    <p:sldId id="271" r:id="rId13"/>
    <p:sldId id="272" r:id="rId14"/>
    <p:sldId id="283" r:id="rId15"/>
    <p:sldId id="280" r:id="rId16"/>
    <p:sldId id="275"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hwEp+Eio5qReXqYqUwMP31HB0A8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BD5E34-3583-7545-A46B-ABA31E2AAE53}" v="2" dt="2026-08-09T19:57:56.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56"/>
    <p:restoredTop sz="95753"/>
  </p:normalViewPr>
  <p:slideViewPr>
    <p:cSldViewPr snapToGrid="0">
      <p:cViewPr varScale="1">
        <p:scale>
          <a:sx n="117" d="100"/>
          <a:sy n="117" d="100"/>
        </p:scale>
        <p:origin x="6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 Reba" userId="55db41ab6eb3f845" providerId="LiveId" clId="{0E19DA16-244C-5B50-BE0F-52911DD4CA7E}"/>
    <pc:docChg chg="modSld">
      <pc:chgData name="Rich Reba" userId="55db41ab6eb3f845" providerId="LiveId" clId="{0E19DA16-244C-5B50-BE0F-52911DD4CA7E}" dt="2026-08-09T19:59:58.427" v="865" actId="20577"/>
      <pc:docMkLst>
        <pc:docMk/>
      </pc:docMkLst>
      <pc:sldChg chg="modSp mod">
        <pc:chgData name="Rich Reba" userId="55db41ab6eb3f845" providerId="LiveId" clId="{0E19DA16-244C-5B50-BE0F-52911DD4CA7E}" dt="2026-08-09T19:48:54.955" v="43" actId="20577"/>
        <pc:sldMkLst>
          <pc:docMk/>
          <pc:sldMk cId="0" sldId="256"/>
        </pc:sldMkLst>
        <pc:spChg chg="mod">
          <ac:chgData name="Rich Reba" userId="55db41ab6eb3f845" providerId="LiveId" clId="{0E19DA16-244C-5B50-BE0F-52911DD4CA7E}" dt="2026-08-09T19:48:54.955" v="43" actId="20577"/>
          <ac:spMkLst>
            <pc:docMk/>
            <pc:sldMk cId="0" sldId="256"/>
            <ac:spMk id="91" creationId="{00000000-0000-0000-0000-000000000000}"/>
          </ac:spMkLst>
        </pc:spChg>
      </pc:sldChg>
      <pc:sldChg chg="modSp mod">
        <pc:chgData name="Rich Reba" userId="55db41ab6eb3f845" providerId="LiveId" clId="{0E19DA16-244C-5B50-BE0F-52911DD4CA7E}" dt="2026-08-09T19:52:56.255" v="261" actId="20577"/>
        <pc:sldMkLst>
          <pc:docMk/>
          <pc:sldMk cId="1272635936" sldId="264"/>
        </pc:sldMkLst>
        <pc:graphicFrameChg chg="modGraphic">
          <ac:chgData name="Rich Reba" userId="55db41ab6eb3f845" providerId="LiveId" clId="{0E19DA16-244C-5B50-BE0F-52911DD4CA7E}" dt="2026-08-09T19:52:56.255" v="261" actId="20577"/>
          <ac:graphicFrameMkLst>
            <pc:docMk/>
            <pc:sldMk cId="1272635936" sldId="264"/>
            <ac:graphicFrameMk id="5" creationId="{4B70F3A5-8062-29A2-30D0-2783CB3DFCCA}"/>
          </ac:graphicFrameMkLst>
        </pc:graphicFrameChg>
      </pc:sldChg>
      <pc:sldChg chg="modSp mod">
        <pc:chgData name="Rich Reba" userId="55db41ab6eb3f845" providerId="LiveId" clId="{0E19DA16-244C-5B50-BE0F-52911DD4CA7E}" dt="2026-08-09T19:51:07.765" v="207" actId="20577"/>
        <pc:sldMkLst>
          <pc:docMk/>
          <pc:sldMk cId="4188122143" sldId="266"/>
        </pc:sldMkLst>
        <pc:graphicFrameChg chg="modGraphic">
          <ac:chgData name="Rich Reba" userId="55db41ab6eb3f845" providerId="LiveId" clId="{0E19DA16-244C-5B50-BE0F-52911DD4CA7E}" dt="2026-08-09T19:51:07.765" v="207" actId="20577"/>
          <ac:graphicFrameMkLst>
            <pc:docMk/>
            <pc:sldMk cId="4188122143" sldId="266"/>
            <ac:graphicFrameMk id="6" creationId="{DA3B7C68-A7A8-1CF8-C46B-DD7B5A05617E}"/>
          </ac:graphicFrameMkLst>
        </pc:graphicFrameChg>
      </pc:sldChg>
      <pc:sldChg chg="modSp mod">
        <pc:chgData name="Rich Reba" userId="55db41ab6eb3f845" providerId="LiveId" clId="{0E19DA16-244C-5B50-BE0F-52911DD4CA7E}" dt="2026-08-09T19:59:58.427" v="865" actId="20577"/>
        <pc:sldMkLst>
          <pc:docMk/>
          <pc:sldMk cId="1243007551" sldId="268"/>
        </pc:sldMkLst>
        <pc:graphicFrameChg chg="modGraphic">
          <ac:chgData name="Rich Reba" userId="55db41ab6eb3f845" providerId="LiveId" clId="{0E19DA16-244C-5B50-BE0F-52911DD4CA7E}" dt="2026-08-09T19:59:58.427" v="865" actId="20577"/>
          <ac:graphicFrameMkLst>
            <pc:docMk/>
            <pc:sldMk cId="1243007551" sldId="268"/>
            <ac:graphicFrameMk id="2" creationId="{849548E0-A616-4177-21C8-C63119ADCD53}"/>
          </ac:graphicFrameMkLst>
        </pc:graphicFrameChg>
      </pc:sldChg>
      <pc:sldChg chg="modSp mod">
        <pc:chgData name="Rich Reba" userId="55db41ab6eb3f845" providerId="LiveId" clId="{0E19DA16-244C-5B50-BE0F-52911DD4CA7E}" dt="2026-08-09T19:54:35.048" v="413" actId="20577"/>
        <pc:sldMkLst>
          <pc:docMk/>
          <pc:sldMk cId="450257364" sldId="269"/>
        </pc:sldMkLst>
        <pc:graphicFrameChg chg="modGraphic">
          <ac:chgData name="Rich Reba" userId="55db41ab6eb3f845" providerId="LiveId" clId="{0E19DA16-244C-5B50-BE0F-52911DD4CA7E}" dt="2026-08-09T19:54:35.048" v="413" actId="20577"/>
          <ac:graphicFrameMkLst>
            <pc:docMk/>
            <pc:sldMk cId="450257364" sldId="269"/>
            <ac:graphicFrameMk id="2" creationId="{849548E0-A616-4177-21C8-C63119ADCD53}"/>
          </ac:graphicFrameMkLst>
        </pc:graphicFrameChg>
      </pc:sldChg>
      <pc:sldChg chg="modSp mod">
        <pc:chgData name="Rich Reba" userId="55db41ab6eb3f845" providerId="LiveId" clId="{0E19DA16-244C-5B50-BE0F-52911DD4CA7E}" dt="2026-08-09T19:56:01.815" v="583" actId="20577"/>
        <pc:sldMkLst>
          <pc:docMk/>
          <pc:sldMk cId="4255637138" sldId="270"/>
        </pc:sldMkLst>
        <pc:graphicFrameChg chg="modGraphic">
          <ac:chgData name="Rich Reba" userId="55db41ab6eb3f845" providerId="LiveId" clId="{0E19DA16-244C-5B50-BE0F-52911DD4CA7E}" dt="2026-08-09T19:56:01.815" v="583" actId="20577"/>
          <ac:graphicFrameMkLst>
            <pc:docMk/>
            <pc:sldMk cId="4255637138" sldId="270"/>
            <ac:graphicFrameMk id="3" creationId="{14B79CD4-17D9-A460-45EE-070B6CD3DAFF}"/>
          </ac:graphicFrameMkLst>
        </pc:graphicFrameChg>
      </pc:sldChg>
      <pc:sldChg chg="modSp mod">
        <pc:chgData name="Rich Reba" userId="55db41ab6eb3f845" providerId="LiveId" clId="{0E19DA16-244C-5B50-BE0F-52911DD4CA7E}" dt="2026-08-09T19:56:16.672" v="626" actId="20577"/>
        <pc:sldMkLst>
          <pc:docMk/>
          <pc:sldMk cId="67448461" sldId="271"/>
        </pc:sldMkLst>
        <pc:graphicFrameChg chg="modGraphic">
          <ac:chgData name="Rich Reba" userId="55db41ab6eb3f845" providerId="LiveId" clId="{0E19DA16-244C-5B50-BE0F-52911DD4CA7E}" dt="2026-08-09T19:56:16.672" v="626" actId="20577"/>
          <ac:graphicFrameMkLst>
            <pc:docMk/>
            <pc:sldMk cId="67448461" sldId="271"/>
            <ac:graphicFrameMk id="2" creationId="{59DCEAC8-DB72-C8D9-0DB4-F8D83D801ADB}"/>
          </ac:graphicFrameMkLst>
        </pc:graphicFrameChg>
      </pc:sldChg>
      <pc:sldChg chg="modSp mod">
        <pc:chgData name="Rich Reba" userId="55db41ab6eb3f845" providerId="LiveId" clId="{0E19DA16-244C-5B50-BE0F-52911DD4CA7E}" dt="2026-08-09T19:56:55.372" v="673" actId="20577"/>
        <pc:sldMkLst>
          <pc:docMk/>
          <pc:sldMk cId="3088802820" sldId="272"/>
        </pc:sldMkLst>
        <pc:graphicFrameChg chg="modGraphic">
          <ac:chgData name="Rich Reba" userId="55db41ab6eb3f845" providerId="LiveId" clId="{0E19DA16-244C-5B50-BE0F-52911DD4CA7E}" dt="2026-08-09T19:56:55.372" v="673" actId="20577"/>
          <ac:graphicFrameMkLst>
            <pc:docMk/>
            <pc:sldMk cId="3088802820" sldId="272"/>
            <ac:graphicFrameMk id="3" creationId="{F1699409-9005-50C8-4771-BC86CF9F9048}"/>
          </ac:graphicFrameMkLst>
        </pc:graphicFrameChg>
      </pc:sldChg>
      <pc:sldChg chg="modSp">
        <pc:chgData name="Rich Reba" userId="55db41ab6eb3f845" providerId="LiveId" clId="{0E19DA16-244C-5B50-BE0F-52911DD4CA7E}" dt="2026-08-09T19:57:56.318" v="817"/>
        <pc:sldMkLst>
          <pc:docMk/>
          <pc:sldMk cId="2639682451" sldId="275"/>
        </pc:sldMkLst>
        <pc:graphicFrameChg chg="mod">
          <ac:chgData name="Rich Reba" userId="55db41ab6eb3f845" providerId="LiveId" clId="{0E19DA16-244C-5B50-BE0F-52911DD4CA7E}" dt="2026-08-09T19:57:56.318" v="817"/>
          <ac:graphicFrameMkLst>
            <pc:docMk/>
            <pc:sldMk cId="2639682451" sldId="275"/>
            <ac:graphicFrameMk id="5" creationId="{4E10C936-0962-5D53-9F05-8487710C36A2}"/>
          </ac:graphicFrameMkLst>
        </pc:graphicFrameChg>
      </pc:sldChg>
      <pc:sldChg chg="modSp">
        <pc:chgData name="Rich Reba" userId="55db41ab6eb3f845" providerId="LiveId" clId="{0E19DA16-244C-5B50-BE0F-52911DD4CA7E}" dt="2026-08-09T19:52:08.065" v="233"/>
        <pc:sldMkLst>
          <pc:docMk/>
          <pc:sldMk cId="368434212" sldId="277"/>
        </pc:sldMkLst>
        <pc:graphicFrameChg chg="mod">
          <ac:chgData name="Rich Reba" userId="55db41ab6eb3f845" providerId="LiveId" clId="{0E19DA16-244C-5B50-BE0F-52911DD4CA7E}" dt="2026-08-09T19:52:08.065" v="233"/>
          <ac:graphicFrameMkLst>
            <pc:docMk/>
            <pc:sldMk cId="368434212" sldId="277"/>
            <ac:graphicFrameMk id="4" creationId="{61DF5FE9-2C03-B515-AFEB-251932A7C8EA}"/>
          </ac:graphicFrameMkLst>
        </pc:graphicFrameChg>
      </pc:sldChg>
      <pc:sldChg chg="modSp mod">
        <pc:chgData name="Rich Reba" userId="55db41ab6eb3f845" providerId="LiveId" clId="{0E19DA16-244C-5B50-BE0F-52911DD4CA7E}" dt="2026-08-09T19:51:35.135" v="232" actId="20577"/>
        <pc:sldMkLst>
          <pc:docMk/>
          <pc:sldMk cId="3475755944" sldId="282"/>
        </pc:sldMkLst>
        <pc:graphicFrameChg chg="modGraphic">
          <ac:chgData name="Rich Reba" userId="55db41ab6eb3f845" providerId="LiveId" clId="{0E19DA16-244C-5B50-BE0F-52911DD4CA7E}" dt="2026-08-09T19:51:35.135" v="232" actId="20577"/>
          <ac:graphicFrameMkLst>
            <pc:docMk/>
            <pc:sldMk cId="3475755944" sldId="282"/>
            <ac:graphicFrameMk id="5" creationId="{4B70F3A5-8062-29A2-30D0-2783CB3DFCCA}"/>
          </ac:graphicFrameMkLst>
        </pc:graphicFrameChg>
      </pc:sldChg>
      <pc:sldChg chg="modSp mod">
        <pc:chgData name="Rich Reba" userId="55db41ab6eb3f845" providerId="LiveId" clId="{0E19DA16-244C-5B50-BE0F-52911DD4CA7E}" dt="2026-08-09T19:57:44.221" v="816" actId="20577"/>
        <pc:sldMkLst>
          <pc:docMk/>
          <pc:sldMk cId="3960435043" sldId="283"/>
        </pc:sldMkLst>
        <pc:graphicFrameChg chg="modGraphic">
          <ac:chgData name="Rich Reba" userId="55db41ab6eb3f845" providerId="LiveId" clId="{0E19DA16-244C-5B50-BE0F-52911DD4CA7E}" dt="2026-08-09T19:57:44.221" v="816" actId="20577"/>
          <ac:graphicFrameMkLst>
            <pc:docMk/>
            <pc:sldMk cId="3960435043" sldId="283"/>
            <ac:graphicFrameMk id="5" creationId="{4B70F3A5-8062-29A2-30D0-2783CB3DFCC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66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3178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6034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382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9114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19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5634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065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6330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9184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73674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839788" y="365125"/>
            <a:ext cx="893725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extLst>
      <p:ext uri="{BB962C8B-B14F-4D97-AF65-F5344CB8AC3E}">
        <p14:creationId xmlns:p14="http://schemas.microsoft.com/office/powerpoint/2010/main" val="2674636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6622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4183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0138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3141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15894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cSld>
  <p:clrMap bg1="lt1" tx1="dk1" bg2="dk2" tx2="lt2" accent1="accent1" accent2="accent2" accent3="accent3" accent4="accent4" accent5="accent5" accent6="accent6" hlink="hlink" folHlink="folHlink"/>
  <p:sldLayoutIdLst>
    <p:sldLayoutId id="2147483649" r:id="rId1"/>
    <p:sldLayoutId id="2147483654"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extLst>
      <p:ext uri="{BB962C8B-B14F-4D97-AF65-F5344CB8AC3E}">
        <p14:creationId xmlns:p14="http://schemas.microsoft.com/office/powerpoint/2010/main" val="313263506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scaledagileframework.com/wsjf/"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scaledagileframework.com/wsjf/"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www.scaledagileframework.com/implementation-strategies-for-business-epics/"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scaledagileframework.com/epi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medium.com/@rreba3/accelerate-exponential-success-with-the-accelrr8-framework-3ee5c429bc29"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hyperlink" Target="https://scaledagileframework.com/epic/" TargetMode="External"/><Relationship Id="rId4" Type="http://schemas.openxmlformats.org/officeDocument/2006/relationships/hyperlink" Target="https://scaledagileframework.co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scaledagileframework.com/solution-context/"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https://scaledagileframework.com/solution-inten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scaledagileframework.com/solution-context/"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https://scaledagileframework.com/solution-int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304800" y="2785676"/>
            <a:ext cx="11582400" cy="1915625"/>
          </a:xfrm>
          <a:prstGeom prst="rect">
            <a:avLst/>
          </a:prstGeom>
          <a:noFill/>
          <a:ln>
            <a:noFill/>
          </a:ln>
        </p:spPr>
        <p:txBody>
          <a:bodyPr spcFirstLastPara="1" wrap="square" lIns="91425" tIns="45700" rIns="91425" bIns="45700" anchor="b" anchorCtr="0">
            <a:normAutofit fontScale="90000"/>
          </a:bodyPr>
          <a:lstStyle/>
          <a:p>
            <a:br>
              <a:rPr lang="en-US" dirty="0"/>
            </a:br>
            <a:br>
              <a:rPr lang="en-US" dirty="0"/>
            </a:br>
            <a:r>
              <a:rPr lang="en-US" dirty="0"/>
              <a:t>AccelRR8 Consortium NonProfit</a:t>
            </a:r>
            <a:br>
              <a:rPr lang="en-US" dirty="0"/>
            </a:br>
            <a:r>
              <a:rPr lang="en-US" dirty="0"/>
              <a:t>Industry Innovation Service v1</a:t>
            </a:r>
            <a:br>
              <a:rPr lang="en-US" dirty="0"/>
            </a:br>
            <a:endParaRPr sz="4000" dirty="0"/>
          </a:p>
        </p:txBody>
      </p:sp>
      <p:sp>
        <p:nvSpPr>
          <p:cNvPr id="91" name="Google Shape;91;p1"/>
          <p:cNvSpPr txBox="1">
            <a:spLocks noGrp="1"/>
          </p:cNvSpPr>
          <p:nvPr>
            <p:ph type="subTitle" idx="1"/>
          </p:nvPr>
        </p:nvSpPr>
        <p:spPr>
          <a:xfrm>
            <a:off x="1524000" y="4793377"/>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Industry Innovation Service Leader</a:t>
            </a:r>
          </a:p>
          <a:p>
            <a:pPr marL="0" lvl="0" indent="0" algn="ctr" rtl="0">
              <a:lnSpc>
                <a:spcPct val="90000"/>
              </a:lnSpc>
              <a:spcBef>
                <a:spcPts val="1000"/>
              </a:spcBef>
              <a:spcAft>
                <a:spcPts val="0"/>
              </a:spcAft>
              <a:buClr>
                <a:schemeClr val="dk1"/>
              </a:buClr>
              <a:buSzPts val="2400"/>
              <a:buNone/>
            </a:pPr>
            <a:r>
              <a:rPr lang="en-US" dirty="0"/>
              <a:t>August 9, 2026</a:t>
            </a:r>
          </a:p>
        </p:txBody>
      </p:sp>
      <p:sp>
        <p:nvSpPr>
          <p:cNvPr id="2" name="Google Shape;18;p9">
            <a:extLst>
              <a:ext uri="{FF2B5EF4-FFF2-40B4-BE49-F238E27FC236}">
                <a16:creationId xmlns:a16="http://schemas.microsoft.com/office/drawing/2014/main" id="{B78BEAA4-CC48-1EF1-1035-C48CDEB46C1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 Review Stage</a:t>
            </a:r>
          </a:p>
        </p:txBody>
      </p:sp>
      <p:sp>
        <p:nvSpPr>
          <p:cNvPr id="8" name="Rectangle 7">
            <a:extLst>
              <a:ext uri="{FF2B5EF4-FFF2-40B4-BE49-F238E27FC236}">
                <a16:creationId xmlns:a16="http://schemas.microsoft.com/office/drawing/2014/main" id="{987596B8-DA7D-1389-CC1D-C0EF98524A91}"/>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9" name="Rectangle 8">
            <a:extLst>
              <a:ext uri="{FF2B5EF4-FFF2-40B4-BE49-F238E27FC236}">
                <a16:creationId xmlns:a16="http://schemas.microsoft.com/office/drawing/2014/main" id="{DD965822-0847-B892-7BF1-00B31C259B5C}"/>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10" name="Rectangle 9">
            <a:extLst>
              <a:ext uri="{FF2B5EF4-FFF2-40B4-BE49-F238E27FC236}">
                <a16:creationId xmlns:a16="http://schemas.microsoft.com/office/drawing/2014/main" id="{B77354B4-F67E-5C6D-DE69-888030925B0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048B8078-0A98-B723-6D07-9C874B8373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88811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Hypothesis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808228977"/>
              </p:ext>
            </p:extLst>
          </p:nvPr>
        </p:nvGraphicFramePr>
        <p:xfrm>
          <a:off x="268942" y="1398868"/>
          <a:ext cx="11766176" cy="5242560"/>
        </p:xfrm>
        <a:graphic>
          <a:graphicData uri="http://schemas.openxmlformats.org/drawingml/2006/table">
            <a:tbl>
              <a:tblPr firstRow="1" bandRow="1">
                <a:tableStyleId>{5940675A-B579-460E-94D1-54222C63F5DA}</a:tableStyleId>
              </a:tblPr>
              <a:tblGrid>
                <a:gridCol w="1882110">
                  <a:extLst>
                    <a:ext uri="{9D8B030D-6E8A-4147-A177-3AD203B41FA5}">
                      <a16:colId xmlns:a16="http://schemas.microsoft.com/office/drawing/2014/main" val="533583650"/>
                    </a:ext>
                  </a:extLst>
                </a:gridCol>
                <a:gridCol w="9884066">
                  <a:extLst>
                    <a:ext uri="{9D8B030D-6E8A-4147-A177-3AD203B41FA5}">
                      <a16:colId xmlns:a16="http://schemas.microsoft.com/office/drawing/2014/main" val="20127695"/>
                    </a:ext>
                  </a:extLst>
                </a:gridCol>
              </a:tblGrid>
              <a:tr h="220586">
                <a:tc>
                  <a:txBody>
                    <a:bodyPr/>
                    <a:lstStyle/>
                    <a:p>
                      <a:r>
                        <a:rPr lang="en-US" sz="1600" b="0" dirty="0"/>
                        <a:t>Funnel Entry Date</a:t>
                      </a:r>
                    </a:p>
                  </a:txBody>
                  <a:tcPr/>
                </a:tc>
                <a:tc>
                  <a:txBody>
                    <a:bodyPr/>
                    <a:lstStyle/>
                    <a:p>
                      <a:r>
                        <a:rPr lang="en-US" dirty="0"/>
                        <a:t>February 1, 2024</a:t>
                      </a:r>
                    </a:p>
                  </a:txBody>
                  <a:tcPr/>
                </a:tc>
                <a:extLst>
                  <a:ext uri="{0D108BD9-81ED-4DB2-BD59-A6C34878D82A}">
                    <a16:rowId xmlns:a16="http://schemas.microsoft.com/office/drawing/2014/main" val="1092281396"/>
                  </a:ext>
                </a:extLst>
              </a:tr>
              <a:tr h="220586">
                <a:tc>
                  <a:txBody>
                    <a:bodyPr/>
                    <a:lstStyle/>
                    <a:p>
                      <a:r>
                        <a:rPr lang="en-US" sz="1600" b="0" dirty="0"/>
                        <a:t>Service Name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Industry Innovation</a:t>
                      </a:r>
                    </a:p>
                  </a:txBody>
                  <a:tcPr/>
                </a:tc>
                <a:extLst>
                  <a:ext uri="{0D108BD9-81ED-4DB2-BD59-A6C34878D82A}">
                    <a16:rowId xmlns:a16="http://schemas.microsoft.com/office/drawing/2014/main" val="2029769333"/>
                  </a:ext>
                </a:extLst>
              </a:tr>
              <a:tr h="220586">
                <a:tc>
                  <a:txBody>
                    <a:bodyPr/>
                    <a:lstStyle/>
                    <a:p>
                      <a:r>
                        <a:rPr lang="en-US" sz="1600" b="0" dirty="0"/>
                        <a:t>Service Owner</a:t>
                      </a:r>
                    </a:p>
                  </a:txBody>
                  <a:tcPr/>
                </a:tc>
                <a:tc>
                  <a:txBody>
                    <a:bodyPr/>
                    <a:lstStyle/>
                    <a:p>
                      <a:r>
                        <a:rPr lang="en-US" dirty="0"/>
                        <a:t>Industry Innovation Service Leader</a:t>
                      </a:r>
                    </a:p>
                  </a:txBody>
                  <a:tcPr/>
                </a:tc>
                <a:extLst>
                  <a:ext uri="{0D108BD9-81ED-4DB2-BD59-A6C34878D82A}">
                    <a16:rowId xmlns:a16="http://schemas.microsoft.com/office/drawing/2014/main" val="872717509"/>
                  </a:ext>
                </a:extLst>
              </a:tr>
              <a:tr h="1323514">
                <a:tc>
                  <a:txBody>
                    <a:bodyPr/>
                    <a:lstStyle/>
                    <a:p>
                      <a:r>
                        <a:rPr lang="en-US" sz="1600" b="0" dirty="0"/>
                        <a:t>Service Description</a:t>
                      </a:r>
                    </a:p>
                  </a:txBody>
                  <a:tcPr/>
                </a:tc>
                <a:tc>
                  <a:txBody>
                    <a:bodyPr/>
                    <a:lstStyle/>
                    <a:p>
                      <a:pPr lvl="2"/>
                      <a:r>
                        <a:rPr lang="en-US" sz="1400" b="1" i="0" u="none" strike="noStrike" cap="none" dirty="0">
                          <a:solidFill>
                            <a:schemeClr val="tx1"/>
                          </a:solidFill>
                          <a:effectLst/>
                          <a:latin typeface="+mn-lt"/>
                          <a:ea typeface="+mn-ea"/>
                          <a:cs typeface="+mn-cs"/>
                          <a:sym typeface="Arial"/>
                        </a:rPr>
                        <a:t>FOR</a:t>
                      </a:r>
                      <a:r>
                        <a:rPr lang="en-US" sz="1400" b="0" i="0" u="none" strike="noStrike" cap="none" dirty="0">
                          <a:solidFill>
                            <a:schemeClr val="tx1"/>
                          </a:solidFill>
                          <a:effectLst/>
                          <a:latin typeface="+mn-lt"/>
                          <a:ea typeface="+mn-ea"/>
                          <a:cs typeface="+mn-cs"/>
                          <a:sym typeface="Arial"/>
                        </a:rPr>
                        <a:t> enterprising leaders involved or interested in the Tech Services industry</a:t>
                      </a:r>
                    </a:p>
                    <a:p>
                      <a:pPr lvl="2"/>
                      <a:r>
                        <a:rPr lang="en-US" sz="1400" b="1" i="0" u="none" strike="noStrike" cap="none" dirty="0">
                          <a:solidFill>
                            <a:schemeClr val="tx1"/>
                          </a:solidFill>
                          <a:effectLst/>
                          <a:latin typeface="+mn-lt"/>
                          <a:ea typeface="+mn-ea"/>
                          <a:cs typeface="+mn-cs"/>
                          <a:sym typeface="Arial"/>
                        </a:rPr>
                        <a:t>WHO</a:t>
                      </a:r>
                      <a:r>
                        <a:rPr lang="en-US" sz="1400" b="0" i="0" u="none" strike="noStrike" cap="none" dirty="0">
                          <a:solidFill>
                            <a:schemeClr val="tx1"/>
                          </a:solidFill>
                          <a:effectLst/>
                          <a:latin typeface="+mn-lt"/>
                          <a:ea typeface="+mn-ea"/>
                          <a:cs typeface="+mn-cs"/>
                          <a:sym typeface="Arial"/>
                        </a:rPr>
                        <a:t> want to improve their career opportunities and the Tech Services industry’s impact</a:t>
                      </a:r>
                    </a:p>
                    <a:p>
                      <a:pPr lvl="2"/>
                      <a:r>
                        <a:rPr lang="en-US" sz="1400" b="1" i="0" u="none" strike="noStrike" cap="none" dirty="0">
                          <a:solidFill>
                            <a:schemeClr val="tx1"/>
                          </a:solidFill>
                          <a:effectLst/>
                          <a:latin typeface="+mn-lt"/>
                          <a:ea typeface="+mn-ea"/>
                          <a:cs typeface="+mn-cs"/>
                          <a:sym typeface="Arial"/>
                        </a:rPr>
                        <a:t>THE</a:t>
                      </a:r>
                      <a:r>
                        <a:rPr lang="en-US" sz="1400" b="0" i="0" u="none" strike="noStrike" cap="none" dirty="0">
                          <a:solidFill>
                            <a:schemeClr val="tx1"/>
                          </a:solidFill>
                          <a:effectLst/>
                          <a:latin typeface="+mn-lt"/>
                          <a:ea typeface="+mn-ea"/>
                          <a:cs typeface="+mn-cs"/>
                          <a:sym typeface="Arial"/>
                        </a:rPr>
                        <a:t> AccelRR8 Consortium Non-Profit’s Industry Innovation Service</a:t>
                      </a:r>
                    </a:p>
                    <a:p>
                      <a:pPr lvl="2"/>
                      <a:r>
                        <a:rPr lang="en-US" sz="1400" b="0" i="0" u="none" strike="noStrike" cap="none" dirty="0">
                          <a:solidFill>
                            <a:schemeClr val="tx1"/>
                          </a:solidFill>
                          <a:effectLst/>
                          <a:latin typeface="+mn-lt"/>
                          <a:ea typeface="+mn-ea"/>
                          <a:cs typeface="+mn-cs"/>
                          <a:sym typeface="Arial"/>
                        </a:rPr>
                        <a:t>I</a:t>
                      </a:r>
                      <a:r>
                        <a:rPr lang="en-US" sz="1400" b="1" i="0" u="none" strike="noStrike" cap="none" dirty="0">
                          <a:solidFill>
                            <a:schemeClr val="tx1"/>
                          </a:solidFill>
                          <a:effectLst/>
                          <a:latin typeface="+mn-lt"/>
                          <a:ea typeface="+mn-ea"/>
                          <a:cs typeface="+mn-cs"/>
                          <a:sym typeface="Arial"/>
                        </a:rPr>
                        <a:t>S AN</a:t>
                      </a:r>
                      <a:r>
                        <a:rPr lang="en-US" sz="1400" b="0" i="0" u="none" strike="noStrike" cap="none" dirty="0">
                          <a:solidFill>
                            <a:schemeClr val="tx1"/>
                          </a:solidFill>
                          <a:effectLst/>
                          <a:latin typeface="+mn-lt"/>
                          <a:ea typeface="+mn-ea"/>
                          <a:cs typeface="+mn-cs"/>
                          <a:sym typeface="Arial"/>
                        </a:rPr>
                        <a:t> </a:t>
                      </a:r>
                      <a:r>
                        <a:rPr lang="en-US" sz="1400" b="1" i="0" u="none" strike="noStrike" cap="none" dirty="0">
                          <a:solidFill>
                            <a:schemeClr val="accent2"/>
                          </a:solidFill>
                          <a:effectLst/>
                          <a:latin typeface="+mn-lt"/>
                          <a:ea typeface="+mn-ea"/>
                          <a:cs typeface="+mn-cs"/>
                          <a:sym typeface="Arial"/>
                        </a:rPr>
                        <a:t>AI</a:t>
                      </a:r>
                      <a:r>
                        <a:rPr lang="en-US" sz="1400" b="0" i="0" u="none" strike="noStrike" cap="none" dirty="0">
                          <a:solidFill>
                            <a:schemeClr val="tx1"/>
                          </a:solidFill>
                          <a:effectLst/>
                          <a:latin typeface="+mn-lt"/>
                          <a:ea typeface="+mn-ea"/>
                          <a:cs typeface="+mn-cs"/>
                          <a:sym typeface="Arial"/>
                        </a:rPr>
                        <a:t>-powered innovation support function</a:t>
                      </a:r>
                    </a:p>
                    <a:p>
                      <a:pPr lvl="2"/>
                      <a:r>
                        <a:rPr lang="en-US" sz="1400" b="1" i="0" u="none" strike="noStrike" cap="none" dirty="0">
                          <a:solidFill>
                            <a:schemeClr val="tx1"/>
                          </a:solidFill>
                          <a:effectLst/>
                          <a:latin typeface="+mn-lt"/>
                          <a:ea typeface="+mn-ea"/>
                          <a:cs typeface="+mn-cs"/>
                          <a:sym typeface="Arial"/>
                        </a:rPr>
                        <a:t>THAT</a:t>
                      </a:r>
                      <a:r>
                        <a:rPr lang="en-US" sz="1400" b="0" i="0" u="none" strike="noStrike" cap="none" dirty="0">
                          <a:solidFill>
                            <a:schemeClr val="tx1"/>
                          </a:solidFill>
                          <a:effectLst/>
                          <a:latin typeface="+mn-lt"/>
                          <a:ea typeface="+mn-ea"/>
                          <a:cs typeface="+mn-cs"/>
                          <a:sym typeface="Arial"/>
                        </a:rPr>
                        <a:t> helps patron-supported innovation teams use proven accelerators to develop innovative solutions</a:t>
                      </a:r>
                      <a:r>
                        <a:rPr lang="en-US" dirty="0"/>
                        <a:t>.</a:t>
                      </a:r>
                      <a:endParaRPr lang="en-US" sz="1400" b="0" i="0" u="none" strike="noStrike" cap="none" dirty="0">
                        <a:solidFill>
                          <a:schemeClr val="tx1"/>
                        </a:solidFill>
                        <a:effectLst/>
                        <a:latin typeface="+mn-lt"/>
                        <a:ea typeface="+mn-ea"/>
                        <a:cs typeface="+mn-cs"/>
                        <a:sym typeface="Arial"/>
                      </a:endParaRPr>
                    </a:p>
                    <a:p>
                      <a:pPr lvl="2"/>
                      <a:r>
                        <a:rPr lang="en-US" sz="1400" b="1" i="0" u="none" strike="noStrike" cap="none" dirty="0">
                          <a:solidFill>
                            <a:schemeClr val="tx1"/>
                          </a:solidFill>
                          <a:effectLst/>
                          <a:latin typeface="+mn-lt"/>
                          <a:ea typeface="+mn-ea"/>
                          <a:cs typeface="+mn-cs"/>
                          <a:sym typeface="Arial"/>
                        </a:rPr>
                        <a:t>UNLIKE</a:t>
                      </a:r>
                      <a:r>
                        <a:rPr lang="en-US" sz="1400" b="0" i="0" u="none" strike="noStrike" cap="none" dirty="0">
                          <a:solidFill>
                            <a:schemeClr val="tx1"/>
                          </a:solidFill>
                          <a:effectLst/>
                          <a:latin typeface="+mn-lt"/>
                          <a:ea typeface="+mn-ea"/>
                          <a:cs typeface="+mn-cs"/>
                          <a:sym typeface="Arial"/>
                        </a:rPr>
                        <a:t> other associations that support innovation,</a:t>
                      </a:r>
                    </a:p>
                    <a:p>
                      <a:pPr lvl="2"/>
                      <a:r>
                        <a:rPr lang="en-US" sz="1400" b="1" i="0" u="none" strike="noStrike" cap="none" dirty="0">
                          <a:solidFill>
                            <a:schemeClr val="tx1"/>
                          </a:solidFill>
                          <a:effectLst/>
                          <a:latin typeface="+mn-lt"/>
                          <a:ea typeface="+mn-ea"/>
                          <a:cs typeface="+mn-cs"/>
                          <a:sym typeface="Arial"/>
                        </a:rPr>
                        <a:t>OUR SERVICE’s</a:t>
                      </a:r>
                      <a:r>
                        <a:rPr lang="en-US" sz="1400" b="0" i="0" u="none" strike="noStrike" cap="none" dirty="0">
                          <a:solidFill>
                            <a:schemeClr val="tx1"/>
                          </a:solidFill>
                          <a:effectLst/>
                          <a:latin typeface="+mn-lt"/>
                          <a:ea typeface="+mn-ea"/>
                          <a:cs typeface="+mn-cs"/>
                          <a:sym typeface="Arial"/>
                        </a:rPr>
                        <a:t> own success will be a key proof point of our Consortium’s core premise:  industry innovation teams, supported by </a:t>
                      </a:r>
                      <a:r>
                        <a:rPr lang="en-US" sz="1400" b="1" i="0" u="none" strike="noStrike" cap="none" dirty="0">
                          <a:solidFill>
                            <a:srgbClr val="00B050"/>
                          </a:solidFill>
                          <a:effectLst/>
                          <a:latin typeface="+mn-lt"/>
                          <a:ea typeface="+mn-ea"/>
                          <a:cs typeface="+mn-cs"/>
                          <a:sym typeface="Arial"/>
                        </a:rPr>
                        <a:t>generative learning</a:t>
                      </a:r>
                      <a:r>
                        <a:rPr lang="en-US" sz="1400" b="0" i="0" u="none" strike="noStrike" cap="none" dirty="0">
                          <a:solidFill>
                            <a:schemeClr val="tx1"/>
                          </a:solidFill>
                          <a:effectLst/>
                          <a:latin typeface="+mn-lt"/>
                          <a:ea typeface="+mn-ea"/>
                          <a:cs typeface="+mn-cs"/>
                          <a:sym typeface="Arial"/>
                        </a:rPr>
                        <a:t> and </a:t>
                      </a:r>
                      <a:r>
                        <a:rPr lang="en-US" sz="1400" b="1" i="0" u="none" strike="noStrike" cap="none" dirty="0">
                          <a:solidFill>
                            <a:schemeClr val="accent2"/>
                          </a:solidFill>
                          <a:effectLst/>
                          <a:latin typeface="+mn-lt"/>
                          <a:ea typeface="+mn-ea"/>
                          <a:cs typeface="+mn-cs"/>
                          <a:sym typeface="Arial"/>
                        </a:rPr>
                        <a:t>AI</a:t>
                      </a:r>
                      <a:r>
                        <a:rPr lang="en-US" sz="1400" b="0" i="0" u="none" strike="noStrike" cap="none" dirty="0">
                          <a:solidFill>
                            <a:schemeClr val="tx1"/>
                          </a:solidFill>
                          <a:effectLst/>
                          <a:latin typeface="+mn-lt"/>
                          <a:ea typeface="+mn-ea"/>
                          <a:cs typeface="+mn-cs"/>
                          <a:sym typeface="Arial"/>
                        </a:rPr>
                        <a:t>, use </a:t>
                      </a:r>
                      <a:r>
                        <a:rPr lang="en-US" sz="1400" b="1" i="0" u="none" strike="noStrike" cap="none" dirty="0">
                          <a:solidFill>
                            <a:srgbClr val="00B050"/>
                          </a:solidFill>
                          <a:effectLst/>
                          <a:latin typeface="+mn-lt"/>
                          <a:ea typeface="+mn-ea"/>
                          <a:cs typeface="+mn-cs"/>
                          <a:sym typeface="Arial"/>
                        </a:rPr>
                        <a:t>compounding innovation</a:t>
                      </a:r>
                      <a:r>
                        <a:rPr lang="en-US" sz="1400" b="0" i="0" u="none" strike="noStrike" cap="none" dirty="0">
                          <a:solidFill>
                            <a:schemeClr val="tx1"/>
                          </a:solidFill>
                          <a:effectLst/>
                          <a:latin typeface="+mn-lt"/>
                          <a:ea typeface="+mn-ea"/>
                          <a:cs typeface="+mn-cs"/>
                          <a:sym typeface="Arial"/>
                        </a:rPr>
                        <a:t> to develop solutions that address priority industry challenges, grow value exponentially, advance the state-of-the-art, and ultimately benefit humanity. </a:t>
                      </a:r>
                    </a:p>
                  </a:txBody>
                  <a:tcPr/>
                </a:tc>
                <a:extLst>
                  <a:ext uri="{0D108BD9-81ED-4DB2-BD59-A6C34878D82A}">
                    <a16:rowId xmlns:a16="http://schemas.microsoft.com/office/drawing/2014/main" val="2047728929"/>
                  </a:ext>
                </a:extLst>
              </a:tr>
              <a:tr h="481278">
                <a:tc>
                  <a:txBody>
                    <a:bodyPr/>
                    <a:lstStyle/>
                    <a:p>
                      <a:r>
                        <a:rPr lang="en-US" sz="1600" b="0" dirty="0"/>
                        <a:t>Business Outcomes</a:t>
                      </a:r>
                    </a:p>
                  </a:txBody>
                  <a:tcPr/>
                </a:tc>
                <a:tc>
                  <a:txBody>
                    <a:bodyPr/>
                    <a:lstStyle/>
                    <a:p>
                      <a:pPr marL="125413" indent="-125413">
                        <a:buFont typeface="Arial" panose="020B0604020202020204" pitchFamily="34" charset="0"/>
                        <a:buChar char="•"/>
                        <a:tabLst/>
                      </a:pPr>
                      <a:r>
                        <a:rPr lang="en-US" b="1" dirty="0"/>
                        <a:t>Subscribers and Patrons</a:t>
                      </a:r>
                      <a:r>
                        <a:rPr lang="en-US" dirty="0"/>
                        <a:t>:  improve their professional network, skills / capabilities, brand, and opportunities</a:t>
                      </a:r>
                    </a:p>
                    <a:p>
                      <a:pPr marL="125413" indent="-125413">
                        <a:buFont typeface="Arial" panose="020B0604020202020204" pitchFamily="34" charset="0"/>
                        <a:buChar char="•"/>
                        <a:tabLst/>
                      </a:pPr>
                      <a:r>
                        <a:rPr lang="en-US" b="1" dirty="0"/>
                        <a:t>Tech Services industry</a:t>
                      </a:r>
                      <a:r>
                        <a:rPr lang="en-US" dirty="0"/>
                        <a:t>:  cross-company learning among leaders with scarce talents</a:t>
                      </a:r>
                    </a:p>
                    <a:p>
                      <a:pPr marL="125413" indent="-125413">
                        <a:buFont typeface="Arial" panose="020B0604020202020204" pitchFamily="34" charset="0"/>
                        <a:buChar char="•"/>
                        <a:tabLst/>
                      </a:pPr>
                      <a:r>
                        <a:rPr lang="en-US" b="1" dirty="0"/>
                        <a:t>AccelRR8 Consortium</a:t>
                      </a:r>
                      <a:r>
                        <a:rPr lang="en-US" dirty="0"/>
                        <a:t>: exponential benefits via Market Network Effects (per </a:t>
                      </a:r>
                      <a:r>
                        <a:rPr lang="en-US" dirty="0" err="1"/>
                        <a:t>nfx.com</a:t>
                      </a:r>
                      <a:r>
                        <a:rPr lang="en-US" dirty="0"/>
                        <a:t>)</a:t>
                      </a:r>
                    </a:p>
                  </a:txBody>
                  <a:tcPr/>
                </a:tc>
                <a:extLst>
                  <a:ext uri="{0D108BD9-81ED-4DB2-BD59-A6C34878D82A}">
                    <a16:rowId xmlns:a16="http://schemas.microsoft.com/office/drawing/2014/main" val="2321847728"/>
                  </a:ext>
                </a:extLst>
              </a:tr>
              <a:tr h="220586">
                <a:tc>
                  <a:txBody>
                    <a:bodyPr/>
                    <a:lstStyle/>
                    <a:p>
                      <a:r>
                        <a:rPr lang="en-US" sz="1600" b="0" dirty="0"/>
                        <a:t>Leading Indicators</a:t>
                      </a:r>
                    </a:p>
                  </a:txBody>
                  <a:tcPr/>
                </a:tc>
                <a:tc>
                  <a:txBody>
                    <a:bodyPr/>
                    <a:lstStyle/>
                    <a:p>
                      <a:r>
                        <a:rPr lang="en-US" dirty="0"/>
                        <a:t>1000 subscribers in the network who are net promoters of this service</a:t>
                      </a:r>
                    </a:p>
                  </a:txBody>
                  <a:tcPr/>
                </a:tc>
                <a:extLst>
                  <a:ext uri="{0D108BD9-81ED-4DB2-BD59-A6C34878D82A}">
                    <a16:rowId xmlns:a16="http://schemas.microsoft.com/office/drawing/2014/main" val="1735022269"/>
                  </a:ext>
                </a:extLst>
              </a:tr>
              <a:tr h="762023">
                <a:tc>
                  <a:txBody>
                    <a:bodyPr/>
                    <a:lstStyle/>
                    <a:p>
                      <a:r>
                        <a:rPr lang="en-US" sz="1600" b="0" dirty="0"/>
                        <a:t>Non-functional Requirements</a:t>
                      </a:r>
                    </a:p>
                  </a:txBody>
                  <a:tcPr/>
                </a:tc>
                <a:tc>
                  <a:txBody>
                    <a:bodyPr/>
                    <a:lstStyle/>
                    <a:p>
                      <a:pPr marL="114300" indent="-114300">
                        <a:buFont typeface="Arial" panose="020B0604020202020204" pitchFamily="34" charset="0"/>
                        <a:buChar char="•"/>
                        <a:tabLst/>
                      </a:pPr>
                      <a:r>
                        <a:rPr lang="en-US" b="1" dirty="0"/>
                        <a:t>Desirability:</a:t>
                      </a:r>
                      <a:r>
                        <a:rPr lang="en-US" dirty="0"/>
                        <a:t>  all want exponential success, few know how to generate it, and stakeholders like our values and culture</a:t>
                      </a:r>
                    </a:p>
                    <a:p>
                      <a:pPr marL="114300" indent="-114300">
                        <a:buFont typeface="Arial" panose="020B0604020202020204" pitchFamily="34" charset="0"/>
                        <a:buChar char="•"/>
                        <a:tabLst/>
                      </a:pPr>
                      <a:r>
                        <a:rPr lang="en-US" b="1" dirty="0"/>
                        <a:t>Viability:</a:t>
                      </a:r>
                      <a:r>
                        <a:rPr lang="en-US" dirty="0"/>
                        <a:t>  the Consortium has the required capabilities and isn’t trying to boil the ocean</a:t>
                      </a:r>
                    </a:p>
                    <a:p>
                      <a:pPr marL="114300" indent="-114300">
                        <a:buFont typeface="Arial" panose="020B0604020202020204" pitchFamily="34" charset="0"/>
                        <a:buChar char="•"/>
                        <a:tabLst/>
                      </a:pPr>
                      <a:r>
                        <a:rPr lang="en-US" b="1" dirty="0"/>
                        <a:t>Sustainability:</a:t>
                      </a:r>
                      <a:r>
                        <a:rPr lang="en-US" dirty="0"/>
                        <a:t>  the core premise (proven accelerators mathematically capable of exponential results) is enduring</a:t>
                      </a:r>
                    </a:p>
                    <a:p>
                      <a:pPr marL="114300" indent="-114300">
                        <a:buFont typeface="Arial" panose="020B0604020202020204" pitchFamily="34" charset="0"/>
                        <a:buChar char="•"/>
                        <a:tabLst/>
                      </a:pPr>
                      <a:r>
                        <a:rPr lang="en-US" b="1" dirty="0"/>
                        <a:t>Performance:</a:t>
                      </a:r>
                      <a:r>
                        <a:rPr lang="en-US" dirty="0"/>
                        <a:t>  the Service’s own success will be a key proof of our core premise, creating a virtuous cycle</a:t>
                      </a:r>
                    </a:p>
                    <a:p>
                      <a:pPr marL="114300" indent="-114300">
                        <a:buFont typeface="Arial" panose="020B0604020202020204" pitchFamily="34" charset="0"/>
                        <a:buChar char="•"/>
                        <a:tabLst/>
                      </a:pPr>
                      <a:r>
                        <a:rPr lang="en-US" b="1" dirty="0"/>
                        <a:t>Usability:</a:t>
                      </a:r>
                      <a:r>
                        <a:rPr lang="en-US" dirty="0"/>
                        <a:t>  participating in Industry Innovation as a subscriber and/or patron must be incredibly easy</a:t>
                      </a:r>
                    </a:p>
                  </a:txBody>
                  <a:tcPr/>
                </a:tc>
                <a:extLst>
                  <a:ext uri="{0D108BD9-81ED-4DB2-BD59-A6C34878D82A}">
                    <a16:rowId xmlns:a16="http://schemas.microsoft.com/office/drawing/2014/main" val="2256456919"/>
                  </a:ext>
                </a:extLst>
              </a:tr>
            </a:tbl>
          </a:graphicData>
        </a:graphic>
      </p:graphicFrame>
      <p:sp>
        <p:nvSpPr>
          <p:cNvPr id="2" name="Rectangle 1">
            <a:extLst>
              <a:ext uri="{FF2B5EF4-FFF2-40B4-BE49-F238E27FC236}">
                <a16:creationId xmlns:a16="http://schemas.microsoft.com/office/drawing/2014/main" id="{82989B31-3419-2492-D5BA-841085EFFD20}"/>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DCFC860D-600B-CFAA-AA67-87D20B2848A4}"/>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CCE98312-7BF3-634D-DE2E-782C5EA05BB7}"/>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57F7845-FD8A-DCA4-39DB-1B7D9CF0BA2A}"/>
              </a:ext>
            </a:extLst>
          </p:cNvPr>
          <p:cNvSpPr txBox="1">
            <a:spLocks noGrp="1"/>
          </p:cNvSpPr>
          <p:nvPr>
            <p:ph type="ftr" idx="11"/>
          </p:nvPr>
        </p:nvSpPr>
        <p:spPr>
          <a:xfrm>
            <a:off x="4038600" y="6573557"/>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72635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Preliminary Cost Estimates and WSJF</a:t>
            </a:r>
            <a:endParaRPr dirty="0"/>
          </a:p>
        </p:txBody>
      </p:sp>
      <p:sp>
        <p:nvSpPr>
          <p:cNvPr id="2" name="Rectangle 1">
            <a:extLst>
              <a:ext uri="{FF2B5EF4-FFF2-40B4-BE49-F238E27FC236}">
                <a16:creationId xmlns:a16="http://schemas.microsoft.com/office/drawing/2014/main" id="{93ADFCCD-21B2-3785-8E68-1D6E82E2DA76}"/>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7D3EA3BE-F73F-61F7-3F9D-5A3302400620}"/>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B59D7C28-1555-09D1-4AEE-8F09AA4FB52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graphicFrame>
        <p:nvGraphicFramePr>
          <p:cNvPr id="6" name="Table 5">
            <a:extLst>
              <a:ext uri="{FF2B5EF4-FFF2-40B4-BE49-F238E27FC236}">
                <a16:creationId xmlns:a16="http://schemas.microsoft.com/office/drawing/2014/main" id="{DA3B7C68-A7A8-1CF8-C46B-DD7B5A05617E}"/>
              </a:ext>
            </a:extLst>
          </p:cNvPr>
          <p:cNvGraphicFramePr>
            <a:graphicFrameLocks noGrp="1"/>
          </p:cNvGraphicFramePr>
          <p:nvPr>
            <p:extLst>
              <p:ext uri="{D42A27DB-BD31-4B8C-83A1-F6EECF244321}">
                <p14:modId xmlns:p14="http://schemas.microsoft.com/office/powerpoint/2010/main" val="3112699021"/>
              </p:ext>
            </p:extLst>
          </p:nvPr>
        </p:nvGraphicFramePr>
        <p:xfrm>
          <a:off x="427512" y="1590327"/>
          <a:ext cx="11447813" cy="4724400"/>
        </p:xfrm>
        <a:graphic>
          <a:graphicData uri="http://schemas.openxmlformats.org/drawingml/2006/table">
            <a:tbl>
              <a:tblPr firstRow="1" bandRow="1">
                <a:tableStyleId>{5940675A-B579-460E-94D1-54222C63F5DA}</a:tableStyleId>
              </a:tblPr>
              <a:tblGrid>
                <a:gridCol w="2090057">
                  <a:extLst>
                    <a:ext uri="{9D8B030D-6E8A-4147-A177-3AD203B41FA5}">
                      <a16:colId xmlns:a16="http://schemas.microsoft.com/office/drawing/2014/main" val="533583650"/>
                    </a:ext>
                  </a:extLst>
                </a:gridCol>
                <a:gridCol w="9357756">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Core members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stakeholders prefer this over other services?   13:  the “grow value exponentially at scale” capability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stakeholder satisfaction?   13:  stakeholders want solutions that move the needle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compounding innovation is needed to attract patrons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patrons and subscribers to engage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patrons and subscribers will learn about other Consortium services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become patrons and develop initial solutions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engage other Tech Services organization leaders to be patrons for innovation (6 months)</a:t>
                      </a:r>
                    </a:p>
                  </a:txBody>
                  <a:tcPr/>
                </a:tc>
                <a:extLst>
                  <a:ext uri="{0D108BD9-81ED-4DB2-BD59-A6C34878D82A}">
                    <a16:rowId xmlns:a16="http://schemas.microsoft.com/office/drawing/2014/main" val="2029769333"/>
                  </a:ext>
                </a:extLst>
              </a:tr>
            </a:tbl>
          </a:graphicData>
        </a:graphic>
      </p:graphicFrame>
      <p:sp>
        <p:nvSpPr>
          <p:cNvPr id="5" name="Google Shape;18;p9">
            <a:extLst>
              <a:ext uri="{FF2B5EF4-FFF2-40B4-BE49-F238E27FC236}">
                <a16:creationId xmlns:a16="http://schemas.microsoft.com/office/drawing/2014/main" id="{C5748C3E-8A70-958C-B8E4-332FC5861BB3}"/>
              </a:ext>
            </a:extLst>
          </p:cNvPr>
          <p:cNvSpPr txBox="1">
            <a:spLocks noGrp="1"/>
          </p:cNvSpPr>
          <p:nvPr>
            <p:ph type="ftr" idx="11"/>
          </p:nvPr>
        </p:nvSpPr>
        <p:spPr>
          <a:xfrm>
            <a:off x="4038600" y="6552293"/>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7" name="TextBox 6">
            <a:extLst>
              <a:ext uri="{FF2B5EF4-FFF2-40B4-BE49-F238E27FC236}">
                <a16:creationId xmlns:a16="http://schemas.microsoft.com/office/drawing/2014/main" id="{3BF34AD7-6E8C-6A1C-9085-B5DC5F237EC4}"/>
              </a:ext>
            </a:extLst>
          </p:cNvPr>
          <p:cNvSpPr txBox="1"/>
          <p:nvPr/>
        </p:nvSpPr>
        <p:spPr>
          <a:xfrm>
            <a:off x="427512" y="6296623"/>
            <a:ext cx="7090403" cy="246221"/>
          </a:xfrm>
          <a:prstGeom prst="rect">
            <a:avLst/>
          </a:prstGeom>
          <a:noFill/>
        </p:spPr>
        <p:txBody>
          <a:bodyPr wrap="none" rtlCol="0">
            <a:spAutoFit/>
          </a:bodyPr>
          <a:lstStyle/>
          <a:p>
            <a:r>
              <a:rPr lang="en-US" sz="1000" dirty="0"/>
              <a:t>*See </a:t>
            </a:r>
            <a:r>
              <a:rPr lang="en-US" sz="1000" dirty="0">
                <a:hlinkClick r:id="rId3"/>
              </a:rPr>
              <a:t>SAFe WSJF article</a:t>
            </a:r>
            <a:r>
              <a:rPr lang="en-US" sz="1000" dirty="0"/>
              <a:t>; scale for each root parameter is 1, 2, 3, 5, 8, 13, 20 (subset of the modified Fibonacci sequence)</a:t>
            </a:r>
          </a:p>
        </p:txBody>
      </p:sp>
    </p:spTree>
    <p:extLst>
      <p:ext uri="{BB962C8B-B14F-4D97-AF65-F5344CB8AC3E}">
        <p14:creationId xmlns:p14="http://schemas.microsoft.com/office/powerpoint/2010/main" val="4188122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Analysis Stage</a:t>
            </a:r>
          </a:p>
        </p:txBody>
      </p:sp>
      <p:sp>
        <p:nvSpPr>
          <p:cNvPr id="2" name="Rectangle 1">
            <a:extLst>
              <a:ext uri="{FF2B5EF4-FFF2-40B4-BE49-F238E27FC236}">
                <a16:creationId xmlns:a16="http://schemas.microsoft.com/office/drawing/2014/main" id="{127D92EC-B5B2-F4BF-5DE9-95612E9E3BE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1EB6C110-0BBD-1173-FD61-0D99BC14657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6C5FF28-EDA5-D92B-FEB5-078711BC8358}"/>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AB671F-9BEE-E2C8-B532-9AAC16B0D9F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099550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Alternatives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3205425362"/>
              </p:ext>
            </p:extLst>
          </p:nvPr>
        </p:nvGraphicFramePr>
        <p:xfrm>
          <a:off x="969319" y="1690687"/>
          <a:ext cx="10326210" cy="3472984"/>
        </p:xfrm>
        <a:graphic>
          <a:graphicData uri="http://schemas.openxmlformats.org/drawingml/2006/table">
            <a:tbl>
              <a:tblPr firstRow="1" bandRow="1">
                <a:tableStyleId>{5940675A-B579-460E-94D1-54222C63F5DA}</a:tableStyleId>
              </a:tblPr>
              <a:tblGrid>
                <a:gridCol w="2255795">
                  <a:extLst>
                    <a:ext uri="{9D8B030D-6E8A-4147-A177-3AD203B41FA5}">
                      <a16:colId xmlns:a16="http://schemas.microsoft.com/office/drawing/2014/main" val="533583650"/>
                    </a:ext>
                  </a:extLst>
                </a:gridCol>
                <a:gridCol w="8070415">
                  <a:extLst>
                    <a:ext uri="{9D8B030D-6E8A-4147-A177-3AD203B41FA5}">
                      <a16:colId xmlns:a16="http://schemas.microsoft.com/office/drawing/2014/main" val="20127695"/>
                    </a:ext>
                  </a:extLst>
                </a:gridCol>
              </a:tblGrid>
              <a:tr h="1736492">
                <a:tc>
                  <a:txBody>
                    <a:bodyPr/>
                    <a:lstStyle/>
                    <a:p>
                      <a:r>
                        <a:rPr lang="en-US" sz="1600" b="1" dirty="0"/>
                        <a:t>Alternative 1:</a:t>
                      </a:r>
                      <a:br>
                        <a:rPr lang="en-US" sz="1600" b="0" dirty="0"/>
                      </a:br>
                      <a:r>
                        <a:rPr lang="en-US" sz="1600" b="0" dirty="0"/>
                        <a:t>Free</a:t>
                      </a:r>
                    </a:p>
                    <a:p>
                      <a:endParaRPr lang="en-US" sz="1600" b="0" dirty="0"/>
                    </a:p>
                    <a:p>
                      <a:r>
                        <a:rPr lang="en-US" sz="1600" b="0" i="1" dirty="0"/>
                        <a:t>SELECTED</a:t>
                      </a:r>
                    </a:p>
                    <a:p>
                      <a:endParaRPr lang="en-US" sz="1600" b="0" i="1" dirty="0"/>
                    </a:p>
                  </a:txBody>
                  <a:tcPr/>
                </a:tc>
                <a:tc>
                  <a:txBody>
                    <a:bodyPr/>
                    <a:lstStyle/>
                    <a:p>
                      <a:pPr marL="119063" lvl="2" indent="-119063">
                        <a:buFont typeface="Arial" panose="020B0604020202020204" pitchFamily="34" charset="0"/>
                        <a:buChar char="•"/>
                        <a:tabLst/>
                      </a:pPr>
                      <a:r>
                        <a:rPr lang="en-US" sz="1400" b="0" i="0" u="none" strike="noStrike" cap="none" dirty="0">
                          <a:solidFill>
                            <a:schemeClr val="tx1"/>
                          </a:solidFill>
                          <a:effectLst/>
                          <a:latin typeface="+mn-lt"/>
                          <a:ea typeface="+mn-ea"/>
                          <a:cs typeface="+mn-cs"/>
                          <a:sym typeface="Arial"/>
                        </a:rPr>
                        <a:t>Patron organizations and individuals can join the AccelRR8 Consortium network as advocates (free advertising, e.g., Bronze Tier)</a:t>
                      </a: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txBody>
                  <a:tcPr/>
                </a:tc>
                <a:extLst>
                  <a:ext uri="{0D108BD9-81ED-4DB2-BD59-A6C34878D82A}">
                    <a16:rowId xmlns:a16="http://schemas.microsoft.com/office/drawing/2014/main" val="1092281396"/>
                  </a:ext>
                </a:extLst>
              </a:tr>
              <a:tr h="1736492">
                <a:tc>
                  <a:txBody>
                    <a:bodyPr/>
                    <a:lstStyle/>
                    <a:p>
                      <a:r>
                        <a:rPr lang="en-US" sz="1600" b="1" dirty="0"/>
                        <a:t>Alternative 2:</a:t>
                      </a:r>
                      <a:br>
                        <a:rPr lang="en-US" sz="1600" b="0" dirty="0"/>
                      </a:br>
                      <a:r>
                        <a:rPr lang="en-US" sz="1600" b="0" dirty="0"/>
                        <a:t>Fee-based</a:t>
                      </a:r>
                    </a:p>
                    <a:p>
                      <a:endParaRPr lang="en-US" sz="1600" b="0" dirty="0"/>
                    </a:p>
                    <a:p>
                      <a:r>
                        <a:rPr lang="en-US" sz="1600" b="0" i="1" dirty="0"/>
                        <a:t>CONSIDER FOR FUTURE VERSION</a:t>
                      </a:r>
                    </a:p>
                  </a:txBody>
                  <a:tcPr/>
                </a:tc>
                <a:tc>
                  <a:txBody>
                    <a:bodyPr/>
                    <a:lstStyle/>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Patron organizations and individuals can pay an annual fee and become higher-level patrons (e.g., Diamond, Platinum, Gold, Silver) to co-develop exponential solutions for priority industry challenges</a:t>
                      </a:r>
                    </a:p>
                  </a:txBody>
                  <a:tcPr/>
                </a:tc>
                <a:extLst>
                  <a:ext uri="{0D108BD9-81ED-4DB2-BD59-A6C34878D82A}">
                    <a16:rowId xmlns:a16="http://schemas.microsoft.com/office/drawing/2014/main" val="2029769333"/>
                  </a:ext>
                </a:extLst>
              </a:tr>
            </a:tbl>
          </a:graphicData>
        </a:graphic>
      </p:graphicFrame>
      <p:sp>
        <p:nvSpPr>
          <p:cNvPr id="6" name="Rectangle 5">
            <a:extLst>
              <a:ext uri="{FF2B5EF4-FFF2-40B4-BE49-F238E27FC236}">
                <a16:creationId xmlns:a16="http://schemas.microsoft.com/office/drawing/2014/main" id="{EEEA9109-11FD-F460-0725-95712E9F1A0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7" name="Rectangle 6">
            <a:extLst>
              <a:ext uri="{FF2B5EF4-FFF2-40B4-BE49-F238E27FC236}">
                <a16:creationId xmlns:a16="http://schemas.microsoft.com/office/drawing/2014/main" id="{18ACE2DB-9695-6846-EBC0-CDDAB593C84D}"/>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8" name="Rectangle 7">
            <a:extLst>
              <a:ext uri="{FF2B5EF4-FFF2-40B4-BE49-F238E27FC236}">
                <a16:creationId xmlns:a16="http://schemas.microsoft.com/office/drawing/2014/main" id="{E5825B23-224F-30BC-1255-BD6819F53A1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B53C39C2-BA45-92C3-D93B-96BF2FF7E2E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475755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Refined Cost Estimates and WSJF</a:t>
            </a:r>
            <a:endParaRPr dirty="0"/>
          </a:p>
        </p:txBody>
      </p:sp>
      <p:sp>
        <p:nvSpPr>
          <p:cNvPr id="9" name="Rectangle 8">
            <a:extLst>
              <a:ext uri="{FF2B5EF4-FFF2-40B4-BE49-F238E27FC236}">
                <a16:creationId xmlns:a16="http://schemas.microsoft.com/office/drawing/2014/main" id="{35E44920-E1DB-DBA8-39D2-0F97A8DAB79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10" name="Rectangle 9">
            <a:extLst>
              <a:ext uri="{FF2B5EF4-FFF2-40B4-BE49-F238E27FC236}">
                <a16:creationId xmlns:a16="http://schemas.microsoft.com/office/drawing/2014/main" id="{1C465CE0-9D8F-416A-DC1E-6FAA36024E8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11" name="Rectangle 10">
            <a:extLst>
              <a:ext uri="{FF2B5EF4-FFF2-40B4-BE49-F238E27FC236}">
                <a16:creationId xmlns:a16="http://schemas.microsoft.com/office/drawing/2014/main" id="{33A93366-078D-A801-5B4A-525F4CD74719}"/>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3" name="Google Shape;18;p9">
            <a:extLst>
              <a:ext uri="{FF2B5EF4-FFF2-40B4-BE49-F238E27FC236}">
                <a16:creationId xmlns:a16="http://schemas.microsoft.com/office/drawing/2014/main" id="{7EF92490-8763-C122-9420-8771007CA2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4" name="Table 3">
            <a:extLst>
              <a:ext uri="{FF2B5EF4-FFF2-40B4-BE49-F238E27FC236}">
                <a16:creationId xmlns:a16="http://schemas.microsoft.com/office/drawing/2014/main" id="{61DF5FE9-2C03-B515-AFEB-251932A7C8EA}"/>
              </a:ext>
            </a:extLst>
          </p:cNvPr>
          <p:cNvGraphicFramePr>
            <a:graphicFrameLocks noGrp="1"/>
          </p:cNvGraphicFramePr>
          <p:nvPr>
            <p:extLst>
              <p:ext uri="{D42A27DB-BD31-4B8C-83A1-F6EECF244321}">
                <p14:modId xmlns:p14="http://schemas.microsoft.com/office/powerpoint/2010/main" val="525542197"/>
              </p:ext>
            </p:extLst>
          </p:nvPr>
        </p:nvGraphicFramePr>
        <p:xfrm>
          <a:off x="427512" y="1590327"/>
          <a:ext cx="11447813" cy="4724400"/>
        </p:xfrm>
        <a:graphic>
          <a:graphicData uri="http://schemas.openxmlformats.org/drawingml/2006/table">
            <a:tbl>
              <a:tblPr firstRow="1" bandRow="1">
                <a:tableStyleId>{5940675A-B579-460E-94D1-54222C63F5DA}</a:tableStyleId>
              </a:tblPr>
              <a:tblGrid>
                <a:gridCol w="2090057">
                  <a:extLst>
                    <a:ext uri="{9D8B030D-6E8A-4147-A177-3AD203B41FA5}">
                      <a16:colId xmlns:a16="http://schemas.microsoft.com/office/drawing/2014/main" val="533583650"/>
                    </a:ext>
                  </a:extLst>
                </a:gridCol>
                <a:gridCol w="9357756">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Core members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stakeholders prefer this over other services?   13:  the “grow value exponentially at scale” capability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stakeholder satisfaction?   13:  stakeholders want solutions that move the needle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compounding innovation is needed to attract patrons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patrons and subscribers to engage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patrons and subscribers will learn about other Consortium services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become patrons and develop initial solutions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engage other Tech Services organization leaders to be patrons for innovation (6 months)</a:t>
                      </a:r>
                    </a:p>
                  </a:txBody>
                  <a:tcPr/>
                </a:tc>
                <a:extLst>
                  <a:ext uri="{0D108BD9-81ED-4DB2-BD59-A6C34878D82A}">
                    <a16:rowId xmlns:a16="http://schemas.microsoft.com/office/drawing/2014/main" val="2029769333"/>
                  </a:ext>
                </a:extLst>
              </a:tr>
            </a:tbl>
          </a:graphicData>
        </a:graphic>
      </p:graphicFrame>
      <p:sp>
        <p:nvSpPr>
          <p:cNvPr id="5" name="TextBox 4">
            <a:extLst>
              <a:ext uri="{FF2B5EF4-FFF2-40B4-BE49-F238E27FC236}">
                <a16:creationId xmlns:a16="http://schemas.microsoft.com/office/drawing/2014/main" id="{798872C2-D47D-A5E4-B7C0-29D65948CD53}"/>
              </a:ext>
            </a:extLst>
          </p:cNvPr>
          <p:cNvSpPr txBox="1"/>
          <p:nvPr/>
        </p:nvSpPr>
        <p:spPr>
          <a:xfrm>
            <a:off x="427512" y="6296623"/>
            <a:ext cx="7090403" cy="246221"/>
          </a:xfrm>
          <a:prstGeom prst="rect">
            <a:avLst/>
          </a:prstGeom>
          <a:noFill/>
        </p:spPr>
        <p:txBody>
          <a:bodyPr wrap="none" rtlCol="0">
            <a:spAutoFit/>
          </a:bodyPr>
          <a:lstStyle/>
          <a:p>
            <a:r>
              <a:rPr lang="en-US" sz="1000" dirty="0"/>
              <a:t>*See </a:t>
            </a:r>
            <a:r>
              <a:rPr lang="en-US" sz="1000" dirty="0">
                <a:hlinkClick r:id="rId3"/>
              </a:rPr>
              <a:t>SAFe WSJF article</a:t>
            </a:r>
            <a:r>
              <a:rPr lang="en-US" sz="1000" dirty="0"/>
              <a:t>; scale for each root parameter is 1, 2, 3, 5, 8, 13, 20 (subset of the modified Fibonacci sequence)</a:t>
            </a:r>
          </a:p>
        </p:txBody>
      </p:sp>
    </p:spTree>
    <p:extLst>
      <p:ext uri="{BB962C8B-B14F-4D97-AF65-F5344CB8AC3E}">
        <p14:creationId xmlns:p14="http://schemas.microsoft.com/office/powerpoint/2010/main" val="36843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(1/5)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60650120"/>
              </p:ext>
            </p:extLst>
          </p:nvPr>
        </p:nvGraphicFramePr>
        <p:xfrm>
          <a:off x="976428" y="1690688"/>
          <a:ext cx="9971321" cy="4743786"/>
        </p:xfrm>
        <a:graphic>
          <a:graphicData uri="http://schemas.openxmlformats.org/drawingml/2006/table">
            <a:tbl>
              <a:tblPr firstRow="1" firstCol="1" bandRow="1" bandCol="1">
                <a:tableStyleId>{5940675A-B579-460E-94D1-54222C63F5DA}</a:tableStyleId>
              </a:tblPr>
              <a:tblGrid>
                <a:gridCol w="3294489">
                  <a:extLst>
                    <a:ext uri="{9D8B030D-6E8A-4147-A177-3AD203B41FA5}">
                      <a16:colId xmlns:a16="http://schemas.microsoft.com/office/drawing/2014/main" val="335540143"/>
                    </a:ext>
                  </a:extLst>
                </a:gridCol>
                <a:gridCol w="1235015">
                  <a:extLst>
                    <a:ext uri="{9D8B030D-6E8A-4147-A177-3AD203B41FA5}">
                      <a16:colId xmlns:a16="http://schemas.microsoft.com/office/drawing/2014/main" val="3520678859"/>
                    </a:ext>
                  </a:extLst>
                </a:gridCol>
                <a:gridCol w="206139">
                  <a:extLst>
                    <a:ext uri="{9D8B030D-6E8A-4147-A177-3AD203B41FA5}">
                      <a16:colId xmlns:a16="http://schemas.microsoft.com/office/drawing/2014/main" val="4207968209"/>
                    </a:ext>
                  </a:extLst>
                </a:gridCol>
                <a:gridCol w="5235678">
                  <a:extLst>
                    <a:ext uri="{9D8B030D-6E8A-4147-A177-3AD203B41FA5}">
                      <a16:colId xmlns:a16="http://schemas.microsoft.com/office/drawing/2014/main" val="1867107964"/>
                    </a:ext>
                  </a:extLst>
                </a:gridCol>
              </a:tblGrid>
              <a:tr h="1208629">
                <a:tc>
                  <a:txBody>
                    <a:bodyPr/>
                    <a:lstStyle/>
                    <a:p>
                      <a:pPr marL="0" marR="0">
                        <a:lnSpc>
                          <a:spcPct val="115000"/>
                        </a:lnSpc>
                        <a:spcBef>
                          <a:spcPts val="0"/>
                        </a:spcBef>
                        <a:spcAft>
                          <a:spcPts val="1000"/>
                        </a:spcAft>
                      </a:pPr>
                      <a:r>
                        <a:rPr lang="en-US" sz="1100" b="1" dirty="0">
                          <a:solidFill>
                            <a:schemeClr val="tx1"/>
                          </a:solidFill>
                          <a:effectLst/>
                        </a:rPr>
                        <a:t>Funnel Entry Date:   </a:t>
                      </a:r>
                    </a:p>
                    <a:p>
                      <a:pPr marL="0" marR="0">
                        <a:lnSpc>
                          <a:spcPct val="115000"/>
                        </a:lnSpc>
                        <a:spcBef>
                          <a:spcPts val="0"/>
                        </a:spcBef>
                        <a:spcAft>
                          <a:spcPts val="1000"/>
                        </a:spcAft>
                      </a:pPr>
                      <a:r>
                        <a:rPr lang="en-US" sz="1100" dirty="0">
                          <a:solidFill>
                            <a:schemeClr val="tx1"/>
                          </a:solidFill>
                          <a:effectLst/>
                        </a:rPr>
                        <a:t>February 1, 2024</a:t>
                      </a:r>
                    </a:p>
                  </a:txBody>
                  <a:tcPr marL="40793" marR="40793" marT="0" marB="0"/>
                </a:tc>
                <a:tc gridSpan="2">
                  <a:txBody>
                    <a:bodyPr/>
                    <a:lstStyle/>
                    <a:p>
                      <a:pPr marL="0" marR="0">
                        <a:lnSpc>
                          <a:spcPct val="115000"/>
                        </a:lnSpc>
                        <a:spcBef>
                          <a:spcPts val="0"/>
                        </a:spcBef>
                        <a:spcAft>
                          <a:spcPts val="1000"/>
                        </a:spcAft>
                      </a:pPr>
                      <a:r>
                        <a:rPr lang="en-US" sz="1100" b="1" dirty="0">
                          <a:solidFill>
                            <a:schemeClr val="tx1"/>
                          </a:solidFill>
                          <a:effectLst/>
                        </a:rPr>
                        <a:t>Offering Owner:</a:t>
                      </a:r>
                    </a:p>
                    <a:p>
                      <a:pPr marL="0" marR="0">
                        <a:lnSpc>
                          <a:spcPct val="115000"/>
                        </a:lnSpc>
                        <a:spcBef>
                          <a:spcPts val="0"/>
                        </a:spcBef>
                        <a:spcAft>
                          <a:spcPts val="1000"/>
                        </a:spcAft>
                      </a:pPr>
                      <a:r>
                        <a:rPr lang="en-US" sz="1100" dirty="0">
                          <a:solidFill>
                            <a:schemeClr val="tx1"/>
                          </a:solidFill>
                          <a:effectLst/>
                        </a:rPr>
                        <a:t>Industry Innovation Service Leader</a:t>
                      </a: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Key Stakeholders:</a:t>
                      </a:r>
                    </a:p>
                    <a:p>
                      <a:pPr marL="0" marR="0">
                        <a:lnSpc>
                          <a:spcPct val="115000"/>
                        </a:lnSpc>
                        <a:spcBef>
                          <a:spcPts val="0"/>
                        </a:spcBef>
                        <a:spcAft>
                          <a:spcPts val="1000"/>
                        </a:spcAft>
                      </a:pPr>
                      <a:r>
                        <a:rPr lang="en-US" sz="1100" dirty="0">
                          <a:solidFill>
                            <a:schemeClr val="tx1"/>
                          </a:solidFill>
                          <a:effectLst/>
                        </a:rPr>
                        <a:t>Core Boosters:  Board Members, Board Advisors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3298821640"/>
                  </a:ext>
                </a:extLst>
              </a:tr>
              <a:tr h="1884556">
                <a:tc gridSpan="4">
                  <a:txBody>
                    <a:bodyPr/>
                    <a:lstStyle/>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dirty="0">
                          <a:solidFill>
                            <a:schemeClr val="tx1"/>
                          </a:solidFill>
                          <a:effectLst/>
                        </a:rPr>
                        <a:t>Offering Description:</a:t>
                      </a: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r>
                        <a:rPr lang="en-US" sz="1100" b="1" i="0" u="none" strike="noStrike" cap="none" dirty="0">
                          <a:solidFill>
                            <a:schemeClr val="tx1"/>
                          </a:solidFill>
                          <a:effectLst/>
                          <a:latin typeface="+mn-lt"/>
                          <a:ea typeface="+mn-ea"/>
                          <a:cs typeface="+mn-cs"/>
                          <a:sym typeface="Arial"/>
                        </a:rPr>
                        <a:t>FOR </a:t>
                      </a:r>
                      <a:r>
                        <a:rPr lang="en-US" sz="1100" b="0" i="0" u="none" strike="noStrike" cap="none" dirty="0">
                          <a:solidFill>
                            <a:schemeClr val="tx1"/>
                          </a:solidFill>
                          <a:effectLst/>
                          <a:latin typeface="+mn-lt"/>
                          <a:ea typeface="+mn-ea"/>
                          <a:cs typeface="+mn-cs"/>
                          <a:sym typeface="Arial"/>
                        </a:rPr>
                        <a:t>enterprising leaders involved or interested in the Tech Services industry </a:t>
                      </a:r>
                      <a:r>
                        <a:rPr lang="en-US" sz="1100" b="1" i="0" u="none" strike="noStrike" cap="none" dirty="0">
                          <a:solidFill>
                            <a:schemeClr val="tx1"/>
                          </a:solidFill>
                          <a:effectLst/>
                          <a:latin typeface="+mn-lt"/>
                          <a:ea typeface="+mn-ea"/>
                          <a:cs typeface="+mn-cs"/>
                          <a:sym typeface="Arial"/>
                        </a:rPr>
                        <a:t>WHO </a:t>
                      </a:r>
                      <a:r>
                        <a:rPr lang="en-US" sz="1100" b="0" i="0" u="none" strike="noStrike" cap="none" dirty="0">
                          <a:solidFill>
                            <a:schemeClr val="tx1"/>
                          </a:solidFill>
                          <a:effectLst/>
                          <a:latin typeface="+mn-lt"/>
                          <a:ea typeface="+mn-ea"/>
                          <a:cs typeface="+mn-cs"/>
                          <a:sym typeface="Arial"/>
                        </a:rPr>
                        <a:t>want to improve their career opportunities and the Tech Services industry’s impact </a:t>
                      </a:r>
                      <a:r>
                        <a:rPr lang="en-US" sz="1100" b="1" i="0" u="none" strike="noStrike" cap="none" dirty="0">
                          <a:solidFill>
                            <a:schemeClr val="tx1"/>
                          </a:solidFill>
                          <a:effectLst/>
                          <a:latin typeface="+mn-lt"/>
                          <a:ea typeface="+mn-ea"/>
                          <a:cs typeface="+mn-cs"/>
                          <a:sym typeface="Arial"/>
                        </a:rPr>
                        <a:t>THE </a:t>
                      </a:r>
                      <a:r>
                        <a:rPr lang="en-US" sz="1100" b="0" i="0" u="none" strike="noStrike" cap="none" dirty="0">
                          <a:solidFill>
                            <a:schemeClr val="tx1"/>
                          </a:solidFill>
                          <a:effectLst/>
                          <a:latin typeface="+mn-lt"/>
                          <a:ea typeface="+mn-ea"/>
                          <a:cs typeface="+mn-cs"/>
                          <a:sym typeface="Arial"/>
                        </a:rPr>
                        <a:t>AccelRR8 Consortium Non-Profit’s Industry Innovation Service </a:t>
                      </a:r>
                      <a:r>
                        <a:rPr lang="en-US" sz="1100" b="1" i="0" u="none" strike="noStrike" cap="none" dirty="0">
                          <a:solidFill>
                            <a:schemeClr val="tx1"/>
                          </a:solidFill>
                          <a:effectLst/>
                          <a:latin typeface="+mn-lt"/>
                          <a:ea typeface="+mn-ea"/>
                          <a:cs typeface="+mn-cs"/>
                          <a:sym typeface="Arial"/>
                        </a:rPr>
                        <a:t>IS AN </a:t>
                      </a:r>
                      <a:r>
                        <a:rPr lang="en-US" sz="1100" b="1" i="0" u="none" strike="noStrike" cap="none" dirty="0">
                          <a:solidFill>
                            <a:schemeClr val="accent2"/>
                          </a:solidFill>
                          <a:effectLst/>
                          <a:latin typeface="+mn-lt"/>
                          <a:ea typeface="+mn-ea"/>
                          <a:cs typeface="+mn-cs"/>
                          <a:sym typeface="Arial"/>
                        </a:rPr>
                        <a:t>AI</a:t>
                      </a:r>
                      <a:r>
                        <a:rPr lang="en-US" sz="1100" b="0" i="0" u="none" strike="noStrike" cap="none" dirty="0">
                          <a:solidFill>
                            <a:schemeClr val="tx1"/>
                          </a:solidFill>
                          <a:effectLst/>
                          <a:latin typeface="+mn-lt"/>
                          <a:ea typeface="+mn-ea"/>
                          <a:cs typeface="+mn-cs"/>
                          <a:sym typeface="Arial"/>
                        </a:rPr>
                        <a:t>-powered innovation support function </a:t>
                      </a:r>
                      <a:r>
                        <a:rPr lang="en-US" sz="1100" b="1" i="0" u="none" strike="noStrike" cap="none" dirty="0">
                          <a:solidFill>
                            <a:schemeClr val="tx1"/>
                          </a:solidFill>
                          <a:effectLst/>
                          <a:latin typeface="+mn-lt"/>
                          <a:ea typeface="+mn-ea"/>
                          <a:cs typeface="+mn-cs"/>
                          <a:sym typeface="Arial"/>
                        </a:rPr>
                        <a:t>THAT </a:t>
                      </a:r>
                      <a:r>
                        <a:rPr lang="en-US" sz="1100" b="0" i="0" u="none" strike="noStrike" cap="none" dirty="0">
                          <a:solidFill>
                            <a:schemeClr val="tx1"/>
                          </a:solidFill>
                          <a:effectLst/>
                          <a:latin typeface="+mn-lt"/>
                          <a:ea typeface="+mn-ea"/>
                          <a:cs typeface="+mn-cs"/>
                          <a:sym typeface="Arial"/>
                        </a:rPr>
                        <a:t>helps patron-supported innovation teams use proven accelerators to develop innovative solutions. </a:t>
                      </a:r>
                      <a:endParaRPr lang="en-US" sz="1100" b="1" i="0" u="none" strike="noStrike" cap="none" dirty="0">
                        <a:solidFill>
                          <a:schemeClr val="tx1"/>
                        </a:solidFill>
                        <a:effectLst/>
                        <a:latin typeface="+mn-lt"/>
                        <a:ea typeface="+mn-ea"/>
                        <a:cs typeface="+mn-cs"/>
                        <a:sym typeface="Arial"/>
                      </a:endParaRPr>
                    </a:p>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i="0" u="none" strike="noStrike" cap="none" dirty="0">
                          <a:solidFill>
                            <a:schemeClr val="tx1"/>
                          </a:solidFill>
                          <a:effectLst/>
                          <a:latin typeface="+mn-lt"/>
                          <a:ea typeface="+mn-ea"/>
                          <a:cs typeface="+mn-cs"/>
                          <a:sym typeface="Arial"/>
                        </a:rPr>
                        <a:t>UNLIKE </a:t>
                      </a:r>
                      <a:r>
                        <a:rPr lang="en-US" sz="1100" b="0" i="0" u="none" strike="noStrike" cap="none" dirty="0">
                          <a:solidFill>
                            <a:schemeClr val="tx1"/>
                          </a:solidFill>
                          <a:effectLst/>
                          <a:latin typeface="+mn-lt"/>
                          <a:ea typeface="+mn-ea"/>
                          <a:cs typeface="+mn-cs"/>
                          <a:sym typeface="Arial"/>
                        </a:rPr>
                        <a:t>other associations that support innovation, </a:t>
                      </a:r>
                      <a:r>
                        <a:rPr lang="en-US" sz="1100" b="1" i="0" u="none" strike="noStrike" cap="none" dirty="0">
                          <a:solidFill>
                            <a:schemeClr val="tx1"/>
                          </a:solidFill>
                          <a:effectLst/>
                          <a:latin typeface="+mn-lt"/>
                          <a:ea typeface="+mn-ea"/>
                          <a:cs typeface="+mn-cs"/>
                          <a:sym typeface="Arial"/>
                        </a:rPr>
                        <a:t>OUR SERVICE’s </a:t>
                      </a:r>
                      <a:r>
                        <a:rPr lang="en-US" sz="1100" b="0" i="0" u="none" strike="noStrike" cap="none" dirty="0">
                          <a:solidFill>
                            <a:schemeClr val="tx1"/>
                          </a:solidFill>
                          <a:effectLst/>
                          <a:latin typeface="+mn-lt"/>
                          <a:ea typeface="+mn-ea"/>
                          <a:cs typeface="+mn-cs"/>
                          <a:sym typeface="Arial"/>
                        </a:rPr>
                        <a:t>own success will be a key proof point of our Consortium’s core premise:  industry innovation teams, supported by </a:t>
                      </a:r>
                      <a:r>
                        <a:rPr lang="en-US" sz="1100" b="1" i="0" u="none" strike="noStrike" cap="none" dirty="0">
                          <a:solidFill>
                            <a:srgbClr val="00B050"/>
                          </a:solidFill>
                          <a:effectLst/>
                          <a:latin typeface="+mn-lt"/>
                          <a:ea typeface="+mn-ea"/>
                          <a:cs typeface="+mn-cs"/>
                          <a:sym typeface="Arial"/>
                        </a:rPr>
                        <a:t>generative learning</a:t>
                      </a:r>
                      <a:r>
                        <a:rPr lang="en-US" sz="1100" b="0" i="0" u="none" strike="noStrike" cap="none" dirty="0">
                          <a:solidFill>
                            <a:schemeClr val="tx1"/>
                          </a:solidFill>
                          <a:effectLst/>
                          <a:latin typeface="+mn-lt"/>
                          <a:ea typeface="+mn-ea"/>
                          <a:cs typeface="+mn-cs"/>
                          <a:sym typeface="Arial"/>
                        </a:rPr>
                        <a:t> and </a:t>
                      </a:r>
                      <a:r>
                        <a:rPr lang="en-US" sz="1100" b="1" i="0" u="none" strike="noStrike" cap="none" dirty="0">
                          <a:solidFill>
                            <a:schemeClr val="accent2"/>
                          </a:solidFill>
                          <a:effectLst/>
                          <a:latin typeface="+mn-lt"/>
                          <a:ea typeface="+mn-ea"/>
                          <a:cs typeface="+mn-cs"/>
                          <a:sym typeface="Arial"/>
                        </a:rPr>
                        <a:t>AI</a:t>
                      </a:r>
                      <a:r>
                        <a:rPr lang="en-US" sz="1100" b="0" i="0" u="none" strike="noStrike" cap="none" dirty="0">
                          <a:solidFill>
                            <a:schemeClr val="tx1"/>
                          </a:solidFill>
                          <a:effectLst/>
                          <a:latin typeface="+mn-lt"/>
                          <a:ea typeface="+mn-ea"/>
                          <a:cs typeface="+mn-cs"/>
                          <a:sym typeface="Arial"/>
                        </a:rPr>
                        <a:t>, use </a:t>
                      </a:r>
                      <a:r>
                        <a:rPr lang="en-US" sz="1100" b="1" i="0" u="none" strike="noStrike" cap="none" dirty="0">
                          <a:solidFill>
                            <a:srgbClr val="00B050"/>
                          </a:solidFill>
                          <a:effectLst/>
                          <a:latin typeface="+mn-lt"/>
                          <a:ea typeface="+mn-ea"/>
                          <a:cs typeface="+mn-cs"/>
                          <a:sym typeface="Arial"/>
                        </a:rPr>
                        <a:t>compounding innovation</a:t>
                      </a:r>
                      <a:r>
                        <a:rPr lang="en-US" sz="1100" b="0" i="0" u="none" strike="noStrike" cap="none" dirty="0">
                          <a:solidFill>
                            <a:schemeClr val="tx1"/>
                          </a:solidFill>
                          <a:effectLst/>
                          <a:latin typeface="+mn-lt"/>
                          <a:ea typeface="+mn-ea"/>
                          <a:cs typeface="+mn-cs"/>
                          <a:sym typeface="Arial"/>
                        </a:rPr>
                        <a:t> to develop solutions that address priority industry challenges, grow value exponentially, advance the state-of-the-art, and ultimately benefit humanity.</a:t>
                      </a:r>
                      <a:endParaRPr lang="en-US" sz="1100" b="1" i="0" u="none" strike="noStrike" cap="none" dirty="0">
                        <a:solidFill>
                          <a:schemeClr val="tx1"/>
                        </a:solidFill>
                        <a:effectLst/>
                        <a:latin typeface="+mn-lt"/>
                        <a:ea typeface="+mn-ea"/>
                        <a:cs typeface="+mn-cs"/>
                        <a:sym typeface="Arial"/>
                      </a:endParaRPr>
                    </a:p>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endParaRPr lang="en-US" sz="1100" b="0"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4933647"/>
                  </a:ext>
                </a:extLst>
              </a:tr>
              <a:tr h="1562466">
                <a:tc gridSpan="2">
                  <a:txBody>
                    <a:bodyPr/>
                    <a:lstStyle/>
                    <a:p>
                      <a:pPr marL="0" marR="0">
                        <a:lnSpc>
                          <a:spcPct val="115000"/>
                        </a:lnSpc>
                        <a:spcBef>
                          <a:spcPts val="0"/>
                        </a:spcBef>
                        <a:spcAft>
                          <a:spcPts val="1000"/>
                        </a:spcAft>
                      </a:pPr>
                      <a:r>
                        <a:rPr lang="en-US" sz="1100" b="1" dirty="0">
                          <a:solidFill>
                            <a:schemeClr val="tx1"/>
                          </a:solidFill>
                          <a:effectLst/>
                        </a:rPr>
                        <a:t>Business Outcome Hypothesis:</a:t>
                      </a:r>
                    </a:p>
                    <a:p>
                      <a:pPr marL="0" marR="0">
                        <a:lnSpc>
                          <a:spcPct val="115000"/>
                        </a:lnSpc>
                        <a:spcBef>
                          <a:spcPts val="0"/>
                        </a:spcBef>
                        <a:spcAft>
                          <a:spcPts val="1000"/>
                        </a:spcAft>
                      </a:pPr>
                      <a:r>
                        <a:rPr lang="en-US" sz="1100" b="1" dirty="0">
                          <a:solidFill>
                            <a:schemeClr val="tx1"/>
                          </a:solidFill>
                          <a:effectLst/>
                        </a:rPr>
                        <a:t>Subscribers and Patrons: </a:t>
                      </a:r>
                      <a:r>
                        <a:rPr lang="en-US" sz="1100" dirty="0">
                          <a:solidFill>
                            <a:schemeClr val="tx1"/>
                          </a:solidFill>
                          <a:effectLst/>
                        </a:rPr>
                        <a:t>improve their professional network, skills / capabilities, brand, and opportunities as measured via survey</a:t>
                      </a:r>
                      <a:br>
                        <a:rPr lang="en-US" sz="1100" dirty="0">
                          <a:solidFill>
                            <a:schemeClr val="tx1"/>
                          </a:solidFill>
                          <a:effectLst/>
                        </a:rPr>
                      </a:br>
                      <a:r>
                        <a:rPr lang="en-US" sz="1100" b="1" dirty="0">
                          <a:solidFill>
                            <a:schemeClr val="tx1"/>
                          </a:solidFill>
                          <a:effectLst/>
                        </a:rPr>
                        <a:t>The Tech Services industry: </a:t>
                      </a:r>
                      <a:r>
                        <a:rPr lang="en-US" sz="1100" dirty="0">
                          <a:solidFill>
                            <a:schemeClr val="tx1"/>
                          </a:solidFill>
                          <a:effectLst/>
                        </a:rPr>
                        <a:t>cross-company learning among leaders with scarce talents as measured via survey of subscribers</a:t>
                      </a:r>
                      <a:br>
                        <a:rPr lang="en-US" sz="1100" dirty="0">
                          <a:solidFill>
                            <a:schemeClr val="tx1"/>
                          </a:solidFill>
                          <a:effectLst/>
                        </a:rPr>
                      </a:br>
                      <a:r>
                        <a:rPr lang="en-US" sz="1100" b="1" dirty="0">
                          <a:solidFill>
                            <a:schemeClr val="tx1"/>
                          </a:solidFill>
                          <a:effectLst/>
                        </a:rPr>
                        <a:t>AccelRR8 Consortium: </a:t>
                      </a:r>
                      <a:r>
                        <a:rPr lang="en-US" sz="1100" dirty="0">
                          <a:solidFill>
                            <a:schemeClr val="tx1"/>
                          </a:solidFill>
                          <a:effectLst/>
                        </a:rPr>
                        <a:t>exponential benefits via Market Network Effects (per </a:t>
                      </a:r>
                      <a:r>
                        <a:rPr lang="en-US" sz="1100" dirty="0" err="1">
                          <a:solidFill>
                            <a:schemeClr val="tx1"/>
                          </a:solidFill>
                          <a:effectLst/>
                        </a:rPr>
                        <a:t>nfx.com</a:t>
                      </a:r>
                      <a:r>
                        <a:rPr lang="en-US" sz="1100" dirty="0">
                          <a:solidFill>
                            <a:schemeClr val="tx1"/>
                          </a:solidFill>
                          <a:effectLst/>
                        </a:rPr>
                        <a:t>) as measured via survey of subscribers</a:t>
                      </a:r>
                    </a:p>
                  </a:txBody>
                  <a:tcPr marL="40793" marR="40793" marT="0" marB="0"/>
                </a:tc>
                <a:tc hMerge="1">
                  <a:txBody>
                    <a:bodyPr/>
                    <a:lstStyle/>
                    <a:p>
                      <a:endParaRPr lang="en-US"/>
                    </a:p>
                  </a:txBody>
                  <a:tcPr/>
                </a:tc>
                <a:tc gridSpan="2">
                  <a:txBody>
                    <a:bodyPr/>
                    <a:lstStyle/>
                    <a:p>
                      <a:pPr marL="0" marR="0">
                        <a:lnSpc>
                          <a:spcPct val="115000"/>
                        </a:lnSpc>
                        <a:spcBef>
                          <a:spcPts val="0"/>
                        </a:spcBef>
                        <a:spcAft>
                          <a:spcPts val="1000"/>
                        </a:spcAft>
                      </a:pPr>
                      <a:r>
                        <a:rPr lang="en-US" sz="1100" b="1" dirty="0">
                          <a:solidFill>
                            <a:schemeClr val="tx1"/>
                          </a:solidFill>
                          <a:effectLst/>
                        </a:rPr>
                        <a:t>Leading Indicators:</a:t>
                      </a:r>
                    </a:p>
                    <a:p>
                      <a:pPr marL="0" marR="0">
                        <a:lnSpc>
                          <a:spcPct val="115000"/>
                        </a:lnSpc>
                        <a:spcBef>
                          <a:spcPts val="0"/>
                        </a:spcBef>
                        <a:spcAft>
                          <a:spcPts val="1000"/>
                        </a:spcAft>
                      </a:pPr>
                      <a:r>
                        <a:rPr lang="en-US" sz="1100" dirty="0">
                          <a:solidFill>
                            <a:schemeClr val="tx1"/>
                          </a:solidFill>
                          <a:effectLst/>
                        </a:rPr>
                        <a:t>1000 subscribers </a:t>
                      </a:r>
                      <a:br>
                        <a:rPr lang="en-US" sz="1100" dirty="0">
                          <a:solidFill>
                            <a:schemeClr val="tx1"/>
                          </a:solidFill>
                          <a:effectLst/>
                        </a:rPr>
                      </a:br>
                      <a:r>
                        <a:rPr lang="en-US" sz="1100" dirty="0">
                          <a:solidFill>
                            <a:schemeClr val="tx1"/>
                          </a:solidFill>
                          <a:effectLst/>
                        </a:rPr>
                        <a:t>- are participating in the AccelRR8 Consortium professional network, </a:t>
                      </a:r>
                      <a:br>
                        <a:rPr lang="en-US" sz="1100" dirty="0">
                          <a:solidFill>
                            <a:schemeClr val="tx1"/>
                          </a:solidFill>
                          <a:effectLst/>
                        </a:rPr>
                      </a:br>
                      <a:r>
                        <a:rPr lang="en-US" sz="1100" dirty="0">
                          <a:solidFill>
                            <a:schemeClr val="tx1"/>
                          </a:solidFill>
                          <a:effectLst/>
                        </a:rPr>
                        <a:t>- have followed the AccelRR8 Consortium organization in LinkedIn, and </a:t>
                      </a:r>
                      <a:br>
                        <a:rPr lang="en-US" sz="1100" dirty="0">
                          <a:solidFill>
                            <a:schemeClr val="tx1"/>
                          </a:solidFill>
                          <a:effectLst/>
                        </a:rPr>
                      </a:br>
                      <a:r>
                        <a:rPr lang="en-US" sz="1100" dirty="0">
                          <a:solidFill>
                            <a:schemeClr val="tx1"/>
                          </a:solidFill>
                          <a:effectLst/>
                        </a:rPr>
                        <a:t>- are Net Promoters as measured via survey of subscribers.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hMerge="1">
                  <a:txBody>
                    <a:bodyPr/>
                    <a:lstStyle/>
                    <a:p>
                      <a:endParaRPr lang="en-US"/>
                    </a:p>
                  </a:txBody>
                  <a:tcPr/>
                </a:tc>
                <a:extLst>
                  <a:ext uri="{0D108BD9-81ED-4DB2-BD59-A6C34878D82A}">
                    <a16:rowId xmlns:a16="http://schemas.microsoft.com/office/drawing/2014/main" val="2522614672"/>
                  </a:ext>
                </a:extLst>
              </a:tr>
            </a:tbl>
          </a:graphicData>
        </a:graphic>
      </p:graphicFrame>
      <p:sp>
        <p:nvSpPr>
          <p:cNvPr id="3" name="Rectangle 2">
            <a:extLst>
              <a:ext uri="{FF2B5EF4-FFF2-40B4-BE49-F238E27FC236}">
                <a16:creationId xmlns:a16="http://schemas.microsoft.com/office/drawing/2014/main" id="{CFC16F5D-3110-F78F-4BCE-2771F94F23F4}"/>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DFB45135-FB35-B334-1389-8F4FC41447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CF952194-1B19-D864-7329-44E737966261}"/>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C3986F6-425A-0514-DE8E-DE31978EAAD1}"/>
              </a:ext>
            </a:extLst>
          </p:cNvPr>
          <p:cNvSpPr txBox="1">
            <a:spLocks noGrp="1"/>
          </p:cNvSpPr>
          <p:nvPr>
            <p:ph type="ftr" idx="11"/>
          </p:nvPr>
        </p:nvSpPr>
        <p:spPr>
          <a:xfrm>
            <a:off x="4038600" y="654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43007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(2/5)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1400341906"/>
              </p:ext>
            </p:extLst>
          </p:nvPr>
        </p:nvGraphicFramePr>
        <p:xfrm>
          <a:off x="389965" y="1591460"/>
          <a:ext cx="11510682" cy="4764890"/>
        </p:xfrm>
        <a:graphic>
          <a:graphicData uri="http://schemas.openxmlformats.org/drawingml/2006/table">
            <a:tbl>
              <a:tblPr firstRow="1" firstCol="1" bandRow="1" bandCol="1">
                <a:tableStyleId>{5940675A-B579-460E-94D1-54222C63F5DA}</a:tableStyleId>
              </a:tblPr>
              <a:tblGrid>
                <a:gridCol w="1680882">
                  <a:extLst>
                    <a:ext uri="{9D8B030D-6E8A-4147-A177-3AD203B41FA5}">
                      <a16:colId xmlns:a16="http://schemas.microsoft.com/office/drawing/2014/main" val="335540143"/>
                    </a:ext>
                  </a:extLst>
                </a:gridCol>
                <a:gridCol w="2541494">
                  <a:extLst>
                    <a:ext uri="{9D8B030D-6E8A-4147-A177-3AD203B41FA5}">
                      <a16:colId xmlns:a16="http://schemas.microsoft.com/office/drawing/2014/main" val="298461284"/>
                    </a:ext>
                  </a:extLst>
                </a:gridCol>
                <a:gridCol w="1048871">
                  <a:extLst>
                    <a:ext uri="{9D8B030D-6E8A-4147-A177-3AD203B41FA5}">
                      <a16:colId xmlns:a16="http://schemas.microsoft.com/office/drawing/2014/main" val="3497628273"/>
                    </a:ext>
                  </a:extLst>
                </a:gridCol>
                <a:gridCol w="6239435">
                  <a:extLst>
                    <a:ext uri="{9D8B030D-6E8A-4147-A177-3AD203B41FA5}">
                      <a16:colId xmlns:a16="http://schemas.microsoft.com/office/drawing/2014/main" val="355084519"/>
                    </a:ext>
                  </a:extLst>
                </a:gridCol>
              </a:tblGrid>
              <a:tr h="1968175">
                <a:tc>
                  <a:txBody>
                    <a:bodyPr/>
                    <a:lstStyle/>
                    <a:p>
                      <a:pPr marL="0" marR="0">
                        <a:lnSpc>
                          <a:spcPct val="115000"/>
                        </a:lnSpc>
                        <a:spcBef>
                          <a:spcPts val="0"/>
                        </a:spcBef>
                        <a:spcAft>
                          <a:spcPts val="1000"/>
                        </a:spcAft>
                      </a:pPr>
                      <a:r>
                        <a:rPr lang="en-US" sz="1100" b="1" dirty="0">
                          <a:solidFill>
                            <a:schemeClr val="tx1"/>
                          </a:solidFill>
                          <a:effectLst/>
                        </a:rPr>
                        <a:t>In Scope:</a:t>
                      </a:r>
                    </a:p>
                    <a:p>
                      <a:pPr marL="119063" lvl="2" indent="-119063">
                        <a:buFont typeface="Arial" panose="020B0604020202020204" pitchFamily="34" charset="0"/>
                        <a:buChar char="•"/>
                        <a:tabLst/>
                      </a:pPr>
                      <a:r>
                        <a:rPr lang="en-US" sz="1100" b="0" i="0" u="none" strike="noStrike" cap="none" dirty="0">
                          <a:solidFill>
                            <a:schemeClr val="tx1"/>
                          </a:solidFill>
                          <a:effectLst/>
                          <a:latin typeface="+mn-lt"/>
                          <a:ea typeface="+mn-ea"/>
                          <a:cs typeface="+mn-cs"/>
                          <a:sym typeface="Arial"/>
                        </a:rPr>
                        <a:t>Patron organizations and individuals can join the AccelRR8 Consortium network as advocates (free advertising, e.g., Bronze Tier)</a:t>
                      </a:r>
                      <a:endParaRPr lang="en-US" sz="1100" dirty="0">
                        <a:solidFill>
                          <a:schemeClr val="tx1"/>
                        </a:solidFill>
                        <a:effectLst/>
                      </a:endParaRP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Out of Scope: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Patron organizations and individuals can pay an annual fee and become higher-level patrons (e.g., Diamond, Platinum, Gold, Silver) to co-develop exponential solutions for priority industry challenges</a:t>
                      </a:r>
                    </a:p>
                  </a:txBody>
                  <a:tcPr marL="40793" marR="40793" marT="0" marB="0"/>
                </a:tc>
                <a:tc gridSpan="2">
                  <a:txBody>
                    <a:bodyPr/>
                    <a:lstStyle/>
                    <a:p>
                      <a:pPr marL="0" marR="0">
                        <a:lnSpc>
                          <a:spcPct val="115000"/>
                        </a:lnSpc>
                        <a:spcBef>
                          <a:spcPts val="0"/>
                        </a:spcBef>
                        <a:spcAft>
                          <a:spcPts val="1000"/>
                        </a:spcAft>
                      </a:pPr>
                      <a:r>
                        <a:rPr lang="en-US" sz="1100" b="1" dirty="0">
                          <a:solidFill>
                            <a:schemeClr val="tx1"/>
                          </a:solidFill>
                          <a:effectLst/>
                        </a:rPr>
                        <a:t>Nonfunctional Requirements:</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Desirability:  </a:t>
                      </a:r>
                      <a:r>
                        <a:rPr lang="en-US" sz="1100" b="0" i="0" u="none" strike="noStrike" cap="none" dirty="0">
                          <a:solidFill>
                            <a:schemeClr val="tx1"/>
                          </a:solidFill>
                          <a:effectLst/>
                          <a:latin typeface="+mn-lt"/>
                          <a:ea typeface="+mn-ea"/>
                          <a:cs typeface="+mn-cs"/>
                          <a:sym typeface="Arial"/>
                        </a:rPr>
                        <a:t>all want exponential success, few know how to generate it, and stakeholders like our values and culture</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Viability:  </a:t>
                      </a:r>
                      <a:r>
                        <a:rPr lang="en-US" sz="1100" b="0" i="0" u="none" strike="noStrike" cap="none" dirty="0">
                          <a:solidFill>
                            <a:schemeClr val="tx1"/>
                          </a:solidFill>
                          <a:effectLst/>
                          <a:latin typeface="+mn-lt"/>
                          <a:ea typeface="+mn-ea"/>
                          <a:cs typeface="+mn-cs"/>
                          <a:sym typeface="Arial"/>
                        </a:rPr>
                        <a:t>the Consortium has the required capabilities and isn’t trying to boil the ocean</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Sustainability:  </a:t>
                      </a:r>
                      <a:r>
                        <a:rPr lang="en-US" sz="1100" b="0" i="0" u="none" strike="noStrike" cap="none" dirty="0">
                          <a:solidFill>
                            <a:schemeClr val="tx1"/>
                          </a:solidFill>
                          <a:effectLst/>
                          <a:latin typeface="+mn-lt"/>
                          <a:ea typeface="+mn-ea"/>
                          <a:cs typeface="+mn-cs"/>
                          <a:sym typeface="Arial"/>
                        </a:rPr>
                        <a:t>the core premise (proven accelerators mathematically capable of exponential results) is enduring</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Performance:  </a:t>
                      </a:r>
                      <a:r>
                        <a:rPr lang="en-US" sz="1100" b="0" i="0" u="none" strike="noStrike" cap="none" dirty="0">
                          <a:solidFill>
                            <a:schemeClr val="tx1"/>
                          </a:solidFill>
                          <a:effectLst/>
                          <a:latin typeface="+mn-lt"/>
                          <a:ea typeface="+mn-ea"/>
                          <a:cs typeface="+mn-cs"/>
                          <a:sym typeface="Arial"/>
                        </a:rPr>
                        <a:t>the Service’s own success will be a key proof of our core premise, creating a virtuous cycle</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Usability:  </a:t>
                      </a:r>
                      <a:r>
                        <a:rPr lang="en-US" sz="1100" dirty="0"/>
                        <a:t>participating in Industry Innovation as a subscriber and/or patron must be incredibly easy</a:t>
                      </a:r>
                      <a:r>
                        <a:rPr lang="en-US" sz="1100" dirty="0">
                          <a:solidFill>
                            <a:schemeClr val="tx1"/>
                          </a:solidFill>
                          <a:effectLst/>
                        </a:rPr>
                        <a:t> </a:t>
                      </a:r>
                      <a:endParaRPr lang="en-US" dirty="0"/>
                    </a:p>
                  </a:txBody>
                  <a:tcPr marL="40793" marR="40793" marT="0" marB="0"/>
                </a:tc>
                <a:tc hMerge="1">
                  <a:txBody>
                    <a:bodyPr/>
                    <a:lstStyle/>
                    <a:p>
                      <a:pPr marL="123825" marR="0" lvl="0" indent="-123825" algn="l" rtl="0">
                        <a:lnSpc>
                          <a:spcPct val="115000"/>
                        </a:lnSpc>
                        <a:spcBef>
                          <a:spcPts val="0"/>
                        </a:spcBef>
                        <a:spcAft>
                          <a:spcPts val="0"/>
                        </a:spcAft>
                        <a:buClr>
                          <a:srgbClr val="000000"/>
                        </a:buClr>
                        <a:buFont typeface="Symbol" pitchFamily="2" charset="2"/>
                        <a:buChar char=""/>
                        <a:tabLst/>
                      </a:pPr>
                      <a:endParaRPr lang="en-US" dirty="0"/>
                    </a:p>
                  </a:txBody>
                  <a:tcPr marL="40793" marR="40793" marT="0" marB="0"/>
                </a:tc>
                <a:extLst>
                  <a:ext uri="{0D108BD9-81ED-4DB2-BD59-A6C34878D82A}">
                    <a16:rowId xmlns:a16="http://schemas.microsoft.com/office/drawing/2014/main" val="1803020786"/>
                  </a:ext>
                </a:extLst>
              </a:tr>
              <a:tr h="1452061">
                <a:tc gridSpan="3">
                  <a:txBody>
                    <a:bodyPr/>
                    <a:lstStyle/>
                    <a:p>
                      <a:pPr marL="0" marR="0">
                        <a:lnSpc>
                          <a:spcPct val="115000"/>
                        </a:lnSpc>
                        <a:spcBef>
                          <a:spcPts val="0"/>
                        </a:spcBef>
                        <a:spcAft>
                          <a:spcPts val="1000"/>
                        </a:spcAft>
                      </a:pPr>
                      <a:r>
                        <a:rPr lang="en-US" sz="1100" b="1" dirty="0">
                          <a:solidFill>
                            <a:schemeClr val="tx1"/>
                          </a:solidFill>
                          <a:effectLst/>
                        </a:rPr>
                        <a:t>Minimum Viable Product (MVP)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Patron organizations and individuals simply click to identify as an advocate for an innovation team in the AccelRR8 Consortium’s free electronic platform</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Subscribers simply click to join sponsored innovation teams </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hMerge="1">
                  <a:txBody>
                    <a:bodyPr/>
                    <a:lstStyle/>
                    <a:p>
                      <a:endParaRPr lang="en-US"/>
                    </a:p>
                  </a:txBody>
                  <a:tcPr/>
                </a:tc>
                <a:tc hMerge="1">
                  <a:txBody>
                    <a:bodyPr/>
                    <a:lstStyle/>
                    <a:p>
                      <a:pPr marL="123825" marR="0" lvl="0" indent="-123825">
                        <a:lnSpc>
                          <a:spcPct val="115000"/>
                        </a:lnSpc>
                        <a:spcBef>
                          <a:spcPts val="0"/>
                        </a:spcBef>
                        <a:spcAft>
                          <a:spcPts val="0"/>
                        </a:spcAft>
                        <a:buFont typeface="Symbol" pitchFamily="2" charset="2"/>
                        <a:buChar char=""/>
                        <a:tabLst/>
                      </a:pP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Additional Potential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Free platform that facilitates collaboration among innovation team members (e.g., Discord)</a:t>
                      </a:r>
                    </a:p>
                    <a:p>
                      <a:pPr marL="0" marR="0">
                        <a:lnSpc>
                          <a:spcPct val="115000"/>
                        </a:lnSpc>
                        <a:spcBef>
                          <a:spcPts val="0"/>
                        </a:spcBef>
                        <a:spcAft>
                          <a:spcPts val="1000"/>
                        </a:spcAft>
                      </a:pPr>
                      <a:r>
                        <a:rPr lang="en-US" sz="1100" dirty="0">
                          <a:solidFill>
                            <a:schemeClr val="tx1"/>
                          </a:solidFill>
                          <a:effectLst/>
                        </a:rPr>
                        <a:t> </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2776873087"/>
                  </a:ext>
                </a:extLst>
              </a:tr>
              <a:tr h="1344654">
                <a:tc gridSpan="3">
                  <a:txBody>
                    <a:bodyPr/>
                    <a:lstStyle/>
                    <a:p>
                      <a:pPr marL="0" marR="0">
                        <a:lnSpc>
                          <a:spcPct val="115000"/>
                        </a:lnSpc>
                        <a:spcBef>
                          <a:spcPts val="0"/>
                        </a:spcBef>
                        <a:spcAft>
                          <a:spcPts val="1000"/>
                        </a:spcAft>
                      </a:pPr>
                      <a:r>
                        <a:rPr lang="en-US" sz="1100" b="1" dirty="0">
                          <a:solidFill>
                            <a:schemeClr val="tx1"/>
                          </a:solidFill>
                          <a:effectLst/>
                        </a:rPr>
                        <a:t>Analysis Summary: </a:t>
                      </a:r>
                    </a:p>
                    <a:p>
                      <a:pPr marL="114300" marR="0" indent="-114300">
                        <a:lnSpc>
                          <a:spcPct val="115000"/>
                        </a:lnSpc>
                        <a:spcBef>
                          <a:spcPts val="0"/>
                        </a:spcBef>
                        <a:spcAft>
                          <a:spcPts val="0"/>
                        </a:spcAft>
                        <a:buFont typeface="Arial" panose="020B0604020202020204" pitchFamily="34" charset="0"/>
                        <a:buChar char="•"/>
                        <a:tabLst/>
                      </a:pPr>
                      <a:r>
                        <a:rPr lang="en-US" sz="1100" dirty="0">
                          <a:solidFill>
                            <a:schemeClr val="tx1"/>
                          </a:solidFill>
                          <a:effectLst/>
                        </a:rPr>
                        <a:t>MVP desirability, viability, feasibility, and sustainability were verified by the Board of Directors as well as a subset of Advisors and Initial Subscribers.</a:t>
                      </a:r>
                      <a:endParaRPr lang="en-US" sz="1100" b="0"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Go / No-Go:</a:t>
                      </a:r>
                    </a:p>
                    <a:p>
                      <a:pPr marL="0" marR="0">
                        <a:lnSpc>
                          <a:spcPct val="115000"/>
                        </a:lnSpc>
                        <a:spcBef>
                          <a:spcPts val="0"/>
                        </a:spcBef>
                        <a:spcAft>
                          <a:spcPts val="1000"/>
                        </a:spcAft>
                      </a:pPr>
                      <a:r>
                        <a:rPr lang="en-US" sz="1100" dirty="0">
                          <a:solidFill>
                            <a:schemeClr val="tx1"/>
                          </a:solidFill>
                          <a:effectLst/>
                        </a:rPr>
                        <a:t>Go!</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121679053"/>
                  </a:ext>
                </a:extLst>
              </a:tr>
            </a:tbl>
          </a:graphicData>
        </a:graphic>
      </p:graphicFrame>
      <p:sp>
        <p:nvSpPr>
          <p:cNvPr id="3" name="Rectangle 2">
            <a:extLst>
              <a:ext uri="{FF2B5EF4-FFF2-40B4-BE49-F238E27FC236}">
                <a16:creationId xmlns:a16="http://schemas.microsoft.com/office/drawing/2014/main" id="{BE23F6AA-4D57-B5E8-FD4A-210108E1ABA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84E8032F-651C-8A52-1D58-700E366B6B5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2675ACFC-BED3-CE2E-BF13-5AF5D03D4A7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7" name="Google Shape;18;p9">
            <a:extLst>
              <a:ext uri="{FF2B5EF4-FFF2-40B4-BE49-F238E27FC236}">
                <a16:creationId xmlns:a16="http://schemas.microsoft.com/office/drawing/2014/main" id="{31CA48FC-F211-DAFD-902B-5D682C6B56DD}"/>
              </a:ext>
            </a:extLst>
          </p:cNvPr>
          <p:cNvSpPr txBox="1">
            <a:spLocks noGrp="1"/>
          </p:cNvSpPr>
          <p:nvPr>
            <p:ph type="ftr" idx="11"/>
          </p:nvPr>
        </p:nvSpPr>
        <p:spPr>
          <a:xfrm>
            <a:off x="4038600" y="6540375"/>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50257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(3/5)</a:t>
            </a:r>
            <a:endParaRPr dirty="0"/>
          </a:p>
        </p:txBody>
      </p:sp>
      <p:graphicFrame>
        <p:nvGraphicFramePr>
          <p:cNvPr id="3" name="Table 2">
            <a:extLst>
              <a:ext uri="{FF2B5EF4-FFF2-40B4-BE49-F238E27FC236}">
                <a16:creationId xmlns:a16="http://schemas.microsoft.com/office/drawing/2014/main" id="{14B79CD4-17D9-A460-45EE-070B6CD3DAFF}"/>
              </a:ext>
            </a:extLst>
          </p:cNvPr>
          <p:cNvGraphicFramePr>
            <a:graphicFrameLocks noGrp="1"/>
          </p:cNvGraphicFramePr>
          <p:nvPr>
            <p:extLst>
              <p:ext uri="{D42A27DB-BD31-4B8C-83A1-F6EECF244321}">
                <p14:modId xmlns:p14="http://schemas.microsoft.com/office/powerpoint/2010/main" val="470827735"/>
              </p:ext>
            </p:extLst>
          </p:nvPr>
        </p:nvGraphicFramePr>
        <p:xfrm>
          <a:off x="939452" y="1383519"/>
          <a:ext cx="10396603" cy="5043512"/>
        </p:xfrm>
        <a:graphic>
          <a:graphicData uri="http://schemas.openxmlformats.org/drawingml/2006/table">
            <a:tbl>
              <a:tblPr firstRow="1" firstCol="1" bandRow="1" bandCol="1">
                <a:tableStyleId>{5940675A-B579-460E-94D1-54222C63F5DA}</a:tableStyleId>
              </a:tblPr>
              <a:tblGrid>
                <a:gridCol w="5019664">
                  <a:extLst>
                    <a:ext uri="{9D8B030D-6E8A-4147-A177-3AD203B41FA5}">
                      <a16:colId xmlns:a16="http://schemas.microsoft.com/office/drawing/2014/main" val="2059904068"/>
                    </a:ext>
                  </a:extLst>
                </a:gridCol>
                <a:gridCol w="5376939">
                  <a:extLst>
                    <a:ext uri="{9D8B030D-6E8A-4147-A177-3AD203B41FA5}">
                      <a16:colId xmlns:a16="http://schemas.microsoft.com/office/drawing/2014/main" val="2673396883"/>
                    </a:ext>
                  </a:extLst>
                </a:gridCol>
              </a:tblGrid>
              <a:tr h="157843">
                <a:tc gridSpan="2">
                  <a:txBody>
                    <a:bodyPr/>
                    <a:lstStyle/>
                    <a:p>
                      <a:pPr marL="0" marR="0" algn="ctr">
                        <a:lnSpc>
                          <a:spcPct val="115000"/>
                        </a:lnSpc>
                        <a:spcBef>
                          <a:spcPts val="0"/>
                        </a:spcBef>
                        <a:spcAft>
                          <a:spcPts val="0"/>
                        </a:spcAft>
                      </a:pPr>
                      <a:r>
                        <a:rPr lang="en-US" sz="1100" b="1" dirty="0">
                          <a:solidFill>
                            <a:schemeClr val="tx1"/>
                          </a:solidFill>
                          <a:effectLst/>
                        </a:rPr>
                        <a:t>Solution Analysis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168575272"/>
                  </a:ext>
                </a:extLst>
              </a:tr>
              <a:tr h="997432">
                <a:tc gridSpan="2">
                  <a:txBody>
                    <a:bodyPr/>
                    <a:lstStyle/>
                    <a:p>
                      <a:pPr marL="0" marR="0">
                        <a:lnSpc>
                          <a:spcPct val="115000"/>
                        </a:lnSpc>
                        <a:spcBef>
                          <a:spcPts val="0"/>
                        </a:spcBef>
                        <a:spcAft>
                          <a:spcPts val="1000"/>
                        </a:spcAft>
                      </a:pPr>
                      <a:r>
                        <a:rPr lang="en-US" sz="1100" b="1" dirty="0">
                          <a:solidFill>
                            <a:schemeClr val="tx1"/>
                          </a:solidFill>
                          <a:effectLst/>
                        </a:rPr>
                        <a:t>Which Internal and/or external customers are affected, and how?</a:t>
                      </a:r>
                    </a:p>
                    <a:p>
                      <a:pPr marL="0" marR="0">
                        <a:lnSpc>
                          <a:spcPct val="115000"/>
                        </a:lnSpc>
                        <a:spcBef>
                          <a:spcPts val="0"/>
                        </a:spcBef>
                        <a:spcAft>
                          <a:spcPts val="1000"/>
                        </a:spcAft>
                      </a:pPr>
                      <a:r>
                        <a:rPr lang="en-US" sz="1100" dirty="0">
                          <a:solidFill>
                            <a:schemeClr val="tx1"/>
                          </a:solidFill>
                          <a:effectLst/>
                        </a:rPr>
                        <a:t>Our MVP is focused on proving our core premise to establish credibility with our addressable market, which includes leaders and organizations across the Tech Services industry.  We will do this by implementing proven accelerators to create </a:t>
                      </a:r>
                      <a:r>
                        <a:rPr lang="en-US" sz="1100" b="1" dirty="0">
                          <a:solidFill>
                            <a:srgbClr val="00B050"/>
                          </a:solidFill>
                          <a:effectLst/>
                        </a:rPr>
                        <a:t>Compounding Innovation</a:t>
                      </a:r>
                      <a:r>
                        <a:rPr lang="en-US" sz="1100" dirty="0">
                          <a:solidFill>
                            <a:schemeClr val="tx1"/>
                          </a:solidFill>
                          <a:effectLst/>
                        </a:rPr>
                        <a:t> among patron-supported Innovation Teams while harnessing </a:t>
                      </a:r>
                      <a:r>
                        <a:rPr lang="en-US" sz="1100" b="1" dirty="0">
                          <a:solidFill>
                            <a:srgbClr val="00B050"/>
                          </a:solidFill>
                          <a:effectLst/>
                        </a:rPr>
                        <a:t>Generative Learning</a:t>
                      </a:r>
                      <a:r>
                        <a:rPr lang="en-US" sz="1100" dirty="0">
                          <a:solidFill>
                            <a:schemeClr val="tx1"/>
                          </a:solidFill>
                          <a:effectLst/>
                        </a:rPr>
                        <a:t> and </a:t>
                      </a:r>
                      <a:r>
                        <a:rPr lang="en-US" sz="1100" b="1" dirty="0">
                          <a:solidFill>
                            <a:schemeClr val="accent2"/>
                          </a:solidFill>
                          <a:effectLst/>
                        </a:rPr>
                        <a:t>Artificial Intelligence</a:t>
                      </a:r>
                      <a:r>
                        <a:rPr lang="en-US" sz="1100" dirty="0">
                          <a:solidFill>
                            <a:schemeClr val="tx1"/>
                          </a:solidFill>
                          <a:effectLst/>
                        </a:rPr>
                        <a:t>.</a:t>
                      </a:r>
                    </a:p>
                  </a:txBody>
                  <a:tcPr marL="51885" marR="51885" marT="0" marB="0"/>
                </a:tc>
                <a:tc hMerge="1">
                  <a:txBody>
                    <a:bodyPr/>
                    <a:lstStyle/>
                    <a:p>
                      <a:endParaRPr lang="en-US"/>
                    </a:p>
                  </a:txBody>
                  <a:tcPr/>
                </a:tc>
                <a:extLst>
                  <a:ext uri="{0D108BD9-81ED-4DB2-BD59-A6C34878D82A}">
                    <a16:rowId xmlns:a16="http://schemas.microsoft.com/office/drawing/2014/main" val="1776855705"/>
                  </a:ext>
                </a:extLst>
              </a:tr>
              <a:tr h="854198">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solutions, programs and services?</a:t>
                      </a:r>
                    </a:p>
                    <a:p>
                      <a:pPr marL="0" marR="0">
                        <a:lnSpc>
                          <a:spcPct val="115000"/>
                        </a:lnSpc>
                        <a:spcBef>
                          <a:spcPts val="0"/>
                        </a:spcBef>
                        <a:spcAft>
                          <a:spcPts val="1000"/>
                        </a:spcAft>
                      </a:pPr>
                      <a:r>
                        <a:rPr lang="en-US" sz="1100" dirty="0">
                          <a:solidFill>
                            <a:schemeClr val="tx1"/>
                          </a:solidFill>
                          <a:effectLst/>
                        </a:rPr>
                        <a:t>As we gain credibility, we will create a virtuous cycle of exponential growth and impact, crossing the chasm from Early Adopters into Mainstream Adoption by leaders and organizations across the Tech Services industry, materially improving the Tech Services industry and helping humanity.</a:t>
                      </a:r>
                    </a:p>
                  </a:txBody>
                  <a:tcPr marL="51885" marR="51885" marT="0" marB="0"/>
                </a:tc>
                <a:tc hMerge="1">
                  <a:txBody>
                    <a:bodyPr/>
                    <a:lstStyle/>
                    <a:p>
                      <a:endParaRPr lang="en-US"/>
                    </a:p>
                  </a:txBody>
                  <a:tcPr/>
                </a:tc>
                <a:extLst>
                  <a:ext uri="{0D108BD9-81ED-4DB2-BD59-A6C34878D82A}">
                    <a16:rowId xmlns:a16="http://schemas.microsoft.com/office/drawing/2014/main" val="3118231079"/>
                  </a:ext>
                </a:extLst>
              </a:tr>
              <a:tr h="1028660">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sales, distribution, deployment and support? </a:t>
                      </a:r>
                    </a:p>
                    <a:p>
                      <a:pPr marL="0" marR="0">
                        <a:lnSpc>
                          <a:spcPct val="115000"/>
                        </a:lnSpc>
                        <a:spcBef>
                          <a:spcPts val="0"/>
                        </a:spcBef>
                        <a:spcAft>
                          <a:spcPts val="1000"/>
                        </a:spcAft>
                      </a:pPr>
                      <a:r>
                        <a:rPr lang="en-US" sz="1100" dirty="0">
                          <a:solidFill>
                            <a:schemeClr val="tx1"/>
                          </a:solidFill>
                          <a:effectLst/>
                        </a:rPr>
                        <a:t>Demand Generation, Beneficiaries Engagement, and Delivery of Service for our MVP should be focused on getting leaders in recognizable organizations to become patrons and support industry innovation teams.  As our Service mature beyond MVP, and we find new revenue sources, we will be able to invest in more sophisticated Demand Generation, Beneficiary Engagement, and Delivery of Service activities to further accelerate growth and impact.</a:t>
                      </a:r>
                    </a:p>
                  </a:txBody>
                  <a:tcPr marL="51885" marR="51885" marT="0" marB="0"/>
                </a:tc>
                <a:tc hMerge="1">
                  <a:txBody>
                    <a:bodyPr/>
                    <a:lstStyle/>
                    <a:p>
                      <a:endParaRPr lang="en-US"/>
                    </a:p>
                  </a:txBody>
                  <a:tcPr/>
                </a:tc>
                <a:extLst>
                  <a:ext uri="{0D108BD9-81ED-4DB2-BD59-A6C34878D82A}">
                    <a16:rowId xmlns:a16="http://schemas.microsoft.com/office/drawing/2014/main" val="2482228238"/>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Costs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3811219619"/>
                  </a:ext>
                </a:extLst>
              </a:tr>
              <a:tr h="933035">
                <a:tc>
                  <a:txBody>
                    <a:bodyPr/>
                    <a:lstStyle/>
                    <a:p>
                      <a:pPr marL="0" marR="0">
                        <a:lnSpc>
                          <a:spcPct val="115000"/>
                        </a:lnSpc>
                        <a:spcBef>
                          <a:spcPts val="0"/>
                        </a:spcBef>
                        <a:spcAft>
                          <a:spcPts val="1000"/>
                        </a:spcAft>
                      </a:pPr>
                      <a:r>
                        <a:rPr lang="en-US" sz="1100" b="1" dirty="0">
                          <a:solidFill>
                            <a:schemeClr val="tx1"/>
                          </a:solidFill>
                          <a:effectLst/>
                        </a:rPr>
                        <a:t>MVP Cost:</a:t>
                      </a:r>
                    </a:p>
                    <a:p>
                      <a:pPr marL="0" marR="0">
                        <a:lnSpc>
                          <a:spcPct val="115000"/>
                        </a:lnSpc>
                        <a:spcBef>
                          <a:spcPts val="0"/>
                        </a:spcBef>
                        <a:spcAft>
                          <a:spcPts val="1000"/>
                        </a:spcAft>
                      </a:pPr>
                      <a:r>
                        <a:rPr lang="en-US" sz="1100" dirty="0">
                          <a:solidFill>
                            <a:schemeClr val="tx1"/>
                          </a:solidFill>
                          <a:effectLst/>
                        </a:rPr>
                        <a:t>Estimate: $10K.</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a:txBody>
                    <a:bodyPr/>
                    <a:lstStyle/>
                    <a:p>
                      <a:pPr marL="0" marR="0">
                        <a:lnSpc>
                          <a:spcPct val="115000"/>
                        </a:lnSpc>
                        <a:spcBef>
                          <a:spcPts val="0"/>
                        </a:spcBef>
                        <a:spcAft>
                          <a:spcPts val="1000"/>
                        </a:spcAft>
                      </a:pPr>
                      <a:r>
                        <a:rPr lang="en-US" sz="1100" b="1" dirty="0">
                          <a:solidFill>
                            <a:schemeClr val="tx1"/>
                          </a:solidFill>
                          <a:effectLst/>
                        </a:rPr>
                        <a:t>Estimated Implementation Cost:</a:t>
                      </a:r>
                    </a:p>
                    <a:p>
                      <a:pPr marL="0" marR="0">
                        <a:lnSpc>
                          <a:spcPct val="115000"/>
                        </a:lnSpc>
                        <a:spcBef>
                          <a:spcPts val="0"/>
                        </a:spcBef>
                        <a:spcAft>
                          <a:spcPts val="1000"/>
                        </a:spcAft>
                      </a:pPr>
                      <a:r>
                        <a:rPr lang="en-US" sz="1100" dirty="0">
                          <a:solidFill>
                            <a:schemeClr val="tx1"/>
                          </a:solidFill>
                          <a:effectLst/>
                        </a:rPr>
                        <a:t>Initial estimate: $125K</a:t>
                      </a:r>
                    </a:p>
                  </a:txBody>
                  <a:tcPr marL="51885" marR="51885" marT="0" marB="0"/>
                </a:tc>
                <a:extLst>
                  <a:ext uri="{0D108BD9-81ED-4DB2-BD59-A6C34878D82A}">
                    <a16:rowId xmlns:a16="http://schemas.microsoft.com/office/drawing/2014/main" val="442753502"/>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Returns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665873674"/>
                  </a:ext>
                </a:extLst>
              </a:tr>
              <a:tr h="620770">
                <a:tc gridSpan="2">
                  <a:txBody>
                    <a:bodyPr/>
                    <a:lstStyle/>
                    <a:p>
                      <a:pPr marL="0" marR="0">
                        <a:lnSpc>
                          <a:spcPct val="115000"/>
                        </a:lnSpc>
                        <a:spcBef>
                          <a:spcPts val="0"/>
                        </a:spcBef>
                        <a:spcAft>
                          <a:spcPts val="1000"/>
                        </a:spcAft>
                      </a:pPr>
                      <a:r>
                        <a:rPr lang="en-US" sz="1100" b="1" dirty="0">
                          <a:solidFill>
                            <a:schemeClr val="tx1"/>
                          </a:solidFill>
                          <a:effectLst/>
                        </a:rPr>
                        <a:t>Type of Return:</a:t>
                      </a:r>
                    </a:p>
                    <a:p>
                      <a:pPr marL="0" marR="0">
                        <a:lnSpc>
                          <a:spcPct val="115000"/>
                        </a:lnSpc>
                        <a:spcBef>
                          <a:spcPts val="0"/>
                        </a:spcBef>
                        <a:spcAft>
                          <a:spcPts val="1000"/>
                        </a:spcAft>
                      </a:pPr>
                      <a:r>
                        <a:rPr lang="en-US" sz="1100" dirty="0">
                          <a:solidFill>
                            <a:schemeClr val="tx1"/>
                          </a:solidFill>
                          <a:effectLst/>
                        </a:rPr>
                        <a:t>Leading Indicators:  Increasing numbers of industry solutions adopted by and materially benefiting Tech Services industry enterprises, tripling every 2-3 years</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Lagging indicators:  Increasing benefit to subscribers, patrons, the Tech Services industry, and humanity, as measured by subscriber and patron surveys</a:t>
                      </a:r>
                      <a:endParaRPr lang="en-US" sz="1100" dirty="0">
                        <a:solidFill>
                          <a:schemeClr val="tx1"/>
                        </a:solidFill>
                        <a:effectLst/>
                        <a:latin typeface="Arial" panose="020B0604020202020204" pitchFamily="34" charset="0"/>
                        <a:cs typeface="Arial" panose="020B0604020202020204" pitchFamily="34" charset="0"/>
                      </a:endParaRPr>
                    </a:p>
                  </a:txBody>
                  <a:tcPr marL="51885" marR="51885" marT="0" marB="0"/>
                </a:tc>
                <a:tc hMerge="1">
                  <a:txBody>
                    <a:bodyPr/>
                    <a:lstStyle/>
                    <a:p>
                      <a:endParaRPr lang="en-US"/>
                    </a:p>
                  </a:txBody>
                  <a:tcPr/>
                </a:tc>
                <a:extLst>
                  <a:ext uri="{0D108BD9-81ED-4DB2-BD59-A6C34878D82A}">
                    <a16:rowId xmlns:a16="http://schemas.microsoft.com/office/drawing/2014/main" val="617274721"/>
                  </a:ext>
                </a:extLst>
              </a:tr>
            </a:tbl>
          </a:graphicData>
        </a:graphic>
      </p:graphicFrame>
      <p:sp>
        <p:nvSpPr>
          <p:cNvPr id="2" name="Rectangle 1">
            <a:extLst>
              <a:ext uri="{FF2B5EF4-FFF2-40B4-BE49-F238E27FC236}">
                <a16:creationId xmlns:a16="http://schemas.microsoft.com/office/drawing/2014/main" id="{0AFA4691-0634-7178-C749-C47ECD95F25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982B7C1-7287-28F1-91AA-FCCF5AECD71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AC5D8176-2D3A-BE52-A73C-694BE157E29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7" name="Google Shape;18;p9">
            <a:extLst>
              <a:ext uri="{FF2B5EF4-FFF2-40B4-BE49-F238E27FC236}">
                <a16:creationId xmlns:a16="http://schemas.microsoft.com/office/drawing/2014/main" id="{7FE450E7-5500-1557-7587-B39724023C17}"/>
              </a:ext>
            </a:extLst>
          </p:cNvPr>
          <p:cNvSpPr txBox="1">
            <a:spLocks noGrp="1"/>
          </p:cNvSpPr>
          <p:nvPr>
            <p:ph type="ftr" idx="11"/>
          </p:nvPr>
        </p:nvSpPr>
        <p:spPr>
          <a:xfrm>
            <a:off x="4038600" y="6540418"/>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25563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(4/5)</a:t>
            </a:r>
            <a:endParaRPr dirty="0"/>
          </a:p>
        </p:txBody>
      </p:sp>
      <p:graphicFrame>
        <p:nvGraphicFramePr>
          <p:cNvPr id="2" name="Table 1">
            <a:extLst>
              <a:ext uri="{FF2B5EF4-FFF2-40B4-BE49-F238E27FC236}">
                <a16:creationId xmlns:a16="http://schemas.microsoft.com/office/drawing/2014/main" id="{59DCEAC8-DB72-C8D9-0DB4-F8D83D801ADB}"/>
              </a:ext>
            </a:extLst>
          </p:cNvPr>
          <p:cNvGraphicFramePr>
            <a:graphicFrameLocks noGrp="1"/>
          </p:cNvGraphicFramePr>
          <p:nvPr>
            <p:extLst>
              <p:ext uri="{D42A27DB-BD31-4B8C-83A1-F6EECF244321}">
                <p14:modId xmlns:p14="http://schemas.microsoft.com/office/powerpoint/2010/main" val="1723319543"/>
              </p:ext>
            </p:extLst>
          </p:nvPr>
        </p:nvGraphicFramePr>
        <p:xfrm>
          <a:off x="838199" y="1690688"/>
          <a:ext cx="10610590" cy="4527117"/>
        </p:xfrm>
        <a:graphic>
          <a:graphicData uri="http://schemas.openxmlformats.org/drawingml/2006/table">
            <a:tbl>
              <a:tblPr firstRow="1" firstCol="1" bandRow="1" bandCol="1">
                <a:tableStyleId>{5940675A-B579-460E-94D1-54222C63F5DA}</a:tableStyleId>
              </a:tblPr>
              <a:tblGrid>
                <a:gridCol w="10610590">
                  <a:extLst>
                    <a:ext uri="{9D8B030D-6E8A-4147-A177-3AD203B41FA5}">
                      <a16:colId xmlns:a16="http://schemas.microsoft.com/office/drawing/2014/main" val="3385405187"/>
                    </a:ext>
                  </a:extLst>
                </a:gridCol>
              </a:tblGrid>
              <a:tr h="400405">
                <a:tc>
                  <a:txBody>
                    <a:bodyPr/>
                    <a:lstStyle/>
                    <a:p>
                      <a:pPr marL="0" marR="0" algn="ctr">
                        <a:lnSpc>
                          <a:spcPct val="115000"/>
                        </a:lnSpc>
                        <a:spcBef>
                          <a:spcPts val="0"/>
                        </a:spcBef>
                        <a:spcAft>
                          <a:spcPts val="0"/>
                        </a:spcAft>
                      </a:pPr>
                      <a:r>
                        <a:rPr lang="en-US" sz="1100" b="1" dirty="0">
                          <a:solidFill>
                            <a:schemeClr val="tx1"/>
                          </a:solidFill>
                          <a:effectLst/>
                        </a:rPr>
                        <a:t>Development Strategy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69012631"/>
                  </a:ext>
                </a:extLst>
              </a:tr>
              <a:tr h="1110418">
                <a:tc>
                  <a:txBody>
                    <a:bodyPr/>
                    <a:lstStyle/>
                    <a:p>
                      <a:pPr marL="0" marR="0">
                        <a:lnSpc>
                          <a:spcPct val="115000"/>
                        </a:lnSpc>
                        <a:spcBef>
                          <a:spcPts val="0"/>
                        </a:spcBef>
                        <a:spcAft>
                          <a:spcPts val="1000"/>
                        </a:spcAft>
                      </a:pPr>
                      <a:r>
                        <a:rPr lang="en-US" sz="1100" b="1" dirty="0">
                          <a:solidFill>
                            <a:schemeClr val="tx1"/>
                          </a:solidFill>
                          <a:effectLst/>
                        </a:rPr>
                        <a:t>In-house or Outsourced Development:</a:t>
                      </a:r>
                    </a:p>
                    <a:p>
                      <a:pPr marL="0" marR="0">
                        <a:lnSpc>
                          <a:spcPct val="115000"/>
                        </a:lnSpc>
                        <a:spcBef>
                          <a:spcPts val="0"/>
                        </a:spcBef>
                        <a:spcAft>
                          <a:spcPts val="0"/>
                        </a:spcAft>
                      </a:pPr>
                      <a:r>
                        <a:rPr lang="en-US" sz="1100" dirty="0">
                          <a:solidFill>
                            <a:schemeClr val="tx1"/>
                          </a:solidFill>
                          <a:effectLst/>
                        </a:rPr>
                        <a:t>In-house development:  </a:t>
                      </a:r>
                    </a:p>
                    <a:p>
                      <a:pPr marL="61913" marR="0" indent="-61913">
                        <a:lnSpc>
                          <a:spcPct val="115000"/>
                        </a:lnSpc>
                        <a:spcBef>
                          <a:spcPts val="0"/>
                        </a:spcBef>
                        <a:spcAft>
                          <a:spcPts val="0"/>
                        </a:spcAft>
                        <a:buFont typeface="Arial" panose="020B0604020202020204" pitchFamily="34" charset="0"/>
                        <a:buChar char="•"/>
                        <a:tabLst/>
                      </a:pPr>
                      <a:r>
                        <a:rPr lang="en-US" sz="1100" dirty="0">
                          <a:solidFill>
                            <a:schemeClr val="tx1"/>
                          </a:solidFill>
                          <a:effectLst/>
                        </a:rPr>
                        <a:t> Service Strategy, Context, Intent, Development Kit, Demand Generation Kit, Beneficiaries Engagement Kit, and Delivery of Service Kit</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p>
                      <a:pPr marL="0" marR="0" indent="0" algn="l" rtl="0">
                        <a:lnSpc>
                          <a:spcPct val="115000"/>
                        </a:lnSpc>
                        <a:spcBef>
                          <a:spcPts val="0"/>
                        </a:spcBef>
                        <a:spcAft>
                          <a:spcPts val="0"/>
                        </a:spcAft>
                        <a:buClr>
                          <a:srgbClr val="000000"/>
                        </a:buClr>
                        <a:buFont typeface="Arial" panose="020B0604020202020204" pitchFamily="34" charset="0"/>
                        <a:buNone/>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Outsourced development:  None</a:t>
                      </a:r>
                      <a:endParaRPr lang="en-US" sz="1100" b="0" i="0" u="none" strike="noStrike" cap="none" dirty="0">
                        <a:solidFill>
                          <a:schemeClr val="tx1"/>
                        </a:solidFill>
                        <a:effectLst/>
                        <a:latin typeface="+mn-lt"/>
                        <a:ea typeface="+mn-ea"/>
                        <a:cs typeface="+mn-cs"/>
                        <a:sym typeface="Arial"/>
                      </a:endParaRPr>
                    </a:p>
                    <a:p>
                      <a:pPr marL="0" marR="0">
                        <a:lnSpc>
                          <a:spcPct val="115000"/>
                        </a:lnSpc>
                        <a:spcBef>
                          <a:spcPts val="0"/>
                        </a:spcBef>
                        <a:spcAft>
                          <a:spcPts val="1000"/>
                        </a:spcAft>
                      </a:pP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49551468"/>
                  </a:ext>
                </a:extLst>
              </a:tr>
              <a:tr h="1660833">
                <a:tc>
                  <a:txBody>
                    <a:bodyPr/>
                    <a:lstStyle/>
                    <a:p>
                      <a:pPr marL="0" marR="0">
                        <a:lnSpc>
                          <a:spcPct val="115000"/>
                        </a:lnSpc>
                        <a:spcBef>
                          <a:spcPts val="0"/>
                        </a:spcBef>
                        <a:spcAft>
                          <a:spcPts val="1000"/>
                        </a:spcAft>
                      </a:pPr>
                      <a:r>
                        <a:rPr lang="en-US" sz="1100" b="1" dirty="0">
                          <a:solidFill>
                            <a:schemeClr val="tx1"/>
                          </a:solidFill>
                          <a:effectLst/>
                        </a:rPr>
                        <a:t>Incremental Implementation Strategy:</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The Product team will take the “Architectural effort precedes business functionality by one or a few iterations” strategy.  The Industry Innovation Service MVP (v1) is a Portfolio-Level Business Epic being developed concurrently with the AccelRR8 Framework open methodology and the AccelRR8 Body of Knowledge Overview MVPs (v1), which in this context are Architectural Epics that support the Business Epic.</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cs typeface="Arial" panose="020B0604020202020204" pitchFamily="34" charset="0"/>
                        </a:rPr>
                        <a:t>Click </a:t>
                      </a:r>
                      <a:r>
                        <a:rPr lang="en-US" sz="1100" u="sng" dirty="0">
                          <a:solidFill>
                            <a:schemeClr val="tx1"/>
                          </a:solidFill>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here</a:t>
                      </a:r>
                      <a:r>
                        <a:rPr lang="en-US" sz="1100" dirty="0">
                          <a:solidFill>
                            <a:schemeClr val="tx1"/>
                          </a:solidFill>
                          <a:effectLst/>
                          <a:latin typeface="Arial" panose="020B0604020202020204" pitchFamily="34" charset="0"/>
                          <a:cs typeface="Arial" panose="020B0604020202020204" pitchFamily="34" charset="0"/>
                        </a:rPr>
                        <a:t> for details on the “Architectural effort precedes business functionality by one or a few iterations” strategy.</a:t>
                      </a:r>
                      <a:br>
                        <a:rPr lang="en-US" sz="1100" dirty="0">
                          <a:latin typeface="Arial" panose="020B0604020202020204" pitchFamily="34" charset="0"/>
                          <a:cs typeface="Arial" panose="020B0604020202020204" pitchFamily="34" charset="0"/>
                        </a:rPr>
                      </a:br>
                      <a:r>
                        <a:rPr lang="en-US" sz="1100" b="0" i="0" u="none" strike="noStrike" cap="none" dirty="0">
                          <a:solidFill>
                            <a:schemeClr val="tx1"/>
                          </a:solidFill>
                          <a:effectLst/>
                          <a:latin typeface="Arial" panose="020B0604020202020204" pitchFamily="34" charset="0"/>
                          <a:ea typeface="+mn-ea"/>
                          <a:cs typeface="Arial" panose="020B0604020202020204" pitchFamily="34" charset="0"/>
                          <a:sym typeface="Arial"/>
                        </a:rPr>
                        <a:t>© Scaled Agile, Inc.</a:t>
                      </a: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329702929"/>
                  </a:ext>
                </a:extLst>
              </a:tr>
              <a:tr h="1000743">
                <a:tc>
                  <a:txBody>
                    <a:bodyPr/>
                    <a:lstStyle/>
                    <a:p>
                      <a:pPr marL="0" marR="0">
                        <a:lnSpc>
                          <a:spcPct val="115000"/>
                        </a:lnSpc>
                        <a:spcBef>
                          <a:spcPts val="0"/>
                        </a:spcBef>
                        <a:spcAft>
                          <a:spcPts val="1000"/>
                        </a:spcAft>
                      </a:pPr>
                      <a:r>
                        <a:rPr lang="en-US" sz="1100" b="1" dirty="0">
                          <a:solidFill>
                            <a:schemeClr val="tx1"/>
                          </a:solidFill>
                          <a:effectLst/>
                        </a:rPr>
                        <a:t>Sequencing and Dependencies:</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Features of the AccelRR8 Framework open methodology and the AccelRR8 Body of Knowledge Overview MVPs (v1) will be developed before they are needed by the Consortium’s Industry Innovation Service v1.</a:t>
                      </a:r>
                    </a:p>
                  </a:txBody>
                  <a:tcPr marL="68580" marR="68580" marT="0" marB="0"/>
                </a:tc>
                <a:extLst>
                  <a:ext uri="{0D108BD9-81ED-4DB2-BD59-A6C34878D82A}">
                    <a16:rowId xmlns:a16="http://schemas.microsoft.com/office/drawing/2014/main" val="2759219611"/>
                  </a:ext>
                </a:extLst>
              </a:tr>
            </a:tbl>
          </a:graphicData>
        </a:graphic>
      </p:graphicFrame>
      <p:sp>
        <p:nvSpPr>
          <p:cNvPr id="3" name="Rectangle 2">
            <a:extLst>
              <a:ext uri="{FF2B5EF4-FFF2-40B4-BE49-F238E27FC236}">
                <a16:creationId xmlns:a16="http://schemas.microsoft.com/office/drawing/2014/main" id="{46B78F2F-49FE-E010-BE57-5B187F60A2F1}"/>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0EDF6E39-C3EC-1F82-A0BD-BD7DAAC9A077}"/>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E646AA49-8E0E-B8DA-876A-BEF6D4BB5EE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9F8D68DC-C5C8-1881-D83B-793CEBFE2E6F}"/>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4"/>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E84B6E51-E573-5BC3-2F49-2CB36E1EC08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67448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(5/5)</a:t>
            </a:r>
            <a:endParaRPr dirty="0"/>
          </a:p>
        </p:txBody>
      </p:sp>
      <p:graphicFrame>
        <p:nvGraphicFramePr>
          <p:cNvPr id="3" name="Table 2">
            <a:extLst>
              <a:ext uri="{FF2B5EF4-FFF2-40B4-BE49-F238E27FC236}">
                <a16:creationId xmlns:a16="http://schemas.microsoft.com/office/drawing/2014/main" id="{F1699409-9005-50C8-4771-BC86CF9F9048}"/>
              </a:ext>
            </a:extLst>
          </p:cNvPr>
          <p:cNvGraphicFramePr>
            <a:graphicFrameLocks noGrp="1"/>
          </p:cNvGraphicFramePr>
          <p:nvPr>
            <p:extLst>
              <p:ext uri="{D42A27DB-BD31-4B8C-83A1-F6EECF244321}">
                <p14:modId xmlns:p14="http://schemas.microsoft.com/office/powerpoint/2010/main" val="4047730444"/>
              </p:ext>
            </p:extLst>
          </p:nvPr>
        </p:nvGraphicFramePr>
        <p:xfrm>
          <a:off x="838199" y="1859153"/>
          <a:ext cx="10522908" cy="3589669"/>
        </p:xfrm>
        <a:graphic>
          <a:graphicData uri="http://schemas.openxmlformats.org/drawingml/2006/table">
            <a:tbl>
              <a:tblPr firstRow="1" firstCol="1" bandRow="1" bandCol="1">
                <a:tableStyleId>{5940675A-B579-460E-94D1-54222C63F5DA}</a:tableStyleId>
              </a:tblPr>
              <a:tblGrid>
                <a:gridCol w="10522908">
                  <a:extLst>
                    <a:ext uri="{9D8B030D-6E8A-4147-A177-3AD203B41FA5}">
                      <a16:colId xmlns:a16="http://schemas.microsoft.com/office/drawing/2014/main" val="2176383689"/>
                    </a:ext>
                  </a:extLst>
                </a:gridCol>
              </a:tblGrid>
              <a:tr h="412372">
                <a:tc>
                  <a:txBody>
                    <a:bodyPr/>
                    <a:lstStyle/>
                    <a:p>
                      <a:pPr marL="0" marR="0" algn="ctr">
                        <a:lnSpc>
                          <a:spcPct val="115000"/>
                        </a:lnSpc>
                        <a:spcBef>
                          <a:spcPts val="0"/>
                        </a:spcBef>
                        <a:spcAft>
                          <a:spcPts val="0"/>
                        </a:spcAft>
                      </a:pPr>
                      <a:r>
                        <a:rPr lang="en-US" sz="1100" b="1" dirty="0">
                          <a:solidFill>
                            <a:schemeClr val="tx1"/>
                          </a:solidFill>
                          <a:effectLst/>
                        </a:rPr>
                        <a:t>Additional Supporting Data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83676439"/>
                  </a:ext>
                </a:extLst>
              </a:tr>
              <a:tr h="1584438">
                <a:tc>
                  <a:txBody>
                    <a:bodyPr/>
                    <a:lstStyle/>
                    <a:p>
                      <a:pPr marL="0" marR="0">
                        <a:lnSpc>
                          <a:spcPct val="115000"/>
                        </a:lnSpc>
                        <a:spcBef>
                          <a:spcPts val="0"/>
                        </a:spcBef>
                        <a:spcAft>
                          <a:spcPts val="1000"/>
                        </a:spcAft>
                      </a:pPr>
                      <a:r>
                        <a:rPr lang="en-US" sz="1100" b="1" dirty="0">
                          <a:solidFill>
                            <a:schemeClr val="tx1"/>
                          </a:solidFill>
                          <a:effectLst/>
                        </a:rPr>
                        <a:t>Attachments:</a:t>
                      </a:r>
                    </a:p>
                    <a:p>
                      <a:pPr marL="0" marR="0">
                        <a:lnSpc>
                          <a:spcPct val="115000"/>
                        </a:lnSpc>
                        <a:spcBef>
                          <a:spcPts val="0"/>
                        </a:spcBef>
                        <a:spcAft>
                          <a:spcPts val="1000"/>
                        </a:spcAft>
                      </a:pPr>
                      <a:r>
                        <a:rPr lang="en-US" sz="1100" dirty="0">
                          <a:solidFill>
                            <a:schemeClr val="tx1"/>
                          </a:solidFill>
                          <a:effectLst/>
                        </a:rPr>
                        <a:t>See Industry Innovation Service Components on Next Slide.</a:t>
                      </a:r>
                    </a:p>
                    <a:p>
                      <a:pPr marL="0" marR="0">
                        <a:lnSpc>
                          <a:spcPct val="115000"/>
                        </a:lnSpc>
                        <a:spcBef>
                          <a:spcPts val="0"/>
                        </a:spcBef>
                        <a:spcAft>
                          <a:spcPts val="1000"/>
                        </a:spcAft>
                      </a:pPr>
                      <a:r>
                        <a:rPr lang="en-US" sz="1100" dirty="0">
                          <a:solidFill>
                            <a:schemeClr val="tx1"/>
                          </a:solidFill>
                          <a:effectLst/>
                        </a:rPr>
                        <a:t>These include Service Strategy, Context, Intent, Development Kit, Demand Generation Kit, Beneficiaries Engagement Kit, and Delivery of Service Kit components.</a:t>
                      </a:r>
                    </a:p>
                  </a:txBody>
                  <a:tcPr marL="68580" marR="68580" marT="0" marB="0"/>
                </a:tc>
                <a:extLst>
                  <a:ext uri="{0D108BD9-81ED-4DB2-BD59-A6C34878D82A}">
                    <a16:rowId xmlns:a16="http://schemas.microsoft.com/office/drawing/2014/main" val="1559136522"/>
                  </a:ext>
                </a:extLst>
              </a:tr>
              <a:tr h="1592859">
                <a:tc>
                  <a:txBody>
                    <a:bodyPr/>
                    <a:lstStyle/>
                    <a:p>
                      <a:pPr marL="0" marR="0">
                        <a:lnSpc>
                          <a:spcPct val="115000"/>
                        </a:lnSpc>
                        <a:spcBef>
                          <a:spcPts val="0"/>
                        </a:spcBef>
                        <a:spcAft>
                          <a:spcPts val="1000"/>
                        </a:spcAft>
                      </a:pPr>
                      <a:r>
                        <a:rPr lang="en-US" sz="1100" b="1" dirty="0">
                          <a:solidFill>
                            <a:schemeClr val="tx1"/>
                          </a:solidFill>
                          <a:effectLst/>
                        </a:rPr>
                        <a:t>Other Notes and Comments:</a:t>
                      </a:r>
                    </a:p>
                    <a:p>
                      <a:pPr marL="0" marR="0">
                        <a:lnSpc>
                          <a:spcPct val="115000"/>
                        </a:lnSpc>
                        <a:spcBef>
                          <a:spcPts val="0"/>
                        </a:spcBef>
                        <a:spcAft>
                          <a:spcPts val="1000"/>
                        </a:spcAft>
                      </a:pPr>
                      <a:r>
                        <a:rPr lang="en-US" sz="1100" dirty="0">
                          <a:solidFill>
                            <a:schemeClr val="tx1"/>
                          </a:solidFill>
                          <a:effectLst/>
                        </a:rPr>
                        <a:t>Methodologies used to develop the Open Knowledge Sharing Service MVP include:</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3"/>
                        </a:rPr>
                        <a:t>AccelRR8 Framework</a:t>
                      </a:r>
                      <a:r>
                        <a:rPr lang="en-US" sz="1100" dirty="0">
                          <a:solidFill>
                            <a:schemeClr val="tx1"/>
                          </a:solidFill>
                          <a:effectLst/>
                        </a:rPr>
                        <a:t> produced by AccelRR8 LLC</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4"/>
                        </a:rPr>
                        <a:t>Scaled Agile Framework</a:t>
                      </a:r>
                      <a:r>
                        <a:rPr lang="en-US" sz="1100" dirty="0">
                          <a:solidFill>
                            <a:schemeClr val="tx1"/>
                          </a:solidFill>
                          <a:effectLst/>
                        </a:rPr>
                        <a:t> produced by Scaled Agile, Inc.</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89054867"/>
                  </a:ext>
                </a:extLst>
              </a:tr>
            </a:tbl>
          </a:graphicData>
        </a:graphic>
      </p:graphicFrame>
      <p:sp>
        <p:nvSpPr>
          <p:cNvPr id="2" name="Rectangle 1">
            <a:extLst>
              <a:ext uri="{FF2B5EF4-FFF2-40B4-BE49-F238E27FC236}">
                <a16:creationId xmlns:a16="http://schemas.microsoft.com/office/drawing/2014/main" id="{402CEF7E-7FA3-2DA3-9852-7A50C2CE2E0E}"/>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8FB1201-7179-C239-7E9F-258DB1E5E2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77206C13-F7F8-689F-704C-B5EA77615E13}"/>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547832F2-FAD4-C5E7-657F-527F59EE2B1C}"/>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5"/>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8FA3F51F-BAA5-391C-B500-D450E50CA7E6}"/>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088802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MVP </a:t>
            </a:r>
            <a:br>
              <a:rPr lang="en-US" dirty="0"/>
            </a:br>
            <a:r>
              <a:rPr lang="en-US" dirty="0"/>
              <a:t>Component Descriptions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2424982169"/>
              </p:ext>
            </p:extLst>
          </p:nvPr>
        </p:nvGraphicFramePr>
        <p:xfrm>
          <a:off x="969319" y="1690687"/>
          <a:ext cx="10806369" cy="4609754"/>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76371">
                  <a:extLst>
                    <a:ext uri="{9D8B030D-6E8A-4147-A177-3AD203B41FA5}">
                      <a16:colId xmlns:a16="http://schemas.microsoft.com/office/drawing/2014/main" val="20127695"/>
                    </a:ext>
                  </a:extLst>
                </a:gridCol>
              </a:tblGrid>
              <a:tr h="393080">
                <a:tc>
                  <a:txBody>
                    <a:bodyPr/>
                    <a:lstStyle/>
                    <a:p>
                      <a:r>
                        <a:rPr lang="en-US" sz="1600" b="0" dirty="0"/>
                        <a:t>Service Name</a:t>
                      </a:r>
                    </a:p>
                  </a:txBody>
                  <a:tcPr/>
                </a:tc>
                <a:tc>
                  <a:txBody>
                    <a:bodyPr/>
                    <a:lstStyle/>
                    <a:p>
                      <a:r>
                        <a:rPr lang="en-US" dirty="0"/>
                        <a:t>Industry Innovation</a:t>
                      </a:r>
                    </a:p>
                  </a:txBody>
                  <a:tcPr/>
                </a:tc>
                <a:extLst>
                  <a:ext uri="{0D108BD9-81ED-4DB2-BD59-A6C34878D82A}">
                    <a16:rowId xmlns:a16="http://schemas.microsoft.com/office/drawing/2014/main" val="2683780345"/>
                  </a:ext>
                </a:extLst>
              </a:tr>
              <a:tr h="393080">
                <a:tc>
                  <a:txBody>
                    <a:bodyPr/>
                    <a:lstStyle/>
                    <a:p>
                      <a:r>
                        <a:rPr lang="en-US" sz="1600" b="0" dirty="0"/>
                        <a:t>Service Strategy</a:t>
                      </a:r>
                    </a:p>
                  </a:txBody>
                  <a:tcPr/>
                </a:tc>
                <a:tc>
                  <a:txBody>
                    <a:bodyPr/>
                    <a:lstStyle/>
                    <a:p>
                      <a:r>
                        <a:rPr lang="en-US" dirty="0"/>
                        <a:t>&lt;3-Horizon Strategy for the Service&gt;</a:t>
                      </a:r>
                    </a:p>
                  </a:txBody>
                  <a:tcPr/>
                </a:tc>
                <a:extLst>
                  <a:ext uri="{0D108BD9-81ED-4DB2-BD59-A6C34878D82A}">
                    <a16:rowId xmlns:a16="http://schemas.microsoft.com/office/drawing/2014/main" val="2707085893"/>
                  </a:ext>
                </a:extLst>
              </a:tr>
              <a:tr h="607487">
                <a:tc>
                  <a:txBody>
                    <a:bodyPr/>
                    <a:lstStyle/>
                    <a:p>
                      <a:r>
                        <a:rPr lang="en-US" sz="1600" b="0" dirty="0"/>
                        <a:t>Service Context</a:t>
                      </a:r>
                    </a:p>
                  </a:txBody>
                  <a:tcPr/>
                </a:tc>
                <a:tc>
                  <a:txBody>
                    <a:bodyPr/>
                    <a:lstStyle/>
                    <a:p>
                      <a:r>
                        <a:rPr lang="en-US" dirty="0"/>
                        <a:t>&lt;See SAFe Solution Context at </a:t>
                      </a:r>
                      <a:r>
                        <a:rPr lang="en-US" dirty="0">
                          <a:hlinkClick r:id="rId3"/>
                        </a:rPr>
                        <a:t>this link</a:t>
                      </a:r>
                      <a:r>
                        <a:rPr lang="en-US" dirty="0"/>
                        <a:t>&gt;</a:t>
                      </a:r>
                    </a:p>
                  </a:txBody>
                  <a:tcPr/>
                </a:tc>
                <a:extLst>
                  <a:ext uri="{0D108BD9-81ED-4DB2-BD59-A6C34878D82A}">
                    <a16:rowId xmlns:a16="http://schemas.microsoft.com/office/drawing/2014/main" val="1092281396"/>
                  </a:ext>
                </a:extLst>
              </a:tr>
              <a:tr h="607487">
                <a:tc>
                  <a:txBody>
                    <a:bodyPr/>
                    <a:lstStyle/>
                    <a:p>
                      <a:r>
                        <a:rPr lang="en-US" sz="1600" b="0" dirty="0"/>
                        <a:t>Service Intent</a:t>
                      </a:r>
                    </a:p>
                  </a:txBody>
                  <a:tcPr/>
                </a:tc>
                <a:tc>
                  <a:txBody>
                    <a:bodyPr/>
                    <a:lstStyle/>
                    <a:p>
                      <a:r>
                        <a:rPr lang="en-US" dirty="0"/>
                        <a:t>&lt;See SAFe Solution Intent at </a:t>
                      </a:r>
                      <a:r>
                        <a:rPr lang="en-US" dirty="0">
                          <a:hlinkClick r:id="rId4"/>
                        </a:rPr>
                        <a:t>this link</a:t>
                      </a:r>
                      <a:r>
                        <a:rPr lang="en-US" dirty="0"/>
                        <a:t>&gt;</a:t>
                      </a:r>
                    </a:p>
                  </a:txBody>
                  <a:tcPr/>
                </a:tc>
                <a:extLst>
                  <a:ext uri="{0D108BD9-81ED-4DB2-BD59-A6C34878D82A}">
                    <a16:rowId xmlns:a16="http://schemas.microsoft.com/office/drawing/2014/main" val="2029769333"/>
                  </a:ext>
                </a:extLst>
              </a:tr>
              <a:tr h="393080">
                <a:tc>
                  <a:txBody>
                    <a:bodyPr/>
                    <a:lstStyle/>
                    <a:p>
                      <a:r>
                        <a:rPr lang="en-US" sz="1600" b="0" dirty="0"/>
                        <a:t>Development Kit</a:t>
                      </a:r>
                    </a:p>
                  </a:txBody>
                  <a:tcPr/>
                </a:tc>
                <a:tc>
                  <a:txBody>
                    <a:bodyPr/>
                    <a:lstStyle/>
                    <a:p>
                      <a:r>
                        <a:rPr lang="en-US" dirty="0"/>
                        <a:t>&lt;Descriptions of Collateral and Tools used by the Products team to develop the service&gt;</a:t>
                      </a:r>
                    </a:p>
                  </a:txBody>
                  <a:tcPr/>
                </a:tc>
                <a:extLst>
                  <a:ext uri="{0D108BD9-81ED-4DB2-BD59-A6C34878D82A}">
                    <a16:rowId xmlns:a16="http://schemas.microsoft.com/office/drawing/2014/main" val="52804956"/>
                  </a:ext>
                </a:extLst>
              </a:tr>
              <a:tr h="857628">
                <a:tc>
                  <a:txBody>
                    <a:bodyPr/>
                    <a:lstStyle/>
                    <a:p>
                      <a:r>
                        <a:rPr lang="en-US" sz="1600" b="0" dirty="0"/>
                        <a:t>Demand </a:t>
                      </a:r>
                      <a:br>
                        <a:rPr lang="en-US" sz="1600" b="0" dirty="0"/>
                      </a:br>
                      <a:r>
                        <a:rPr lang="en-US" sz="1600" b="0" dirty="0"/>
                        <a:t>Generation Kit</a:t>
                      </a:r>
                    </a:p>
                  </a:txBody>
                  <a:tcPr/>
                </a:tc>
                <a:tc>
                  <a:txBody>
                    <a:bodyPr/>
                    <a:lstStyle/>
                    <a:p>
                      <a:r>
                        <a:rPr lang="en-US" dirty="0"/>
                        <a:t>&lt;Descriptions of Collateral and Tools used by Demand Generation to engage with potential beneficiaries in market segments about the service&gt;</a:t>
                      </a:r>
                    </a:p>
                  </a:txBody>
                  <a:tcPr/>
                </a:tc>
                <a:extLst>
                  <a:ext uri="{0D108BD9-81ED-4DB2-BD59-A6C34878D82A}">
                    <a16:rowId xmlns:a16="http://schemas.microsoft.com/office/drawing/2014/main" val="872717509"/>
                  </a:ext>
                </a:extLst>
              </a:tr>
              <a:tr h="678956">
                <a:tc>
                  <a:txBody>
                    <a:bodyPr/>
                    <a:lstStyle/>
                    <a:p>
                      <a:r>
                        <a:rPr lang="en-US" sz="1600" b="0" dirty="0"/>
                        <a:t>Beneficiaries Engagement Kit</a:t>
                      </a:r>
                    </a:p>
                  </a:txBody>
                  <a:tcPr/>
                </a:tc>
                <a:tc>
                  <a:txBody>
                    <a:bodyPr/>
                    <a:lstStyle/>
                    <a:p>
                      <a:pPr lvl="2"/>
                      <a:r>
                        <a:rPr lang="en-US" dirty="0"/>
                        <a:t>&lt;Descriptions of Collateral and Tools used by </a:t>
                      </a:r>
                      <a:r>
                        <a:rPr lang="en-US" dirty="0" err="1"/>
                        <a:t>Benficiaries</a:t>
                      </a:r>
                      <a:r>
                        <a:rPr lang="en-US" dirty="0"/>
                        <a:t> Engagement to engage with specific potential beneficiaries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678956">
                <a:tc>
                  <a:txBody>
                    <a:bodyPr/>
                    <a:lstStyle/>
                    <a:p>
                      <a:r>
                        <a:rPr lang="en-US" sz="1600" b="0" dirty="0"/>
                        <a:t>Delivery of</a:t>
                      </a:r>
                      <a:br>
                        <a:rPr lang="en-US" sz="1600" b="0" dirty="0"/>
                      </a:br>
                      <a:r>
                        <a:rPr lang="en-US" sz="1600" b="0" dirty="0"/>
                        <a:t>Service Kit</a:t>
                      </a:r>
                    </a:p>
                  </a:txBody>
                  <a:tcPr/>
                </a:tc>
                <a:tc>
                  <a:txBody>
                    <a:bodyPr/>
                    <a:lstStyle/>
                    <a:p>
                      <a:r>
                        <a:rPr lang="en-US" dirty="0"/>
                        <a:t>&lt;Descriptions of Collateral and Tools used by Delivery of Service to engage with beneficiaries about the service&gt;</a:t>
                      </a:r>
                    </a:p>
                  </a:txBody>
                  <a:tcPr/>
                </a:tc>
                <a:extLst>
                  <a:ext uri="{0D108BD9-81ED-4DB2-BD59-A6C34878D82A}">
                    <a16:rowId xmlns:a16="http://schemas.microsoft.com/office/drawing/2014/main" val="2321847728"/>
                  </a:ext>
                </a:extLst>
              </a:tr>
            </a:tbl>
          </a:graphicData>
        </a:graphic>
      </p:graphicFrame>
      <p:sp>
        <p:nvSpPr>
          <p:cNvPr id="6" name="Rectangle 5">
            <a:extLst>
              <a:ext uri="{FF2B5EF4-FFF2-40B4-BE49-F238E27FC236}">
                <a16:creationId xmlns:a16="http://schemas.microsoft.com/office/drawing/2014/main" id="{A7372D81-FEF0-F693-D686-F9DF46C1643F}"/>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7" name="Rectangle 6">
            <a:extLst>
              <a:ext uri="{FF2B5EF4-FFF2-40B4-BE49-F238E27FC236}">
                <a16:creationId xmlns:a16="http://schemas.microsoft.com/office/drawing/2014/main" id="{CF9C5A52-20CA-F258-B608-01820FE0C52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8" name="Rectangle 7">
            <a:extLst>
              <a:ext uri="{FF2B5EF4-FFF2-40B4-BE49-F238E27FC236}">
                <a16:creationId xmlns:a16="http://schemas.microsoft.com/office/drawing/2014/main" id="{5A08F55C-5399-5D3A-6145-A00CC01B7E5F}"/>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Tree>
    <p:extLst>
      <p:ext uri="{BB962C8B-B14F-4D97-AF65-F5344CB8AC3E}">
        <p14:creationId xmlns:p14="http://schemas.microsoft.com/office/powerpoint/2010/main" val="3960435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Implementing - MVP Stage</a:t>
            </a:r>
          </a:p>
        </p:txBody>
      </p:sp>
      <p:sp>
        <p:nvSpPr>
          <p:cNvPr id="2" name="Rectangle 1">
            <a:extLst>
              <a:ext uri="{FF2B5EF4-FFF2-40B4-BE49-F238E27FC236}">
                <a16:creationId xmlns:a16="http://schemas.microsoft.com/office/drawing/2014/main" id="{2080D088-D60A-E04C-3455-F07D0ED3B9D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BF9836CB-4917-29CA-7AC0-92843E145652}"/>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C1CCD8A-8B41-9B93-2D05-D8CF2AC3F89C}"/>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ED514B9A-C821-414D-27E7-22058443F6B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2970225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MVP </a:t>
            </a:r>
            <a:br>
              <a:rPr lang="en-US" dirty="0"/>
            </a:br>
            <a:r>
              <a:rPr lang="en-US" dirty="0"/>
              <a:t>Component Links</a:t>
            </a:r>
            <a:endParaRPr dirty="0"/>
          </a:p>
        </p:txBody>
      </p:sp>
      <p:sp>
        <p:nvSpPr>
          <p:cNvPr id="2" name="Rectangle 1">
            <a:extLst>
              <a:ext uri="{FF2B5EF4-FFF2-40B4-BE49-F238E27FC236}">
                <a16:creationId xmlns:a16="http://schemas.microsoft.com/office/drawing/2014/main" id="{1911BEFC-1920-CDC4-D668-C6A225FD1E80}"/>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40E67E27-965B-E3ED-DB12-8F7EC8856408}"/>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08128C04-B19B-2E05-3473-28A909FEAFDE}"/>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30D5DC-2695-01BA-B05D-C3CC4747D7F4}"/>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5" name="Table 4">
            <a:extLst>
              <a:ext uri="{FF2B5EF4-FFF2-40B4-BE49-F238E27FC236}">
                <a16:creationId xmlns:a16="http://schemas.microsoft.com/office/drawing/2014/main" id="{4E10C936-0962-5D53-9F05-8487710C36A2}"/>
              </a:ext>
            </a:extLst>
          </p:cNvPr>
          <p:cNvGraphicFramePr>
            <a:graphicFrameLocks noGrp="1"/>
          </p:cNvGraphicFramePr>
          <p:nvPr>
            <p:extLst>
              <p:ext uri="{D42A27DB-BD31-4B8C-83A1-F6EECF244321}">
                <p14:modId xmlns:p14="http://schemas.microsoft.com/office/powerpoint/2010/main" val="2973619629"/>
              </p:ext>
            </p:extLst>
          </p:nvPr>
        </p:nvGraphicFramePr>
        <p:xfrm>
          <a:off x="969319" y="1690687"/>
          <a:ext cx="10806369" cy="4609754"/>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76371">
                  <a:extLst>
                    <a:ext uri="{9D8B030D-6E8A-4147-A177-3AD203B41FA5}">
                      <a16:colId xmlns:a16="http://schemas.microsoft.com/office/drawing/2014/main" val="20127695"/>
                    </a:ext>
                  </a:extLst>
                </a:gridCol>
              </a:tblGrid>
              <a:tr h="393080">
                <a:tc>
                  <a:txBody>
                    <a:bodyPr/>
                    <a:lstStyle/>
                    <a:p>
                      <a:r>
                        <a:rPr lang="en-US" sz="1600" b="0" dirty="0"/>
                        <a:t>Service Name</a:t>
                      </a:r>
                    </a:p>
                  </a:txBody>
                  <a:tcPr/>
                </a:tc>
                <a:tc>
                  <a:txBody>
                    <a:bodyPr/>
                    <a:lstStyle/>
                    <a:p>
                      <a:r>
                        <a:rPr lang="en-US" dirty="0"/>
                        <a:t>Industry Innovation</a:t>
                      </a:r>
                    </a:p>
                  </a:txBody>
                  <a:tcPr/>
                </a:tc>
                <a:extLst>
                  <a:ext uri="{0D108BD9-81ED-4DB2-BD59-A6C34878D82A}">
                    <a16:rowId xmlns:a16="http://schemas.microsoft.com/office/drawing/2014/main" val="2683780345"/>
                  </a:ext>
                </a:extLst>
              </a:tr>
              <a:tr h="393080">
                <a:tc>
                  <a:txBody>
                    <a:bodyPr/>
                    <a:lstStyle/>
                    <a:p>
                      <a:r>
                        <a:rPr lang="en-US" sz="1600" b="0" dirty="0"/>
                        <a:t>Service Strategy</a:t>
                      </a:r>
                    </a:p>
                  </a:txBody>
                  <a:tcPr/>
                </a:tc>
                <a:tc>
                  <a:txBody>
                    <a:bodyPr/>
                    <a:lstStyle/>
                    <a:p>
                      <a:r>
                        <a:rPr lang="en-US" dirty="0"/>
                        <a:t>&lt;3-Horizon Strategy for the Service&gt;</a:t>
                      </a:r>
                    </a:p>
                  </a:txBody>
                  <a:tcPr/>
                </a:tc>
                <a:extLst>
                  <a:ext uri="{0D108BD9-81ED-4DB2-BD59-A6C34878D82A}">
                    <a16:rowId xmlns:a16="http://schemas.microsoft.com/office/drawing/2014/main" val="2707085893"/>
                  </a:ext>
                </a:extLst>
              </a:tr>
              <a:tr h="607487">
                <a:tc>
                  <a:txBody>
                    <a:bodyPr/>
                    <a:lstStyle/>
                    <a:p>
                      <a:r>
                        <a:rPr lang="en-US" sz="1600" b="0" dirty="0"/>
                        <a:t>Service Context</a:t>
                      </a:r>
                    </a:p>
                  </a:txBody>
                  <a:tcPr/>
                </a:tc>
                <a:tc>
                  <a:txBody>
                    <a:bodyPr/>
                    <a:lstStyle/>
                    <a:p>
                      <a:r>
                        <a:rPr lang="en-US" dirty="0"/>
                        <a:t>&lt;See SAFe Solution Context at </a:t>
                      </a:r>
                      <a:r>
                        <a:rPr lang="en-US" dirty="0">
                          <a:hlinkClick r:id="rId3"/>
                        </a:rPr>
                        <a:t>this link</a:t>
                      </a:r>
                      <a:r>
                        <a:rPr lang="en-US" dirty="0"/>
                        <a:t>&gt;</a:t>
                      </a:r>
                    </a:p>
                  </a:txBody>
                  <a:tcPr/>
                </a:tc>
                <a:extLst>
                  <a:ext uri="{0D108BD9-81ED-4DB2-BD59-A6C34878D82A}">
                    <a16:rowId xmlns:a16="http://schemas.microsoft.com/office/drawing/2014/main" val="1092281396"/>
                  </a:ext>
                </a:extLst>
              </a:tr>
              <a:tr h="607487">
                <a:tc>
                  <a:txBody>
                    <a:bodyPr/>
                    <a:lstStyle/>
                    <a:p>
                      <a:r>
                        <a:rPr lang="en-US" sz="1600" b="0" dirty="0"/>
                        <a:t>Service Intent</a:t>
                      </a:r>
                    </a:p>
                  </a:txBody>
                  <a:tcPr/>
                </a:tc>
                <a:tc>
                  <a:txBody>
                    <a:bodyPr/>
                    <a:lstStyle/>
                    <a:p>
                      <a:r>
                        <a:rPr lang="en-US" dirty="0"/>
                        <a:t>&lt;See SAFe Solution Intent at </a:t>
                      </a:r>
                      <a:r>
                        <a:rPr lang="en-US" dirty="0">
                          <a:hlinkClick r:id="rId4"/>
                        </a:rPr>
                        <a:t>this link</a:t>
                      </a:r>
                      <a:r>
                        <a:rPr lang="en-US" dirty="0"/>
                        <a:t>&gt;</a:t>
                      </a:r>
                    </a:p>
                  </a:txBody>
                  <a:tcPr/>
                </a:tc>
                <a:extLst>
                  <a:ext uri="{0D108BD9-81ED-4DB2-BD59-A6C34878D82A}">
                    <a16:rowId xmlns:a16="http://schemas.microsoft.com/office/drawing/2014/main" val="2029769333"/>
                  </a:ext>
                </a:extLst>
              </a:tr>
              <a:tr h="393080">
                <a:tc>
                  <a:txBody>
                    <a:bodyPr/>
                    <a:lstStyle/>
                    <a:p>
                      <a:r>
                        <a:rPr lang="en-US" sz="1600" b="0" dirty="0"/>
                        <a:t>Development Kit</a:t>
                      </a:r>
                    </a:p>
                  </a:txBody>
                  <a:tcPr/>
                </a:tc>
                <a:tc>
                  <a:txBody>
                    <a:bodyPr/>
                    <a:lstStyle/>
                    <a:p>
                      <a:r>
                        <a:rPr lang="en-US" dirty="0"/>
                        <a:t>&lt;Descriptions of Collateral and Tools used by the Products team to develop the service&gt;</a:t>
                      </a:r>
                    </a:p>
                  </a:txBody>
                  <a:tcPr/>
                </a:tc>
                <a:extLst>
                  <a:ext uri="{0D108BD9-81ED-4DB2-BD59-A6C34878D82A}">
                    <a16:rowId xmlns:a16="http://schemas.microsoft.com/office/drawing/2014/main" val="52804956"/>
                  </a:ext>
                </a:extLst>
              </a:tr>
              <a:tr h="857628">
                <a:tc>
                  <a:txBody>
                    <a:bodyPr/>
                    <a:lstStyle/>
                    <a:p>
                      <a:r>
                        <a:rPr lang="en-US" sz="1600" b="0" dirty="0"/>
                        <a:t>Demand </a:t>
                      </a:r>
                      <a:br>
                        <a:rPr lang="en-US" sz="1600" b="0" dirty="0"/>
                      </a:br>
                      <a:r>
                        <a:rPr lang="en-US" sz="1600" b="0" dirty="0"/>
                        <a:t>Generation Kit</a:t>
                      </a:r>
                    </a:p>
                  </a:txBody>
                  <a:tcPr/>
                </a:tc>
                <a:tc>
                  <a:txBody>
                    <a:bodyPr/>
                    <a:lstStyle/>
                    <a:p>
                      <a:r>
                        <a:rPr lang="en-US" dirty="0"/>
                        <a:t>&lt;Descriptions of Collateral and Tools used by Demand Generation to engage with potential beneficiaries in market segments about the service&gt;</a:t>
                      </a:r>
                    </a:p>
                  </a:txBody>
                  <a:tcPr/>
                </a:tc>
                <a:extLst>
                  <a:ext uri="{0D108BD9-81ED-4DB2-BD59-A6C34878D82A}">
                    <a16:rowId xmlns:a16="http://schemas.microsoft.com/office/drawing/2014/main" val="872717509"/>
                  </a:ext>
                </a:extLst>
              </a:tr>
              <a:tr h="678956">
                <a:tc>
                  <a:txBody>
                    <a:bodyPr/>
                    <a:lstStyle/>
                    <a:p>
                      <a:r>
                        <a:rPr lang="en-US" sz="1600" b="0" dirty="0"/>
                        <a:t>Beneficiaries Engagement Kit</a:t>
                      </a:r>
                    </a:p>
                  </a:txBody>
                  <a:tcPr/>
                </a:tc>
                <a:tc>
                  <a:txBody>
                    <a:bodyPr/>
                    <a:lstStyle/>
                    <a:p>
                      <a:pPr lvl="2"/>
                      <a:r>
                        <a:rPr lang="en-US" dirty="0"/>
                        <a:t>&lt;Descriptions of Collateral and Tools used by </a:t>
                      </a:r>
                      <a:r>
                        <a:rPr lang="en-US" dirty="0" err="1"/>
                        <a:t>Benficiaries</a:t>
                      </a:r>
                      <a:r>
                        <a:rPr lang="en-US" dirty="0"/>
                        <a:t> Engagement to engage with specific potential beneficiaries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678956">
                <a:tc>
                  <a:txBody>
                    <a:bodyPr/>
                    <a:lstStyle/>
                    <a:p>
                      <a:r>
                        <a:rPr lang="en-US" sz="1600" b="0" dirty="0"/>
                        <a:t>Delivery of</a:t>
                      </a:r>
                      <a:br>
                        <a:rPr lang="en-US" sz="1600" b="0" dirty="0"/>
                      </a:br>
                      <a:r>
                        <a:rPr lang="en-US" sz="1600" b="0" dirty="0"/>
                        <a:t>Service Kit</a:t>
                      </a:r>
                    </a:p>
                  </a:txBody>
                  <a:tcPr/>
                </a:tc>
                <a:tc>
                  <a:txBody>
                    <a:bodyPr/>
                    <a:lstStyle/>
                    <a:p>
                      <a:r>
                        <a:rPr lang="en-US" dirty="0"/>
                        <a:t>&lt;Descriptions of Collateral and Tools used by Delivery of Service to engage with beneficiaries about the service&gt;</a:t>
                      </a:r>
                    </a:p>
                  </a:txBody>
                  <a:tcPr/>
                </a:tc>
                <a:extLst>
                  <a:ext uri="{0D108BD9-81ED-4DB2-BD59-A6C34878D82A}">
                    <a16:rowId xmlns:a16="http://schemas.microsoft.com/office/drawing/2014/main" val="2321847728"/>
                  </a:ext>
                </a:extLst>
              </a:tr>
            </a:tbl>
          </a:graphicData>
        </a:graphic>
      </p:graphicFrame>
    </p:spTree>
    <p:extLst>
      <p:ext uri="{BB962C8B-B14F-4D97-AF65-F5344CB8AC3E}">
        <p14:creationId xmlns:p14="http://schemas.microsoft.com/office/powerpoint/2010/main" val="2639682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13135</TotalTime>
  <Words>2590</Words>
  <Application>Microsoft Macintosh PowerPoint</Application>
  <PresentationFormat>Widescreen</PresentationFormat>
  <Paragraphs>259</Paragraphs>
  <Slides>15</Slides>
  <Notes>12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Calibri</vt:lpstr>
      <vt:lpstr>Symbol</vt:lpstr>
      <vt:lpstr>Office Theme</vt:lpstr>
      <vt:lpstr>1_Office Theme</vt:lpstr>
      <vt:lpstr>  AccelRR8 Consortium NonProfit Industry Innovation Service v1 </vt:lpstr>
      <vt:lpstr>Deliverables Produced During the Review Stage</vt:lpstr>
      <vt:lpstr>Service Hypothesis</vt:lpstr>
      <vt:lpstr>Preliminary Cost Estimates and WSJF</vt:lpstr>
      <vt:lpstr>Deliverables Produced During the Analysis Stage</vt:lpstr>
      <vt:lpstr>Service Alternatives</vt:lpstr>
      <vt:lpstr>Refined Cost Estimates and WSJF</vt:lpstr>
      <vt:lpstr>Lean Business Case (1/5)</vt:lpstr>
      <vt:lpstr>Lean Business Case (2/5)</vt:lpstr>
      <vt:lpstr>Lean Business Case (3/5)</vt:lpstr>
      <vt:lpstr>Lean Business Case (4/5)</vt:lpstr>
      <vt:lpstr>Lean Business Case (5/5)</vt:lpstr>
      <vt:lpstr>Service MVP  Component Descriptions</vt:lpstr>
      <vt:lpstr>Deliverables Produced During the Implementing - MVP Stage</vt:lpstr>
      <vt:lpstr>Service MVP  Component 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Digital Architect Consulting Services</dc:title>
  <dc:creator>Rich Reba</dc:creator>
  <cp:lastModifiedBy>Rich Reba</cp:lastModifiedBy>
  <cp:revision>136</cp:revision>
  <cp:lastPrinted>2023-12-07T14:04:48Z</cp:lastPrinted>
  <dcterms:created xsi:type="dcterms:W3CDTF">2023-08-22T19:09:59Z</dcterms:created>
  <dcterms:modified xsi:type="dcterms:W3CDTF">2026-08-09T20:00:02Z</dcterms:modified>
</cp:coreProperties>
</file>