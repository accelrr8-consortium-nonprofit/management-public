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78" r:id="rId4"/>
    <p:sldId id="264" r:id="rId5"/>
    <p:sldId id="266" r:id="rId6"/>
    <p:sldId id="279" r:id="rId7"/>
    <p:sldId id="282" r:id="rId8"/>
    <p:sldId id="277" r:id="rId9"/>
    <p:sldId id="268" r:id="rId10"/>
    <p:sldId id="283" r:id="rId11"/>
    <p:sldId id="280" r:id="rId12"/>
    <p:sldId id="275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wEp+Eio5qReXqYqUwMP31HB0A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BD5E34-3583-7545-A46B-ABA31E2AAE53}" v="6" dt="2026-08-13T03:10:20.5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91"/>
    <p:restoredTop sz="95738"/>
  </p:normalViewPr>
  <p:slideViewPr>
    <p:cSldViewPr snapToGrid="0">
      <p:cViewPr varScale="1">
        <p:scale>
          <a:sx n="135" d="100"/>
          <a:sy n="135" d="100"/>
        </p:scale>
        <p:origin x="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 Reba" userId="55db41ab6eb3f845" providerId="LiveId" clId="{0E19DA16-244C-5B50-BE0F-52911DD4CA7E}"/>
    <pc:docChg chg="custSel delSld modSld">
      <pc:chgData name="Rich Reba" userId="55db41ab6eb3f845" providerId="LiveId" clId="{0E19DA16-244C-5B50-BE0F-52911DD4CA7E}" dt="2026-08-13T03:09:58.118" v="919" actId="20577"/>
      <pc:docMkLst>
        <pc:docMk/>
      </pc:docMkLst>
      <pc:sldChg chg="modSp mod">
        <pc:chgData name="Rich Reba" userId="55db41ab6eb3f845" providerId="LiveId" clId="{0E19DA16-244C-5B50-BE0F-52911DD4CA7E}" dt="2026-08-09T19:48:54.955" v="43" actId="20577"/>
        <pc:sldMkLst>
          <pc:docMk/>
          <pc:sldMk cId="0" sldId="256"/>
        </pc:sldMkLst>
        <pc:spChg chg="mod">
          <ac:chgData name="Rich Reba" userId="55db41ab6eb3f845" providerId="LiveId" clId="{0E19DA16-244C-5B50-BE0F-52911DD4CA7E}" dt="2026-08-09T19:48:54.955" v="43" actId="20577"/>
          <ac:spMkLst>
            <pc:docMk/>
            <pc:sldMk cId="0" sldId="256"/>
            <ac:spMk id="91" creationId="{00000000-0000-0000-0000-000000000000}"/>
          </ac:spMkLst>
        </pc:spChg>
      </pc:sldChg>
      <pc:sldChg chg="addSp delSp modSp mod">
        <pc:chgData name="Rich Reba" userId="55db41ab6eb3f845" providerId="LiveId" clId="{0E19DA16-244C-5B50-BE0F-52911DD4CA7E}" dt="2026-08-13T03:09:02.531" v="899" actId="20577"/>
        <pc:sldMkLst>
          <pc:docMk/>
          <pc:sldMk cId="1272635936" sldId="264"/>
        </pc:sldMkLst>
        <pc:spChg chg="add mod">
          <ac:chgData name="Rich Reba" userId="55db41ab6eb3f845" providerId="LiveId" clId="{0E19DA16-244C-5B50-BE0F-52911DD4CA7E}" dt="2026-08-13T03:09:02.531" v="899" actId="20577"/>
          <ac:spMkLst>
            <pc:docMk/>
            <pc:sldMk cId="1272635936" sldId="264"/>
            <ac:spMk id="7" creationId="{1453F29E-0921-939A-C454-61B5E3D0A9F3}"/>
          </ac:spMkLst>
        </pc:spChg>
        <pc:graphicFrameChg chg="del modGraphic">
          <ac:chgData name="Rich Reba" userId="55db41ab6eb3f845" providerId="LiveId" clId="{0E19DA16-244C-5B50-BE0F-52911DD4CA7E}" dt="2026-08-13T03:07:03.419" v="877" actId="478"/>
          <ac:graphicFrameMkLst>
            <pc:docMk/>
            <pc:sldMk cId="1272635936" sldId="264"/>
            <ac:graphicFrameMk id="5" creationId="{4B70F3A5-8062-29A2-30D0-2783CB3DFCCA}"/>
          </ac:graphicFrameMkLst>
        </pc:graphicFrameChg>
      </pc:sldChg>
      <pc:sldChg chg="modSp mod">
        <pc:chgData name="Rich Reba" userId="55db41ab6eb3f845" providerId="LiveId" clId="{0E19DA16-244C-5B50-BE0F-52911DD4CA7E}" dt="2026-08-09T19:51:07.765" v="207" actId="20577"/>
        <pc:sldMkLst>
          <pc:docMk/>
          <pc:sldMk cId="4188122143" sldId="266"/>
        </pc:sldMkLst>
        <pc:graphicFrameChg chg="modGraphic">
          <ac:chgData name="Rich Reba" userId="55db41ab6eb3f845" providerId="LiveId" clId="{0E19DA16-244C-5B50-BE0F-52911DD4CA7E}" dt="2026-08-09T19:51:07.765" v="207" actId="20577"/>
          <ac:graphicFrameMkLst>
            <pc:docMk/>
            <pc:sldMk cId="4188122143" sldId="266"/>
            <ac:graphicFrameMk id="6" creationId="{DA3B7C68-A7A8-1CF8-C46B-DD7B5A05617E}"/>
          </ac:graphicFrameMkLst>
        </pc:graphicFrameChg>
      </pc:sldChg>
      <pc:sldChg chg="addSp delSp modSp mod">
        <pc:chgData name="Rich Reba" userId="55db41ab6eb3f845" providerId="LiveId" clId="{0E19DA16-244C-5B50-BE0F-52911DD4CA7E}" dt="2026-08-13T03:09:58.118" v="919" actId="20577"/>
        <pc:sldMkLst>
          <pc:docMk/>
          <pc:sldMk cId="1243007551" sldId="268"/>
        </pc:sldMkLst>
        <pc:spChg chg="add mod">
          <ac:chgData name="Rich Reba" userId="55db41ab6eb3f845" providerId="LiveId" clId="{0E19DA16-244C-5B50-BE0F-52911DD4CA7E}" dt="2026-08-13T03:09:58.118" v="919" actId="20577"/>
          <ac:spMkLst>
            <pc:docMk/>
            <pc:sldMk cId="1243007551" sldId="268"/>
            <ac:spMk id="7" creationId="{F917319F-88D2-8149-C746-78B145CD1DE3}"/>
          </ac:spMkLst>
        </pc:spChg>
        <pc:spChg chg="mod">
          <ac:chgData name="Rich Reba" userId="55db41ab6eb3f845" providerId="LiveId" clId="{0E19DA16-244C-5B50-BE0F-52911DD4CA7E}" dt="2026-08-13T03:01:54.228" v="876" actId="20577"/>
          <ac:spMkLst>
            <pc:docMk/>
            <pc:sldMk cId="1243007551" sldId="268"/>
            <ac:spMk id="96" creationId="{00000000-0000-0000-0000-000000000000}"/>
          </ac:spMkLst>
        </pc:spChg>
        <pc:graphicFrameChg chg="del modGraphic">
          <ac:chgData name="Rich Reba" userId="55db41ab6eb3f845" providerId="LiveId" clId="{0E19DA16-244C-5B50-BE0F-52911DD4CA7E}" dt="2026-08-13T03:01:50.073" v="870" actId="478"/>
          <ac:graphicFrameMkLst>
            <pc:docMk/>
            <pc:sldMk cId="1243007551" sldId="268"/>
            <ac:graphicFrameMk id="2" creationId="{849548E0-A616-4177-21C8-C63119ADCD53}"/>
          </ac:graphicFrameMkLst>
        </pc:graphicFrameChg>
      </pc:sldChg>
      <pc:sldChg chg="modSp del mod">
        <pc:chgData name="Rich Reba" userId="55db41ab6eb3f845" providerId="LiveId" clId="{0E19DA16-244C-5B50-BE0F-52911DD4CA7E}" dt="2026-08-13T03:01:44.359" v="869" actId="2696"/>
        <pc:sldMkLst>
          <pc:docMk/>
          <pc:sldMk cId="450257364" sldId="269"/>
        </pc:sldMkLst>
      </pc:sldChg>
      <pc:sldChg chg="modSp del mod">
        <pc:chgData name="Rich Reba" userId="55db41ab6eb3f845" providerId="LiveId" clId="{0E19DA16-244C-5B50-BE0F-52911DD4CA7E}" dt="2026-08-13T03:01:43.407" v="868" actId="2696"/>
        <pc:sldMkLst>
          <pc:docMk/>
          <pc:sldMk cId="4255637138" sldId="270"/>
        </pc:sldMkLst>
      </pc:sldChg>
      <pc:sldChg chg="modSp del mod">
        <pc:chgData name="Rich Reba" userId="55db41ab6eb3f845" providerId="LiveId" clId="{0E19DA16-244C-5B50-BE0F-52911DD4CA7E}" dt="2026-08-13T03:01:42.496" v="867" actId="2696"/>
        <pc:sldMkLst>
          <pc:docMk/>
          <pc:sldMk cId="67448461" sldId="271"/>
        </pc:sldMkLst>
      </pc:sldChg>
      <pc:sldChg chg="modSp del mod">
        <pc:chgData name="Rich Reba" userId="55db41ab6eb3f845" providerId="LiveId" clId="{0E19DA16-244C-5B50-BE0F-52911DD4CA7E}" dt="2026-08-13T03:01:41.451" v="866" actId="2696"/>
        <pc:sldMkLst>
          <pc:docMk/>
          <pc:sldMk cId="3088802820" sldId="272"/>
        </pc:sldMkLst>
      </pc:sldChg>
      <pc:sldChg chg="modSp">
        <pc:chgData name="Rich Reba" userId="55db41ab6eb3f845" providerId="LiveId" clId="{0E19DA16-244C-5B50-BE0F-52911DD4CA7E}" dt="2026-08-09T19:57:56.318" v="817"/>
        <pc:sldMkLst>
          <pc:docMk/>
          <pc:sldMk cId="2639682451" sldId="275"/>
        </pc:sldMkLst>
        <pc:graphicFrameChg chg="mod">
          <ac:chgData name="Rich Reba" userId="55db41ab6eb3f845" providerId="LiveId" clId="{0E19DA16-244C-5B50-BE0F-52911DD4CA7E}" dt="2026-08-09T19:57:56.318" v="817"/>
          <ac:graphicFrameMkLst>
            <pc:docMk/>
            <pc:sldMk cId="2639682451" sldId="275"/>
            <ac:graphicFrameMk id="5" creationId="{4E10C936-0962-5D53-9F05-8487710C36A2}"/>
          </ac:graphicFrameMkLst>
        </pc:graphicFrameChg>
      </pc:sldChg>
      <pc:sldChg chg="modSp">
        <pc:chgData name="Rich Reba" userId="55db41ab6eb3f845" providerId="LiveId" clId="{0E19DA16-244C-5B50-BE0F-52911DD4CA7E}" dt="2026-08-09T19:52:08.065" v="233"/>
        <pc:sldMkLst>
          <pc:docMk/>
          <pc:sldMk cId="368434212" sldId="277"/>
        </pc:sldMkLst>
        <pc:graphicFrameChg chg="mod">
          <ac:chgData name="Rich Reba" userId="55db41ab6eb3f845" providerId="LiveId" clId="{0E19DA16-244C-5B50-BE0F-52911DD4CA7E}" dt="2026-08-09T19:52:08.065" v="233"/>
          <ac:graphicFrameMkLst>
            <pc:docMk/>
            <pc:sldMk cId="368434212" sldId="277"/>
            <ac:graphicFrameMk id="4" creationId="{61DF5FE9-2C03-B515-AFEB-251932A7C8EA}"/>
          </ac:graphicFrameMkLst>
        </pc:graphicFrameChg>
      </pc:sldChg>
      <pc:sldChg chg="modSp mod">
        <pc:chgData name="Rich Reba" userId="55db41ab6eb3f845" providerId="LiveId" clId="{0E19DA16-244C-5B50-BE0F-52911DD4CA7E}" dt="2026-08-09T19:51:35.135" v="232" actId="20577"/>
        <pc:sldMkLst>
          <pc:docMk/>
          <pc:sldMk cId="3475755944" sldId="282"/>
        </pc:sldMkLst>
        <pc:graphicFrameChg chg="modGraphic">
          <ac:chgData name="Rich Reba" userId="55db41ab6eb3f845" providerId="LiveId" clId="{0E19DA16-244C-5B50-BE0F-52911DD4CA7E}" dt="2026-08-09T19:51:35.135" v="232" actId="20577"/>
          <ac:graphicFrameMkLst>
            <pc:docMk/>
            <pc:sldMk cId="3475755944" sldId="282"/>
            <ac:graphicFrameMk id="5" creationId="{4B70F3A5-8062-29A2-30D0-2783CB3DFCCA}"/>
          </ac:graphicFrameMkLst>
        </pc:graphicFrameChg>
      </pc:sldChg>
      <pc:sldChg chg="modSp mod">
        <pc:chgData name="Rich Reba" userId="55db41ab6eb3f845" providerId="LiveId" clId="{0E19DA16-244C-5B50-BE0F-52911DD4CA7E}" dt="2026-08-09T19:57:44.221" v="816" actId="20577"/>
        <pc:sldMkLst>
          <pc:docMk/>
          <pc:sldMk cId="3960435043" sldId="283"/>
        </pc:sldMkLst>
        <pc:graphicFrameChg chg="modGraphic">
          <ac:chgData name="Rich Reba" userId="55db41ab6eb3f845" providerId="LiveId" clId="{0E19DA16-244C-5B50-BE0F-52911DD4CA7E}" dt="2026-08-09T19:57:44.221" v="816" actId="20577"/>
          <ac:graphicFrameMkLst>
            <pc:docMk/>
            <pc:sldMk cId="3960435043" sldId="283"/>
            <ac:graphicFrameMk id="5" creationId="{4B70F3A5-8062-29A2-30D0-2783CB3DFCC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2669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3178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6034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0382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9114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9184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7367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93725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463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622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1836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0138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3141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5894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26350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celRR8-Consortium-NonProfit/Management-Public/blob/main/docs/2_Value_Creation/2a_Product/Industry_Innovation/Industry_Innovation_v1_Epic-Hypothesis-Statement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wsjf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wsjf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celRR8-Consortium-NonProfit/Management-Public/blob/main/docs/2_Value_Creation/2a_Product/Industry_Innovation/Industry_Innovation_v1_Lean_Business_Case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solution-context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caledagileframework.com/solution-intent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solution-context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caledagileframework.com/solution-inten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304800" y="2785676"/>
            <a:ext cx="115824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AccelRR8 Consortium NonProfit</a:t>
            </a:r>
            <a:br>
              <a:rPr lang="en-US" dirty="0"/>
            </a:br>
            <a:r>
              <a:rPr lang="en-US" dirty="0"/>
              <a:t>Industry Innovation Service v1</a:t>
            </a:r>
            <a:br>
              <a:rPr lang="en-US" dirty="0"/>
            </a:br>
            <a:endParaRPr sz="40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79337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Industry Innovation Service Leader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August 9, 2026</a:t>
            </a:r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B78BEAA4-CC48-1EF1-1035-C48CDEB46C1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 Review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7596B8-DA7D-1389-CC1D-C0EF98524A91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965822-0847-B892-7BF1-00B31C259B5C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354B4-F67E-5C6D-DE69-888030925B0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048B8078-0A98-B723-6D07-9C874B8373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811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Hypothesis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989B31-3419-2492-D5BA-841085EFFD20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FC860D-600B-CFAA-AA67-87D20B2848A4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E98312-7BF3-634D-DE2E-782C5EA05BB7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F57F7845-FD8A-DCA4-39DB-1B7D9CF0BA2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57355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3F29E-0921-939A-C454-61B5E3D0A9F3}"/>
              </a:ext>
            </a:extLst>
          </p:cNvPr>
          <p:cNvSpPr txBox="1"/>
          <p:nvPr/>
        </p:nvSpPr>
        <p:spPr>
          <a:xfrm>
            <a:off x="914400" y="1883229"/>
            <a:ext cx="4980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Link to Industry_Innovation_v1_Epic-Hypothesis-Statement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3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Preliminary Cost Estimates and WSJF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ADFCCD-21B2-3785-8E68-1D6E82E2DA76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3EA3BE-F73F-61F7-3F9D-5A3302400620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9D7C28-1555-09D1-4AEE-8F09AA4FB52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3B7C68-A7A8-1CF8-C46B-DD7B5A056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699021"/>
              </p:ext>
            </p:extLst>
          </p:nvPr>
        </p:nvGraphicFramePr>
        <p:xfrm>
          <a:off x="427512" y="1590327"/>
          <a:ext cx="11447813" cy="472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0057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9357756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Preliminary Cost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Donation of volunteer time by Core members at no cost to AccelRR8 Consortium Non-Profit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Use of LinkedIn and other platforms at no cost to AccelRR8 Consortium Non-Profit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Relative Priority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200" b="0" i="1" dirty="0"/>
                        <a:t>Method:  Weighted Shortest Job First (WSJF) Score*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WSJF = 4, which is COST OF DELAY / JOB SIZE = 35 / 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COST OF DELAY = 11 + 11 + 13 = 35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USER-BUSINESS VALUE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Do stakeholders prefer this over other services?   13:  the “grow value exponentially at scale” capability is valued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revenue impact on the Consortium?   1:  the MVP is a free service, though some may donate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Are there negative effects if we delay?   20:  the Consortium’s other services depend on this 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TIME CRITICALITY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a fixed deadline?   1:  no fixed deadline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Will they wait for us or move to another Solution?   20:  AI maturity threatens relevancy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current effect on stakeholder satisfaction?   13:  stakeholders want solutions that move the needle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RISK REDUCTION AND/OR OPPORTUNITY ENABLEMENT = 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Reduces the risk of this or future delivery?   13:  compounding innovation is needed to attract patrons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value in the information we receive?  13:  willingness of patrons and subscribers to engage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Enable new business opportunities?  13:  patrons and subscribers will learn about other Consortium services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JOB SIZE = 8;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personally become patrons and develop initial solutions (6 months);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engage other Tech Services organization leaders to be patrons for innovation (6 months)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5" name="Google Shape;18;p9">
            <a:extLst>
              <a:ext uri="{FF2B5EF4-FFF2-40B4-BE49-F238E27FC236}">
                <a16:creationId xmlns:a16="http://schemas.microsoft.com/office/drawing/2014/main" id="{C5748C3E-8A70-958C-B8E4-332FC5861B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55229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F34AD7-6E8C-6A1C-9085-B5DC5F237EC4}"/>
              </a:ext>
            </a:extLst>
          </p:cNvPr>
          <p:cNvSpPr txBox="1"/>
          <p:nvPr/>
        </p:nvSpPr>
        <p:spPr>
          <a:xfrm>
            <a:off x="427512" y="6296623"/>
            <a:ext cx="70904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*See </a:t>
            </a:r>
            <a:r>
              <a:rPr lang="en-US" sz="1000" dirty="0">
                <a:hlinkClick r:id="rId3"/>
              </a:rPr>
              <a:t>SAFe WSJF article</a:t>
            </a:r>
            <a:r>
              <a:rPr lang="en-US" sz="1000" dirty="0"/>
              <a:t>; scale for each root parameter is 1, 2, 3, 5, 8, 13, 20 (subset of the modified Fibonacci sequence)</a:t>
            </a:r>
          </a:p>
        </p:txBody>
      </p:sp>
    </p:spTree>
    <p:extLst>
      <p:ext uri="{BB962C8B-B14F-4D97-AF65-F5344CB8AC3E}">
        <p14:creationId xmlns:p14="http://schemas.microsoft.com/office/powerpoint/2010/main" val="418812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</a:t>
            </a:r>
            <a:br>
              <a:rPr lang="en-US" dirty="0"/>
            </a:br>
            <a:r>
              <a:rPr lang="en-US" dirty="0"/>
              <a:t>Analysis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7D92EC-B5B2-F4BF-5DE9-95612E9E3BED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B6C110-0BBD-1173-FD61-0D99BC146576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C5FF28-EDA5-D92B-FEB5-078711BC8358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7CAB671F-9BEE-E2C8-B532-9AAC16B0D9F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9550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Alternatives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425362"/>
              </p:ext>
            </p:extLst>
          </p:nvPr>
        </p:nvGraphicFramePr>
        <p:xfrm>
          <a:off x="969319" y="1690687"/>
          <a:ext cx="10326210" cy="34729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795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070415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736492">
                <a:tc>
                  <a:txBody>
                    <a:bodyPr/>
                    <a:lstStyle/>
                    <a:p>
                      <a:r>
                        <a:rPr lang="en-US" sz="1600" b="1" dirty="0"/>
                        <a:t>Alternative 1: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Free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0" i="1" dirty="0"/>
                        <a:t>SELECTED</a:t>
                      </a:r>
                    </a:p>
                    <a:p>
                      <a:endParaRPr lang="en-US" sz="16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Patron organizations and individuals can join the AccelRR8 Consortium network as advocates (free advertising, e.g., Bronze Tier)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736492">
                <a:tc>
                  <a:txBody>
                    <a:bodyPr/>
                    <a:lstStyle/>
                    <a:p>
                      <a:r>
                        <a:rPr lang="en-US" sz="1600" b="1" dirty="0"/>
                        <a:t>Alternative 2: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Fee-based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0" i="1" dirty="0"/>
                        <a:t>CONSIDER FOR FUTURE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Patron organizations and individuals can pay an annual fee and become higher-level patrons (e.g., Diamond, Platinum, Gold, Silver) to co-develop exponential solutions for priority industry 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EEA9109-11FD-F460-0725-95712E9F1A03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ACE2DB-9695-6846-EBC0-CDDAB593C84D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25B23-224F-30BC-1255-BD6819F53A15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B53C39C2-BA45-92C3-D93B-96BF2FF7E2E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5755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Refined Cost Estimates and WSJF</a:t>
            </a: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E44920-E1DB-DBA8-39D2-0F97A8DAB792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465CE0-9D8F-416A-DC1E-6FAA36024E8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93366-078D-A801-5B4A-525F4CD74719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3" name="Google Shape;18;p9">
            <a:extLst>
              <a:ext uri="{FF2B5EF4-FFF2-40B4-BE49-F238E27FC236}">
                <a16:creationId xmlns:a16="http://schemas.microsoft.com/office/drawing/2014/main" id="{7EF92490-8763-C122-9420-8771007CA2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DF5FE9-2C03-B515-AFEB-251932A7C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542197"/>
              </p:ext>
            </p:extLst>
          </p:nvPr>
        </p:nvGraphicFramePr>
        <p:xfrm>
          <a:off x="427512" y="1590327"/>
          <a:ext cx="11447813" cy="472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0057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9357756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Preliminary Cost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Donation of volunteer time by Core members at no cost to AccelRR8 Consortium Non-Profit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Use of LinkedIn and other platforms at no cost to AccelRR8 Consortium Non-Profit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Relative Priority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200" b="0" i="1" dirty="0"/>
                        <a:t>Method:  Weighted Shortest Job First (WSJF) Score*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WSJF = 4, which is COST OF DELAY / JOB SIZE = 35 / 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COST OF DELAY = 11 + 11 + 13 = 35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USER-BUSINESS VALUE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Do stakeholders prefer this over other services?   13:  the “grow value exponentially at scale” capability is valued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revenue impact on the Consortium?   1:  the MVP is a free service, though some may donate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Are there negative effects if we delay?   20:  the Consortium’s other services depend on this 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TIME CRITICALITY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a fixed deadline?   1:  no fixed deadline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Will they wait for us or move to another Solution?   20:  AI maturity threatens relevancy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current effect on stakeholder satisfaction?   13:  stakeholders want solutions that move the needle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RISK REDUCTION AND/OR OPPORTUNITY ENABLEMENT = 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Reduces the risk of this or future delivery?   13:  compounding innovation is needed to attract patrons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value in the information we receive?  13:  willingness of patrons and subscribers to engage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Enable new business opportunities?  13:  patrons and subscribers will learn about other Consortium services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JOB SIZE = 8;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personally become patrons and develop initial solutions (6 months);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engage other Tech Services organization leaders to be patrons for innovation (6 months)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98872C2-D47D-A5E4-B7C0-29D65948CD53}"/>
              </a:ext>
            </a:extLst>
          </p:cNvPr>
          <p:cNvSpPr txBox="1"/>
          <p:nvPr/>
        </p:nvSpPr>
        <p:spPr>
          <a:xfrm>
            <a:off x="427512" y="6296623"/>
            <a:ext cx="70904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*See </a:t>
            </a:r>
            <a:r>
              <a:rPr lang="en-US" sz="1000" dirty="0">
                <a:hlinkClick r:id="rId3"/>
              </a:rPr>
              <a:t>SAFe WSJF article</a:t>
            </a:r>
            <a:r>
              <a:rPr lang="en-US" sz="1000" dirty="0"/>
              <a:t>; scale for each root parameter is 1, 2, 3, 5, 8, 13, 20 (subset of the modified Fibonacci sequence)</a:t>
            </a:r>
          </a:p>
        </p:txBody>
      </p:sp>
    </p:spTree>
    <p:extLst>
      <p:ext uri="{BB962C8B-B14F-4D97-AF65-F5344CB8AC3E}">
        <p14:creationId xmlns:p14="http://schemas.microsoft.com/office/powerpoint/2010/main" val="368434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Lean Business Case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C16F5D-3110-F78F-4BCE-2771F94F23F4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B45135-FB35-B334-1389-8F4FC41447E6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52194-1B19-D864-7329-44E737966261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FC3986F6-425A-0514-DE8E-DE31978EAAD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54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17319F-88D2-8149-C746-78B145CD1DE3}"/>
              </a:ext>
            </a:extLst>
          </p:cNvPr>
          <p:cNvSpPr txBox="1"/>
          <p:nvPr/>
        </p:nvSpPr>
        <p:spPr>
          <a:xfrm>
            <a:off x="914400" y="1883229"/>
            <a:ext cx="4453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Link to Industry_Innovation_v1_Lean_Business_Case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07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MVP </a:t>
            </a:r>
            <a:br>
              <a:rPr lang="en-US" dirty="0"/>
            </a:br>
            <a:r>
              <a:rPr lang="en-US" dirty="0"/>
              <a:t>Component Descriptions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982169"/>
              </p:ext>
            </p:extLst>
          </p:nvPr>
        </p:nvGraphicFramePr>
        <p:xfrm>
          <a:off x="969319" y="1690687"/>
          <a:ext cx="10806369" cy="4609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9998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876371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Industry Innovation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80345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&lt;3-Horizon Strategy for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085893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Context at </a:t>
                      </a:r>
                      <a:r>
                        <a:rPr lang="en-US" dirty="0">
                          <a:hlinkClick r:id="rId3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Intent at </a:t>
                      </a:r>
                      <a:r>
                        <a:rPr lang="en-US" dirty="0">
                          <a:hlinkClick r:id="rId4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the Products team to develop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4956"/>
                  </a:ext>
                </a:extLst>
              </a:tr>
              <a:tr h="857628">
                <a:tc>
                  <a:txBody>
                    <a:bodyPr/>
                    <a:lstStyle/>
                    <a:p>
                      <a:r>
                        <a:rPr lang="en-US" sz="1600" b="0" dirty="0"/>
                        <a:t>Demand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Generation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Demand Generation to engage with potential beneficiaries in market segments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Beneficiaries Engagement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r>
                        <a:rPr lang="en-US" dirty="0"/>
                        <a:t>&lt;Descriptions of Collateral and Tools used by </a:t>
                      </a:r>
                      <a:r>
                        <a:rPr lang="en-US" dirty="0" err="1"/>
                        <a:t>Benficiaries</a:t>
                      </a:r>
                      <a:r>
                        <a:rPr lang="en-US" dirty="0"/>
                        <a:t> Engagement to engage with specific potential beneficiaries about the service&gt;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Delivery of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Service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Delivery of Service to engage with beneficiaries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7372D81-FEF0-F693-D686-F9DF46C1643F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C5A52-20CA-F258-B608-01820FE0C52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Analysis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08F55C-5399-5D3A-6145-A00CC01B7E5F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3960435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</a:t>
            </a:r>
            <a:br>
              <a:rPr lang="en-US" dirty="0"/>
            </a:br>
            <a:r>
              <a:rPr lang="en-US" dirty="0"/>
              <a:t>Implementing - MVP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0D088-D60A-E04C-3455-F07D0ED3B9D3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836CB-4917-29CA-7AC0-92843E14565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1CCD8A-8B41-9B93-2D05-D8CF2AC3F89C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ED514B9A-C821-414D-27E7-22058443F6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022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MVP </a:t>
            </a:r>
            <a:br>
              <a:rPr lang="en-US" dirty="0"/>
            </a:br>
            <a:r>
              <a:rPr lang="en-US" dirty="0"/>
              <a:t>Component Links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11BEFC-1920-CDC4-D668-C6A225FD1E80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67E27-965B-E3ED-DB12-8F7EC8856408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28C04-B19B-2E05-3473-28A909FEAFDE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7C30D5DC-2695-01BA-B05D-C3CC4747D7F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10C936-0962-5D53-9F05-8487710C3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619629"/>
              </p:ext>
            </p:extLst>
          </p:nvPr>
        </p:nvGraphicFramePr>
        <p:xfrm>
          <a:off x="969319" y="1690687"/>
          <a:ext cx="10806369" cy="4609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9998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876371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Industry Innovation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80345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&lt;3-Horizon Strategy for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085893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Context at </a:t>
                      </a:r>
                      <a:r>
                        <a:rPr lang="en-US" dirty="0">
                          <a:hlinkClick r:id="rId3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Intent at </a:t>
                      </a:r>
                      <a:r>
                        <a:rPr lang="en-US" dirty="0">
                          <a:hlinkClick r:id="rId4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the Products team to develop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4956"/>
                  </a:ext>
                </a:extLst>
              </a:tr>
              <a:tr h="857628">
                <a:tc>
                  <a:txBody>
                    <a:bodyPr/>
                    <a:lstStyle/>
                    <a:p>
                      <a:r>
                        <a:rPr lang="en-US" sz="1600" b="0" dirty="0"/>
                        <a:t>Demand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Generation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Demand Generation to engage with potential beneficiaries in market segments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Beneficiaries Engagement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r>
                        <a:rPr lang="en-US" dirty="0"/>
                        <a:t>&lt;Descriptions of Collateral and Tools used by </a:t>
                      </a:r>
                      <a:r>
                        <a:rPr lang="en-US" dirty="0" err="1"/>
                        <a:t>Benficiaries</a:t>
                      </a:r>
                      <a:r>
                        <a:rPr lang="en-US" dirty="0"/>
                        <a:t> Engagement to engage with specific potential beneficiaries about the service&gt;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Delivery of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Service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Delivery of Service to engage with beneficiaries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682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13153</TotalTime>
  <Words>1210</Words>
  <Application>Microsoft Macintosh PowerPoint</Application>
  <PresentationFormat>Widescreen</PresentationFormat>
  <Paragraphs>147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Symbol</vt:lpstr>
      <vt:lpstr>Office Theme</vt:lpstr>
      <vt:lpstr>1_Office Theme</vt:lpstr>
      <vt:lpstr>  AccelRR8 Consortium NonProfit Industry Innovation Service v1 </vt:lpstr>
      <vt:lpstr>Deliverables Produced During the Review Stage</vt:lpstr>
      <vt:lpstr>Service Hypothesis</vt:lpstr>
      <vt:lpstr>Preliminary Cost Estimates and WSJF</vt:lpstr>
      <vt:lpstr>Deliverables Produced During the Analysis Stage</vt:lpstr>
      <vt:lpstr>Service Alternatives</vt:lpstr>
      <vt:lpstr>Refined Cost Estimates and WSJF</vt:lpstr>
      <vt:lpstr>Lean Business Case</vt:lpstr>
      <vt:lpstr>Service MVP  Component Descriptions</vt:lpstr>
      <vt:lpstr>Deliverables Produced During the Implementing - MVP Stage</vt:lpstr>
      <vt:lpstr>Service MVP  Component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Digital Architect Consulting Services</dc:title>
  <dc:creator>Rich Reba</dc:creator>
  <cp:lastModifiedBy>Rich Reba</cp:lastModifiedBy>
  <cp:revision>136</cp:revision>
  <cp:lastPrinted>2023-12-07T14:04:48Z</cp:lastPrinted>
  <dcterms:created xsi:type="dcterms:W3CDTF">2023-08-22T19:09:59Z</dcterms:created>
  <dcterms:modified xsi:type="dcterms:W3CDTF">2026-08-13T03:10:22Z</dcterms:modified>
</cp:coreProperties>
</file>