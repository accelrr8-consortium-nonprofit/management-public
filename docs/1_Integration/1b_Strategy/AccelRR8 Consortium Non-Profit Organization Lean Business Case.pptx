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80" r:id="rId3"/>
    <p:sldId id="264" r:id="rId4"/>
    <p:sldId id="281" r:id="rId5"/>
    <p:sldId id="268" r:id="rId6"/>
    <p:sldId id="269" r:id="rId7"/>
    <p:sldId id="270" r:id="rId8"/>
    <p:sldId id="271" r:id="rId9"/>
    <p:sldId id="272" r:id="rId10"/>
    <p:sldId id="282"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F318A3-7AA5-C94D-8701-4AE5EC321EBC}" v="21" dt="2024-10-23T18:22:49.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49"/>
    <p:restoredTop sz="95757"/>
  </p:normalViewPr>
  <p:slideViewPr>
    <p:cSldViewPr snapToGrid="0">
      <p:cViewPr varScale="1">
        <p:scale>
          <a:sx n="113" d="100"/>
          <a:sy n="113" d="100"/>
        </p:scale>
        <p:origin x="288"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viewProps" Target="viewProps.xml"/><Relationship Id="rId10" Type="http://schemas.openxmlformats.org/officeDocument/2006/relationships/slide" Target="slides/slide9.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8245d172-5b81-40f1-a13b-b71f02cd6700" providerId="ADAL" clId="{7248A94D-42C9-7544-804F-322A0463B4DD}"/>
    <pc:docChg chg="delSld delMainMaster">
      <pc:chgData name="Rich Reba" userId="8245d172-5b81-40f1-a13b-b71f02cd6700" providerId="ADAL" clId="{7248A94D-42C9-7544-804F-322A0463B4DD}" dt="2024-09-06T12:35:48.338" v="12" actId="2696"/>
      <pc:docMkLst>
        <pc:docMk/>
      </pc:docMkLst>
      <pc:sldChg chg="del">
        <pc:chgData name="Rich Reba" userId="8245d172-5b81-40f1-a13b-b71f02cd6700" providerId="ADAL" clId="{7248A94D-42C9-7544-804F-322A0463B4DD}" dt="2024-09-06T12:35:48.250" v="2" actId="2696"/>
        <pc:sldMkLst>
          <pc:docMk/>
          <pc:sldMk cId="2353389302" sldId="262"/>
        </pc:sldMkLst>
      </pc:sldChg>
      <pc:sldChg chg="del">
        <pc:chgData name="Rich Reba" userId="8245d172-5b81-40f1-a13b-b71f02cd6700" providerId="ADAL" clId="{7248A94D-42C9-7544-804F-322A0463B4DD}" dt="2024-09-06T12:35:48.324" v="11" actId="2696"/>
        <pc:sldMkLst>
          <pc:docMk/>
          <pc:sldMk cId="797753247" sldId="263"/>
        </pc:sldMkLst>
      </pc:sldChg>
      <pc:sldChg chg="del">
        <pc:chgData name="Rich Reba" userId="8245d172-5b81-40f1-a13b-b71f02cd6700" providerId="ADAL" clId="{7248A94D-42C9-7544-804F-322A0463B4DD}" dt="2024-09-06T12:35:48.315" v="8" actId="2696"/>
        <pc:sldMkLst>
          <pc:docMk/>
          <pc:sldMk cId="4274695656" sldId="273"/>
        </pc:sldMkLst>
      </pc:sldChg>
      <pc:sldChg chg="del">
        <pc:chgData name="Rich Reba" userId="8245d172-5b81-40f1-a13b-b71f02cd6700" providerId="ADAL" clId="{7248A94D-42C9-7544-804F-322A0463B4DD}" dt="2024-09-06T12:35:48.244" v="1" actId="2696"/>
        <pc:sldMkLst>
          <pc:docMk/>
          <pc:sldMk cId="1656586467" sldId="274"/>
        </pc:sldMkLst>
      </pc:sldChg>
      <pc:sldChg chg="del">
        <pc:chgData name="Rich Reba" userId="8245d172-5b81-40f1-a13b-b71f02cd6700" providerId="ADAL" clId="{7248A94D-42C9-7544-804F-322A0463B4DD}" dt="2024-09-06T12:35:48.294" v="7" actId="2696"/>
        <pc:sldMkLst>
          <pc:docMk/>
          <pc:sldMk cId="2269987968" sldId="275"/>
        </pc:sldMkLst>
      </pc:sldChg>
      <pc:sldChg chg="del">
        <pc:chgData name="Rich Reba" userId="8245d172-5b81-40f1-a13b-b71f02cd6700" providerId="ADAL" clId="{7248A94D-42C9-7544-804F-322A0463B4DD}" dt="2024-09-06T12:35:48.338" v="12" actId="2696"/>
        <pc:sldMkLst>
          <pc:docMk/>
          <pc:sldMk cId="1732335019" sldId="276"/>
        </pc:sldMkLst>
      </pc:sldChg>
      <pc:sldChg chg="del">
        <pc:chgData name="Rich Reba" userId="8245d172-5b81-40f1-a13b-b71f02cd6700" providerId="ADAL" clId="{7248A94D-42C9-7544-804F-322A0463B4DD}" dt="2024-09-06T12:35:48.291" v="6" actId="2696"/>
        <pc:sldMkLst>
          <pc:docMk/>
          <pc:sldMk cId="2006733346" sldId="277"/>
        </pc:sldMkLst>
      </pc:sldChg>
      <pc:sldChg chg="del">
        <pc:chgData name="Rich Reba" userId="8245d172-5b81-40f1-a13b-b71f02cd6700" providerId="ADAL" clId="{7248A94D-42C9-7544-804F-322A0463B4DD}" dt="2024-09-06T12:35:48.240" v="0" actId="2696"/>
        <pc:sldMkLst>
          <pc:docMk/>
          <pc:sldMk cId="2212015073" sldId="278"/>
        </pc:sldMkLst>
      </pc:sldChg>
      <pc:sldChg chg="del">
        <pc:chgData name="Rich Reba" userId="8245d172-5b81-40f1-a13b-b71f02cd6700" providerId="ADAL" clId="{7248A94D-42C9-7544-804F-322A0463B4DD}" dt="2024-09-06T12:35:48.318" v="9" actId="2696"/>
        <pc:sldMkLst>
          <pc:docMk/>
          <pc:sldMk cId="3641467929" sldId="279"/>
        </pc:sldMkLst>
      </pc:sldChg>
      <pc:sldChg chg="del">
        <pc:chgData name="Rich Reba" userId="8245d172-5b81-40f1-a13b-b71f02cd6700" providerId="ADAL" clId="{7248A94D-42C9-7544-804F-322A0463B4DD}" dt="2024-09-06T12:35:48.270" v="4" actId="2696"/>
        <pc:sldMkLst>
          <pc:docMk/>
          <pc:sldMk cId="2176843835" sldId="398"/>
        </pc:sldMkLst>
      </pc:sldChg>
      <pc:sldChg chg="del">
        <pc:chgData name="Rich Reba" userId="8245d172-5b81-40f1-a13b-b71f02cd6700" providerId="ADAL" clId="{7248A94D-42C9-7544-804F-322A0463B4DD}" dt="2024-09-06T12:35:48.255" v="3" actId="2696"/>
        <pc:sldMkLst>
          <pc:docMk/>
          <pc:sldMk cId="3350860745" sldId="399"/>
        </pc:sldMkLst>
      </pc:sldChg>
      <pc:sldChg chg="del">
        <pc:chgData name="Rich Reba" userId="8245d172-5b81-40f1-a13b-b71f02cd6700" providerId="ADAL" clId="{7248A94D-42C9-7544-804F-322A0463B4DD}" dt="2024-09-06T12:35:48.322" v="10" actId="2696"/>
        <pc:sldMkLst>
          <pc:docMk/>
          <pc:sldMk cId="797649862" sldId="400"/>
        </pc:sldMkLst>
      </pc:sldChg>
      <pc:sldMasterChg chg="del">
        <pc:chgData name="Rich Reba" userId="8245d172-5b81-40f1-a13b-b71f02cd6700" providerId="ADAL" clId="{7248A94D-42C9-7544-804F-322A0463B4DD}" dt="2024-09-06T12:35:48.286" v="5" actId="2696"/>
        <pc:sldMasterMkLst>
          <pc:docMk/>
          <pc:sldMasterMk cId="3149524428" sldId="2147483661"/>
        </pc:sldMasterMkLst>
      </pc:sldMasterChg>
    </pc:docChg>
  </pc:docChgLst>
  <pc:docChgLst>
    <pc:chgData name="Rich Reba" userId="8245d172-5b81-40f1-a13b-b71f02cd6700" providerId="ADAL" clId="{61F318A3-7AA5-C94D-8701-4AE5EC321EBC}"/>
    <pc:docChg chg="undo custSel modSld">
      <pc:chgData name="Rich Reba" userId="8245d172-5b81-40f1-a13b-b71f02cd6700" providerId="ADAL" clId="{61F318A3-7AA5-C94D-8701-4AE5EC321EBC}" dt="2024-10-24T18:22:55.477" v="6262" actId="20577"/>
      <pc:docMkLst>
        <pc:docMk/>
      </pc:docMkLst>
      <pc:sldChg chg="modSp mod">
        <pc:chgData name="Rich Reba" userId="8245d172-5b81-40f1-a13b-b71f02cd6700" providerId="ADAL" clId="{61F318A3-7AA5-C94D-8701-4AE5EC321EBC}" dt="2024-10-24T18:22:55.477" v="6262" actId="20577"/>
        <pc:sldMkLst>
          <pc:docMk/>
          <pc:sldMk cId="0" sldId="256"/>
        </pc:sldMkLst>
        <pc:spChg chg="mod">
          <ac:chgData name="Rich Reba" userId="8245d172-5b81-40f1-a13b-b71f02cd6700" providerId="ADAL" clId="{61F318A3-7AA5-C94D-8701-4AE5EC321EBC}" dt="2024-10-22T01:47:27.345" v="20" actId="20577"/>
          <ac:spMkLst>
            <pc:docMk/>
            <pc:sldMk cId="0" sldId="256"/>
            <ac:spMk id="90" creationId="{00000000-0000-0000-0000-000000000000}"/>
          </ac:spMkLst>
        </pc:spChg>
        <pc:spChg chg="mod">
          <ac:chgData name="Rich Reba" userId="8245d172-5b81-40f1-a13b-b71f02cd6700" providerId="ADAL" clId="{61F318A3-7AA5-C94D-8701-4AE5EC321EBC}" dt="2024-10-24T18:22:55.477" v="6262" actId="20577"/>
          <ac:spMkLst>
            <pc:docMk/>
            <pc:sldMk cId="0" sldId="256"/>
            <ac:spMk id="91" creationId="{00000000-0000-0000-0000-000000000000}"/>
          </ac:spMkLst>
        </pc:spChg>
      </pc:sldChg>
      <pc:sldChg chg="modSp mod">
        <pc:chgData name="Rich Reba" userId="8245d172-5b81-40f1-a13b-b71f02cd6700" providerId="ADAL" clId="{61F318A3-7AA5-C94D-8701-4AE5EC321EBC}" dt="2024-10-22T12:55:08.469" v="2330" actId="20577"/>
        <pc:sldMkLst>
          <pc:docMk/>
          <pc:sldMk cId="1272635936" sldId="264"/>
        </pc:sldMkLst>
        <pc:graphicFrameChg chg="modGraphic">
          <ac:chgData name="Rich Reba" userId="8245d172-5b81-40f1-a13b-b71f02cd6700" providerId="ADAL" clId="{61F318A3-7AA5-C94D-8701-4AE5EC321EBC}" dt="2024-10-22T12:55:08.469" v="2330" actId="20577"/>
          <ac:graphicFrameMkLst>
            <pc:docMk/>
            <pc:sldMk cId="1272635936" sldId="264"/>
            <ac:graphicFrameMk id="5" creationId="{4B70F3A5-8062-29A2-30D0-2783CB3DFCCA}"/>
          </ac:graphicFrameMkLst>
        </pc:graphicFrameChg>
      </pc:sldChg>
      <pc:sldChg chg="modSp mod">
        <pc:chgData name="Rich Reba" userId="8245d172-5b81-40f1-a13b-b71f02cd6700" providerId="ADAL" clId="{61F318A3-7AA5-C94D-8701-4AE5EC321EBC}" dt="2024-10-22T14:25:02.922" v="6246" actId="14734"/>
        <pc:sldMkLst>
          <pc:docMk/>
          <pc:sldMk cId="1243007551" sldId="268"/>
        </pc:sldMkLst>
        <pc:graphicFrameChg chg="mod modGraphic">
          <ac:chgData name="Rich Reba" userId="8245d172-5b81-40f1-a13b-b71f02cd6700" providerId="ADAL" clId="{61F318A3-7AA5-C94D-8701-4AE5EC321EBC}" dt="2024-10-22T14:25:02.922" v="6246" actId="14734"/>
          <ac:graphicFrameMkLst>
            <pc:docMk/>
            <pc:sldMk cId="1243007551" sldId="268"/>
            <ac:graphicFrameMk id="2" creationId="{849548E0-A616-4177-21C8-C63119ADCD53}"/>
          </ac:graphicFrameMkLst>
        </pc:graphicFrameChg>
      </pc:sldChg>
      <pc:sldChg chg="modSp mod">
        <pc:chgData name="Rich Reba" userId="8245d172-5b81-40f1-a13b-b71f02cd6700" providerId="ADAL" clId="{61F318A3-7AA5-C94D-8701-4AE5EC321EBC}" dt="2024-10-22T14:33:48.562" v="6249" actId="20577"/>
        <pc:sldMkLst>
          <pc:docMk/>
          <pc:sldMk cId="450257364" sldId="269"/>
        </pc:sldMkLst>
        <pc:graphicFrameChg chg="mod modGraphic">
          <ac:chgData name="Rich Reba" userId="8245d172-5b81-40f1-a13b-b71f02cd6700" providerId="ADAL" clId="{61F318A3-7AA5-C94D-8701-4AE5EC321EBC}" dt="2024-10-22T14:33:48.562" v="6249" actId="20577"/>
          <ac:graphicFrameMkLst>
            <pc:docMk/>
            <pc:sldMk cId="450257364" sldId="269"/>
            <ac:graphicFrameMk id="2" creationId="{849548E0-A616-4177-21C8-C63119ADCD53}"/>
          </ac:graphicFrameMkLst>
        </pc:graphicFrameChg>
      </pc:sldChg>
      <pc:sldChg chg="modSp mod">
        <pc:chgData name="Rich Reba" userId="8245d172-5b81-40f1-a13b-b71f02cd6700" providerId="ADAL" clId="{61F318A3-7AA5-C94D-8701-4AE5EC321EBC}" dt="2024-10-24T18:05:33.529" v="6260" actId="20577"/>
        <pc:sldMkLst>
          <pc:docMk/>
          <pc:sldMk cId="4255637138" sldId="270"/>
        </pc:sldMkLst>
        <pc:graphicFrameChg chg="modGraphic">
          <ac:chgData name="Rich Reba" userId="8245d172-5b81-40f1-a13b-b71f02cd6700" providerId="ADAL" clId="{61F318A3-7AA5-C94D-8701-4AE5EC321EBC}" dt="2024-10-24T18:05:33.529" v="6260" actId="20577"/>
          <ac:graphicFrameMkLst>
            <pc:docMk/>
            <pc:sldMk cId="4255637138" sldId="270"/>
            <ac:graphicFrameMk id="3" creationId="{14B79CD4-17D9-A460-45EE-070B6CD3DAFF}"/>
          </ac:graphicFrameMkLst>
        </pc:graphicFrameChg>
      </pc:sldChg>
      <pc:sldChg chg="modSp mod">
        <pc:chgData name="Rich Reba" userId="8245d172-5b81-40f1-a13b-b71f02cd6700" providerId="ADAL" clId="{61F318A3-7AA5-C94D-8701-4AE5EC321EBC}" dt="2024-10-22T14:00:52.179" v="5919" actId="14734"/>
        <pc:sldMkLst>
          <pc:docMk/>
          <pc:sldMk cId="67448461" sldId="271"/>
        </pc:sldMkLst>
        <pc:graphicFrameChg chg="mod modGraphic">
          <ac:chgData name="Rich Reba" userId="8245d172-5b81-40f1-a13b-b71f02cd6700" providerId="ADAL" clId="{61F318A3-7AA5-C94D-8701-4AE5EC321EBC}" dt="2024-10-22T14:00:52.179" v="5919" actId="14734"/>
          <ac:graphicFrameMkLst>
            <pc:docMk/>
            <pc:sldMk cId="67448461" sldId="271"/>
            <ac:graphicFrameMk id="2" creationId="{59DCEAC8-DB72-C8D9-0DB4-F8D83D801ADB}"/>
          </ac:graphicFrameMkLst>
        </pc:graphicFrameChg>
      </pc:sldChg>
      <pc:sldChg chg="modSp mod">
        <pc:chgData name="Rich Reba" userId="8245d172-5b81-40f1-a13b-b71f02cd6700" providerId="ADAL" clId="{61F318A3-7AA5-C94D-8701-4AE5EC321EBC}" dt="2024-10-22T14:04:17.049" v="6237" actId="20577"/>
        <pc:sldMkLst>
          <pc:docMk/>
          <pc:sldMk cId="3088802820" sldId="272"/>
        </pc:sldMkLst>
        <pc:graphicFrameChg chg="mod modGraphic">
          <ac:chgData name="Rich Reba" userId="8245d172-5b81-40f1-a13b-b71f02cd6700" providerId="ADAL" clId="{61F318A3-7AA5-C94D-8701-4AE5EC321EBC}" dt="2024-10-22T14:04:17.049" v="6237" actId="20577"/>
          <ac:graphicFrameMkLst>
            <pc:docMk/>
            <pc:sldMk cId="3088802820" sldId="272"/>
            <ac:graphicFrameMk id="3" creationId="{F1699409-9005-50C8-4771-BC86CF9F904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10">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scaledagileframework.com/epic/"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785676"/>
            <a:ext cx="9144000"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a:t>
            </a:r>
            <a:r>
              <a:rPr lang="en-US" dirty="0" err="1"/>
              <a:t>NonProfit</a:t>
            </a:r>
            <a:br>
              <a:rPr lang="en-US" dirty="0"/>
            </a:br>
            <a:r>
              <a:rPr lang="en-US" dirty="0"/>
              <a:t>Lean Business Case</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Rich Reba, President</a:t>
            </a:r>
          </a:p>
          <a:p>
            <a:pPr marL="0" lvl="0" indent="0" algn="ctr" rtl="0">
              <a:lnSpc>
                <a:spcPct val="90000"/>
              </a:lnSpc>
              <a:spcBef>
                <a:spcPts val="1000"/>
              </a:spcBef>
              <a:spcAft>
                <a:spcPts val="0"/>
              </a:spcAft>
              <a:buClr>
                <a:schemeClr val="dk1"/>
              </a:buClr>
              <a:buSzPts val="2400"/>
              <a:buNone/>
            </a:pPr>
            <a:r>
              <a:rPr lang="en-US" dirty="0"/>
              <a:t>October 24, 2024</a:t>
            </a:r>
          </a:p>
        </p:txBody>
      </p:sp>
      <p:sp>
        <p:nvSpPr>
          <p:cNvPr id="2" name="Google Shape;18;p9">
            <a:extLst>
              <a:ext uri="{FF2B5EF4-FFF2-40B4-BE49-F238E27FC236}">
                <a16:creationId xmlns:a16="http://schemas.microsoft.com/office/drawing/2014/main" id="{5FACCA81-B362-8D11-103C-37960FC92AA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2" name="Google Shape;18;p9">
            <a:extLst>
              <a:ext uri="{FF2B5EF4-FFF2-40B4-BE49-F238E27FC236}">
                <a16:creationId xmlns:a16="http://schemas.microsoft.com/office/drawing/2014/main" id="{DD6F04EE-C8EA-0BD5-BB15-93D74495B0A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Consortium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3681845221"/>
              </p:ext>
            </p:extLst>
          </p:nvPr>
        </p:nvGraphicFramePr>
        <p:xfrm>
          <a:off x="519812" y="1333659"/>
          <a:ext cx="11570588" cy="5090160"/>
        </p:xfrm>
        <a:graphic>
          <a:graphicData uri="http://schemas.openxmlformats.org/drawingml/2006/table">
            <a:tbl>
              <a:tblPr firstRow="1" bandRow="1">
                <a:tableStyleId>{5940675A-B579-460E-94D1-54222C63F5DA}</a:tableStyleId>
              </a:tblPr>
              <a:tblGrid>
                <a:gridCol w="2032156">
                  <a:extLst>
                    <a:ext uri="{9D8B030D-6E8A-4147-A177-3AD203B41FA5}">
                      <a16:colId xmlns:a16="http://schemas.microsoft.com/office/drawing/2014/main" val="533583650"/>
                    </a:ext>
                  </a:extLst>
                </a:gridCol>
                <a:gridCol w="9538432">
                  <a:extLst>
                    <a:ext uri="{9D8B030D-6E8A-4147-A177-3AD203B41FA5}">
                      <a16:colId xmlns:a16="http://schemas.microsoft.com/office/drawing/2014/main" val="20127695"/>
                    </a:ext>
                  </a:extLst>
                </a:gridCol>
              </a:tblGrid>
              <a:tr h="284576">
                <a:tc>
                  <a:txBody>
                    <a:bodyPr/>
                    <a:lstStyle/>
                    <a:p>
                      <a:r>
                        <a:rPr lang="en-US" sz="1600" b="0" dirty="0"/>
                        <a:t>NPO Owner</a:t>
                      </a:r>
                    </a:p>
                  </a:txBody>
                  <a:tcPr/>
                </a:tc>
                <a:tc>
                  <a:txBody>
                    <a:bodyPr/>
                    <a:lstStyle/>
                    <a:p>
                      <a:r>
                        <a:rPr lang="en-US" dirty="0"/>
                        <a:t>The State of Maryland on behalf of the public good</a:t>
                      </a:r>
                    </a:p>
                  </a:txBody>
                  <a:tcPr/>
                </a:tc>
                <a:extLst>
                  <a:ext uri="{0D108BD9-81ED-4DB2-BD59-A6C34878D82A}">
                    <a16:rowId xmlns:a16="http://schemas.microsoft.com/office/drawing/2014/main" val="872717509"/>
                  </a:ext>
                </a:extLst>
              </a:tr>
              <a:tr h="284576">
                <a:tc>
                  <a:txBody>
                    <a:bodyPr/>
                    <a:lstStyle/>
                    <a:p>
                      <a:r>
                        <a:rPr lang="en-US" sz="1600" b="0" dirty="0"/>
                        <a:t>NPO Executive</a:t>
                      </a:r>
                    </a:p>
                  </a:txBody>
                  <a:tcPr/>
                </a:tc>
                <a:tc>
                  <a:txBody>
                    <a:bodyPr/>
                    <a:lstStyle/>
                    <a:p>
                      <a:r>
                        <a:rPr lang="en-US" dirty="0"/>
                        <a:t>Rich Reba, President</a:t>
                      </a:r>
                    </a:p>
                  </a:txBody>
                  <a:tcPr/>
                </a:tc>
                <a:extLst>
                  <a:ext uri="{0D108BD9-81ED-4DB2-BD59-A6C34878D82A}">
                    <a16:rowId xmlns:a16="http://schemas.microsoft.com/office/drawing/2014/main" val="3089640372"/>
                  </a:ext>
                </a:extLst>
              </a:tr>
              <a:tr h="1707456">
                <a:tc>
                  <a:txBody>
                    <a:bodyPr/>
                    <a:lstStyle/>
                    <a:p>
                      <a:r>
                        <a:rPr lang="en-US" sz="1600" b="0" dirty="0"/>
                        <a:t>NPO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are aligned with our values</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a:t>
                      </a:r>
                    </a:p>
                    <a:p>
                      <a:pPr lvl="2"/>
                      <a:r>
                        <a:rPr lang="en-US" sz="1400" b="0" i="0" u="none" strike="noStrike" cap="none" dirty="0">
                          <a:solidFill>
                            <a:schemeClr val="tx1"/>
                          </a:solidFill>
                          <a:effectLst/>
                          <a:latin typeface="+mn-lt"/>
                          <a:ea typeface="+mn-ea"/>
                          <a:cs typeface="+mn-cs"/>
                          <a:sym typeface="Arial"/>
                        </a:rPr>
                        <a:t>I</a:t>
                      </a:r>
                      <a:r>
                        <a:rPr lang="en-US" sz="1400" b="1" i="0" u="none" strike="noStrike" cap="none" dirty="0">
                          <a:solidFill>
                            <a:schemeClr val="tx1"/>
                          </a:solidFill>
                          <a:effectLst/>
                          <a:latin typeface="+mn-lt"/>
                          <a:ea typeface="+mn-ea"/>
                          <a:cs typeface="+mn-cs"/>
                          <a:sym typeface="Arial"/>
                        </a:rPr>
                        <a:t>S A</a:t>
                      </a:r>
                      <a:r>
                        <a:rPr lang="en-US" sz="1400" b="0" i="0" u="none" strike="noStrike" cap="none" dirty="0">
                          <a:solidFill>
                            <a:schemeClr val="tx1"/>
                          </a:solidFill>
                          <a:effectLst/>
                          <a:latin typeface="+mn-lt"/>
                          <a:ea typeface="+mn-ea"/>
                          <a:cs typeface="+mn-cs"/>
                          <a:sym typeface="Arial"/>
                        </a:rPr>
                        <a:t> 501(c)(3) Non-Profit Organization</a:t>
                      </a:r>
                    </a:p>
                    <a:p>
                      <a:pPr lvl="2"/>
                      <a:r>
                        <a:rPr lang="en-US" sz="1400" b="1" i="0" u="none" strike="noStrike" cap="none" dirty="0">
                          <a:solidFill>
                            <a:schemeClr val="tx1"/>
                          </a:solidFill>
                          <a:effectLst/>
                          <a:latin typeface="+mn-lt"/>
                          <a:ea typeface="+mn-ea"/>
                          <a:cs typeface="+mn-cs"/>
                          <a:sym typeface="Arial"/>
                        </a:rPr>
                        <a:t>THAT</a:t>
                      </a:r>
                      <a:r>
                        <a:rPr lang="en-US" sz="1400" b="0" i="0" u="none" strike="noStrike" cap="none" dirty="0">
                          <a:solidFill>
                            <a:schemeClr val="tx1"/>
                          </a:solidFill>
                          <a:effectLst/>
                          <a:latin typeface="+mn-lt"/>
                          <a:ea typeface="+mn-ea"/>
                          <a:cs typeface="+mn-cs"/>
                          <a:sym typeface="Arial"/>
                        </a:rPr>
                        <a:t> helps Tech Services industry leaders harness proven accelerators, mathematically capable of generating exponential results, to </a:t>
                      </a:r>
                      <a:r>
                        <a:rPr lang="en-US" sz="1400" b="1" i="0" u="none" strike="noStrike" cap="none" dirty="0">
                          <a:solidFill>
                            <a:srgbClr val="00B050"/>
                          </a:solidFill>
                          <a:effectLst/>
                          <a:latin typeface="+mn-lt"/>
                          <a:ea typeface="+mn-ea"/>
                          <a:cs typeface="+mn-cs"/>
                          <a:sym typeface="Arial"/>
                        </a:rPr>
                        <a:t>grow value exponentially at scale</a:t>
                      </a:r>
                      <a:r>
                        <a:rPr lang="en-US" sz="1400" b="0" i="0" u="none" strike="noStrike" cap="none" dirty="0">
                          <a:solidFill>
                            <a:schemeClr val="tx1"/>
                          </a:solidFill>
                          <a:effectLst/>
                          <a:latin typeface="+mn-lt"/>
                          <a:ea typeface="+mn-ea"/>
                          <a:cs typeface="+mn-cs"/>
                          <a:sym typeface="Arial"/>
                        </a:rPr>
                        <a:t>.</a:t>
                      </a:r>
                      <a:endParaRPr lang="en-US" dirty="0"/>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non-profits oriented on roles (e.g., PMI), groups (e.g., WIT), or the entire industry (e.g., TSIA),</a:t>
                      </a:r>
                    </a:p>
                    <a:p>
                      <a:pPr lvl="2"/>
                      <a:r>
                        <a:rPr lang="en-US" sz="1400" b="1" i="0" u="none" strike="noStrike" cap="none" dirty="0">
                          <a:solidFill>
                            <a:schemeClr val="tx1"/>
                          </a:solidFill>
                          <a:effectLst/>
                          <a:latin typeface="+mn-lt"/>
                          <a:ea typeface="+mn-ea"/>
                          <a:cs typeface="+mn-cs"/>
                          <a:sym typeface="Arial"/>
                        </a:rPr>
                        <a:t>OUR CONSORTIUM</a:t>
                      </a:r>
                      <a:r>
                        <a:rPr lang="en-US" sz="1400" b="0" i="0" u="none" strike="noStrike" cap="none" dirty="0">
                          <a:solidFill>
                            <a:schemeClr val="tx1"/>
                          </a:solidFill>
                          <a:effectLst/>
                          <a:latin typeface="+mn-lt"/>
                          <a:ea typeface="+mn-ea"/>
                          <a:cs typeface="+mn-cs"/>
                          <a:sym typeface="Arial"/>
                        </a:rPr>
                        <a:t> is goal-oriented – focused on helping Tech Services industry leaders work together to </a:t>
                      </a:r>
                      <a:r>
                        <a:rPr lang="en-US" sz="1400" b="1" i="0" u="none" strike="noStrike" cap="none" dirty="0">
                          <a:solidFill>
                            <a:srgbClr val="00B050"/>
                          </a:solidFill>
                          <a:effectLst/>
                          <a:latin typeface="+mn-lt"/>
                          <a:ea typeface="+mn-ea"/>
                          <a:cs typeface="+mn-cs"/>
                          <a:sym typeface="Arial"/>
                        </a:rPr>
                        <a:t>accelerate success</a:t>
                      </a:r>
                      <a:r>
                        <a:rPr lang="en-US" sz="1400" b="0" i="0" u="none" strike="noStrike" cap="none" dirty="0">
                          <a:solidFill>
                            <a:schemeClr val="tx1"/>
                          </a:solidFill>
                          <a:effectLst/>
                          <a:latin typeface="+mn-lt"/>
                          <a:ea typeface="+mn-ea"/>
                          <a:cs typeface="+mn-cs"/>
                          <a:sym typeface="Arial"/>
                        </a:rPr>
                        <a:t> for themselves, their industry, and all humanity.</a:t>
                      </a:r>
                    </a:p>
                  </a:txBody>
                  <a:tcPr/>
                </a:tc>
                <a:extLst>
                  <a:ext uri="{0D108BD9-81ED-4DB2-BD59-A6C34878D82A}">
                    <a16:rowId xmlns:a16="http://schemas.microsoft.com/office/drawing/2014/main" val="2047728929"/>
                  </a:ext>
                </a:extLst>
              </a:tr>
              <a:tr h="620893">
                <a:tc>
                  <a:txBody>
                    <a:bodyPr/>
                    <a:lstStyle/>
                    <a:p>
                      <a:r>
                        <a:rPr lang="en-US" sz="1600" b="0" dirty="0"/>
                        <a:t>NPO Outcomes</a:t>
                      </a:r>
                    </a:p>
                  </a:txBody>
                  <a:tcPr/>
                </a:tc>
                <a:tc>
                  <a:txBody>
                    <a:bodyPr/>
                    <a:lstStyle/>
                    <a:p>
                      <a:pPr marL="125413" indent="-125413">
                        <a:buFont typeface="Arial" panose="020B0604020202020204" pitchFamily="34" charset="0"/>
                        <a:buChar char="•"/>
                        <a:tabLst/>
                      </a:pPr>
                      <a:r>
                        <a:rPr lang="en-US" b="1" dirty="0"/>
                        <a:t>Tech Services industry leaders:</a:t>
                      </a:r>
                      <a:r>
                        <a:rPr lang="en-US" dirty="0"/>
                        <a:t> improve their professional network, skills, and career opportunities</a:t>
                      </a:r>
                      <a:endParaRPr lang="en-US" b="1" dirty="0"/>
                    </a:p>
                    <a:p>
                      <a:pPr marL="125413" indent="-125413">
                        <a:buFont typeface="Arial" panose="020B0604020202020204" pitchFamily="34" charset="0"/>
                        <a:buChar char="•"/>
                        <a:tabLst/>
                      </a:pPr>
                      <a:r>
                        <a:rPr lang="en-US" b="1" dirty="0"/>
                        <a:t>Tech Services industry overall:</a:t>
                      </a:r>
                      <a:r>
                        <a:rPr lang="en-US" dirty="0"/>
                        <a:t> exponentially better services and benefits to humanity</a:t>
                      </a:r>
                    </a:p>
                    <a:p>
                      <a:pPr marL="125413" indent="-125413">
                        <a:buFont typeface="Arial" panose="020B0604020202020204" pitchFamily="34" charset="0"/>
                        <a:buChar char="•"/>
                        <a:tabLst/>
                      </a:pPr>
                      <a:r>
                        <a:rPr lang="en-US" b="1" dirty="0"/>
                        <a:t>Our Consortium:</a:t>
                      </a:r>
                      <a:r>
                        <a:rPr lang="en-US" dirty="0"/>
                        <a:t> exponentially better services and benefits for Tech services leaders, their industry, and humanity</a:t>
                      </a:r>
                    </a:p>
                  </a:txBody>
                  <a:tcPr/>
                </a:tc>
                <a:extLst>
                  <a:ext uri="{0D108BD9-81ED-4DB2-BD59-A6C34878D82A}">
                    <a16:rowId xmlns:a16="http://schemas.microsoft.com/office/drawing/2014/main" val="2321847728"/>
                  </a:ext>
                </a:extLst>
              </a:tr>
              <a:tr h="439799">
                <a:tc>
                  <a:txBody>
                    <a:bodyPr/>
                    <a:lstStyle/>
                    <a:p>
                      <a:r>
                        <a:rPr lang="en-US" sz="1600" b="0" dirty="0"/>
                        <a:t>Leading Indicators</a:t>
                      </a:r>
                    </a:p>
                  </a:txBody>
                  <a:tcPr/>
                </a:tc>
                <a:tc>
                  <a:txBody>
                    <a:bodyPr/>
                    <a:lstStyle/>
                    <a:p>
                      <a:pPr marL="114300" indent="-114300">
                        <a:buFont typeface="Arial" panose="020B0604020202020204" pitchFamily="34" charset="0"/>
                        <a:buChar char="•"/>
                        <a:tabLst/>
                      </a:pPr>
                      <a:r>
                        <a:rPr lang="en-US" dirty="0"/>
                        <a:t>MVP versions of the Professional Networking, Open Knowledge Sharing, and Industry Innovation offerings</a:t>
                      </a:r>
                    </a:p>
                    <a:p>
                      <a:pPr marL="114300" indent="-114300">
                        <a:buFont typeface="Arial" panose="020B0604020202020204" pitchFamily="34" charset="0"/>
                        <a:buChar char="•"/>
                        <a:tabLst/>
                      </a:pPr>
                      <a:r>
                        <a:rPr lang="en-US" dirty="0"/>
                        <a:t>1000 collaborators who are net promoters of the AccelRR8 Consortium</a:t>
                      </a:r>
                    </a:p>
                  </a:txBody>
                  <a:tcPr/>
                </a:tc>
                <a:extLst>
                  <a:ext uri="{0D108BD9-81ED-4DB2-BD59-A6C34878D82A}">
                    <a16:rowId xmlns:a16="http://schemas.microsoft.com/office/drawing/2014/main" val="1735022269"/>
                  </a:ext>
                </a:extLst>
              </a:tr>
              <a:tr h="983081">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Consortium’s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becoming and remaining a collaborator, subscriber, or patron must be incredibly easy</a:t>
                      </a:r>
                    </a:p>
                  </a:txBody>
                  <a:tcPr/>
                </a:tc>
                <a:extLst>
                  <a:ext uri="{0D108BD9-81ED-4DB2-BD59-A6C34878D82A}">
                    <a16:rowId xmlns:a16="http://schemas.microsoft.com/office/drawing/2014/main" val="2256456919"/>
                  </a:ext>
                </a:extLst>
              </a:tr>
            </a:tbl>
          </a:graphicData>
        </a:graphic>
      </p:graphicFrame>
      <p:sp>
        <p:nvSpPr>
          <p:cNvPr id="3" name="Rectangle 2">
            <a:extLst>
              <a:ext uri="{FF2B5EF4-FFF2-40B4-BE49-F238E27FC236}">
                <a16:creationId xmlns:a16="http://schemas.microsoft.com/office/drawing/2014/main" id="{7AA8E57A-7C2E-5771-5D3D-778CD2691B8D}"/>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Reviewing Stage</a:t>
            </a:r>
          </a:p>
        </p:txBody>
      </p:sp>
      <p:sp>
        <p:nvSpPr>
          <p:cNvPr id="4" name="Rectangle 3">
            <a:extLst>
              <a:ext uri="{FF2B5EF4-FFF2-40B4-BE49-F238E27FC236}">
                <a16:creationId xmlns:a16="http://schemas.microsoft.com/office/drawing/2014/main" id="{A5C621CC-01F8-2623-C528-E46810005D2D}"/>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Analysis Stage</a:t>
            </a:r>
          </a:p>
        </p:txBody>
      </p:sp>
      <p:sp>
        <p:nvSpPr>
          <p:cNvPr id="6" name="Rectangle 5">
            <a:extLst>
              <a:ext uri="{FF2B5EF4-FFF2-40B4-BE49-F238E27FC236}">
                <a16:creationId xmlns:a16="http://schemas.microsoft.com/office/drawing/2014/main" id="{AE563687-18D0-BB94-EF54-C191FD3E7534}"/>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2" name="Google Shape;18;p9">
            <a:extLst>
              <a:ext uri="{FF2B5EF4-FFF2-40B4-BE49-F238E27FC236}">
                <a16:creationId xmlns:a16="http://schemas.microsoft.com/office/drawing/2014/main" id="{1F7ED1B8-82A1-4C2D-EB84-412AF60B9B1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6" name="Google Shape;18;p9">
            <a:extLst>
              <a:ext uri="{FF2B5EF4-FFF2-40B4-BE49-F238E27FC236}">
                <a16:creationId xmlns:a16="http://schemas.microsoft.com/office/drawing/2014/main" id="{37331F4E-D78E-4718-6098-E55A9D77254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1185504338"/>
              </p:ext>
            </p:extLst>
          </p:nvPr>
        </p:nvGraphicFramePr>
        <p:xfrm>
          <a:off x="976428" y="1690688"/>
          <a:ext cx="9971321" cy="4541137"/>
        </p:xfrm>
        <a:graphic>
          <a:graphicData uri="http://schemas.openxmlformats.org/drawingml/2006/table">
            <a:tbl>
              <a:tblPr firstRow="1" firstCol="1" bandRow="1" bandCol="1">
                <a:tableStyleId>{5940675A-B579-460E-94D1-54222C63F5DA}</a:tableStyleId>
              </a:tblPr>
              <a:tblGrid>
                <a:gridCol w="1890950">
                  <a:extLst>
                    <a:ext uri="{9D8B030D-6E8A-4147-A177-3AD203B41FA5}">
                      <a16:colId xmlns:a16="http://schemas.microsoft.com/office/drawing/2014/main" val="335540143"/>
                    </a:ext>
                  </a:extLst>
                </a:gridCol>
                <a:gridCol w="1196622">
                  <a:extLst>
                    <a:ext uri="{9D8B030D-6E8A-4147-A177-3AD203B41FA5}">
                      <a16:colId xmlns:a16="http://schemas.microsoft.com/office/drawing/2014/main" val="3520678859"/>
                    </a:ext>
                  </a:extLst>
                </a:gridCol>
                <a:gridCol w="1441932">
                  <a:extLst>
                    <a:ext uri="{9D8B030D-6E8A-4147-A177-3AD203B41FA5}">
                      <a16:colId xmlns:a16="http://schemas.microsoft.com/office/drawing/2014/main" val="3477329284"/>
                    </a:ext>
                  </a:extLst>
                </a:gridCol>
                <a:gridCol w="5441817">
                  <a:extLst>
                    <a:ext uri="{9D8B030D-6E8A-4147-A177-3AD203B41FA5}">
                      <a16:colId xmlns:a16="http://schemas.microsoft.com/office/drawing/2014/main" val="4207968209"/>
                    </a:ext>
                  </a:extLst>
                </a:gridCol>
              </a:tblGrid>
              <a:tr h="1086379">
                <a:tc>
                  <a:txBody>
                    <a:bodyPr/>
                    <a:lstStyle/>
                    <a:p>
                      <a:pPr marL="0" marR="0">
                        <a:lnSpc>
                          <a:spcPct val="115000"/>
                        </a:lnSpc>
                        <a:spcBef>
                          <a:spcPts val="0"/>
                        </a:spcBef>
                        <a:spcAft>
                          <a:spcPts val="1000"/>
                        </a:spcAft>
                      </a:pPr>
                      <a:r>
                        <a:rPr lang="en-US" sz="1100" b="1" dirty="0">
                          <a:solidFill>
                            <a:schemeClr val="tx1"/>
                          </a:solidFill>
                          <a:effectLst/>
                        </a:rPr>
                        <a:t>Funnel Entry Date:</a:t>
                      </a:r>
                    </a:p>
                    <a:p>
                      <a:pPr marL="0" marR="0">
                        <a:lnSpc>
                          <a:spcPct val="115000"/>
                        </a:lnSpc>
                        <a:spcBef>
                          <a:spcPts val="0"/>
                        </a:spcBef>
                        <a:spcAft>
                          <a:spcPts val="1000"/>
                        </a:spcAft>
                      </a:pPr>
                      <a:r>
                        <a:rPr lang="en-US" sz="1100" dirty="0">
                          <a:solidFill>
                            <a:schemeClr val="tx1"/>
                          </a:solidFill>
                          <a:effectLst/>
                        </a:rPr>
                        <a:t>February 1, 2024</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Owner:</a:t>
                      </a:r>
                    </a:p>
                    <a:p>
                      <a:pPr marL="0" marR="0">
                        <a:lnSpc>
                          <a:spcPct val="115000"/>
                        </a:lnSpc>
                        <a:spcBef>
                          <a:spcPts val="0"/>
                        </a:spcBef>
                        <a:spcAft>
                          <a:spcPts val="1000"/>
                        </a:spcAft>
                      </a:pPr>
                      <a:r>
                        <a:rPr lang="en-US" sz="1100" dirty="0">
                          <a:solidFill>
                            <a:schemeClr val="tx1"/>
                          </a:solidFill>
                          <a:effectLst/>
                        </a:rPr>
                        <a:t>Rich Reba</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b="1" dirty="0">
                          <a:solidFill>
                            <a:schemeClr val="tx1"/>
                          </a:solidFill>
                          <a:effectLst/>
                        </a:rPr>
                        <a:t>President:  </a:t>
                      </a:r>
                      <a:r>
                        <a:rPr lang="en-US" sz="1100" dirty="0">
                          <a:solidFill>
                            <a:schemeClr val="tx1"/>
                          </a:solidFill>
                          <a:effectLst/>
                        </a:rPr>
                        <a:t>Rich Reba</a:t>
                      </a:r>
                      <a:br>
                        <a:rPr lang="en-US" sz="1100" dirty="0">
                          <a:solidFill>
                            <a:schemeClr val="tx1"/>
                          </a:solidFill>
                          <a:effectLst/>
                        </a:rPr>
                      </a:br>
                      <a:r>
                        <a:rPr lang="en-US" sz="1100" b="1" dirty="0">
                          <a:solidFill>
                            <a:schemeClr val="tx1"/>
                          </a:solidFill>
                          <a:effectLst/>
                        </a:rPr>
                        <a:t>Board Chairman:  </a:t>
                      </a:r>
                      <a:r>
                        <a:rPr lang="en-US" sz="1100" dirty="0">
                          <a:solidFill>
                            <a:schemeClr val="tx1"/>
                          </a:solidFill>
                          <a:effectLst/>
                        </a:rPr>
                        <a:t>John Walsh</a:t>
                      </a:r>
                      <a:br>
                        <a:rPr lang="en-US" sz="1100" dirty="0">
                          <a:solidFill>
                            <a:schemeClr val="tx1"/>
                          </a:solidFill>
                          <a:effectLst/>
                        </a:rPr>
                      </a:br>
                      <a:r>
                        <a:rPr lang="en-US" sz="1100" b="1" dirty="0">
                          <a:solidFill>
                            <a:schemeClr val="tx1"/>
                          </a:solidFill>
                          <a:effectLst/>
                        </a:rPr>
                        <a:t>Other Board Directors:  </a:t>
                      </a:r>
                      <a:r>
                        <a:rPr lang="en-US" sz="1100" dirty="0">
                          <a:solidFill>
                            <a:schemeClr val="tx1"/>
                          </a:solidFill>
                          <a:effectLst/>
                        </a:rPr>
                        <a:t>Patty Brown, Nick Donlan, Mike Duguid, Carolyn Eichler, Sean Moore</a:t>
                      </a:r>
                      <a:br>
                        <a:rPr lang="en-US" sz="1100" dirty="0">
                          <a:solidFill>
                            <a:schemeClr val="tx1"/>
                          </a:solidFill>
                          <a:effectLst/>
                        </a:rPr>
                      </a:br>
                      <a:r>
                        <a:rPr lang="en-US" sz="1100" b="1" dirty="0">
                          <a:solidFill>
                            <a:schemeClr val="tx1"/>
                          </a:solidFill>
                          <a:effectLst/>
                        </a:rPr>
                        <a:t>Advisors:  </a:t>
                      </a:r>
                      <a:r>
                        <a:rPr lang="en-US" sz="1100" b="0" dirty="0">
                          <a:solidFill>
                            <a:schemeClr val="tx1"/>
                          </a:solidFill>
                          <a:effectLst/>
                        </a:rPr>
                        <a:t>Numerous</a:t>
                      </a:r>
                      <a:br>
                        <a:rPr lang="en-US" sz="1100" dirty="0">
                          <a:solidFill>
                            <a:schemeClr val="tx1"/>
                          </a:solidFill>
                          <a:effectLst/>
                        </a:rPr>
                      </a:br>
                      <a:r>
                        <a:rPr lang="en-US" sz="1100" b="1" dirty="0">
                          <a:solidFill>
                            <a:schemeClr val="tx1"/>
                          </a:solidFill>
                          <a:effectLst/>
                        </a:rPr>
                        <a:t>Initial Collaborators: </a:t>
                      </a:r>
                      <a:r>
                        <a:rPr lang="en-US" sz="1100" b="0" dirty="0">
                          <a:solidFill>
                            <a:schemeClr val="tx1"/>
                          </a:solidFill>
                          <a:effectLst/>
                        </a:rPr>
                        <a:t> Numerous</a:t>
                      </a:r>
                      <a:br>
                        <a:rPr lang="en-US" sz="1100" dirty="0">
                          <a:solidFill>
                            <a:schemeClr val="tx1"/>
                          </a:solidFill>
                          <a:effectLst/>
                        </a:rPr>
                      </a:br>
                      <a:endParaRPr lang="en-US" sz="1100" dirty="0">
                        <a:solidFill>
                          <a:schemeClr val="tx1"/>
                        </a:solidFill>
                        <a:effectLst/>
                      </a:endParaRPr>
                    </a:p>
                  </a:txBody>
                  <a:tcPr marL="40793" marR="40793" marT="0" marB="0"/>
                </a:tc>
                <a:tc hMerge="1">
                  <a:txBody>
                    <a:bodyPr/>
                    <a:lstStyle/>
                    <a:p>
                      <a:endParaRPr lang="en-US"/>
                    </a:p>
                  </a:txBody>
                  <a:tcPr/>
                </a:tc>
                <a:extLst>
                  <a:ext uri="{0D108BD9-81ED-4DB2-BD59-A6C34878D82A}">
                    <a16:rowId xmlns:a16="http://schemas.microsoft.com/office/drawing/2014/main" val="3298821640"/>
                  </a:ext>
                </a:extLst>
              </a:tr>
              <a:tr h="1518552">
                <a:tc gridSpan="4">
                  <a:txBody>
                    <a:bodyPr/>
                    <a:lstStyle/>
                    <a:p>
                      <a:pPr marL="0" marR="0">
                        <a:lnSpc>
                          <a:spcPct val="115000"/>
                        </a:lnSpc>
                        <a:spcBef>
                          <a:spcPts val="0"/>
                        </a:spcBef>
                        <a:spcAft>
                          <a:spcPts val="1000"/>
                        </a:spcAft>
                      </a:pPr>
                      <a:r>
                        <a:rPr lang="en-US" sz="1100" b="1" dirty="0">
                          <a:solidFill>
                            <a:schemeClr val="tx1"/>
                          </a:solidFill>
                          <a:effectLst/>
                        </a:rPr>
                        <a:t>Business Description:</a:t>
                      </a:r>
                    </a:p>
                    <a:p>
                      <a:pPr marL="0" marR="0">
                        <a:lnSpc>
                          <a:spcPct val="115000"/>
                        </a:lnSpc>
                        <a:spcBef>
                          <a:spcPts val="0"/>
                        </a:spcBef>
                        <a:spcAft>
                          <a:spcPts val="1000"/>
                        </a:spcAft>
                      </a:pPr>
                      <a:r>
                        <a:rPr lang="en-US" sz="1100" b="1" dirty="0">
                          <a:solidFill>
                            <a:schemeClr val="tx1"/>
                          </a:solidFill>
                          <a:effectLst/>
                        </a:rPr>
                        <a:t>FOR</a:t>
                      </a:r>
                      <a:r>
                        <a:rPr lang="en-US" sz="1100" b="0" dirty="0">
                          <a:solidFill>
                            <a:schemeClr val="tx1"/>
                          </a:solidFill>
                          <a:effectLst/>
                        </a:rPr>
                        <a:t> enterprising leaders in the Tech Services industry </a:t>
                      </a:r>
                      <a:r>
                        <a:rPr lang="en-US" sz="1100" b="1" dirty="0">
                          <a:solidFill>
                            <a:schemeClr val="tx1"/>
                          </a:solidFill>
                          <a:effectLst/>
                        </a:rPr>
                        <a:t>WHO</a:t>
                      </a:r>
                      <a:r>
                        <a:rPr lang="en-US" sz="1100" b="0" dirty="0">
                          <a:solidFill>
                            <a:schemeClr val="tx1"/>
                          </a:solidFill>
                          <a:effectLst/>
                        </a:rPr>
                        <a:t> are aligned with our values, </a:t>
                      </a:r>
                      <a:r>
                        <a:rPr lang="en-US" sz="1100" b="1" dirty="0">
                          <a:solidFill>
                            <a:schemeClr val="tx1"/>
                          </a:solidFill>
                          <a:effectLst/>
                        </a:rPr>
                        <a:t>THE</a:t>
                      </a:r>
                      <a:r>
                        <a:rPr lang="en-US" sz="1100" b="0" dirty="0">
                          <a:solidFill>
                            <a:schemeClr val="tx1"/>
                          </a:solidFill>
                          <a:effectLst/>
                        </a:rPr>
                        <a:t> AccelRR8 Consortium </a:t>
                      </a:r>
                      <a:r>
                        <a:rPr lang="en-US" sz="1100" b="1" dirty="0">
                          <a:solidFill>
                            <a:schemeClr val="tx1"/>
                          </a:solidFill>
                          <a:effectLst/>
                        </a:rPr>
                        <a:t>IS A</a:t>
                      </a:r>
                      <a:r>
                        <a:rPr lang="en-US" sz="1100" b="0" dirty="0">
                          <a:solidFill>
                            <a:schemeClr val="tx1"/>
                          </a:solidFill>
                          <a:effectLst/>
                        </a:rPr>
                        <a:t> 501(c)(3) Non-Profit Organization </a:t>
                      </a:r>
                      <a:r>
                        <a:rPr lang="en-US" sz="1100" b="1" dirty="0">
                          <a:solidFill>
                            <a:schemeClr val="tx1"/>
                          </a:solidFill>
                          <a:effectLst/>
                        </a:rPr>
                        <a:t>THAT</a:t>
                      </a:r>
                      <a:r>
                        <a:rPr lang="en-US" sz="1100" b="0" dirty="0">
                          <a:solidFill>
                            <a:schemeClr val="tx1"/>
                          </a:solidFill>
                          <a:effectLst/>
                        </a:rPr>
                        <a:t> helps Tech Services industry leaders harness proven accelerators, mathematically capable of generating exponential results, to </a:t>
                      </a:r>
                      <a:r>
                        <a:rPr lang="en-US" sz="1100" b="1" dirty="0">
                          <a:solidFill>
                            <a:srgbClr val="00B050"/>
                          </a:solidFill>
                          <a:effectLst/>
                        </a:rPr>
                        <a:t>grow value exponentially at scale</a:t>
                      </a:r>
                      <a:r>
                        <a:rPr lang="en-US" sz="1100" b="0" dirty="0">
                          <a:solidFill>
                            <a:schemeClr val="tx1"/>
                          </a:solidFill>
                          <a:effectLst/>
                        </a:rPr>
                        <a:t>.  </a:t>
                      </a:r>
                    </a:p>
                    <a:p>
                      <a:pPr marL="0" marR="0">
                        <a:lnSpc>
                          <a:spcPct val="115000"/>
                        </a:lnSpc>
                        <a:spcBef>
                          <a:spcPts val="0"/>
                        </a:spcBef>
                        <a:spcAft>
                          <a:spcPts val="1000"/>
                        </a:spcAft>
                      </a:pPr>
                      <a:r>
                        <a:rPr lang="en-US" sz="1100" b="1" dirty="0">
                          <a:solidFill>
                            <a:schemeClr val="tx1"/>
                          </a:solidFill>
                          <a:effectLst/>
                        </a:rPr>
                        <a:t>UNLIKE</a:t>
                      </a:r>
                      <a:r>
                        <a:rPr lang="en-US" sz="1100" b="0" dirty="0">
                          <a:solidFill>
                            <a:schemeClr val="tx1"/>
                          </a:solidFill>
                          <a:effectLst/>
                        </a:rPr>
                        <a:t> non-profits oriented on roles (e.g., PMI), groups (e.g., WIT), or the entire industry (e.g., TSIA), </a:t>
                      </a:r>
                      <a:r>
                        <a:rPr lang="en-US" sz="1100" b="1" dirty="0">
                          <a:solidFill>
                            <a:schemeClr val="tx1"/>
                          </a:solidFill>
                          <a:effectLst/>
                        </a:rPr>
                        <a:t>OUR CONSORTIUM</a:t>
                      </a:r>
                      <a:r>
                        <a:rPr lang="en-US" sz="1100" b="0" dirty="0">
                          <a:solidFill>
                            <a:schemeClr val="tx1"/>
                          </a:solidFill>
                          <a:effectLst/>
                        </a:rPr>
                        <a:t> is goal-oriented – focused on helping Tech Services industry leaders work together to </a:t>
                      </a:r>
                      <a:r>
                        <a:rPr lang="en-US" sz="1100" b="1" dirty="0">
                          <a:solidFill>
                            <a:srgbClr val="00B050"/>
                          </a:solidFill>
                          <a:effectLst/>
                        </a:rPr>
                        <a:t>accelerate success</a:t>
                      </a:r>
                      <a:r>
                        <a:rPr lang="en-US" sz="1100" b="0" dirty="0">
                          <a:solidFill>
                            <a:schemeClr val="tx1"/>
                          </a:solidFill>
                          <a:effectLst/>
                        </a:rPr>
                        <a:t> for themselves, their industry, and all humanity.</a:t>
                      </a: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3">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125413" indent="-125413">
                        <a:buFont typeface="Arial" panose="020B0604020202020204" pitchFamily="34" charset="0"/>
                        <a:buChar char="•"/>
                        <a:tabLst/>
                      </a:pPr>
                      <a:r>
                        <a:rPr lang="en-US" sz="1100" b="1" dirty="0"/>
                        <a:t>Tech Services industry leaders</a:t>
                      </a:r>
                      <a:r>
                        <a:rPr lang="en-US" sz="1100" dirty="0"/>
                        <a:t>: improve their professional network, skills, and opportunities as measured via survey of collaborators</a:t>
                      </a:r>
                    </a:p>
                    <a:p>
                      <a:pPr marL="125413" indent="-125413">
                        <a:buFont typeface="Arial" panose="020B0604020202020204" pitchFamily="34" charset="0"/>
                        <a:buChar char="•"/>
                        <a:tabLst/>
                      </a:pPr>
                      <a:r>
                        <a:rPr lang="en-US" sz="1100" b="1" dirty="0"/>
                        <a:t>Tech Services industry overall</a:t>
                      </a:r>
                      <a:r>
                        <a:rPr lang="en-US" sz="1100" dirty="0"/>
                        <a:t>: exponentially better services and benefits to humanity as measured via survey of collaborators</a:t>
                      </a:r>
                    </a:p>
                    <a:p>
                      <a:pPr marL="125413" indent="-125413">
                        <a:buFont typeface="Arial" panose="020B0604020202020204" pitchFamily="34" charset="0"/>
                        <a:buChar char="•"/>
                        <a:tabLst/>
                      </a:pPr>
                      <a:r>
                        <a:rPr lang="en-US" sz="1100" b="1" dirty="0"/>
                        <a:t>AccelRR8 Consortium</a:t>
                      </a:r>
                      <a:r>
                        <a:rPr lang="en-US" sz="1100" dirty="0"/>
                        <a:t>: exponentially better services and benefits for Tech services leaders, their industry, and humanity as measured via survey of collaborators</a:t>
                      </a:r>
                      <a:endParaRPr lang="en-US" sz="1100" dirty="0">
                        <a:solidFill>
                          <a:schemeClr val="tx1"/>
                        </a:solidFill>
                        <a:effectLst/>
                      </a:endParaRPr>
                    </a:p>
                  </a:txBody>
                  <a:tcPr marL="40793" marR="40793" marT="0" marB="0"/>
                </a:tc>
                <a:tc hMerge="1">
                  <a:txBody>
                    <a:bodyPr/>
                    <a:lstStyle/>
                    <a:p>
                      <a:endParaRPr lang="en-US"/>
                    </a:p>
                  </a:txBody>
                  <a:tcPr/>
                </a:tc>
                <a:tc hMerge="1">
                  <a:txBody>
                    <a:bodyPr/>
                    <a:lstStyle/>
                    <a:p>
                      <a:pPr marL="171450" marR="0" indent="-171450">
                        <a:lnSpc>
                          <a:spcPct val="115000"/>
                        </a:lnSpc>
                        <a:spcBef>
                          <a:spcPts val="0"/>
                        </a:spcBef>
                        <a:spcAft>
                          <a:spcPts val="0"/>
                        </a:spcAft>
                        <a:buFont typeface="Arial" panose="020B0604020202020204" pitchFamily="34" charset="0"/>
                        <a:buChar char="•"/>
                      </a:pP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Leading Indicators:</a:t>
                      </a:r>
                    </a:p>
                    <a:p>
                      <a:pPr marL="114300" indent="-114300">
                        <a:buFont typeface="Arial" panose="020B0604020202020204" pitchFamily="34" charset="0"/>
                        <a:buChar char="•"/>
                        <a:tabLst/>
                      </a:pPr>
                      <a:r>
                        <a:rPr lang="en-US" sz="1100" dirty="0"/>
                        <a:t>MVP versions of the Professional Networking, Open Knowledge Sharing, and Industry Innovation offerings</a:t>
                      </a:r>
                    </a:p>
                    <a:p>
                      <a:pPr marL="114300" indent="-114300">
                        <a:buFont typeface="Arial" panose="020B0604020202020204" pitchFamily="34" charset="0"/>
                        <a:buChar char="•"/>
                        <a:tabLst/>
                      </a:pPr>
                      <a:r>
                        <a:rPr lang="en-US" sz="1100" dirty="0"/>
                        <a:t>1000 collaborators who are net promoters</a:t>
                      </a:r>
                    </a:p>
                    <a:p>
                      <a:pPr marL="114300" indent="-114300">
                        <a:buFont typeface="Arial" panose="020B0604020202020204" pitchFamily="34" charset="0"/>
                        <a:buChar char="•"/>
                        <a:tabLst/>
                      </a:pPr>
                      <a:endParaRPr lang="en-US" sz="1100" dirty="0"/>
                    </a:p>
                  </a:txBody>
                  <a:tcPr marL="40793" marR="40793" marT="0" marB="0"/>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7" name="TextBox 6">
            <a:extLst>
              <a:ext uri="{FF2B5EF4-FFF2-40B4-BE49-F238E27FC236}">
                <a16:creationId xmlns:a16="http://schemas.microsoft.com/office/drawing/2014/main" id="{A2C944FD-AEE1-8728-DE6D-270EAB746497}"/>
              </a:ext>
            </a:extLst>
          </p:cNvPr>
          <p:cNvSpPr txBox="1"/>
          <p:nvPr/>
        </p:nvSpPr>
        <p:spPr>
          <a:xfrm>
            <a:off x="875777" y="6300592"/>
            <a:ext cx="6100174" cy="307777"/>
          </a:xfrm>
          <a:prstGeom prst="rect">
            <a:avLst/>
          </a:prstGeom>
          <a:noFill/>
        </p:spPr>
        <p:txBody>
          <a:bodyPr wrap="square">
            <a:spAutoFit/>
          </a:bodyPr>
          <a:lstStyle/>
          <a:p>
            <a:r>
              <a:rPr lang="en-US" dirty="0"/>
              <a:t>&lt;See SAFe Epics at </a:t>
            </a:r>
            <a:r>
              <a:rPr lang="en-US" dirty="0">
                <a:hlinkClick r:id="rId3"/>
              </a:rPr>
              <a:t>this link</a:t>
            </a:r>
            <a:r>
              <a:rPr lang="en-US" dirty="0"/>
              <a:t>&gt;</a:t>
            </a:r>
          </a:p>
        </p:txBody>
      </p:sp>
      <p:sp>
        <p:nvSpPr>
          <p:cNvPr id="6" name="Google Shape;18;p9">
            <a:extLst>
              <a:ext uri="{FF2B5EF4-FFF2-40B4-BE49-F238E27FC236}">
                <a16:creationId xmlns:a16="http://schemas.microsoft.com/office/drawing/2014/main" id="{7F1966C3-3704-5ACC-7D9C-E79A2631DE30}"/>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3380929427"/>
              </p:ext>
            </p:extLst>
          </p:nvPr>
        </p:nvGraphicFramePr>
        <p:xfrm>
          <a:off x="327377" y="1591460"/>
          <a:ext cx="11537245" cy="4434435"/>
        </p:xfrm>
        <a:graphic>
          <a:graphicData uri="http://schemas.openxmlformats.org/drawingml/2006/table">
            <a:tbl>
              <a:tblPr firstRow="1" firstCol="1" bandRow="1" bandCol="1">
                <a:tableStyleId>{5940675A-B579-460E-94D1-54222C63F5DA}</a:tableStyleId>
              </a:tblPr>
              <a:tblGrid>
                <a:gridCol w="2201334">
                  <a:extLst>
                    <a:ext uri="{9D8B030D-6E8A-4147-A177-3AD203B41FA5}">
                      <a16:colId xmlns:a16="http://schemas.microsoft.com/office/drawing/2014/main" val="335540143"/>
                    </a:ext>
                  </a:extLst>
                </a:gridCol>
                <a:gridCol w="2020711">
                  <a:extLst>
                    <a:ext uri="{9D8B030D-6E8A-4147-A177-3AD203B41FA5}">
                      <a16:colId xmlns:a16="http://schemas.microsoft.com/office/drawing/2014/main" val="298461284"/>
                    </a:ext>
                  </a:extLst>
                </a:gridCol>
                <a:gridCol w="1512712">
                  <a:extLst>
                    <a:ext uri="{9D8B030D-6E8A-4147-A177-3AD203B41FA5}">
                      <a16:colId xmlns:a16="http://schemas.microsoft.com/office/drawing/2014/main" val="1799946767"/>
                    </a:ext>
                  </a:extLst>
                </a:gridCol>
                <a:gridCol w="3251001">
                  <a:extLst>
                    <a:ext uri="{9D8B030D-6E8A-4147-A177-3AD203B41FA5}">
                      <a16:colId xmlns:a16="http://schemas.microsoft.com/office/drawing/2014/main" val="3179076574"/>
                    </a:ext>
                  </a:extLst>
                </a:gridCol>
                <a:gridCol w="2551487">
                  <a:extLst>
                    <a:ext uri="{9D8B030D-6E8A-4147-A177-3AD203B41FA5}">
                      <a16:colId xmlns:a16="http://schemas.microsoft.com/office/drawing/2014/main" val="1867107964"/>
                    </a:ext>
                  </a:extLst>
                </a:gridCol>
              </a:tblGrid>
              <a:tr h="1809241">
                <a:tc>
                  <a:txBody>
                    <a:bodyPr/>
                    <a:lstStyle/>
                    <a:p>
                      <a:pPr marL="0" marR="0">
                        <a:lnSpc>
                          <a:spcPct val="115000"/>
                        </a:lnSpc>
                        <a:spcBef>
                          <a:spcPts val="0"/>
                        </a:spcBef>
                        <a:spcAft>
                          <a:spcPts val="1000"/>
                        </a:spcAft>
                      </a:pPr>
                      <a:r>
                        <a:rPr lang="en-US" sz="1100" b="1" dirty="0">
                          <a:solidFill>
                            <a:schemeClr val="tx1"/>
                          </a:solidFill>
                          <a:effectLst/>
                        </a:rPr>
                        <a:t>In Scope:</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Professional Networking</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latin typeface="+mn-lt"/>
                          <a:ea typeface="+mn-ea"/>
                          <a:cs typeface="+mn-cs"/>
                        </a:rPr>
                        <a:t>Open Knowledge Sharing</a:t>
                      </a:r>
                    </a:p>
                    <a:p>
                      <a:pPr marL="0" marR="0" lvl="0" indent="0">
                        <a:lnSpc>
                          <a:spcPct val="115000"/>
                        </a:lnSpc>
                        <a:spcBef>
                          <a:spcPts val="0"/>
                        </a:spcBef>
                        <a:spcAft>
                          <a:spcPts val="0"/>
                        </a:spcAft>
                        <a:buFont typeface="Symbol" pitchFamily="2" charset="2"/>
                        <a:buNone/>
                        <a:tabLst/>
                      </a:pPr>
                      <a:r>
                        <a:rPr lang="en-US" sz="1100" dirty="0">
                          <a:solidFill>
                            <a:schemeClr val="tx1"/>
                          </a:solidFill>
                          <a:effectLst/>
                          <a:latin typeface="+mn-lt"/>
                          <a:ea typeface="+mn-ea"/>
                          <a:cs typeface="+mn-cs"/>
                        </a:rPr>
                        <a:t>  - including the AccelRR8 Body of  </a:t>
                      </a:r>
                      <a:br>
                        <a:rPr lang="en-US" sz="1100" dirty="0">
                          <a:solidFill>
                            <a:schemeClr val="tx1"/>
                          </a:solidFill>
                          <a:effectLst/>
                          <a:latin typeface="+mn-lt"/>
                          <a:ea typeface="+mn-ea"/>
                          <a:cs typeface="+mn-cs"/>
                        </a:rPr>
                      </a:br>
                      <a:r>
                        <a:rPr lang="en-US" sz="1100" dirty="0">
                          <a:solidFill>
                            <a:schemeClr val="tx1"/>
                          </a:solidFill>
                          <a:effectLst/>
                          <a:latin typeface="+mn-lt"/>
                          <a:ea typeface="+mn-ea"/>
                          <a:cs typeface="+mn-cs"/>
                        </a:rPr>
                        <a:t>    Knowledge and the AccelRR8 </a:t>
                      </a:r>
                      <a:br>
                        <a:rPr lang="en-US" sz="1100" dirty="0">
                          <a:solidFill>
                            <a:schemeClr val="tx1"/>
                          </a:solidFill>
                          <a:effectLst/>
                          <a:latin typeface="+mn-lt"/>
                          <a:ea typeface="+mn-ea"/>
                          <a:cs typeface="+mn-cs"/>
                        </a:rPr>
                      </a:br>
                      <a:r>
                        <a:rPr lang="en-US" sz="1100" dirty="0">
                          <a:solidFill>
                            <a:schemeClr val="tx1"/>
                          </a:solidFill>
                          <a:effectLst/>
                          <a:latin typeface="+mn-lt"/>
                          <a:ea typeface="+mn-ea"/>
                          <a:cs typeface="+mn-cs"/>
                        </a:rPr>
                        <a:t>    Framework open methodology</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latin typeface="+mn-lt"/>
                          <a:ea typeface="+mn-ea"/>
                          <a:cs typeface="+mn-cs"/>
                        </a:rPr>
                        <a:t>Industry Innovation</a:t>
                      </a: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For-profit consulting services</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SaaS and Licensed Software</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Capital Intensive Services </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(e.g., hosting on owned </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servers and data center)</a:t>
                      </a:r>
                    </a:p>
                  </a:txBody>
                  <a:tcPr marL="40793" marR="40793" marT="0" marB="0"/>
                </a:tc>
                <a:tc gridSpan="3">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14300" indent="-114300">
                        <a:buFont typeface="Arial" panose="020B0604020202020204" pitchFamily="34" charset="0"/>
                        <a:buChar char="•"/>
                        <a:tabLst/>
                      </a:pPr>
                      <a:r>
                        <a:rPr lang="en-US" sz="1100" b="1" dirty="0"/>
                        <a:t>Desirability</a:t>
                      </a:r>
                      <a:r>
                        <a:rPr lang="en-US" sz="1100" dirty="0"/>
                        <a:t>:  all want exponential success, few know how to generate it, and stakeholders like our values and culture</a:t>
                      </a:r>
                    </a:p>
                    <a:p>
                      <a:pPr marL="114300" indent="-114300">
                        <a:buFont typeface="Arial" panose="020B0604020202020204" pitchFamily="34" charset="0"/>
                        <a:buChar char="•"/>
                        <a:tabLst/>
                      </a:pPr>
                      <a:r>
                        <a:rPr lang="en-US" sz="1100" b="1" dirty="0"/>
                        <a:t>Viability</a:t>
                      </a:r>
                      <a:r>
                        <a:rPr lang="en-US" sz="1100" dirty="0"/>
                        <a:t>:  the Consortium has the required capabilities and isn’t trying to boil the ocean</a:t>
                      </a:r>
                    </a:p>
                    <a:p>
                      <a:pPr marL="114300" indent="-114300">
                        <a:buFont typeface="Arial" panose="020B0604020202020204" pitchFamily="34" charset="0"/>
                        <a:buChar char="•"/>
                        <a:tabLst/>
                      </a:pPr>
                      <a:r>
                        <a:rPr lang="en-US" sz="1100" b="1" dirty="0"/>
                        <a:t>Sustainability</a:t>
                      </a:r>
                      <a:r>
                        <a:rPr lang="en-US" sz="1100" dirty="0"/>
                        <a:t>:  the core premise (proven accelerators mathematically capable of generating exponential results) is enduring</a:t>
                      </a:r>
                    </a:p>
                    <a:p>
                      <a:pPr marL="114300" indent="-114300">
                        <a:buFont typeface="Arial" panose="020B0604020202020204" pitchFamily="34" charset="0"/>
                        <a:buChar char="•"/>
                        <a:tabLst/>
                      </a:pPr>
                      <a:r>
                        <a:rPr lang="en-US" sz="1100" b="1" dirty="0"/>
                        <a:t>Performance</a:t>
                      </a:r>
                      <a:r>
                        <a:rPr lang="en-US" sz="1100" dirty="0"/>
                        <a:t>:  the organization’s own success will be a key proof of our core premise, creating a virtuous cycle</a:t>
                      </a:r>
                    </a:p>
                    <a:p>
                      <a:pPr marL="114300" indent="-114300">
                        <a:buFont typeface="Arial" panose="020B0604020202020204" pitchFamily="34" charset="0"/>
                        <a:buChar char="•"/>
                        <a:tabLst/>
                      </a:pPr>
                      <a:r>
                        <a:rPr lang="en-US" sz="1100" b="1" dirty="0"/>
                        <a:t>Usability</a:t>
                      </a:r>
                      <a:r>
                        <a:rPr lang="en-US" sz="1100" dirty="0"/>
                        <a:t>:  becoming and remaining a collaborator, subscriber, or patron must be incredibly easy</a:t>
                      </a:r>
                      <a:endParaRPr lang="en-US" dirty="0"/>
                    </a:p>
                  </a:txBody>
                  <a:tcPr marL="40793" marR="40793" marT="0" marB="0"/>
                </a:tc>
                <a:tc hMerge="1">
                  <a:txBody>
                    <a:bodyPr/>
                    <a:lstStyle/>
                    <a:p>
                      <a:endParaRPr lang="en-US"/>
                    </a:p>
                  </a:txBody>
                  <a:tcPr/>
                </a:tc>
                <a:tc hMerge="1">
                  <a:txBody>
                    <a:bodyPr/>
                    <a:lstStyle/>
                    <a:p>
                      <a:pPr marL="0" marR="0">
                        <a:lnSpc>
                          <a:spcPct val="115000"/>
                        </a:lnSpc>
                        <a:spcBef>
                          <a:spcPts val="0"/>
                        </a:spcBef>
                        <a:spcAft>
                          <a:spcPts val="1000"/>
                        </a:spcAft>
                      </a:pPr>
                      <a:r>
                        <a:rPr lang="en-US" sz="1100" dirty="0">
                          <a:solidFill>
                            <a:schemeClr val="tx1"/>
                          </a:solidFill>
                          <a:effectLst/>
                        </a:rPr>
                        <a:t>Nonfunctional Requirements:</a:t>
                      </a:r>
                    </a:p>
                    <a:p>
                      <a:pPr marL="114300" indent="-114300">
                        <a:buFont typeface="Arial" panose="020B0604020202020204" pitchFamily="34" charset="0"/>
                        <a:buChar char="•"/>
                        <a:tabLst/>
                      </a:pPr>
                      <a:r>
                        <a:rPr lang="en-US" sz="1100" b="1" dirty="0"/>
                        <a:t>Desirability</a:t>
                      </a:r>
                      <a:r>
                        <a:rPr lang="en-US" sz="1100" dirty="0"/>
                        <a:t>:  all want exponential success, few know how to generate it, and customers like getting our help</a:t>
                      </a:r>
                    </a:p>
                    <a:p>
                      <a:pPr marL="114300" indent="-114300">
                        <a:buFont typeface="Arial" panose="020B0604020202020204" pitchFamily="34" charset="0"/>
                        <a:buChar char="•"/>
                        <a:tabLst/>
                      </a:pPr>
                      <a:r>
                        <a:rPr lang="en-US" sz="1100" b="1" dirty="0"/>
                        <a:t>Viability</a:t>
                      </a:r>
                      <a:r>
                        <a:rPr lang="en-US" sz="1100" dirty="0"/>
                        <a:t>:  the business has the required capabilities and isn’t attempting to boil the ocean</a:t>
                      </a:r>
                    </a:p>
                    <a:p>
                      <a:pPr marL="114300" indent="-114300">
                        <a:buFont typeface="Arial" panose="020B0604020202020204" pitchFamily="34" charset="0"/>
                        <a:buChar char="•"/>
                        <a:tabLst/>
                      </a:pPr>
                      <a:r>
                        <a:rPr lang="en-US" sz="1100" b="1" dirty="0"/>
                        <a:t>Resilience</a:t>
                      </a:r>
                      <a:r>
                        <a:rPr lang="en-US" sz="1100" dirty="0"/>
                        <a:t>:  the core premise (exponential accelerators) is enduring as time progresses</a:t>
                      </a:r>
                    </a:p>
                    <a:p>
                      <a:pPr marL="114300" indent="-114300">
                        <a:buFont typeface="Arial" panose="020B0604020202020204" pitchFamily="34" charset="0"/>
                        <a:buChar char="•"/>
                        <a:tabLst/>
                      </a:pPr>
                      <a:r>
                        <a:rPr lang="en-US" sz="1100" b="1" dirty="0"/>
                        <a:t>Performance</a:t>
                      </a:r>
                      <a:r>
                        <a:rPr lang="en-US" sz="1100" dirty="0"/>
                        <a:t>:  the business’ own success will prove the business’ premise – it’s self-evident</a:t>
                      </a:r>
                    </a:p>
                    <a:p>
                      <a:pPr marL="114300" indent="-114300">
                        <a:buFont typeface="Arial" panose="020B0604020202020204" pitchFamily="34" charset="0"/>
                        <a:buChar char="•"/>
                        <a:tabLst/>
                      </a:pPr>
                      <a:r>
                        <a:rPr lang="en-US" sz="1100" b="1" dirty="0"/>
                        <a:t>Usability</a:t>
                      </a:r>
                      <a:r>
                        <a:rPr lang="en-US" sz="1100" dirty="0"/>
                        <a:t>:  becoming and remaining a customer must be incredibly easy</a:t>
                      </a:r>
                    </a:p>
                  </a:txBody>
                  <a:tcPr marL="40793" marR="40793" marT="0" marB="0"/>
                </a:tc>
                <a:extLst>
                  <a:ext uri="{0D108BD9-81ED-4DB2-BD59-A6C34878D82A}">
                    <a16:rowId xmlns:a16="http://schemas.microsoft.com/office/drawing/2014/main" val="1803020786"/>
                  </a:ext>
                </a:extLst>
              </a:tr>
              <a:tr h="1224015">
                <a:tc gridSpan="3">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Professional Networking, Open Knowledge Sharing, and Industry Innovation offerings v1</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AccelRR8 Framework v1 (an open methodology)</a:t>
                      </a:r>
                    </a:p>
                    <a:p>
                      <a:pPr marL="122238" marR="0" lvl="0" indent="-122238" algn="l" defTabSz="914400" rtl="0" eaLnBrk="1" fontAlgn="auto" latinLnBrk="0" hangingPunct="1">
                        <a:lnSpc>
                          <a:spcPct val="115000"/>
                        </a:lnSpc>
                        <a:spcBef>
                          <a:spcPts val="0"/>
                        </a:spcBef>
                        <a:spcAft>
                          <a:spcPts val="0"/>
                        </a:spcAft>
                        <a:buClr>
                          <a:srgbClr val="000000"/>
                        </a:buClr>
                        <a:buSzTx/>
                        <a:buFont typeface="Symbol" pitchFamily="2" charset="2"/>
                        <a:buChar char=""/>
                        <a:tabLst/>
                        <a:defRPr/>
                      </a:pPr>
                      <a:r>
                        <a:rPr lang="en-US" sz="1100" dirty="0">
                          <a:solidFill>
                            <a:schemeClr val="tx1"/>
                          </a:solidFill>
                          <a:effectLst/>
                        </a:rPr>
                        <a:t>AccelRR8 Body of Knowledge Overview v1</a:t>
                      </a:r>
                    </a:p>
                    <a:p>
                      <a:pPr marL="0" marR="0">
                        <a:lnSpc>
                          <a:spcPct val="115000"/>
                        </a:lnSpc>
                        <a:spcBef>
                          <a:spcPts val="0"/>
                        </a:spcBef>
                        <a:spcAft>
                          <a:spcPts val="1000"/>
                        </a:spcAf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tc hMerge="1">
                  <a:txBody>
                    <a:bodyPr/>
                    <a:lstStyle/>
                    <a:p>
                      <a:pPr marL="0" marR="0">
                        <a:lnSpc>
                          <a:spcPct val="115000"/>
                        </a:lnSpc>
                        <a:spcBef>
                          <a:spcPts val="0"/>
                        </a:spcBef>
                        <a:spcAft>
                          <a:spcPts val="1000"/>
                        </a:spcAft>
                      </a:pP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gridSpan="2">
                  <a:txBody>
                    <a:bodyPr/>
                    <a:lstStyle/>
                    <a:p>
                      <a:pPr marL="122238" marR="0" indent="-122238">
                        <a:lnSpc>
                          <a:spcPct val="115000"/>
                        </a:lnSpc>
                        <a:spcBef>
                          <a:spcPts val="0"/>
                        </a:spcBef>
                        <a:spcAft>
                          <a:spcPts val="1000"/>
                        </a:spcAft>
                        <a:tabLst/>
                      </a:pPr>
                      <a:r>
                        <a:rPr lang="en-US" sz="1100" b="1" dirty="0">
                          <a:solidFill>
                            <a:schemeClr val="tx1"/>
                          </a:solidFill>
                          <a:effectLst/>
                        </a:rPr>
                        <a:t>Additional Potential Features</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Future versions of Professional Networking, Open Knowledge Sharing, and Agile Research &amp; Development Offerings</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Future versions of the AcceleRR8 Framework</a:t>
                      </a:r>
                    </a:p>
                    <a:p>
                      <a:pPr marL="122238" marR="0" lvl="0" indent="-122238">
                        <a:lnSpc>
                          <a:spcPct val="115000"/>
                        </a:lnSpc>
                        <a:spcBef>
                          <a:spcPts val="0"/>
                        </a:spcBef>
                        <a:spcAft>
                          <a:spcPts val="0"/>
                        </a:spcAft>
                        <a:buFont typeface="Symbol" pitchFamily="2" charset="2"/>
                        <a:buChar char=""/>
                        <a:tabLst/>
                      </a:pPr>
                      <a:r>
                        <a:rPr lang="en-US" sz="1100" dirty="0">
                          <a:solidFill>
                            <a:schemeClr val="tx1"/>
                          </a:solidFill>
                          <a:effectLst/>
                        </a:rPr>
                        <a:t>Future components of the AccelRR8 Body of Knowledge</a:t>
                      </a:r>
                    </a:p>
                    <a:p>
                      <a:pPr marL="122238" marR="0" indent="-122238">
                        <a:lnSpc>
                          <a:spcPct val="115000"/>
                        </a:lnSpc>
                        <a:spcBef>
                          <a:spcPts val="0"/>
                        </a:spcBef>
                        <a:spcAft>
                          <a:spcPts val="1000"/>
                        </a:spcAft>
                        <a:tabLs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776873087"/>
                  </a:ext>
                </a:extLst>
              </a:tr>
              <a:tr h="1353924">
                <a:tc gridSpan="4">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Collaborators.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6" name="TextBox 5">
            <a:extLst>
              <a:ext uri="{FF2B5EF4-FFF2-40B4-BE49-F238E27FC236}">
                <a16:creationId xmlns:a16="http://schemas.microsoft.com/office/drawing/2014/main" id="{7EAC0157-6343-D56D-5D76-3AAA75837A76}"/>
              </a:ext>
            </a:extLst>
          </p:cNvPr>
          <p:cNvSpPr txBox="1"/>
          <p:nvPr/>
        </p:nvSpPr>
        <p:spPr>
          <a:xfrm>
            <a:off x="875777" y="6300592"/>
            <a:ext cx="6100174" cy="307777"/>
          </a:xfrm>
          <a:prstGeom prst="rect">
            <a:avLst/>
          </a:prstGeom>
          <a:noFill/>
        </p:spPr>
        <p:txBody>
          <a:bodyPr wrap="square">
            <a:spAutoFit/>
          </a:bodyPr>
          <a:lstStyle/>
          <a:p>
            <a:r>
              <a:rPr lang="en-US" dirty="0"/>
              <a:t>&lt;See SAFe Epics at </a:t>
            </a:r>
            <a:r>
              <a:rPr lang="en-US" dirty="0">
                <a:hlinkClick r:id="rId3"/>
              </a:rPr>
              <a:t>this link</a:t>
            </a:r>
            <a:r>
              <a:rPr lang="en-US" dirty="0"/>
              <a:t>&gt;</a:t>
            </a:r>
          </a:p>
        </p:txBody>
      </p:sp>
      <p:sp>
        <p:nvSpPr>
          <p:cNvPr id="7" name="Google Shape;18;p9">
            <a:extLst>
              <a:ext uri="{FF2B5EF4-FFF2-40B4-BE49-F238E27FC236}">
                <a16:creationId xmlns:a16="http://schemas.microsoft.com/office/drawing/2014/main" id="{408E3A6F-70B5-B4F1-CA94-789FEA4EBF8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915683882"/>
              </p:ext>
            </p:extLst>
          </p:nvPr>
        </p:nvGraphicFramePr>
        <p:xfrm>
          <a:off x="939452" y="1383519"/>
          <a:ext cx="10396603" cy="4987246"/>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784799">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(1) implementing proven accelerators to create </a:t>
                      </a:r>
                      <a:r>
                        <a:rPr lang="en-US" sz="1100" b="1" dirty="0">
                          <a:solidFill>
                            <a:srgbClr val="00B050"/>
                          </a:solidFill>
                          <a:effectLst/>
                        </a:rPr>
                        <a:t>Network Effects </a:t>
                      </a:r>
                      <a:r>
                        <a:rPr lang="en-US" sz="1100" dirty="0">
                          <a:solidFill>
                            <a:schemeClr val="tx1"/>
                          </a:solidFill>
                          <a:effectLst/>
                        </a:rPr>
                        <a:t>among a Professional Network of 1,000+ initial collaborators, (2) igniting </a:t>
                      </a:r>
                      <a:r>
                        <a:rPr lang="en-US" sz="1100" b="1" dirty="0">
                          <a:solidFill>
                            <a:srgbClr val="00B050"/>
                          </a:solidFill>
                          <a:effectLst/>
                        </a:rPr>
                        <a:t>Viral Ideation</a:t>
                      </a:r>
                      <a:r>
                        <a:rPr lang="en-US" sz="1100" dirty="0">
                          <a:solidFill>
                            <a:schemeClr val="tx1"/>
                          </a:solidFill>
                          <a:effectLst/>
                        </a:rPr>
                        <a:t> across this network via Open Knowledge Sharing, and (3) attracting Industry Innovation grants from initial patrons to begin developing exponential solutions for priority industry challenges via </a:t>
                      </a:r>
                      <a:r>
                        <a:rPr lang="en-US" sz="1100" b="1" dirty="0">
                          <a:solidFill>
                            <a:srgbClr val="00B050"/>
                          </a:solidFill>
                          <a:effectLst/>
                        </a:rPr>
                        <a:t>Compounding Innovation</a:t>
                      </a:r>
                      <a:r>
                        <a:rPr lang="en-US" sz="1100" dirty="0">
                          <a:solidFill>
                            <a:schemeClr val="tx1"/>
                          </a:solidFill>
                          <a:effectLst/>
                        </a:rPr>
                        <a:t>, all while harnessing (4) </a:t>
                      </a:r>
                      <a:r>
                        <a:rPr lang="en-US" sz="1100" b="1" dirty="0">
                          <a:solidFill>
                            <a:srgbClr val="00B050"/>
                          </a:solidFill>
                          <a:effectLst/>
                        </a:rPr>
                        <a:t>Generative Learning</a:t>
                      </a:r>
                      <a:r>
                        <a:rPr lang="en-US" sz="1100" dirty="0">
                          <a:solidFill>
                            <a:schemeClr val="tx1"/>
                          </a:solidFill>
                          <a:effectLst/>
                        </a:rPr>
                        <a:t> and (5) </a:t>
                      </a:r>
                      <a:r>
                        <a:rPr lang="en-US" sz="1100" b="1" dirty="0">
                          <a:solidFill>
                            <a:srgbClr val="00B050"/>
                          </a:solidFill>
                          <a:effectLst/>
                        </a:rPr>
                        <a:t>Artificial Intelligence</a:t>
                      </a:r>
                      <a:r>
                        <a:rPr lang="en-US" sz="1100" dirty="0">
                          <a:solidFill>
                            <a:schemeClr val="tx1"/>
                          </a:solidFill>
                          <a:effectLst/>
                        </a:rPr>
                        <a:t>.</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699342">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640652">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Customer Acquisition, and Service Fulfillment for our MVP should be focused on attracting and retaining (A) 1,000+ initial collaborators, and (B) initial patrons, all who are Net Promoters of the Consortium’s services and its core premise.  As our services mature beyond MVP, and we find new revenue sources, we will be able to invest in more sophisticated Demand Generation, Customer Acquisition, and Service Fulfillment activities to further accelerate growth and impact.</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900749">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An opportunity cost of one 20% fraction of Rich Reba’s time for 5 months, which is equivalent to $50K.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$500K+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620770">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collaborators in the Professional Network, viral ideas across the network, and exponential solutions to priority industry challenges, tripling every year</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collaborators, subscribers, patrons, and the Tech Services industry, as measured by stakeholder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6" name="TextBox 5">
            <a:extLst>
              <a:ext uri="{FF2B5EF4-FFF2-40B4-BE49-F238E27FC236}">
                <a16:creationId xmlns:a16="http://schemas.microsoft.com/office/drawing/2014/main" id="{F2D42400-5633-A72C-1FD7-4E3F59FDFE1F}"/>
              </a:ext>
            </a:extLst>
          </p:cNvPr>
          <p:cNvSpPr txBox="1"/>
          <p:nvPr/>
        </p:nvSpPr>
        <p:spPr>
          <a:xfrm>
            <a:off x="939452" y="6550223"/>
            <a:ext cx="6100174" cy="307777"/>
          </a:xfrm>
          <a:prstGeom prst="rect">
            <a:avLst/>
          </a:prstGeom>
          <a:noFill/>
        </p:spPr>
        <p:txBody>
          <a:bodyPr wrap="square">
            <a:spAutoFit/>
          </a:bodyPr>
          <a:lstStyle/>
          <a:p>
            <a:r>
              <a:rPr lang="en-US" dirty="0"/>
              <a:t>&lt;See SAFe Epics at </a:t>
            </a:r>
            <a:r>
              <a:rPr lang="en-US" dirty="0">
                <a:hlinkClick r:id="rId3"/>
              </a:rPr>
              <a:t>this link</a:t>
            </a:r>
            <a:r>
              <a:rPr lang="en-US" dirty="0"/>
              <a:t>&gt;</a:t>
            </a:r>
          </a:p>
        </p:txBody>
      </p:sp>
      <p:sp>
        <p:nvSpPr>
          <p:cNvPr id="7" name="Google Shape;18;p9">
            <a:extLst>
              <a:ext uri="{FF2B5EF4-FFF2-40B4-BE49-F238E27FC236}">
                <a16:creationId xmlns:a16="http://schemas.microsoft.com/office/drawing/2014/main" id="{3BBAE2B7-9326-C355-C63A-D23604D85430}"/>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1071750508"/>
              </p:ext>
            </p:extLst>
          </p:nvPr>
        </p:nvGraphicFramePr>
        <p:xfrm>
          <a:off x="838199" y="1520101"/>
          <a:ext cx="10610590" cy="4410799"/>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259931">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705885">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Each Service’s Context, Intent, R&amp;D Kit, Media and Analyst Relations Kit, </a:t>
                      </a:r>
                      <a:r>
                        <a:rPr lang="en-US" sz="1100" dirty="0">
                          <a:solidFill>
                            <a:schemeClr val="tx1"/>
                          </a:solidFill>
                          <a:effectLst/>
                          <a:latin typeface="Arial" panose="020B0604020202020204" pitchFamily="34" charset="0"/>
                          <a:cs typeface="Arial" panose="020B0604020202020204" pitchFamily="34" charset="0"/>
                        </a:rPr>
                        <a:t>Demand Generation Kit, Customer Acquisition Kit, and Service Fulfillment Kit</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 Initial versions of the AccelRR8 Framework open methodology and its 5 components, and the AccelRR8 Body of Knowledge overview</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a:t>
                      </a:r>
                      <a:endParaRPr lang="en-US" sz="1100" b="0" i="0" u="none" strike="noStrike" cap="none" dirty="0">
                        <a:solidFill>
                          <a:schemeClr val="tx1"/>
                        </a:solidFill>
                        <a:effectLst/>
                        <a:latin typeface="+mn-lt"/>
                        <a:ea typeface="+mn-ea"/>
                        <a:cs typeface="+mn-cs"/>
                        <a:sym typeface="Arial"/>
                      </a:endParaRPr>
                    </a:p>
                    <a:p>
                      <a:pPr marL="61913" marR="0" indent="-61913" algn="l" rtl="0">
                        <a:lnSpc>
                          <a:spcPct val="115000"/>
                        </a:lnSpc>
                        <a:spcBef>
                          <a:spcPts val="0"/>
                        </a:spcBef>
                        <a:spcAft>
                          <a:spcPts val="0"/>
                        </a:spcAft>
                        <a:buClr>
                          <a:srgbClr val="000000"/>
                        </a:buClr>
                        <a:buFont typeface="Arial" panose="020B0604020202020204" pitchFamily="34" charset="0"/>
                        <a:buChar char="•"/>
                        <a:tabLst/>
                      </a:pPr>
                      <a:r>
                        <a:rPr lang="en-US" sz="1100" b="0" i="0" u="none" strike="noStrike" cap="none" dirty="0">
                          <a:solidFill>
                            <a:schemeClr val="tx1"/>
                          </a:solidFill>
                          <a:effectLst/>
                          <a:latin typeface="+mn-lt"/>
                          <a:ea typeface="+mn-ea"/>
                          <a:cs typeface="+mn-cs"/>
                          <a:sym typeface="Arial"/>
                        </a:rPr>
                        <a:t>Exponential solutions to priority industry challenges produced via Industry Innovation will likely be sourced by other organizations such as other non-profits, open-source communities, etc., and paid for by grants from patrons.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49551468"/>
                  </a:ext>
                </a:extLst>
              </a:tr>
              <a:tr h="971783">
                <a:tc>
                  <a:txBody>
                    <a:bodyPr/>
                    <a:lstStyle/>
                    <a:p>
                      <a:pPr marL="0" marR="0">
                        <a:lnSpc>
                          <a:spcPct val="115000"/>
                        </a:lnSpc>
                        <a:spcBef>
                          <a:spcPts val="0"/>
                        </a:spcBef>
                        <a:spcAft>
                          <a:spcPts val="1000"/>
                        </a:spcAft>
                      </a:pPr>
                      <a:r>
                        <a:rPr lang="en-US" sz="1100" b="1" dirty="0">
                          <a:solidFill>
                            <a:schemeClr val="tx1"/>
                          </a:solidFill>
                          <a:effectLst/>
                          <a:latin typeface="Arial" panose="020B0604020202020204" pitchFamily="34" charset="0"/>
                          <a:cs typeface="Arial" panose="020B0604020202020204" pitchFamily="34" charset="0"/>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Professional Networking, Open Knowledge Sharing, and Industry Innovation Services MVPs (v1) are Portfolio-Level Business Epics being developed concurrently with the AccelRR8 Framework open methodology and the AccelRR8 Body of Knowledge Overview MVPs (v1), which in this context are Architectural Epics that support the Business Epics.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910844">
                <a:tc>
                  <a:txBody>
                    <a:bodyPr/>
                    <a:lstStyle/>
                    <a:p>
                      <a:pPr marL="0" marR="0">
                        <a:lnSpc>
                          <a:spcPct val="115000"/>
                        </a:lnSpc>
                        <a:spcBef>
                          <a:spcPts val="0"/>
                        </a:spcBef>
                        <a:spcAft>
                          <a:spcPts val="1000"/>
                        </a:spcAft>
                      </a:pPr>
                      <a:r>
                        <a:rPr lang="en-US" sz="1100" b="1" dirty="0">
                          <a:solidFill>
                            <a:schemeClr val="tx1"/>
                          </a:solidFill>
                          <a:effectLst/>
                          <a:latin typeface="Arial" panose="020B0604020202020204" pitchFamily="34" charset="0"/>
                          <a:cs typeface="Arial" panose="020B0604020202020204" pitchFamily="34" charset="0"/>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Professional Networking, Open Knowledge Sharing, and Industry Innovation Services MVPs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r>
              <a:rPr lang="en-US" dirty="0"/>
              <a:t>&lt;See SAFe Epics at </a:t>
            </a:r>
            <a:r>
              <a:rPr lang="en-US" dirty="0">
                <a:hlinkClick r:id="rId4"/>
              </a:rPr>
              <a:t>this link</a:t>
            </a:r>
            <a:r>
              <a:rPr lang="en-US" dirty="0"/>
              <a:t>&gt;</a:t>
            </a:r>
          </a:p>
        </p:txBody>
      </p:sp>
      <p:sp>
        <p:nvSpPr>
          <p:cNvPr id="7" name="Google Shape;18;p9">
            <a:extLst>
              <a:ext uri="{FF2B5EF4-FFF2-40B4-BE49-F238E27FC236}">
                <a16:creationId xmlns:a16="http://schemas.microsoft.com/office/drawing/2014/main" id="{11C4E201-007A-DEF5-F7E7-28FF2400A74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872418788"/>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Product Plans for v1 of Professional Networking, Open Knowledge Sharing, and Industry Innovation Services</a:t>
                      </a:r>
                    </a:p>
                    <a:p>
                      <a:pPr marL="0" marR="0">
                        <a:lnSpc>
                          <a:spcPct val="115000"/>
                        </a:lnSpc>
                        <a:spcBef>
                          <a:spcPts val="0"/>
                        </a:spcBef>
                        <a:spcAft>
                          <a:spcPts val="1000"/>
                        </a:spcAft>
                      </a:pPr>
                      <a:r>
                        <a:rPr lang="en-US" sz="1100" dirty="0">
                          <a:solidFill>
                            <a:schemeClr val="tx1"/>
                          </a:solidFill>
                          <a:effectLst/>
                        </a:rPr>
                        <a:t>Solution Plans for v1 of AccelRR8 Framework open methodology and AccelRR8 Body of Knowledge Overview Solutions</a:t>
                      </a: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AccelRR8 Consortium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the AccelRR8 Consortium Non-Profit</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r>
              <a:rPr lang="en-US" dirty="0"/>
              <a:t>&lt;See SAFe Epics at </a:t>
            </a:r>
            <a:r>
              <a:rPr lang="en-US" dirty="0">
                <a:hlinkClick r:id="rId5"/>
              </a:rPr>
              <a:t>this link</a:t>
            </a:r>
            <a:r>
              <a:rPr lang="en-US" dirty="0"/>
              <a:t>&gt;</a:t>
            </a:r>
          </a:p>
        </p:txBody>
      </p:sp>
      <p:sp>
        <p:nvSpPr>
          <p:cNvPr id="7" name="Google Shape;18;p9">
            <a:extLst>
              <a:ext uri="{FF2B5EF4-FFF2-40B4-BE49-F238E27FC236}">
                <a16:creationId xmlns:a16="http://schemas.microsoft.com/office/drawing/2014/main" id="{EF43A6A1-7C18-E996-0E2B-98F5C6E4FBAF}"/>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Implementing - MVP Stage</a:t>
            </a:r>
          </a:p>
        </p:txBody>
      </p:sp>
      <p:sp>
        <p:nvSpPr>
          <p:cNvPr id="6" name="Google Shape;18;p9">
            <a:extLst>
              <a:ext uri="{FF2B5EF4-FFF2-40B4-BE49-F238E27FC236}">
                <a16:creationId xmlns:a16="http://schemas.microsoft.com/office/drawing/2014/main" id="{2DC762BC-81CA-339E-E364-55F34DD2C24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20992</TotalTime>
  <Words>1732</Words>
  <Application>Microsoft Macintosh PowerPoint</Application>
  <PresentationFormat>Widescreen</PresentationFormat>
  <Paragraphs>159</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Symbol</vt:lpstr>
      <vt:lpstr>Office Theme</vt:lpstr>
      <vt:lpstr>  AccelRR8 Consortium NonProfit Lean Business Case </vt:lpstr>
      <vt:lpstr>Deliverables Produced During the Review Stage</vt:lpstr>
      <vt:lpstr>Consortium Hypothesis</vt:lpstr>
      <vt:lpstr>Deliverables Produced During the Analysis Stage</vt:lpstr>
      <vt:lpstr>Lean Business Case (1/5)</vt:lpstr>
      <vt:lpstr>Lean Business Case (2/5)</vt:lpstr>
      <vt:lpstr>Lean Business Case (3/5)</vt:lpstr>
      <vt:lpstr>Lean Business Case (4/5)</vt:lpstr>
      <vt:lpstr>Lean Business Case (5/5)</vt:lpstr>
      <vt:lpstr>Deliverables Produced During the Implementing - MVP Stage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150</cp:revision>
  <cp:lastPrinted>2024-10-23T18:23:41Z</cp:lastPrinted>
  <dcterms:created xsi:type="dcterms:W3CDTF">2023-08-22T19:09:59Z</dcterms:created>
  <dcterms:modified xsi:type="dcterms:W3CDTF">2024-10-24T18:22:59Z</dcterms:modified>
</cp:coreProperties>
</file>