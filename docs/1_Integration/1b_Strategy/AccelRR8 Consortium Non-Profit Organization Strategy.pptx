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403" r:id="rId3"/>
    <p:sldId id="412" r:id="rId4"/>
    <p:sldId id="273" r:id="rId5"/>
    <p:sldId id="416" r:id="rId6"/>
    <p:sldId id="404" r:id="rId7"/>
    <p:sldId id="277" r:id="rId8"/>
    <p:sldId id="262" r:id="rId9"/>
    <p:sldId id="405" r:id="rId10"/>
    <p:sldId id="275" r:id="rId11"/>
    <p:sldId id="278" r:id="rId12"/>
    <p:sldId id="406" r:id="rId13"/>
    <p:sldId id="274" r:id="rId14"/>
    <p:sldId id="417" r:id="rId15"/>
    <p:sldId id="409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4E8E5638-AF02-574F-973A-0BA5E742AE27}">
          <p14:sldIdLst>
            <p14:sldId id="256"/>
          </p14:sldIdLst>
        </p14:section>
        <p14:section name="Intent and Ambition" id="{FFA9F242-8AD8-EF42-8D73-529595A2924A}">
          <p14:sldIdLst>
            <p14:sldId id="403"/>
            <p14:sldId id="412"/>
            <p14:sldId id="273"/>
            <p14:sldId id="416"/>
          </p14:sldIdLst>
        </p14:section>
        <p14:section name="Consortium Opportunity" id="{05194138-A3ED-064B-861C-0547F49986DE}">
          <p14:sldIdLst>
            <p14:sldId id="404"/>
            <p14:sldId id="277"/>
            <p14:sldId id="262"/>
          </p14:sldIdLst>
        </p14:section>
        <p14:section name="Success Factors" id="{A8607958-67BE-0D41-AF22-F251A2EEF798}">
          <p14:sldIdLst>
            <p14:sldId id="405"/>
            <p14:sldId id="275"/>
            <p14:sldId id="278"/>
          </p14:sldIdLst>
        </p14:section>
        <p14:section name="3-Horizon Roadmap for the 2020s" id="{BDC3B2AF-CB8F-1E49-8E65-5336AA748889}">
          <p14:sldIdLst>
            <p14:sldId id="406"/>
            <p14:sldId id="274"/>
            <p14:sldId id="417"/>
            <p14:sldId id="409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35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DD2A7E-913D-4848-8702-F40BD19E1117}" v="29" dt="2026-08-06T19:09:12.7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759"/>
    <p:restoredTop sz="96203"/>
  </p:normalViewPr>
  <p:slideViewPr>
    <p:cSldViewPr snapToGrid="0">
      <p:cViewPr varScale="1">
        <p:scale>
          <a:sx n="143" d="100"/>
          <a:sy n="143" d="100"/>
        </p:scale>
        <p:origin x="4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customschemas.google.com/relationships/presentationmetadata" Target="meta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undo redo custSel addSld delSld modSld sldOrd delMainMaster delSection modSection">
      <pc:chgData name="Rich Reba" userId="55db41ab6eb3f845" providerId="LiveId" clId="{0E19DA16-244C-5B50-BE0F-52911DD4CA7E}" dt="2026-08-06T19:44:12.954" v="1286" actId="17851"/>
      <pc:docMkLst>
        <pc:docMk/>
      </pc:docMkLst>
      <pc:sldChg chg="delSp modSp mod">
        <pc:chgData name="Rich Reba" userId="55db41ab6eb3f845" providerId="LiveId" clId="{0E19DA16-244C-5B50-BE0F-52911DD4CA7E}" dt="2026-08-06T18:58:24.758" v="730" actId="478"/>
        <pc:sldMkLst>
          <pc:docMk/>
          <pc:sldMk cId="0" sldId="256"/>
        </pc:sldMkLst>
        <pc:spChg chg="del">
          <ac:chgData name="Rich Reba" userId="55db41ab6eb3f845" providerId="LiveId" clId="{0E19DA16-244C-5B50-BE0F-52911DD4CA7E}" dt="2026-08-06T18:58:24.758" v="730" actId="478"/>
          <ac:spMkLst>
            <pc:docMk/>
            <pc:sldMk cId="0" sldId="256"/>
            <ac:spMk id="2" creationId="{5FACCA81-B362-8D11-103C-37960FC92AAC}"/>
          </ac:spMkLst>
        </pc:spChg>
        <pc:spChg chg="mod">
          <ac:chgData name="Rich Reba" userId="55db41ab6eb3f845" providerId="LiveId" clId="{0E19DA16-244C-5B50-BE0F-52911DD4CA7E}" dt="2026-08-06T17:16:55.137" v="137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mod">
        <pc:chgData name="Rich Reba" userId="55db41ab6eb3f845" providerId="LiveId" clId="{0E19DA16-244C-5B50-BE0F-52911DD4CA7E}" dt="2026-08-06T18:58:44.221" v="737" actId="478"/>
        <pc:sldMkLst>
          <pc:docMk/>
          <pc:sldMk cId="2353389302" sldId="262"/>
        </pc:sldMkLst>
        <pc:spChg chg="del">
          <ac:chgData name="Rich Reba" userId="55db41ab6eb3f845" providerId="LiveId" clId="{0E19DA16-244C-5B50-BE0F-52911DD4CA7E}" dt="2026-08-06T18:58:44.221" v="737" actId="478"/>
          <ac:spMkLst>
            <pc:docMk/>
            <pc:sldMk cId="2353389302" sldId="262"/>
            <ac:spMk id="2" creationId="{BCAB5B48-B8F8-D8B0-3363-89BF14A47DA5}"/>
          </ac:spMkLst>
        </pc:spChg>
      </pc:sldChg>
      <pc:sldChg chg="delSp add del mod">
        <pc:chgData name="Rich Reba" userId="55db41ab6eb3f845" providerId="LiveId" clId="{0E19DA16-244C-5B50-BE0F-52911DD4CA7E}" dt="2026-08-06T19:44:07.330" v="1280" actId="2696"/>
        <pc:sldMkLst>
          <pc:docMk/>
          <pc:sldMk cId="4088822028" sldId="263"/>
        </pc:sldMkLst>
        <pc:spChg chg="del">
          <ac:chgData name="Rich Reba" userId="55db41ab6eb3f845" providerId="LiveId" clId="{0E19DA16-244C-5B50-BE0F-52911DD4CA7E}" dt="2026-08-06T18:59:05.597" v="743" actId="478"/>
          <ac:spMkLst>
            <pc:docMk/>
            <pc:sldMk cId="4088822028" sldId="263"/>
            <ac:spMk id="2" creationId="{D57AE71C-2FC9-1FBC-19D6-92E0039AEF7D}"/>
          </ac:spMkLst>
        </pc:spChg>
      </pc:sldChg>
      <pc:sldChg chg="delSp modSp mod">
        <pc:chgData name="Rich Reba" userId="55db41ab6eb3f845" providerId="LiveId" clId="{0E19DA16-244C-5B50-BE0F-52911DD4CA7E}" dt="2026-08-06T18:58:32.405" v="733" actId="478"/>
        <pc:sldMkLst>
          <pc:docMk/>
          <pc:sldMk cId="4274695656" sldId="273"/>
        </pc:sldMkLst>
        <pc:spChg chg="del">
          <ac:chgData name="Rich Reba" userId="55db41ab6eb3f845" providerId="LiveId" clId="{0E19DA16-244C-5B50-BE0F-52911DD4CA7E}" dt="2026-08-06T18:58:32.405" v="733" actId="478"/>
          <ac:spMkLst>
            <pc:docMk/>
            <pc:sldMk cId="4274695656" sldId="273"/>
            <ac:spMk id="2" creationId="{4B602561-35D8-AF27-76E9-EB18F18FC081}"/>
          </ac:spMkLst>
        </pc:spChg>
        <pc:spChg chg="mod">
          <ac:chgData name="Rich Reba" userId="55db41ab6eb3f845" providerId="LiveId" clId="{0E19DA16-244C-5B50-BE0F-52911DD4CA7E}" dt="2026-08-06T16:49:37.012" v="11" actId="20577"/>
          <ac:spMkLst>
            <pc:docMk/>
            <pc:sldMk cId="4274695656" sldId="273"/>
            <ac:spMk id="4" creationId="{BDC3AF1A-7A80-3B3D-294A-E26C982690C3}"/>
          </ac:spMkLst>
        </pc:spChg>
      </pc:sldChg>
      <pc:sldChg chg="delSp modSp mod">
        <pc:chgData name="Rich Reba" userId="55db41ab6eb3f845" providerId="LiveId" clId="{0E19DA16-244C-5B50-BE0F-52911DD4CA7E}" dt="2026-08-06T18:59:28.154" v="750" actId="478"/>
        <pc:sldMkLst>
          <pc:docMk/>
          <pc:sldMk cId="1656586467" sldId="274"/>
        </pc:sldMkLst>
        <pc:spChg chg="del">
          <ac:chgData name="Rich Reba" userId="55db41ab6eb3f845" providerId="LiveId" clId="{0E19DA16-244C-5B50-BE0F-52911DD4CA7E}" dt="2026-08-06T18:59:28.154" v="750" actId="478"/>
          <ac:spMkLst>
            <pc:docMk/>
            <pc:sldMk cId="1656586467" sldId="274"/>
            <ac:spMk id="6" creationId="{CF348359-6A33-94C2-7023-E826A712A5B3}"/>
          </ac:spMkLst>
        </pc:spChg>
        <pc:spChg chg="mod">
          <ac:chgData name="Rich Reba" userId="55db41ab6eb3f845" providerId="LiveId" clId="{0E19DA16-244C-5B50-BE0F-52911DD4CA7E}" dt="2026-08-06T16:55:26.775" v="37" actId="20577"/>
          <ac:spMkLst>
            <pc:docMk/>
            <pc:sldMk cId="1656586467" sldId="274"/>
            <ac:spMk id="125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29.948" v="38" actId="20577"/>
          <ac:spMkLst>
            <pc:docMk/>
            <pc:sldMk cId="1656586467" sldId="274"/>
            <ac:spMk id="126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32.778" v="39" actId="20577"/>
          <ac:spMkLst>
            <pc:docMk/>
            <pc:sldMk cId="1656586467" sldId="274"/>
            <ac:spMk id="127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49.115" v="78" actId="20577"/>
          <ac:spMkLst>
            <pc:docMk/>
            <pc:sldMk cId="1656586467" sldId="274"/>
            <ac:spMk id="128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51.450" v="80" actId="20577"/>
          <ac:spMkLst>
            <pc:docMk/>
            <pc:sldMk cId="1656586467" sldId="274"/>
            <ac:spMk id="129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53.624" v="82" actId="20577"/>
          <ac:spMkLst>
            <pc:docMk/>
            <pc:sldMk cId="1656586467" sldId="274"/>
            <ac:spMk id="130" creationId="{00000000-0000-0000-0000-000000000000}"/>
          </ac:spMkLst>
        </pc:spChg>
      </pc:sldChg>
      <pc:sldChg chg="delSp modSp mod">
        <pc:chgData name="Rich Reba" userId="55db41ab6eb3f845" providerId="LiveId" clId="{0E19DA16-244C-5B50-BE0F-52911DD4CA7E}" dt="2026-08-06T18:59:11.719" v="745" actId="478"/>
        <pc:sldMkLst>
          <pc:docMk/>
          <pc:sldMk cId="2269987968" sldId="275"/>
        </pc:sldMkLst>
        <pc:spChg chg="del">
          <ac:chgData name="Rich Reba" userId="55db41ab6eb3f845" providerId="LiveId" clId="{0E19DA16-244C-5B50-BE0F-52911DD4CA7E}" dt="2026-08-06T18:59:11.719" v="745" actId="478"/>
          <ac:spMkLst>
            <pc:docMk/>
            <pc:sldMk cId="2269987968" sldId="275"/>
            <ac:spMk id="2" creationId="{FAEC2788-BD9D-9EED-BC5E-1AED8264C6F9}"/>
          </ac:spMkLst>
        </pc:spChg>
        <pc:graphicFrameChg chg="modGraphic">
          <ac:chgData name="Rich Reba" userId="55db41ab6eb3f845" providerId="LiveId" clId="{0E19DA16-244C-5B50-BE0F-52911DD4CA7E}" dt="2026-08-06T18:46:46.167" v="416" actId="20577"/>
          <ac:graphicFrameMkLst>
            <pc:docMk/>
            <pc:sldMk cId="2269987968" sldId="275"/>
            <ac:graphicFrameMk id="3" creationId="{9D4C0F19-B23F-926A-2ED3-6B3394974333}"/>
          </ac:graphicFrameMkLst>
        </pc:graphicFrameChg>
      </pc:sldChg>
      <pc:sldChg chg="delSp add del mod ord">
        <pc:chgData name="Rich Reba" userId="55db41ab6eb3f845" providerId="LiveId" clId="{0E19DA16-244C-5B50-BE0F-52911DD4CA7E}" dt="2026-08-06T19:44:07.329" v="1279" actId="2696"/>
        <pc:sldMkLst>
          <pc:docMk/>
          <pc:sldMk cId="1732335019" sldId="276"/>
        </pc:sldMkLst>
        <pc:spChg chg="del">
          <ac:chgData name="Rich Reba" userId="55db41ab6eb3f845" providerId="LiveId" clId="{0E19DA16-244C-5B50-BE0F-52911DD4CA7E}" dt="2026-08-06T18:59:14.554" v="746" actId="478"/>
          <ac:spMkLst>
            <pc:docMk/>
            <pc:sldMk cId="1732335019" sldId="276"/>
            <ac:spMk id="2" creationId="{FAEC2788-BD9D-9EED-BC5E-1AED8264C6F9}"/>
          </ac:spMkLst>
        </pc:spChg>
      </pc:sldChg>
      <pc:sldChg chg="delSp modSp mod ord">
        <pc:chgData name="Rich Reba" userId="55db41ab6eb3f845" providerId="LiveId" clId="{0E19DA16-244C-5B50-BE0F-52911DD4CA7E}" dt="2026-08-06T19:08:08.180" v="1126" actId="20578"/>
        <pc:sldMkLst>
          <pc:docMk/>
          <pc:sldMk cId="2006733346" sldId="277"/>
        </pc:sldMkLst>
        <pc:spChg chg="del">
          <ac:chgData name="Rich Reba" userId="55db41ab6eb3f845" providerId="LiveId" clId="{0E19DA16-244C-5B50-BE0F-52911DD4CA7E}" dt="2026-08-06T18:58:40.010" v="735" actId="478"/>
          <ac:spMkLst>
            <pc:docMk/>
            <pc:sldMk cId="2006733346" sldId="277"/>
            <ac:spMk id="2" creationId="{FAEC2788-BD9D-9EED-BC5E-1AED8264C6F9}"/>
          </ac:spMkLst>
        </pc:spChg>
        <pc:graphicFrameChg chg="modGraphic">
          <ac:chgData name="Rich Reba" userId="55db41ab6eb3f845" providerId="LiveId" clId="{0E19DA16-244C-5B50-BE0F-52911DD4CA7E}" dt="2026-08-06T16:50:36.865" v="15" actId="20577"/>
          <ac:graphicFrameMkLst>
            <pc:docMk/>
            <pc:sldMk cId="2006733346" sldId="277"/>
            <ac:graphicFrameMk id="5" creationId="{4B70F3A5-8062-29A2-30D0-2783CB3DFCCA}"/>
          </ac:graphicFrameMkLst>
        </pc:graphicFrameChg>
      </pc:sldChg>
      <pc:sldChg chg="addSp delSp modSp mod ord">
        <pc:chgData name="Rich Reba" userId="55db41ab6eb3f845" providerId="LiveId" clId="{0E19DA16-244C-5B50-BE0F-52911DD4CA7E}" dt="2026-08-06T19:10:48.376" v="1135" actId="20578"/>
        <pc:sldMkLst>
          <pc:docMk/>
          <pc:sldMk cId="823924525" sldId="278"/>
        </pc:sldMkLst>
        <pc:spChg chg="del">
          <ac:chgData name="Rich Reba" userId="55db41ab6eb3f845" providerId="LiveId" clId="{0E19DA16-244C-5B50-BE0F-52911DD4CA7E}" dt="2026-08-06T18:58:57.062" v="740" actId="478"/>
          <ac:spMkLst>
            <pc:docMk/>
            <pc:sldMk cId="823924525" sldId="278"/>
            <ac:spMk id="2" creationId="{BCAB5B48-B8F8-D8B0-3363-89BF14A47DA5}"/>
          </ac:spMkLst>
        </pc:spChg>
        <pc:spChg chg="add del">
          <ac:chgData name="Rich Reba" userId="55db41ab6eb3f845" providerId="LiveId" clId="{0E19DA16-244C-5B50-BE0F-52911DD4CA7E}" dt="2026-08-06T18:50:26.564" v="425" actId="478"/>
          <ac:spMkLst>
            <pc:docMk/>
            <pc:sldMk cId="823924525" sldId="278"/>
            <ac:spMk id="3" creationId="{392980C8-0F91-1F0B-8CBB-CBE24E0507F8}"/>
          </ac:spMkLst>
        </pc:spChg>
        <pc:spChg chg="add del">
          <ac:chgData name="Rich Reba" userId="55db41ab6eb3f845" providerId="LiveId" clId="{0E19DA16-244C-5B50-BE0F-52911DD4CA7E}" dt="2026-08-06T18:51:12.660" v="427" actId="478"/>
          <ac:spMkLst>
            <pc:docMk/>
            <pc:sldMk cId="823924525" sldId="278"/>
            <ac:spMk id="4" creationId="{9F161222-B6F7-86A1-550C-BD26186B4BC5}"/>
          </ac:spMkLst>
        </pc:spChg>
        <pc:graphicFrameChg chg="mod modGraphic">
          <ac:chgData name="Rich Reba" userId="55db41ab6eb3f845" providerId="LiveId" clId="{0E19DA16-244C-5B50-BE0F-52911DD4CA7E}" dt="2026-08-06T19:04:41.257" v="1121" actId="20577"/>
          <ac:graphicFrameMkLst>
            <pc:docMk/>
            <pc:sldMk cId="823924525" sldId="278"/>
            <ac:graphicFrameMk id="7" creationId="{3AA794A3-D78C-B966-F5D5-7A882C213354}"/>
          </ac:graphicFrameMkLst>
        </pc:graphicFrameChg>
        <pc:picChg chg="mod">
          <ac:chgData name="Rich Reba" userId="55db41ab6eb3f845" providerId="LiveId" clId="{0E19DA16-244C-5B50-BE0F-52911DD4CA7E}" dt="2026-08-06T18:49:39.081" v="422" actId="1076"/>
          <ac:picMkLst>
            <pc:docMk/>
            <pc:sldMk cId="823924525" sldId="278"/>
            <ac:picMk id="1028" creationId="{F2FBAC28-01AC-81F3-75E0-948EBC9FCB9D}"/>
          </ac:picMkLst>
        </pc:picChg>
        <pc:picChg chg="add mod">
          <ac:chgData name="Rich Reba" userId="55db41ab6eb3f845" providerId="LiveId" clId="{0E19DA16-244C-5B50-BE0F-52911DD4CA7E}" dt="2026-08-06T18:53:12.164" v="529" actId="14100"/>
          <ac:picMkLst>
            <pc:docMk/>
            <pc:sldMk cId="823924525" sldId="278"/>
            <ac:picMk id="1030" creationId="{3ECAF82E-5374-0B4F-1B87-BE9366670338}"/>
          </ac:picMkLst>
        </pc:picChg>
        <pc:picChg chg="add mod">
          <ac:chgData name="Rich Reba" userId="55db41ab6eb3f845" providerId="LiveId" clId="{0E19DA16-244C-5B50-BE0F-52911DD4CA7E}" dt="2026-08-06T18:58:00.693" v="728" actId="1076"/>
          <ac:picMkLst>
            <pc:docMk/>
            <pc:sldMk cId="823924525" sldId="278"/>
            <ac:picMk id="1032" creationId="{9412F3F4-9961-A04B-F29F-AE70F881BF9D}"/>
          </ac:picMkLst>
        </pc:picChg>
        <pc:picChg chg="mod">
          <ac:chgData name="Rich Reba" userId="55db41ab6eb3f845" providerId="LiveId" clId="{0E19DA16-244C-5B50-BE0F-52911DD4CA7E}" dt="2026-08-06T18:56:50.945" v="723" actId="1076"/>
          <ac:picMkLst>
            <pc:docMk/>
            <pc:sldMk cId="823924525" sldId="278"/>
            <ac:picMk id="1036" creationId="{2136F508-9909-76DB-E345-E40EB6279973}"/>
          </ac:picMkLst>
        </pc:picChg>
        <pc:picChg chg="mod">
          <ac:chgData name="Rich Reba" userId="55db41ab6eb3f845" providerId="LiveId" clId="{0E19DA16-244C-5B50-BE0F-52911DD4CA7E}" dt="2026-08-06T18:58:04.460" v="729" actId="1076"/>
          <ac:picMkLst>
            <pc:docMk/>
            <pc:sldMk cId="823924525" sldId="278"/>
            <ac:picMk id="1038" creationId="{57B0734D-BE0E-D5FA-AC6A-C87310AA285C}"/>
          </ac:picMkLst>
        </pc:picChg>
        <pc:picChg chg="del">
          <ac:chgData name="Rich Reba" userId="55db41ab6eb3f845" providerId="LiveId" clId="{0E19DA16-244C-5B50-BE0F-52911DD4CA7E}" dt="2026-08-06T18:48:59.058" v="417" actId="478"/>
          <ac:picMkLst>
            <pc:docMk/>
            <pc:sldMk cId="823924525" sldId="278"/>
            <ac:picMk id="1040" creationId="{B51E3085-C2E4-EDC0-0FA4-21B534177CB1}"/>
          </ac:picMkLst>
        </pc:picChg>
      </pc:sldChg>
      <pc:sldChg chg="delSp add del mod ord">
        <pc:chgData name="Rich Reba" userId="55db41ab6eb3f845" providerId="LiveId" clId="{0E19DA16-244C-5B50-BE0F-52911DD4CA7E}" dt="2026-08-06T19:44:07.377" v="1285" actId="2696"/>
        <pc:sldMkLst>
          <pc:docMk/>
          <pc:sldMk cId="3641467929" sldId="279"/>
        </pc:sldMkLst>
        <pc:spChg chg="del">
          <ac:chgData name="Rich Reba" userId="55db41ab6eb3f845" providerId="LiveId" clId="{0E19DA16-244C-5B50-BE0F-52911DD4CA7E}" dt="2026-08-06T18:59:20.189" v="748" actId="478"/>
          <ac:spMkLst>
            <pc:docMk/>
            <pc:sldMk cId="3641467929" sldId="279"/>
            <ac:spMk id="2" creationId="{FAEC2788-BD9D-9EED-BC5E-1AED8264C6F9}"/>
          </ac:spMkLst>
        </pc:spChg>
      </pc:sldChg>
      <pc:sldChg chg="del">
        <pc:chgData name="Rich Reba" userId="55db41ab6eb3f845" providerId="LiveId" clId="{0E19DA16-244C-5B50-BE0F-52911DD4CA7E}" dt="2026-08-06T19:08:33.438" v="1128" actId="2696"/>
        <pc:sldMkLst>
          <pc:docMk/>
          <pc:sldMk cId="2176843835" sldId="398"/>
        </pc:sldMkLst>
      </pc:sldChg>
      <pc:sldChg chg="del">
        <pc:chgData name="Rich Reba" userId="55db41ab6eb3f845" providerId="LiveId" clId="{0E19DA16-244C-5B50-BE0F-52911DD4CA7E}" dt="2026-08-06T19:08:30.971" v="1127" actId="2696"/>
        <pc:sldMkLst>
          <pc:docMk/>
          <pc:sldMk cId="3350860745" sldId="399"/>
        </pc:sldMkLst>
      </pc:sldChg>
      <pc:sldChg chg="delSp modSp add del mod">
        <pc:chgData name="Rich Reba" userId="55db41ab6eb3f845" providerId="LiveId" clId="{0E19DA16-244C-5B50-BE0F-52911DD4CA7E}" dt="2026-08-06T19:44:07.349" v="1283" actId="2696"/>
        <pc:sldMkLst>
          <pc:docMk/>
          <pc:sldMk cId="797649862" sldId="400"/>
        </pc:sldMkLst>
        <pc:spChg chg="del">
          <ac:chgData name="Rich Reba" userId="55db41ab6eb3f845" providerId="LiveId" clId="{0E19DA16-244C-5B50-BE0F-52911DD4CA7E}" dt="2026-08-06T18:58:59.192" v="741" actId="478"/>
          <ac:spMkLst>
            <pc:docMk/>
            <pc:sldMk cId="797649862" sldId="400"/>
            <ac:spMk id="2" creationId="{FAEC2788-BD9D-9EED-BC5E-1AED8264C6F9}"/>
          </ac:spMkLst>
        </pc:spChg>
        <pc:graphicFrameChg chg="modGraphic">
          <ac:chgData name="Rich Reba" userId="55db41ab6eb3f845" providerId="LiveId" clId="{0E19DA16-244C-5B50-BE0F-52911DD4CA7E}" dt="2026-08-06T16:53:24.579" v="35" actId="20577"/>
          <ac:graphicFrameMkLst>
            <pc:docMk/>
            <pc:sldMk cId="797649862" sldId="400"/>
            <ac:graphicFrameMk id="5" creationId="{4B70F3A5-8062-29A2-30D0-2783CB3DFCCA}"/>
          </ac:graphicFrameMkLst>
        </pc:graphicFrameChg>
      </pc:sldChg>
      <pc:sldChg chg="delSp add del mod">
        <pc:chgData name="Rich Reba" userId="55db41ab6eb3f845" providerId="LiveId" clId="{0E19DA16-244C-5B50-BE0F-52911DD4CA7E}" dt="2026-08-06T19:44:07.349" v="1284" actId="2696"/>
        <pc:sldMkLst>
          <pc:docMk/>
          <pc:sldMk cId="1598126850" sldId="401"/>
        </pc:sldMkLst>
        <pc:spChg chg="del">
          <ac:chgData name="Rich Reba" userId="55db41ab6eb3f845" providerId="LiveId" clId="{0E19DA16-244C-5B50-BE0F-52911DD4CA7E}" dt="2026-08-06T18:58:54.911" v="739" actId="478"/>
          <ac:spMkLst>
            <pc:docMk/>
            <pc:sldMk cId="1598126850" sldId="401"/>
            <ac:spMk id="2" creationId="{BCAB5B48-B8F8-D8B0-3363-89BF14A47DA5}"/>
          </ac:spMkLst>
        </pc:spChg>
      </pc:sldChg>
      <pc:sldChg chg="delSp modSp mod">
        <pc:chgData name="Rich Reba" userId="55db41ab6eb3f845" providerId="LiveId" clId="{0E19DA16-244C-5B50-BE0F-52911DD4CA7E}" dt="2026-08-06T19:11:35.712" v="1163" actId="20577"/>
        <pc:sldMkLst>
          <pc:docMk/>
          <pc:sldMk cId="1483759223" sldId="403"/>
        </pc:sldMkLst>
        <pc:spChg chg="del">
          <ac:chgData name="Rich Reba" userId="55db41ab6eb3f845" providerId="LiveId" clId="{0E19DA16-244C-5B50-BE0F-52911DD4CA7E}" dt="2026-08-06T18:58:27.442" v="731" actId="478"/>
          <ac:spMkLst>
            <pc:docMk/>
            <pc:sldMk cId="1483759223" sldId="403"/>
            <ac:spMk id="2" creationId="{7B5B63BC-3120-923D-5436-DA830F4D5D86}"/>
          </ac:spMkLst>
        </pc:spChg>
        <pc:spChg chg="mod">
          <ac:chgData name="Rich Reba" userId="55db41ab6eb3f845" providerId="LiveId" clId="{0E19DA16-244C-5B50-BE0F-52911DD4CA7E}" dt="2026-08-06T19:11:35.712" v="1163" actId="20577"/>
          <ac:spMkLst>
            <pc:docMk/>
            <pc:sldMk cId="1483759223" sldId="403"/>
            <ac:spMk id="6" creationId="{F4337B15-7E23-2EDE-6CF5-D3B89F80D6EE}"/>
          </ac:spMkLst>
        </pc:spChg>
      </pc:sldChg>
      <pc:sldChg chg="delSp modSp mod">
        <pc:chgData name="Rich Reba" userId="55db41ab6eb3f845" providerId="LiveId" clId="{0E19DA16-244C-5B50-BE0F-52911DD4CA7E}" dt="2026-08-06T19:12:00.735" v="1190" actId="20577"/>
        <pc:sldMkLst>
          <pc:docMk/>
          <pc:sldMk cId="3748971185" sldId="404"/>
        </pc:sldMkLst>
        <pc:spChg chg="del">
          <ac:chgData name="Rich Reba" userId="55db41ab6eb3f845" providerId="LiveId" clId="{0E19DA16-244C-5B50-BE0F-52911DD4CA7E}" dt="2026-08-06T18:58:42.218" v="736" actId="478"/>
          <ac:spMkLst>
            <pc:docMk/>
            <pc:sldMk cId="3748971185" sldId="404"/>
            <ac:spMk id="2" creationId="{256364FD-CD4B-5575-E7D2-EA4F4665E6BC}"/>
          </ac:spMkLst>
        </pc:spChg>
        <pc:spChg chg="mod">
          <ac:chgData name="Rich Reba" userId="55db41ab6eb3f845" providerId="LiveId" clId="{0E19DA16-244C-5B50-BE0F-52911DD4CA7E}" dt="2026-08-06T19:12:00.735" v="1190" actId="20577"/>
          <ac:spMkLst>
            <pc:docMk/>
            <pc:sldMk cId="3748971185" sldId="404"/>
            <ac:spMk id="6" creationId="{9B95851A-A86B-94C8-AC0F-62639EF5B78F}"/>
          </ac:spMkLst>
        </pc:spChg>
      </pc:sldChg>
      <pc:sldChg chg="delSp modSp mod ord">
        <pc:chgData name="Rich Reba" userId="55db41ab6eb3f845" providerId="LiveId" clId="{0E19DA16-244C-5B50-BE0F-52911DD4CA7E}" dt="2026-08-06T19:13:17.674" v="1255" actId="20577"/>
        <pc:sldMkLst>
          <pc:docMk/>
          <pc:sldMk cId="635661509" sldId="405"/>
        </pc:sldMkLst>
        <pc:spChg chg="del">
          <ac:chgData name="Rich Reba" userId="55db41ab6eb3f845" providerId="LiveId" clId="{0E19DA16-244C-5B50-BE0F-52911DD4CA7E}" dt="2026-08-06T18:58:51.712" v="738" actId="478"/>
          <ac:spMkLst>
            <pc:docMk/>
            <pc:sldMk cId="635661509" sldId="405"/>
            <ac:spMk id="2" creationId="{E5478777-DA64-9B83-8C03-24B5170685D3}"/>
          </ac:spMkLst>
        </pc:spChg>
        <pc:spChg chg="mod">
          <ac:chgData name="Rich Reba" userId="55db41ab6eb3f845" providerId="LiveId" clId="{0E19DA16-244C-5B50-BE0F-52911DD4CA7E}" dt="2026-08-06T19:13:17.674" v="1255" actId="20577"/>
          <ac:spMkLst>
            <pc:docMk/>
            <pc:sldMk cId="635661509" sldId="405"/>
            <ac:spMk id="6" creationId="{E2FF06AE-D06F-A2CC-7814-895F8CA31E06}"/>
          </ac:spMkLst>
        </pc:spChg>
      </pc:sldChg>
      <pc:sldChg chg="delSp modSp mod ord">
        <pc:chgData name="Rich Reba" userId="55db41ab6eb3f845" providerId="LiveId" clId="{0E19DA16-244C-5B50-BE0F-52911DD4CA7E}" dt="2026-08-06T19:12:55.341" v="1227" actId="20578"/>
        <pc:sldMkLst>
          <pc:docMk/>
          <pc:sldMk cId="2348277429" sldId="406"/>
        </pc:sldMkLst>
        <pc:spChg chg="del">
          <ac:chgData name="Rich Reba" userId="55db41ab6eb3f845" providerId="LiveId" clId="{0E19DA16-244C-5B50-BE0F-52911DD4CA7E}" dt="2026-08-06T18:59:08.448" v="744" actId="478"/>
          <ac:spMkLst>
            <pc:docMk/>
            <pc:sldMk cId="2348277429" sldId="406"/>
            <ac:spMk id="2" creationId="{0A81DB07-1D33-EC9D-0BAF-6CBE9A3C7FD2}"/>
          </ac:spMkLst>
        </pc:spChg>
        <pc:spChg chg="mod">
          <ac:chgData name="Rich Reba" userId="55db41ab6eb3f845" providerId="LiveId" clId="{0E19DA16-244C-5B50-BE0F-52911DD4CA7E}" dt="2026-08-06T19:12:21.934" v="1225" actId="20577"/>
          <ac:spMkLst>
            <pc:docMk/>
            <pc:sldMk cId="2348277429" sldId="406"/>
            <ac:spMk id="6" creationId="{A775EEE6-C4D2-41AC-5ADA-44567F646CBC}"/>
          </ac:spMkLst>
        </pc:spChg>
        <pc:spChg chg="mod">
          <ac:chgData name="Rich Reba" userId="55db41ab6eb3f845" providerId="LiveId" clId="{0E19DA16-244C-5B50-BE0F-52911DD4CA7E}" dt="2026-08-06T19:12:18.523" v="1222" actId="14100"/>
          <ac:spMkLst>
            <pc:docMk/>
            <pc:sldMk cId="2348277429" sldId="406"/>
            <ac:spMk id="9" creationId="{5531CE66-9A8C-CD7A-3B1E-AACECB19FDC5}"/>
          </ac:spMkLst>
        </pc:spChg>
      </pc:sldChg>
      <pc:sldChg chg="delSp modSp del mod">
        <pc:chgData name="Rich Reba" userId="55db41ab6eb3f845" providerId="LiveId" clId="{0E19DA16-244C-5B50-BE0F-52911DD4CA7E}" dt="2026-08-06T19:12:57.416" v="1228" actId="2696"/>
        <pc:sldMkLst>
          <pc:docMk/>
          <pc:sldMk cId="1990316212" sldId="407"/>
        </pc:sldMkLst>
        <pc:spChg chg="del">
          <ac:chgData name="Rich Reba" userId="55db41ab6eb3f845" providerId="LiveId" clId="{0E19DA16-244C-5B50-BE0F-52911DD4CA7E}" dt="2026-08-06T18:59:23.284" v="749" actId="478"/>
          <ac:spMkLst>
            <pc:docMk/>
            <pc:sldMk cId="1990316212" sldId="407"/>
            <ac:spMk id="2" creationId="{2C6C1327-5F69-A48B-8F52-9C41FBC10335}"/>
          </ac:spMkLst>
        </pc:spChg>
        <pc:spChg chg="mod">
          <ac:chgData name="Rich Reba" userId="55db41ab6eb3f845" providerId="LiveId" clId="{0E19DA16-244C-5B50-BE0F-52911DD4CA7E}" dt="2026-08-06T19:09:12.787" v="1130"/>
          <ac:spMkLst>
            <pc:docMk/>
            <pc:sldMk cId="1990316212" sldId="407"/>
            <ac:spMk id="6" creationId="{CBE8DA7C-F70F-DAFA-61AA-BE49B8168F4E}"/>
          </ac:spMkLst>
        </pc:spChg>
      </pc:sldChg>
      <pc:sldChg chg="delSp modSp del mod">
        <pc:chgData name="Rich Reba" userId="55db41ab6eb3f845" providerId="LiveId" clId="{0E19DA16-244C-5B50-BE0F-52911DD4CA7E}" dt="2026-08-06T19:13:28.978" v="1256" actId="2696"/>
        <pc:sldMkLst>
          <pc:docMk/>
          <pc:sldMk cId="1127022654" sldId="408"/>
        </pc:sldMkLst>
        <pc:spChg chg="del">
          <ac:chgData name="Rich Reba" userId="55db41ab6eb3f845" providerId="LiveId" clId="{0E19DA16-244C-5B50-BE0F-52911DD4CA7E}" dt="2026-08-06T18:59:45.495" v="755" actId="478"/>
          <ac:spMkLst>
            <pc:docMk/>
            <pc:sldMk cId="1127022654" sldId="408"/>
            <ac:spMk id="2" creationId="{2F718659-9E92-DB57-5D05-71670796977D}"/>
          </ac:spMkLst>
        </pc:spChg>
        <pc:spChg chg="mod">
          <ac:chgData name="Rich Reba" userId="55db41ab6eb3f845" providerId="LiveId" clId="{0E19DA16-244C-5B50-BE0F-52911DD4CA7E}" dt="2026-08-06T19:09:12.787" v="1130"/>
          <ac:spMkLst>
            <pc:docMk/>
            <pc:sldMk cId="1127022654" sldId="408"/>
            <ac:spMk id="6" creationId="{68E8A7B6-C8A3-91B1-C3A0-85015C8AA20F}"/>
          </ac:spMkLst>
        </pc:spChg>
      </pc:sldChg>
      <pc:sldChg chg="delSp modSp mod ord">
        <pc:chgData name="Rich Reba" userId="55db41ab6eb3f845" providerId="LiveId" clId="{0E19DA16-244C-5B50-BE0F-52911DD4CA7E}" dt="2026-08-06T19:13:37.974" v="1258" actId="20578"/>
        <pc:sldMkLst>
          <pc:docMk/>
          <pc:sldMk cId="401125609" sldId="409"/>
        </pc:sldMkLst>
        <pc:spChg chg="del">
          <ac:chgData name="Rich Reba" userId="55db41ab6eb3f845" providerId="LiveId" clId="{0E19DA16-244C-5B50-BE0F-52911DD4CA7E}" dt="2026-08-06T18:59:49.237" v="756" actId="478"/>
          <ac:spMkLst>
            <pc:docMk/>
            <pc:sldMk cId="401125609" sldId="409"/>
            <ac:spMk id="2" creationId="{E1AC71C2-3A98-1EDD-95E0-0996A2B53388}"/>
          </ac:spMkLst>
        </pc:spChg>
        <pc:spChg chg="mod">
          <ac:chgData name="Rich Reba" userId="55db41ab6eb3f845" providerId="LiveId" clId="{0E19DA16-244C-5B50-BE0F-52911DD4CA7E}" dt="2026-08-06T16:56:15.491" v="92" actId="20577"/>
          <ac:spMkLst>
            <pc:docMk/>
            <pc:sldMk cId="401125609" sldId="409"/>
            <ac:spMk id="96" creationId="{213A3A61-4044-D39A-7839-F3AEFE0C296B}"/>
          </ac:spMkLst>
        </pc:spChg>
        <pc:graphicFrameChg chg="modGraphic">
          <ac:chgData name="Rich Reba" userId="55db41ab6eb3f845" providerId="LiveId" clId="{0E19DA16-244C-5B50-BE0F-52911DD4CA7E}" dt="2026-08-06T16:56:31.704" v="101" actId="20577"/>
          <ac:graphicFrameMkLst>
            <pc:docMk/>
            <pc:sldMk cId="401125609" sldId="409"/>
            <ac:graphicFrameMk id="5" creationId="{5855B0BF-5869-4C17-DDB9-4330FF90D640}"/>
          </ac:graphicFrameMkLst>
        </pc:graphicFrameChg>
      </pc:sldChg>
      <pc:sldChg chg="delSp mod">
        <pc:chgData name="Rich Reba" userId="55db41ab6eb3f845" providerId="LiveId" clId="{0E19DA16-244C-5B50-BE0F-52911DD4CA7E}" dt="2026-08-06T18:58:29.737" v="732" actId="478"/>
        <pc:sldMkLst>
          <pc:docMk/>
          <pc:sldMk cId="4221448727" sldId="412"/>
        </pc:sldMkLst>
        <pc:spChg chg="del">
          <ac:chgData name="Rich Reba" userId="55db41ab6eb3f845" providerId="LiveId" clId="{0E19DA16-244C-5B50-BE0F-52911DD4CA7E}" dt="2026-08-06T18:58:29.737" v="732" actId="478"/>
          <ac:spMkLst>
            <pc:docMk/>
            <pc:sldMk cId="4221448727" sldId="412"/>
            <ac:spMk id="2" creationId="{9B5EBED0-2DE7-7CD5-9F31-0BA4D2AE325D}"/>
          </ac:spMkLst>
        </pc:spChg>
      </pc:sldChg>
      <pc:sldChg chg="delSp add del mod">
        <pc:chgData name="Rich Reba" userId="55db41ab6eb3f845" providerId="LiveId" clId="{0E19DA16-244C-5B50-BE0F-52911DD4CA7E}" dt="2026-08-06T19:44:07.347" v="1282" actId="2696"/>
        <pc:sldMkLst>
          <pc:docMk/>
          <pc:sldMk cId="2432848383" sldId="414"/>
        </pc:sldMkLst>
        <pc:spChg chg="del">
          <ac:chgData name="Rich Reba" userId="55db41ab6eb3f845" providerId="LiveId" clId="{0E19DA16-244C-5B50-BE0F-52911DD4CA7E}" dt="2026-08-06T18:59:02.936" v="742" actId="478"/>
          <ac:spMkLst>
            <pc:docMk/>
            <pc:sldMk cId="2432848383" sldId="414"/>
            <ac:spMk id="2" creationId="{D57AE71C-2FC9-1FBC-19D6-92E0039AEF7D}"/>
          </ac:spMkLst>
        </pc:spChg>
      </pc:sldChg>
      <pc:sldChg chg="delSp add del mod ord">
        <pc:chgData name="Rich Reba" userId="55db41ab6eb3f845" providerId="LiveId" clId="{0E19DA16-244C-5B50-BE0F-52911DD4CA7E}" dt="2026-08-06T19:44:07.346" v="1281" actId="2696"/>
        <pc:sldMkLst>
          <pc:docMk/>
          <pc:sldMk cId="778364000" sldId="415"/>
        </pc:sldMkLst>
        <pc:spChg chg="del">
          <ac:chgData name="Rich Reba" userId="55db41ab6eb3f845" providerId="LiveId" clId="{0E19DA16-244C-5B50-BE0F-52911DD4CA7E}" dt="2026-08-06T18:59:16.610" v="747" actId="478"/>
          <ac:spMkLst>
            <pc:docMk/>
            <pc:sldMk cId="778364000" sldId="415"/>
            <ac:spMk id="2" creationId="{4AE0829C-5062-BA46-E8AF-7AF2F6F341D0}"/>
          </ac:spMkLst>
        </pc:spChg>
      </pc:sldChg>
      <pc:sldChg chg="delSp mod">
        <pc:chgData name="Rich Reba" userId="55db41ab6eb3f845" providerId="LiveId" clId="{0E19DA16-244C-5B50-BE0F-52911DD4CA7E}" dt="2026-08-06T18:58:36.383" v="734" actId="478"/>
        <pc:sldMkLst>
          <pc:docMk/>
          <pc:sldMk cId="2033129414" sldId="416"/>
        </pc:sldMkLst>
        <pc:spChg chg="del">
          <ac:chgData name="Rich Reba" userId="55db41ab6eb3f845" providerId="LiveId" clId="{0E19DA16-244C-5B50-BE0F-52911DD4CA7E}" dt="2026-08-06T18:58:36.383" v="734" actId="478"/>
          <ac:spMkLst>
            <pc:docMk/>
            <pc:sldMk cId="2033129414" sldId="416"/>
            <ac:spMk id="6" creationId="{F32EC156-DB74-96C9-E919-C71668652936}"/>
          </ac:spMkLst>
        </pc:spChg>
      </pc:sldChg>
      <pc:sldChg chg="ord">
        <pc:chgData name="Rich Reba" userId="55db41ab6eb3f845" providerId="LiveId" clId="{0E19DA16-244C-5B50-BE0F-52911DD4CA7E}" dt="2026-08-06T19:13:34.454" v="1257" actId="20578"/>
        <pc:sldMkLst>
          <pc:docMk/>
          <pc:sldMk cId="311973841" sldId="417"/>
        </pc:sldMkLst>
      </pc:sldChg>
      <pc:sldChg chg="delSp add del mod">
        <pc:chgData name="Rich Reba" userId="55db41ab6eb3f845" providerId="LiveId" clId="{0E19DA16-244C-5B50-BE0F-52911DD4CA7E}" dt="2026-08-06T19:13:49.506" v="1262" actId="2696"/>
        <pc:sldMkLst>
          <pc:docMk/>
          <pc:sldMk cId="4015092339" sldId="418"/>
        </pc:sldMkLst>
        <pc:spChg chg="del">
          <ac:chgData name="Rich Reba" userId="55db41ab6eb3f845" providerId="LiveId" clId="{0E19DA16-244C-5B50-BE0F-52911DD4CA7E}" dt="2026-08-06T18:59:34.708" v="752" actId="478"/>
          <ac:spMkLst>
            <pc:docMk/>
            <pc:sldMk cId="4015092339" sldId="418"/>
            <ac:spMk id="2" creationId="{462B9D62-4B92-3A8C-DA14-A225E2194D1F}"/>
          </ac:spMkLst>
        </pc:spChg>
      </pc:sldChg>
      <pc:sldChg chg="delSp add del mod">
        <pc:chgData name="Rich Reba" userId="55db41ab6eb3f845" providerId="LiveId" clId="{0E19DA16-244C-5B50-BE0F-52911DD4CA7E}" dt="2026-08-06T19:13:49.497" v="1261" actId="2696"/>
        <pc:sldMkLst>
          <pc:docMk/>
          <pc:sldMk cId="3381750306" sldId="419"/>
        </pc:sldMkLst>
        <pc:spChg chg="del">
          <ac:chgData name="Rich Reba" userId="55db41ab6eb3f845" providerId="LiveId" clId="{0E19DA16-244C-5B50-BE0F-52911DD4CA7E}" dt="2026-08-06T18:59:38.068" v="753" actId="478"/>
          <ac:spMkLst>
            <pc:docMk/>
            <pc:sldMk cId="3381750306" sldId="419"/>
            <ac:spMk id="2" creationId="{A837E304-B0E0-78B0-2263-1A31EE4658E7}"/>
          </ac:spMkLst>
        </pc:spChg>
      </pc:sldChg>
      <pc:sldChg chg="delSp add del mod">
        <pc:chgData name="Rich Reba" userId="55db41ab6eb3f845" providerId="LiveId" clId="{0E19DA16-244C-5B50-BE0F-52911DD4CA7E}" dt="2026-08-06T19:13:49.496" v="1260" actId="2696"/>
        <pc:sldMkLst>
          <pc:docMk/>
          <pc:sldMk cId="4209041106" sldId="420"/>
        </pc:sldMkLst>
        <pc:spChg chg="del">
          <ac:chgData name="Rich Reba" userId="55db41ab6eb3f845" providerId="LiveId" clId="{0E19DA16-244C-5B50-BE0F-52911DD4CA7E}" dt="2026-08-06T18:59:41.636" v="754" actId="478"/>
          <ac:spMkLst>
            <pc:docMk/>
            <pc:sldMk cId="4209041106" sldId="420"/>
            <ac:spMk id="2" creationId="{7FEDDB3B-2B33-FC16-9957-17D50DC8B784}"/>
          </ac:spMkLst>
        </pc:spChg>
      </pc:sldChg>
      <pc:sldChg chg="delSp add del mod">
        <pc:chgData name="Rich Reba" userId="55db41ab6eb3f845" providerId="LiveId" clId="{0E19DA16-244C-5B50-BE0F-52911DD4CA7E}" dt="2026-08-06T19:13:49.493" v="1259" actId="2696"/>
        <pc:sldMkLst>
          <pc:docMk/>
          <pc:sldMk cId="3765181648" sldId="421"/>
        </pc:sldMkLst>
        <pc:spChg chg="del">
          <ac:chgData name="Rich Reba" userId="55db41ab6eb3f845" providerId="LiveId" clId="{0E19DA16-244C-5B50-BE0F-52911DD4CA7E}" dt="2026-08-06T18:59:32.549" v="751" actId="478"/>
          <ac:spMkLst>
            <pc:docMk/>
            <pc:sldMk cId="3765181648" sldId="421"/>
            <ac:spMk id="2" creationId="{581D35DC-2D2E-4B81-D251-A66615F9BC3C}"/>
          </ac:spMkLst>
        </pc:spChg>
      </pc:sldChg>
      <pc:sldMasterChg chg="del">
        <pc:chgData name="Rich Reba" userId="55db41ab6eb3f845" providerId="LiveId" clId="{0E19DA16-244C-5B50-BE0F-52911DD4CA7E}" dt="2026-08-06T19:08:33.446" v="1129" actId="2696"/>
        <pc:sldMasterMkLst>
          <pc:docMk/>
          <pc:sldMasterMk cId="3149524428" sldId="2147483661"/>
        </pc:sldMasterMkLst>
      </pc:sldMasterChg>
      <pc:sldMasterChg chg="del">
        <pc:chgData name="Rich Reba" userId="55db41ab6eb3f845" providerId="LiveId" clId="{0E19DA16-244C-5B50-BE0F-52911DD4CA7E}" dt="2026-08-06T17:15:59.552" v="124" actId="2696"/>
        <pc:sldMasterMkLst>
          <pc:docMk/>
          <pc:sldMasterMk cId="3088172269" sldId="2147483674"/>
        </pc:sldMasterMkLst>
      </pc:sldMasterChg>
      <pc:sldMasterChg chg="del">
        <pc:chgData name="Rich Reba" userId="55db41ab6eb3f845" providerId="LiveId" clId="{0E19DA16-244C-5B50-BE0F-52911DD4CA7E}" dt="2026-08-06T19:13:49.513" v="1263" actId="2696"/>
        <pc:sldMasterMkLst>
          <pc:docMk/>
          <pc:sldMasterMk cId="808344323" sldId="2147483686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3EEAF72C-AE74-0F00-C29C-57990C90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21FAF84-457C-37A0-C9BA-B8D06D28A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DB586ED-56BF-00D2-7FB4-4F2E421946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2127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41112D23-4AAC-3A75-5D96-B2ADC6B57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AC070A3-6067-E778-8B4A-EFC2F1AA83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EBA8121-FE6D-FBA1-9CDD-269B72FD49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3315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80787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B4E25-58E8-C718-BA6F-1901E4227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D14C76FB-9A7E-4173-AE87-AF6D2152E5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9F19230E-CE2A-DF82-0359-13AEC697B1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94790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4E60D69-CB0B-2EC8-736B-608ED2AF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6BFADA1-3D29-C401-6E52-6B760BF7C8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EAB38DF-0D08-D5EB-6E1E-01C62A754E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4978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86396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42857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866C630-D6ED-60DE-3B1D-EE34247B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4FD2ECB6-E207-5A53-8F43-20BCE094C8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00F9D74-87FC-55E0-6E64-D48D3EA139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6828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577909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Such as what?</a:t>
            </a:r>
            <a:endParaRPr dirty="0"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797960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747CDF71-034D-0406-BECE-512C13FB6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E0643EC1-10B7-D77D-047E-3E2758E6D7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790FD0EF-5CFE-9050-12E5-9E0F6BD03F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7953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85629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E2389B-20BC-28BE-17DD-C7442B7B6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901D355-D9B0-4941-6DE8-D42A33FD2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6A26A731-D905-CACD-CC70-0AAAFAC15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047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79789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14D81E-56A4-A0A2-279F-38C8B334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CC58C-80F3-655C-2597-7F3B6D317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13EB0-DD69-7589-AA19-77F3D50D9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770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6" r:id="rId5"/>
    <p:sldLayoutId id="2147483657" r:id="rId6"/>
    <p:sldLayoutId id="2147483658" r:id="rId7"/>
    <p:sldLayoutId id="2147483659" r:id="rId8"/>
    <p:sldLayoutId id="2147483673" r:id="rId9"/>
    <p:sldLayoutId id="2147483685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blog.ucsusa.org/doug-boucher/world-population-growth-exponential/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524000" y="2785676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Organizational Strategy for </a:t>
            </a: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Rich Reba, President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A67E1595-C197-576A-DAAB-BFE945B84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C592DD1-87F5-D132-4E6D-9E6BD39D8684}"/>
              </a:ext>
            </a:extLst>
          </p:cNvPr>
          <p:cNvSpPr/>
          <p:nvPr/>
        </p:nvSpPr>
        <p:spPr>
          <a:xfrm>
            <a:off x="3230880" y="2438400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CF20C096-BD53-FF2F-53DB-B3BD1758A2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337B15-7E23-2EDE-6CF5-D3B89F80D6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Intent and Ambition</a:t>
            </a:r>
          </a:p>
          <a:p>
            <a:r>
              <a:rPr lang="en-US" dirty="0"/>
              <a:t>Consortium Opportunity</a:t>
            </a:r>
          </a:p>
          <a:p>
            <a:r>
              <a:rPr lang="en-US" dirty="0"/>
              <a:t>Success Factors</a:t>
            </a:r>
          </a:p>
          <a:p>
            <a:r>
              <a:rPr lang="en-US" dirty="0"/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1483759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72416014-568A-72C2-C240-36838970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BA8F98-08DF-7CA8-6A85-AC04093DD1F0}"/>
              </a:ext>
            </a:extLst>
          </p:cNvPr>
          <p:cNvSpPr/>
          <p:nvPr/>
        </p:nvSpPr>
        <p:spPr>
          <a:xfrm>
            <a:off x="2535936" y="5298059"/>
            <a:ext cx="8936736" cy="383413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AE178B-DC1C-4AD4-89C7-BC401FC83DCD}"/>
              </a:ext>
            </a:extLst>
          </p:cNvPr>
          <p:cNvSpPr/>
          <p:nvPr/>
        </p:nvSpPr>
        <p:spPr>
          <a:xfrm>
            <a:off x="2535936" y="3429000"/>
            <a:ext cx="8936736" cy="52120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A9CBDAAF-1E67-42CE-4285-599A4F8F55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Intent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69E2DC4-1E2C-B560-DF6A-BC25EE0259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687069"/>
              </p:ext>
            </p:extLst>
          </p:nvPr>
        </p:nvGraphicFramePr>
        <p:xfrm>
          <a:off x="493830" y="1788224"/>
          <a:ext cx="10978842" cy="401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4239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964603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2284063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Our Big Question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Humanity is underserved by the Tech Services industry because few providers are growing value exponentially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The Tech Services industry generates $1T+ revenue annually and serves all major industries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 few hyper-scalers, who grow value exponentially, are disrupting masses of traditional providers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Our founders have influenced change and grown value exponentially in the Tech Services Industry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Tech Services leaders in the US and other countries also want to grow value exponentially  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How can we scale our experience, knowledge, and influence to help the Tech Services industry, and thus humanity (including ourselves and our families), as much as we can? 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731105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Our Big Idea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We intend to help the Tech Services industry help humanity by continuously: 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Cultivating a network of enterprising Tech Services leaders who want to grow value exponentially 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Curating a living Body of Knowledge that captures our collective learnings about how to do this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Innovating across the network to advance the state of the art in growing value exponentially</a:t>
                      </a:r>
                    </a:p>
                    <a:p>
                      <a:endParaRPr lang="en-US" sz="14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We will create, operate, and scale a 501(c)3 non-profit organization to carry out our intent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1448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Ambition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dirty="0"/>
              <a:t>Who we are</a:t>
            </a:r>
          </a:p>
          <a:p>
            <a:r>
              <a:rPr lang="en-US" sz="1800" dirty="0"/>
              <a:t>Technology Services Industry Consortium </a:t>
            </a:r>
          </a:p>
          <a:p>
            <a:r>
              <a:rPr lang="en-US" sz="1800" dirty="0"/>
              <a:t>Founded in December 2023</a:t>
            </a:r>
          </a:p>
          <a:p>
            <a:r>
              <a:rPr lang="en-US" sz="1800" dirty="0"/>
              <a:t>Non-Profit Organization registered in Maryland</a:t>
            </a:r>
          </a:p>
          <a:p>
            <a:r>
              <a:rPr lang="en-US" sz="1800" dirty="0"/>
              <a:t>Rich Reba, President, is a former Fortune 200 </a:t>
            </a:r>
            <a:br>
              <a:rPr lang="en-US" sz="1800" dirty="0"/>
            </a:br>
            <a:r>
              <a:rPr lang="en-US" sz="1800" dirty="0"/>
              <a:t>C-suite Executive and Tech Consulting GM with current certifications (AI, Agile, CPO, etc.)</a:t>
            </a:r>
          </a:p>
          <a:p>
            <a:r>
              <a:rPr lang="en-US" sz="1800" dirty="0"/>
              <a:t>Licensed to use Rich Reba’s personal AccelRR8 brand, owned by AccelRR8 LLC</a:t>
            </a:r>
          </a:p>
          <a:p>
            <a:r>
              <a:rPr lang="en-US" sz="1800" dirty="0"/>
              <a:t>AccelRR8 LLC, a for-profit company, is not an affiliate.  It is a patron whose employees and associates are participants in the consortium</a:t>
            </a:r>
          </a:p>
          <a:p>
            <a:r>
              <a:rPr lang="en-US" sz="1800" dirty="0"/>
              <a:t>Asset-light with very low overhead costs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DCB550-ECF5-EE2D-D835-8F66E64FAB2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198" y="1825625"/>
            <a:ext cx="5576779" cy="4351338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/>
              <a:t>What we want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Mission</a:t>
            </a:r>
            <a:r>
              <a:rPr lang="en-US" sz="1800" dirty="0"/>
              <a:t> is to </a:t>
            </a:r>
            <a:r>
              <a:rPr lang="en-US" sz="1800" dirty="0">
                <a:solidFill>
                  <a:schemeClr val="tx1"/>
                </a:solidFill>
              </a:rPr>
              <a:t>help enterprising Tech Services industry leaders harness proven accelerators</a:t>
            </a:r>
            <a:r>
              <a:rPr lang="en-US" sz="1800" dirty="0"/>
              <a:t> to </a:t>
            </a:r>
            <a:r>
              <a:rPr lang="en-US" sz="1800" b="1" dirty="0">
                <a:solidFill>
                  <a:srgbClr val="00B050"/>
                </a:solidFill>
              </a:rPr>
              <a:t>grow value exponentially at scale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Purpose</a:t>
            </a:r>
            <a:r>
              <a:rPr lang="en-US" sz="1800" b="1" dirty="0"/>
              <a:t> </a:t>
            </a:r>
            <a:r>
              <a:rPr lang="en-US" sz="1800" dirty="0"/>
              <a:t>is helping Tech Services industry leaders work together </a:t>
            </a:r>
            <a:r>
              <a:rPr lang="en-US" sz="1800" b="1" dirty="0">
                <a:solidFill>
                  <a:srgbClr val="00B050"/>
                </a:solidFill>
              </a:rPr>
              <a:t>to accelerate success</a:t>
            </a:r>
            <a:r>
              <a:rPr lang="en-US" sz="1800" dirty="0"/>
              <a:t> for themselves, their industry, and all humanity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Vision</a:t>
            </a:r>
            <a:r>
              <a:rPr lang="en-US" sz="1800" dirty="0"/>
              <a:t> is Tech Services industry leaders everywhere enjoying exponential success in their industry while helping humanity live increasingly better lives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Ambition</a:t>
            </a:r>
            <a:r>
              <a:rPr lang="en-US" sz="1800" dirty="0"/>
              <a:t> is to be the consortium that Tech Services industry leaders credit with </a:t>
            </a:r>
            <a:r>
              <a:rPr lang="en-US" sz="1800" b="1" dirty="0">
                <a:solidFill>
                  <a:srgbClr val="00B050"/>
                </a:solidFill>
              </a:rPr>
              <a:t>generating exponential improvements in industry effectiveness and impact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695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A13E193B-6E0D-5D99-121F-D57275F9B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9D65519-1E22-36D7-519E-73DFD7ED03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Realizing Our Ambition</a:t>
            </a:r>
            <a:br>
              <a:rPr lang="en-US" dirty="0"/>
            </a:br>
            <a:r>
              <a:rPr lang="en-US" sz="2400" i="1" dirty="0"/>
              <a:t>Exponential improvements in Tech Services that help humanity</a:t>
            </a:r>
            <a:endParaRPr i="1" dirty="0"/>
          </a:p>
        </p:txBody>
      </p:sp>
      <p:pic>
        <p:nvPicPr>
          <p:cNvPr id="122" name="Google Shape;122;p5">
            <a:extLst>
              <a:ext uri="{FF2B5EF4-FFF2-40B4-BE49-F238E27FC236}">
                <a16:creationId xmlns:a16="http://schemas.microsoft.com/office/drawing/2014/main" id="{8AF8EFB8-4A47-E0B4-86BD-D8E4E7CE45A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838199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>
            <a:extLst>
              <a:ext uri="{FF2B5EF4-FFF2-40B4-BE49-F238E27FC236}">
                <a16:creationId xmlns:a16="http://schemas.microsoft.com/office/drawing/2014/main" id="{415B24BC-64E1-1433-DCA5-9BDC0A174B64}"/>
              </a:ext>
            </a:extLst>
          </p:cNvPr>
          <p:cNvCxnSpPr/>
          <p:nvPr/>
        </p:nvCxnSpPr>
        <p:spPr>
          <a:xfrm>
            <a:off x="4186166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>
            <a:extLst>
              <a:ext uri="{FF2B5EF4-FFF2-40B4-BE49-F238E27FC236}">
                <a16:creationId xmlns:a16="http://schemas.microsoft.com/office/drawing/2014/main" id="{FAC84FB7-4F94-C6CA-9590-AC6D3B846A65}"/>
              </a:ext>
            </a:extLst>
          </p:cNvPr>
          <p:cNvCxnSpPr/>
          <p:nvPr/>
        </p:nvCxnSpPr>
        <p:spPr>
          <a:xfrm>
            <a:off x="7901059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>
            <a:extLst>
              <a:ext uri="{FF2B5EF4-FFF2-40B4-BE49-F238E27FC236}">
                <a16:creationId xmlns:a16="http://schemas.microsoft.com/office/drawing/2014/main" id="{EADA4391-F1A1-94B2-68E2-D3625B2989AA}"/>
              </a:ext>
            </a:extLst>
          </p:cNvPr>
          <p:cNvSpPr txBox="1"/>
          <p:nvPr/>
        </p:nvSpPr>
        <p:spPr>
          <a:xfrm>
            <a:off x="816934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Start Small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with Early Adopters</a:t>
            </a:r>
            <a:endParaRPr sz="1200"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159C0EA-2B86-B2BA-FE70-5EF658E93BD1}"/>
              </a:ext>
            </a:extLst>
          </p:cNvPr>
          <p:cNvSpPr txBox="1"/>
          <p:nvPr/>
        </p:nvSpPr>
        <p:spPr>
          <a:xfrm>
            <a:off x="4058567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Scale Rapidly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Across the Chasm</a:t>
            </a:r>
            <a:endParaRPr sz="1200" dirty="0"/>
          </a:p>
        </p:txBody>
      </p:sp>
      <p:sp>
        <p:nvSpPr>
          <p:cNvPr id="127" name="Google Shape;127;p5">
            <a:extLst>
              <a:ext uri="{FF2B5EF4-FFF2-40B4-BE49-F238E27FC236}">
                <a16:creationId xmlns:a16="http://schemas.microsoft.com/office/drawing/2014/main" id="{45152FE4-0DCF-110E-FC59-4D257CC45985}"/>
              </a:ext>
            </a:extLst>
          </p:cNvPr>
          <p:cNvSpPr txBox="1"/>
          <p:nvPr/>
        </p:nvSpPr>
        <p:spPr>
          <a:xfrm>
            <a:off x="7932954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Go Big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with Mainstream Adoption</a:t>
            </a:r>
            <a:endParaRPr sz="1200" dirty="0"/>
          </a:p>
        </p:txBody>
      </p:sp>
      <p:sp>
        <p:nvSpPr>
          <p:cNvPr id="128" name="Google Shape;128;p5">
            <a:extLst>
              <a:ext uri="{FF2B5EF4-FFF2-40B4-BE49-F238E27FC236}">
                <a16:creationId xmlns:a16="http://schemas.microsoft.com/office/drawing/2014/main" id="{1A94D9F5-8DEF-66F6-92BC-83D2817CA9D4}"/>
              </a:ext>
            </a:extLst>
          </p:cNvPr>
          <p:cNvSpPr txBox="1"/>
          <p:nvPr/>
        </p:nvSpPr>
        <p:spPr>
          <a:xfrm>
            <a:off x="944805" y="2812327"/>
            <a:ext cx="3241634" cy="2031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2020s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are executing our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3-Horizon Strategy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are Orienting and Learning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about the Services needed</a:t>
            </a:r>
          </a:p>
        </p:txBody>
      </p:sp>
      <p:sp>
        <p:nvSpPr>
          <p:cNvPr id="129" name="Google Shape;129;p5">
            <a:extLst>
              <a:ext uri="{FF2B5EF4-FFF2-40B4-BE49-F238E27FC236}">
                <a16:creationId xmlns:a16="http://schemas.microsoft.com/office/drawing/2014/main" id="{2BD8D817-B322-4050-3B78-636C174749BA}"/>
              </a:ext>
            </a:extLst>
          </p:cNvPr>
          <p:cNvSpPr txBox="1"/>
          <p:nvPr/>
        </p:nvSpPr>
        <p:spPr>
          <a:xfrm>
            <a:off x="4272654" y="2812327"/>
            <a:ext cx="4101935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2030s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hit an inflection point</a:t>
            </a: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after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which growth will be self-sustaining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Scale </a:t>
            </a: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our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Learnings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across our Services Portfolio</a:t>
            </a: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>
            <a:extLst>
              <a:ext uri="{FF2B5EF4-FFF2-40B4-BE49-F238E27FC236}">
                <a16:creationId xmlns:a16="http://schemas.microsoft.com/office/drawing/2014/main" id="{C0D6B3E7-3170-A4BC-816A-9B68BE5BAEC4}"/>
              </a:ext>
            </a:extLst>
          </p:cNvPr>
          <p:cNvSpPr txBox="1"/>
          <p:nvPr/>
        </p:nvSpPr>
        <p:spPr>
          <a:xfrm>
            <a:off x="7965732" y="2812327"/>
            <a:ext cx="3650218" cy="2031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2040s+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materially improve Tech Services and help humanity</a:t>
            </a:r>
          </a:p>
          <a:p>
            <a:pPr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Excel at providing sophisticated Services at scale</a:t>
            </a:r>
          </a:p>
        </p:txBody>
      </p:sp>
      <p:pic>
        <p:nvPicPr>
          <p:cNvPr id="3" name="Picture 2" descr="A diagram of a diagram&#10;&#10;Description automatically generated">
            <a:extLst>
              <a:ext uri="{FF2B5EF4-FFF2-40B4-BE49-F238E27FC236}">
                <a16:creationId xmlns:a16="http://schemas.microsoft.com/office/drawing/2014/main" id="{93D42F8D-BC5D-5885-D482-89EB604BB5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6225" y="5173937"/>
            <a:ext cx="1187204" cy="1143000"/>
          </a:xfrm>
          <a:prstGeom prst="rect">
            <a:avLst/>
          </a:prstGeom>
        </p:spPr>
      </p:pic>
      <p:pic>
        <p:nvPicPr>
          <p:cNvPr id="5" name="Picture 4" descr="A diagram of a product management&#10;&#10;Description automatically generated">
            <a:extLst>
              <a:ext uri="{FF2B5EF4-FFF2-40B4-BE49-F238E27FC236}">
                <a16:creationId xmlns:a16="http://schemas.microsoft.com/office/drawing/2014/main" id="{28FCE3E0-8FD1-DD67-020C-49656E2D07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1802" y="5173937"/>
            <a:ext cx="1130370" cy="114300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78934617-902B-81C6-1DE1-23284E4816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4666" y="5184862"/>
            <a:ext cx="1181100" cy="1143000"/>
          </a:xfrm>
          <a:prstGeom prst="rect">
            <a:avLst/>
          </a:prstGeom>
        </p:spPr>
      </p:pic>
      <p:pic>
        <p:nvPicPr>
          <p:cNvPr id="10" name="Picture 9" descr="A diagram of a diagram&#10;&#10;Description automatically generated">
            <a:extLst>
              <a:ext uri="{FF2B5EF4-FFF2-40B4-BE49-F238E27FC236}">
                <a16:creationId xmlns:a16="http://schemas.microsoft.com/office/drawing/2014/main" id="{E5FC8BFD-6480-5B6F-B3CC-9E12E57BE3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746" y="5173937"/>
            <a:ext cx="121285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129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F9408921-7A66-B048-FCCE-79E70E1A0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888346C-64E6-5130-171F-82AB0956539C}"/>
              </a:ext>
            </a:extLst>
          </p:cNvPr>
          <p:cNvSpPr/>
          <p:nvPr/>
        </p:nvSpPr>
        <p:spPr>
          <a:xfrm>
            <a:off x="3230880" y="2916936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A7FB390A-F79C-82AB-AC0A-DA11723021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95851A-A86B-94C8-AC0F-62639EF5B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Intent and Ambition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Consortium Opportunity</a:t>
            </a:r>
          </a:p>
          <a:p>
            <a:r>
              <a:rPr lang="en-US" dirty="0"/>
              <a:t>Success Factors</a:t>
            </a:r>
          </a:p>
          <a:p>
            <a:r>
              <a:rPr lang="en-US" dirty="0"/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3748971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Opportunity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507964"/>
              </p:ext>
            </p:extLst>
          </p:nvPr>
        </p:nvGraphicFramePr>
        <p:xfrm>
          <a:off x="558628" y="1548384"/>
          <a:ext cx="11074744" cy="474589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3086100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6464472">
                  <a:extLst>
                    <a:ext uri="{9D8B030D-6E8A-4147-A177-3AD203B41FA5}">
                      <a16:colId xmlns:a16="http://schemas.microsoft.com/office/drawing/2014/main" val="3883086084"/>
                    </a:ext>
                  </a:extLst>
                </a:gridCol>
              </a:tblGrid>
              <a:tr h="254813">
                <a:tc rowSpan="4">
                  <a:txBody>
                    <a:bodyPr/>
                    <a:lstStyle/>
                    <a:p>
                      <a:r>
                        <a:rPr lang="en-US" sz="2000" b="1" dirty="0"/>
                        <a:t>Is it </a:t>
                      </a:r>
                      <a:br>
                        <a:rPr lang="en-US" sz="2000" b="1" dirty="0"/>
                      </a:b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Real</a:t>
                      </a:r>
                      <a:r>
                        <a:rPr lang="en-US" sz="2000" b="1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How big is the market?   </a:t>
                      </a:r>
                      <a:r>
                        <a:rPr lang="en-US" sz="1000" b="0" dirty="0"/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The Tech Services industry generates $1T+ annual revenue and serves all major industries globally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2548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Is there a real customer problem to be solved?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Hyper-scalers who harness exponential accelerators are disrupting traditional Tech Services providers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044228"/>
                  </a:ext>
                </a:extLst>
              </a:tr>
              <a:tr h="2548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Is there a real need out there?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To survive and thrive, traditional Tech Services providers must also learn to harness exponential accelerators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5114890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Is there a dissatisfactory state-of-affairs?</a:t>
                      </a:r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>
                          <a:solidFill>
                            <a:schemeClr val="bg1"/>
                          </a:solidFill>
                        </a:rPr>
                        <a:t>Tech Services leaders lack the resources to help traditional providers harness proven accelerators to grow exponential value at scale quickly – THUS the Tech Services industry isn’t benefiting humanity at its potential</a:t>
                      </a:r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2664793"/>
                  </a:ext>
                </a:extLst>
              </a:tr>
              <a:tr h="254813">
                <a:tc rowSpan="4"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Can we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Win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Capabilities and competencies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Consortium leaders have experience helping providers grow value exponentially at scale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Assets, IP, and tech breakthroughs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The AccelRR8 Framework and associated AccelRR8 Body of Knowledge helps enterprising leaders harness proven accelerators to grow value exponentially at scale quickly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627854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Resources and relationships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Consortium leaders have relationships with many influencers who created and/or led organizations that have had a material impact on technology and other industries worldwide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3929978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What sets the org apart from competitors?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Rather than trying to boil the ocean, the Consortium is focused on helping Tech Services leaders harness 5 proven accelerators which are mathematically capable of growing value exponentially at scale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8847"/>
                  </a:ext>
                </a:extLst>
              </a:tr>
              <a:tr h="414071">
                <a:tc rowSpan="5">
                  <a:txBody>
                    <a:bodyPr/>
                    <a:lstStyle/>
                    <a:p>
                      <a:r>
                        <a:rPr lang="en-US" sz="2000" b="1" dirty="0"/>
                        <a:t>Is it </a:t>
                      </a:r>
                      <a:br>
                        <a:rPr lang="en-US" sz="2000" b="1" dirty="0"/>
                      </a:b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Worth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 it</a:t>
                      </a:r>
                      <a:r>
                        <a:rPr lang="en-US" sz="2000" b="1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Do the unit economics work?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As a non-profit, the goal isn’t income generation for the Consortium itself.  Since the Consortium intends to remain asset-light, income is needed to cover the cost of collaboration platforms, innovation, and marketing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Can the org make money?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can accept charitable donations but cannot share profits (dividends or owner’s draws). Donations will increase as Tech Services leaders use Consortium services to grow value exponentially at scale.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248077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What is the revenue model?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will offer paid subscriptions and solicit grants from patrons to enhance the AccelRR8 Body of Knowledge, and collect fees in exchange for future premium non-profit services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330151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How is the org going to monetize?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As Tech Services leaders make use of the Consortium’s services, they will begin growing value exponentially at scale, which will generate exponential demand for Consortium services in a virtuous cycle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9595274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What is the financial math behind the product opportunity?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will make and spend very little money unless and until a critical mass of Tech Services leaders urgently believe they need to learn how to harness exponential accelerators – then financials will hockey stick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68171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6733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Growing Value Exponentially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35738" y="1432244"/>
            <a:ext cx="4785198" cy="5272087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400" b="1" dirty="0">
                <a:solidFill>
                  <a:srgbClr val="00B05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Framework</a:t>
            </a:r>
            <a:endParaRPr lang="en-US" sz="1600" b="1" dirty="0">
              <a:solidFill>
                <a:srgbClr val="00B05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Growing value exponentially at scale is complex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There are only a few mathematically feasible ways to grow value exponentially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Harnessing these proven “value accelerators” at scale has key challenges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challenge can be overcome with proven solutions  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framework can help leaders grasp and harness these complex concepts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 simplifies and gives structure to a set of proven methods used to grow value exponentially 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We’ve branded this the AccelRR8 Framework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Framework is at the heart of the AccelRR8 Body of Knowledge</a:t>
            </a:r>
          </a:p>
        </p:txBody>
      </p:sp>
      <p:pic>
        <p:nvPicPr>
          <p:cNvPr id="7" name="Picture 2" descr="The World's Population Hasn't Grown Exponentially for at Least Half a  Century - Union of Concerned Scientists">
            <a:extLst>
              <a:ext uri="{FF2B5EF4-FFF2-40B4-BE49-F238E27FC236}">
                <a16:creationId xmlns:a16="http://schemas.microsoft.com/office/drawing/2014/main" id="{7CC71400-846E-6961-078F-1AB102FA76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95" t="12786" r="16346" b="10503"/>
          <a:stretch/>
        </p:blipFill>
        <p:spPr bwMode="auto">
          <a:xfrm>
            <a:off x="922074" y="3429000"/>
            <a:ext cx="3366763" cy="227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80BEE2-9E95-AF59-17B6-C4B0101721B4}"/>
              </a:ext>
            </a:extLst>
          </p:cNvPr>
          <p:cNvSpPr txBox="1"/>
          <p:nvPr/>
        </p:nvSpPr>
        <p:spPr>
          <a:xfrm>
            <a:off x="934266" y="5816875"/>
            <a:ext cx="32308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hlinkClick r:id="rId4"/>
              </a:rPr>
              <a:t>https://blog.ucsusa.org/doug-boucher/world-population-growth-exponential/</a:t>
            </a:r>
            <a:r>
              <a:rPr lang="en-US" sz="700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02DCE-3EEC-365F-FAE7-0FDDE6E595DF}"/>
              </a:ext>
            </a:extLst>
          </p:cNvPr>
          <p:cNvSpPr txBox="1"/>
          <p:nvPr/>
        </p:nvSpPr>
        <p:spPr>
          <a:xfrm>
            <a:off x="3316464" y="3596129"/>
            <a:ext cx="9845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</a:rPr>
              <a:t>Exponential</a:t>
            </a:r>
          </a:p>
          <a:p>
            <a:r>
              <a:rPr lang="en-US" sz="1200" dirty="0">
                <a:solidFill>
                  <a:srgbClr val="00B050"/>
                </a:solidFill>
              </a:rPr>
              <a:t>growth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5CE3CE36-4336-9626-6DBA-102ABC9B47EE}"/>
              </a:ext>
            </a:extLst>
          </p:cNvPr>
          <p:cNvSpPr/>
          <p:nvPr/>
        </p:nvSpPr>
        <p:spPr>
          <a:xfrm rot="5400000">
            <a:off x="-921183" y="1155372"/>
            <a:ext cx="3879503" cy="4681728"/>
          </a:xfrm>
          <a:prstGeom prst="arc">
            <a:avLst/>
          </a:prstGeom>
          <a:ln w="762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CB548F-5C38-36BE-D83D-CD65407317D9}"/>
              </a:ext>
            </a:extLst>
          </p:cNvPr>
          <p:cNvSpPr txBox="1"/>
          <p:nvPr/>
        </p:nvSpPr>
        <p:spPr>
          <a:xfrm>
            <a:off x="1003452" y="3380387"/>
            <a:ext cx="491645" cy="230832"/>
          </a:xfrm>
          <a:prstGeom prst="rect">
            <a:avLst/>
          </a:prstGeom>
          <a:solidFill>
            <a:schemeClr val="bg1"/>
          </a:solidFill>
        </p:spPr>
        <p:txBody>
          <a:bodyPr wrap="square" lIns="0" rtlCol="0">
            <a:spAutoFit/>
          </a:bodyPr>
          <a:lstStyle/>
          <a:p>
            <a:r>
              <a:rPr lang="en-US" sz="900" dirty="0">
                <a:solidFill>
                  <a:schemeClr val="tx1"/>
                </a:solidFill>
              </a:rPr>
              <a:t>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3EB24C-C4F8-62D5-C7BB-8F168B4694C5}"/>
              </a:ext>
            </a:extLst>
          </p:cNvPr>
          <p:cNvSpPr txBox="1"/>
          <p:nvPr/>
        </p:nvSpPr>
        <p:spPr>
          <a:xfrm>
            <a:off x="709721" y="1535812"/>
            <a:ext cx="3717900" cy="1607517"/>
          </a:xfrm>
          <a:prstGeom prst="roundRect">
            <a:avLst>
              <a:gd name="adj" fmla="val 6105"/>
            </a:avLst>
          </a:prstGeom>
          <a:solidFill>
            <a:srgbClr val="00B050"/>
          </a:solidFill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CORE PREMISE</a:t>
            </a:r>
          </a:p>
          <a:p>
            <a:pPr algn="ctr"/>
            <a:endParaRPr lang="en-US" sz="1100" b="1" dirty="0">
              <a:solidFill>
                <a:schemeClr val="bg1"/>
              </a:solidFill>
            </a:endParaRPr>
          </a:p>
          <a:p>
            <a:pPr algn="ctr"/>
            <a:r>
              <a:rPr lang="en-US" sz="1800" dirty="0">
                <a:solidFill>
                  <a:schemeClr val="bg1"/>
                </a:solidFill>
              </a:rPr>
              <a:t>Harnessing 5 proven accelerators makes it mathematically feasible to grow value exponentially </a:t>
            </a:r>
          </a:p>
        </p:txBody>
      </p:sp>
    </p:spTree>
    <p:extLst>
      <p:ext uri="{BB962C8B-B14F-4D97-AF65-F5344CB8AC3E}">
        <p14:creationId xmlns:p14="http://schemas.microsoft.com/office/powerpoint/2010/main" val="2353389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222CFED0-82F7-3857-91C0-8295E3D55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9E67006-FB22-3E51-1C43-10DE8E8FD432}"/>
              </a:ext>
            </a:extLst>
          </p:cNvPr>
          <p:cNvSpPr/>
          <p:nvPr/>
        </p:nvSpPr>
        <p:spPr>
          <a:xfrm>
            <a:off x="3230880" y="3429000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66CA4E44-8C6C-7A11-9AF1-DBDA4F1A9D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2FF06AE-D06F-A2CC-7814-895F8CA31E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Intent and Ambition</a:t>
            </a:r>
          </a:p>
          <a:p>
            <a:r>
              <a:rPr lang="en-US" dirty="0"/>
              <a:t>Consortium Opportunity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Success Factors</a:t>
            </a:r>
          </a:p>
          <a:p>
            <a:r>
              <a:rPr lang="en-US" dirty="0"/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635661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Success Factors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4C0F19-B23F-926A-2ED3-6B33949743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283046"/>
              </p:ext>
            </p:extLst>
          </p:nvPr>
        </p:nvGraphicFramePr>
        <p:xfrm>
          <a:off x="192345" y="1803131"/>
          <a:ext cx="10844464" cy="45375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4136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003102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1611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Desirable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Enterprising leaders want to grow value exponentially, but few know how to do it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Stakeholders appreciate and want to associate with our values and culture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267968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Viable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Consortium is goal-oriented and focused (not trying to boil the ocean)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have the required leadership and know-how to spark exponential growth and impact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will learn from other successful non-profit organizations who offer similar services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Minimal investment is needed to achieve initial success (asset-light with low overhead costs), which gives us time and flexibility to experiment, learn, and adjust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77328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Sustainable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Our core premise – </a:t>
                      </a:r>
                      <a:r>
                        <a:rPr lang="en-US" b="1" i="1" dirty="0">
                          <a:solidFill>
                            <a:srgbClr val="00B050"/>
                          </a:solidFill>
                        </a:rPr>
                        <a:t>harnessing 5 proven accelerators makes it mathematically feasible to grow value exponentially </a:t>
                      </a:r>
                      <a:r>
                        <a:rPr lang="en-US" dirty="0"/>
                        <a:t>– is enduring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will still be relevant in decades even as AI, Quantum Computing, etc. advance exponentially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101435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Impactful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Consortium will harness proven accelerators to grow our own value exponentially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Our own success will be a key proof point of our core premise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As we gain credibility, we will create a virtuous cycle of exponential growth and impact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1737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Consumable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Becoming and remaining a subscriber, patron, and/or consortium leader must be easy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net value delivered by fee-based services / features must be self-evident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9987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Peers</a:t>
            </a:r>
            <a:endParaRPr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AA794A3-D78C-B966-F5D5-7A882C2133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355199"/>
              </p:ext>
            </p:extLst>
          </p:nvPr>
        </p:nvGraphicFramePr>
        <p:xfrm>
          <a:off x="129323" y="1574795"/>
          <a:ext cx="11794453" cy="44529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67445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4401312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15930041"/>
                    </a:ext>
                  </a:extLst>
                </a:gridCol>
                <a:gridCol w="4217416">
                  <a:extLst>
                    <a:ext uri="{9D8B030D-6E8A-4147-A177-3AD203B41FA5}">
                      <a16:colId xmlns:a16="http://schemas.microsoft.com/office/drawing/2014/main" val="1874632665"/>
                    </a:ext>
                  </a:extLst>
                </a:gridCol>
              </a:tblGrid>
              <a:tr h="658512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Similar Non-Profits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/>
                        <a:t>How We’re Similar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20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/>
                        <a:t>Our Intent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6974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bring together stakeholders to connect and empower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Mentor a critical mass of Tech Services leaders on leading a movement that grows value exponentially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6261144"/>
                  </a:ext>
                </a:extLst>
              </a:tr>
              <a:tr h="76974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leaders network and develop important skills that can help them advance in their career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Help Tech Services leaders network and practice growing value exponentially at scale together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23268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curate a Body of Knowledge proven helpful in doing complex work most leaders must do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align on authoritative practices for growing value exponentially at scale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83549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people and organizations get the most value out of their investments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learn generatively how to solving vexing enterprise challenges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596139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leaders use Artificial Intelligence technologies and know-how to help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Help Tech Services leaders use AI ethically and responsibly to help their industry and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8850557"/>
                  </a:ext>
                </a:extLst>
              </a:tr>
            </a:tbl>
          </a:graphicData>
        </a:graphic>
      </p:graphicFrame>
      <p:pic>
        <p:nvPicPr>
          <p:cNvPr id="1028" name="Picture 4" descr="Toastmasters International -Logo and Design Elements">
            <a:extLst>
              <a:ext uri="{FF2B5EF4-FFF2-40B4-BE49-F238E27FC236}">
                <a16:creationId xmlns:a16="http://schemas.microsoft.com/office/drawing/2014/main" id="{F2FBAC28-01AC-81F3-75E0-948EBC9F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36" y="3183943"/>
            <a:ext cx="2063074" cy="410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MI Project Management Institute Logo PNG vector in SVG, PDF, AI, CDR format">
            <a:extLst>
              <a:ext uri="{FF2B5EF4-FFF2-40B4-BE49-F238E27FC236}">
                <a16:creationId xmlns:a16="http://schemas.microsoft.com/office/drawing/2014/main" id="{2136F508-9909-76DB-E345-E40EB62799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65" t="32778" r="8165" b="32778"/>
          <a:stretch/>
        </p:blipFill>
        <p:spPr bwMode="auto">
          <a:xfrm>
            <a:off x="609986" y="3863068"/>
            <a:ext cx="1982174" cy="61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AI for Good - All Year Always Online">
            <a:extLst>
              <a:ext uri="{FF2B5EF4-FFF2-40B4-BE49-F238E27FC236}">
                <a16:creationId xmlns:a16="http://schemas.microsoft.com/office/drawing/2014/main" id="{57B0734D-BE0E-D5FA-AC6A-C87310AA2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3" y="5409896"/>
            <a:ext cx="2100522" cy="61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ECAF82E-5374-0B4F-1B87-BE9366670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937" y="2175973"/>
            <a:ext cx="806272" cy="80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SUG logo ">
            <a:extLst>
              <a:ext uri="{FF2B5EF4-FFF2-40B4-BE49-F238E27FC236}">
                <a16:creationId xmlns:a16="http://schemas.microsoft.com/office/drawing/2014/main" id="{9412F3F4-9961-A04B-F29F-AE70F881B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665" y="4613806"/>
            <a:ext cx="1326816" cy="796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39245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1A7DFDB-5F7C-17E5-3D2D-59A526F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531CE66-9A8C-CD7A-3B1E-AACECB19FDC5}"/>
              </a:ext>
            </a:extLst>
          </p:cNvPr>
          <p:cNvSpPr/>
          <p:nvPr/>
        </p:nvSpPr>
        <p:spPr>
          <a:xfrm>
            <a:off x="3230880" y="3976910"/>
            <a:ext cx="5696552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B36FBA8C-8062-DC9B-B335-7924A05FB1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775EEE6-C4D2-41AC-5ADA-44567F646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Intent and Ambition</a:t>
            </a:r>
          </a:p>
          <a:p>
            <a:r>
              <a:rPr lang="en-US" dirty="0"/>
              <a:t>Consortium Opportunity</a:t>
            </a:r>
          </a:p>
          <a:p>
            <a:r>
              <a:rPr lang="en-US" dirty="0"/>
              <a:t>Success Factors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2348277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3-Horizon Impact Strategy</a:t>
            </a:r>
            <a:br>
              <a:rPr lang="en-US" dirty="0"/>
            </a:br>
            <a:r>
              <a:rPr lang="en-US" sz="2400" i="1" dirty="0"/>
              <a:t>Exponential Improvements in the Tech Services Industry</a:t>
            </a:r>
            <a:endParaRPr i="1" dirty="0"/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1073220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/>
          <p:cNvCxnSpPr/>
          <p:nvPr/>
        </p:nvCxnSpPr>
        <p:spPr>
          <a:xfrm>
            <a:off x="4421187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/>
          <p:cNvCxnSpPr/>
          <p:nvPr/>
        </p:nvCxnSpPr>
        <p:spPr>
          <a:xfrm>
            <a:off x="8136080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/>
          <p:cNvSpPr txBox="1"/>
          <p:nvPr/>
        </p:nvSpPr>
        <p:spPr>
          <a:xfrm>
            <a:off x="1051955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Pack a Snowball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1</a:t>
            </a:r>
            <a:endParaRPr sz="1200" dirty="0"/>
          </a:p>
        </p:txBody>
      </p:sp>
      <p:sp>
        <p:nvSpPr>
          <p:cNvPr id="126" name="Google Shape;126;p5"/>
          <p:cNvSpPr txBox="1"/>
          <p:nvPr/>
        </p:nvSpPr>
        <p:spPr>
          <a:xfrm>
            <a:off x="4293588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Roll it Downhill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2</a:t>
            </a:r>
            <a:endParaRPr sz="1200" dirty="0"/>
          </a:p>
        </p:txBody>
      </p:sp>
      <p:sp>
        <p:nvSpPr>
          <p:cNvPr id="127" name="Google Shape;127;p5"/>
          <p:cNvSpPr txBox="1"/>
          <p:nvPr/>
        </p:nvSpPr>
        <p:spPr>
          <a:xfrm>
            <a:off x="8167975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Trigger an Avalanche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HORIZON 3</a:t>
            </a:r>
            <a:endParaRPr sz="1200" dirty="0"/>
          </a:p>
        </p:txBody>
      </p:sp>
      <p:sp>
        <p:nvSpPr>
          <p:cNvPr id="128" name="Google Shape;128;p5"/>
          <p:cNvSpPr txBox="1"/>
          <p:nvPr/>
        </p:nvSpPr>
        <p:spPr>
          <a:xfrm>
            <a:off x="1179826" y="2812327"/>
            <a:ext cx="3241634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Prioritize Industry Challenges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 Patrons</a:t>
            </a:r>
          </a:p>
        </p:txBody>
      </p:sp>
      <p:sp>
        <p:nvSpPr>
          <p:cNvPr id="129" name="Google Shape;129;p5"/>
          <p:cNvSpPr txBox="1"/>
          <p:nvPr/>
        </p:nvSpPr>
        <p:spPr>
          <a:xfrm>
            <a:off x="4507675" y="2812327"/>
            <a:ext cx="4101935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Explore Exponential Solutions to Challenges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 txBox="1"/>
          <p:nvPr/>
        </p:nvSpPr>
        <p:spPr>
          <a:xfrm>
            <a:off x="8200753" y="2812327"/>
            <a:ext cx="3650218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Generative Learning:  Scale Solutions Across the Industry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73F706-F21B-C4E5-89FE-6AD1081A3B22}"/>
              </a:ext>
            </a:extLst>
          </p:cNvPr>
          <p:cNvSpPr txBox="1"/>
          <p:nvPr/>
        </p:nvSpPr>
        <p:spPr>
          <a:xfrm>
            <a:off x="1197995" y="1551355"/>
            <a:ext cx="10451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exponential improvements in Tech Services industry production inputs will yield exponentially better industry outputs and </a:t>
            </a:r>
            <a:br>
              <a:rPr lang="en-US" dirty="0"/>
            </a:br>
            <a:r>
              <a:rPr lang="en-US" dirty="0"/>
              <a:t>outcomes. This will become more self-evident as each exponential solution is proven and then scaled virally across the industry.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40E7CC-A43F-F841-1206-B147ACBCCB27}"/>
              </a:ext>
            </a:extLst>
          </p:cNvPr>
          <p:cNvSpPr/>
          <p:nvPr/>
        </p:nvSpPr>
        <p:spPr>
          <a:xfrm>
            <a:off x="144411" y="2812327"/>
            <a:ext cx="938205" cy="6676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Professional Networking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064C34-40EA-C253-0D0E-C0C13C469F4C}"/>
              </a:ext>
            </a:extLst>
          </p:cNvPr>
          <p:cNvSpPr/>
          <p:nvPr/>
        </p:nvSpPr>
        <p:spPr>
          <a:xfrm>
            <a:off x="144411" y="3624698"/>
            <a:ext cx="938205" cy="10748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Open Knowledge Sharing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D20BC-CB04-64F2-3AD7-DD7C18E0B798}"/>
              </a:ext>
            </a:extLst>
          </p:cNvPr>
          <p:cNvSpPr/>
          <p:nvPr/>
        </p:nvSpPr>
        <p:spPr>
          <a:xfrm>
            <a:off x="144411" y="4844223"/>
            <a:ext cx="938205" cy="1107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Industry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Innovation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383E72-5712-6890-5BCF-A96C3035781E}"/>
              </a:ext>
            </a:extLst>
          </p:cNvPr>
          <p:cNvSpPr txBox="1"/>
          <p:nvPr/>
        </p:nvSpPr>
        <p:spPr>
          <a:xfrm>
            <a:off x="257598" y="2493747"/>
            <a:ext cx="6751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Services</a:t>
            </a:r>
          </a:p>
        </p:txBody>
      </p:sp>
    </p:spTree>
    <p:extLst>
      <p:ext uri="{BB962C8B-B14F-4D97-AF65-F5344CB8AC3E}">
        <p14:creationId xmlns:p14="http://schemas.microsoft.com/office/powerpoint/2010/main" val="16565864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dirty="0">
                <a:latin typeface="Calibri" panose="020F0502020204030204" pitchFamily="34" charset="0"/>
                <a:cs typeface="Calibri" panose="020F0502020204030204" pitchFamily="34" charset="0"/>
              </a:rPr>
              <a:t>Consortium Priorities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2400" i="1" dirty="0">
                <a:latin typeface="Calibri" panose="020F0502020204030204" pitchFamily="34" charset="0"/>
                <a:cs typeface="Calibri" panose="020F0502020204030204" pitchFamily="34" charset="0"/>
              </a:rPr>
              <a:t>Using our own Framework to grow Consortium value exponentially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607" y="272690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859826"/>
              </p:ext>
            </p:extLst>
          </p:nvPr>
        </p:nvGraphicFramePr>
        <p:xfrm>
          <a:off x="6901107" y="2423595"/>
          <a:ext cx="3855286" cy="35278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5528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4858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improve our services and be credible, we should use Lean Product Management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813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connect our network and be credible, we should use the right Collaboration Platforms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4954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go viral, we must win advocacy from credible industry influencers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scale quickly, we should learn from leaders experienced in similar non-profits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Aptos" panose="02110004020202020204"/>
                          <a:ea typeface="+mn-ea"/>
                        </a:rPr>
                        <a:t>To help us scale and be credible, we must experiment with and practice using AI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47F7FEC5-E4F2-4640-BABB-2DC3CF664665}"/>
              </a:ext>
            </a:extLst>
          </p:cNvPr>
          <p:cNvSpPr txBox="1"/>
          <p:nvPr/>
        </p:nvSpPr>
        <p:spPr>
          <a:xfrm>
            <a:off x="7195646" y="1843223"/>
            <a:ext cx="31905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What we need to do now to grow 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/>
          <p:nvPr/>
        </p:nvCxnSpPr>
        <p:spPr>
          <a:xfrm flipV="1">
            <a:off x="6096000" y="2423595"/>
            <a:ext cx="805107" cy="7463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6096000" y="316992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6096000" y="3897827"/>
            <a:ext cx="8051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6096000" y="425907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6096000" y="460338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6096000" y="497027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973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9CF0030E-C778-6057-7F00-D64497814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213A3A61-4044-D39A-7839-F3AEFE0C29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Horizon 1 Roadmap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55B0BF-5869-4C17-DDB9-4330FF90D6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274897"/>
              </p:ext>
            </p:extLst>
          </p:nvPr>
        </p:nvGraphicFramePr>
        <p:xfrm>
          <a:off x="410934" y="1560399"/>
          <a:ext cx="11370132" cy="48515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9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5856515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434445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When Feasible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900682">
                <a:tc>
                  <a:txBody>
                    <a:bodyPr/>
                    <a:lstStyle/>
                    <a:p>
                      <a:r>
                        <a:rPr lang="en-US" sz="2000" b="1" dirty="0"/>
                        <a:t>All Services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Use Lean Product Management to publish Services info on our LinkedIn page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low-cost options for setting up a website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Experiment with and practice using AI to help our Consortium scale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ideas for raising seed money (donations and grants)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Set up a website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learnings (e.g., how we’re using AI)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01597007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ASUG, Toastmasters, and PMI leaders how they grew their networks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Grow the number of Collaborators to 100 via the Board of Directors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to enhance collaboration (e.g., LinkedIn Groups)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Prepare a campaign to grow the number of Collaborators to 300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local chapters)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Professional Network Service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campaigns to grow the number of Collaborators to 300 and then to 1,000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 for collaboration platform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developed and curate their BOKs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for publishing and curating the AccelRR8 Framework and AccelRR8 Body of Knowledge 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advisory board leaders for various topics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ways to enhance our credibility with Tech Services leaders, e.g., influencer endorsements and webinars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contributors)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Open Knowledge Sharing Service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the AccelRR8 Framework v2 on KM platform with help from Advisory board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webinars with influencers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generate revenues from patron organizations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AI for Good leaders how they use technology to help humanity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TSIA leaders how they help the Tech Services industry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patron organizations)</a:t>
                      </a: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Industry Innovation Service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125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46981</TotalTime>
  <Words>2033</Words>
  <Application>Microsoft Macintosh PowerPoint</Application>
  <PresentationFormat>Widescreen</PresentationFormat>
  <Paragraphs>240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Wingdings</vt:lpstr>
      <vt:lpstr>Office Theme</vt:lpstr>
      <vt:lpstr>  Organizational Strategy for  AccelRR8 Consortium NonProfit </vt:lpstr>
      <vt:lpstr>AccelRR8 Consortium Strategy</vt:lpstr>
      <vt:lpstr>Consortium Intent</vt:lpstr>
      <vt:lpstr>Consortium Ambition</vt:lpstr>
      <vt:lpstr>Realizing Our Ambition Exponential improvements in Tech Services that help humanity</vt:lpstr>
      <vt:lpstr>AccelRR8 Consortium Strategy</vt:lpstr>
      <vt:lpstr>Consortium Opportunity</vt:lpstr>
      <vt:lpstr>Growing Value Exponentially</vt:lpstr>
      <vt:lpstr>AccelRR8 Consortium Strategy</vt:lpstr>
      <vt:lpstr>Consortium Success Factors</vt:lpstr>
      <vt:lpstr>Consortium Peers</vt:lpstr>
      <vt:lpstr>AccelRR8 Consortium Strategy</vt:lpstr>
      <vt:lpstr>Consortium 3-Horizon Impact Strategy Exponential Improvements in the Tech Services Industry</vt:lpstr>
      <vt:lpstr>PowerPoint Presentation</vt:lpstr>
      <vt:lpstr>Horizon 1 Roadmap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152</cp:revision>
  <cp:lastPrinted>2024-10-01T14:48:34Z</cp:lastPrinted>
  <dcterms:created xsi:type="dcterms:W3CDTF">2023-08-22T19:09:59Z</dcterms:created>
  <dcterms:modified xsi:type="dcterms:W3CDTF">2026-08-06T19:44:16Z</dcterms:modified>
</cp:coreProperties>
</file>