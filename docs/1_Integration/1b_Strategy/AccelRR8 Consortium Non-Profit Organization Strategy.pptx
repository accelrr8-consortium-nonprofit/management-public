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  <p:sldMasterId id="2147483674" r:id="rId3"/>
  </p:sldMasterIdLst>
  <p:notesMasterIdLst>
    <p:notesMasterId r:id="rId34"/>
  </p:notesMasterIdLst>
  <p:sldIdLst>
    <p:sldId id="256" r:id="rId4"/>
    <p:sldId id="403" r:id="rId5"/>
    <p:sldId id="412" r:id="rId6"/>
    <p:sldId id="273" r:id="rId7"/>
    <p:sldId id="416" r:id="rId8"/>
    <p:sldId id="277" r:id="rId9"/>
    <p:sldId id="404" r:id="rId10"/>
    <p:sldId id="262" r:id="rId11"/>
    <p:sldId id="399" r:id="rId12"/>
    <p:sldId id="398" r:id="rId13"/>
    <p:sldId id="405" r:id="rId14"/>
    <p:sldId id="401" r:id="rId15"/>
    <p:sldId id="278" r:id="rId16"/>
    <p:sldId id="400" r:id="rId17"/>
    <p:sldId id="414" r:id="rId18"/>
    <p:sldId id="263" r:id="rId19"/>
    <p:sldId id="406" r:id="rId20"/>
    <p:sldId id="275" r:id="rId21"/>
    <p:sldId id="276" r:id="rId22"/>
    <p:sldId id="415" r:id="rId23"/>
    <p:sldId id="279" r:id="rId24"/>
    <p:sldId id="407" r:id="rId25"/>
    <p:sldId id="274" r:id="rId26"/>
    <p:sldId id="421" r:id="rId27"/>
    <p:sldId id="418" r:id="rId28"/>
    <p:sldId id="419" r:id="rId29"/>
    <p:sldId id="420" r:id="rId30"/>
    <p:sldId id="408" r:id="rId31"/>
    <p:sldId id="417" r:id="rId32"/>
    <p:sldId id="409" r:id="rId3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4E8E5638-AF02-574F-973A-0BA5E742AE27}">
          <p14:sldIdLst>
            <p14:sldId id="256"/>
          </p14:sldIdLst>
        </p14:section>
        <p14:section name="Ambition and Opportunity" id="{FFA9F242-8AD8-EF42-8D73-529595A2924A}">
          <p14:sldIdLst>
            <p14:sldId id="403"/>
            <p14:sldId id="412"/>
            <p14:sldId id="273"/>
            <p14:sldId id="416"/>
            <p14:sldId id="277"/>
          </p14:sldIdLst>
        </p14:section>
        <p14:section name="Our Core Premise" id="{05194138-A3ED-064B-861C-0547F49986DE}">
          <p14:sldIdLst>
            <p14:sldId id="404"/>
            <p14:sldId id="262"/>
            <p14:sldId id="399"/>
            <p14:sldId id="398"/>
          </p14:sldIdLst>
        </p14:section>
        <p14:section name="Scope of Our Services" id="{EBEE8A1D-1801-4746-8A2D-F7970C352CB9}">
          <p14:sldIdLst>
            <p14:sldId id="405"/>
            <p14:sldId id="401"/>
            <p14:sldId id="278"/>
            <p14:sldId id="400"/>
            <p14:sldId id="414"/>
            <p14:sldId id="263"/>
          </p14:sldIdLst>
        </p14:section>
        <p14:section name="Success Factors" id="{A8607958-67BE-0D41-AF22-F251A2EEF798}">
          <p14:sldIdLst>
            <p14:sldId id="406"/>
            <p14:sldId id="275"/>
            <p14:sldId id="276"/>
            <p14:sldId id="415"/>
            <p14:sldId id="279"/>
          </p14:sldIdLst>
        </p14:section>
        <p14:section name="3-Horizon Timeline" id="{BDC3B2AF-CB8F-1E49-8E65-5336AA748889}">
          <p14:sldIdLst>
            <p14:sldId id="407"/>
            <p14:sldId id="274"/>
            <p14:sldId id="421"/>
            <p14:sldId id="418"/>
            <p14:sldId id="419"/>
            <p14:sldId id="420"/>
          </p14:sldIdLst>
        </p14:section>
        <p14:section name="2025 Roadmap" id="{90C8C8B9-B66B-114F-BA2B-0E2031DA28EB}">
          <p14:sldIdLst>
            <p14:sldId id="408"/>
            <p14:sldId id="417"/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35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58"/>
    <p:restoredTop sz="96203"/>
  </p:normalViewPr>
  <p:slideViewPr>
    <p:cSldViewPr snapToGrid="0">
      <p:cViewPr varScale="1">
        <p:scale>
          <a:sx n="140" d="100"/>
          <a:sy n="140" d="100"/>
        </p:scale>
        <p:origin x="528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customschemas.google.com/relationships/presentationmetadata" Target="metadata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8245d172-5b81-40f1-a13b-b71f02cd6700" providerId="ADAL" clId="{1963A0E1-75BB-794E-B27D-95B37052EF51}"/>
    <pc:docChg chg="undo redo custSel addSld delSld modSld sldOrd addSection delSection modSection">
      <pc:chgData name="Rich Reba" userId="8245d172-5b81-40f1-a13b-b71f02cd6700" providerId="ADAL" clId="{1963A0E1-75BB-794E-B27D-95B37052EF51}" dt="2024-10-20T17:07:01.783" v="12947" actId="20577"/>
      <pc:docMkLst>
        <pc:docMk/>
      </pc:docMkLst>
      <pc:sldChg chg="addSp delSp modSp mod">
        <pc:chgData name="Rich Reba" userId="8245d172-5b81-40f1-a13b-b71f02cd6700" providerId="ADAL" clId="{1963A0E1-75BB-794E-B27D-95B37052EF51}" dt="2024-10-20T17:07:01.783" v="12947" actId="20577"/>
        <pc:sldMkLst>
          <pc:docMk/>
          <pc:sldMk cId="0" sldId="256"/>
        </pc:sldMkLst>
      </pc:sldChg>
      <pc:sldChg chg="modSp mod">
        <pc:chgData name="Rich Reba" userId="8245d172-5b81-40f1-a13b-b71f02cd6700" providerId="ADAL" clId="{1963A0E1-75BB-794E-B27D-95B37052EF51}" dt="2024-10-07T16:10:15.705" v="11593" actId="1035"/>
        <pc:sldMkLst>
          <pc:docMk/>
          <pc:sldMk cId="2353389302" sldId="262"/>
        </pc:sldMkLst>
      </pc:sldChg>
      <pc:sldChg chg="modSp del mod">
        <pc:chgData name="Rich Reba" userId="8245d172-5b81-40f1-a13b-b71f02cd6700" providerId="ADAL" clId="{1963A0E1-75BB-794E-B27D-95B37052EF51}" dt="2024-10-01T14:24:29.328" v="5670" actId="2696"/>
        <pc:sldMkLst>
          <pc:docMk/>
          <pc:sldMk cId="797753247" sldId="263"/>
        </pc:sldMkLst>
      </pc:sldChg>
      <pc:sldChg chg="modSp add del">
        <pc:chgData name="Rich Reba" userId="8245d172-5b81-40f1-a13b-b71f02cd6700" providerId="ADAL" clId="{1963A0E1-75BB-794E-B27D-95B37052EF51}" dt="2024-10-01T14:25:07.880" v="5672"/>
        <pc:sldMkLst>
          <pc:docMk/>
          <pc:sldMk cId="2963368584" sldId="263"/>
        </pc:sldMkLst>
      </pc:sldChg>
      <pc:sldChg chg="modSp add mod ord">
        <pc:chgData name="Rich Reba" userId="8245d172-5b81-40f1-a13b-b71f02cd6700" providerId="ADAL" clId="{1963A0E1-75BB-794E-B27D-95B37052EF51}" dt="2024-10-07T10:35:29.787" v="7868" actId="20577"/>
        <pc:sldMkLst>
          <pc:docMk/>
          <pc:sldMk cId="4088822028" sldId="263"/>
        </pc:sldMkLst>
      </pc:sldChg>
      <pc:sldChg chg="modSp del mod ord">
        <pc:chgData name="Rich Reba" userId="8245d172-5b81-40f1-a13b-b71f02cd6700" providerId="ADAL" clId="{1963A0E1-75BB-794E-B27D-95B37052EF51}" dt="2024-10-20T16:25:43.236" v="12927" actId="2696"/>
        <pc:sldMkLst>
          <pc:docMk/>
          <pc:sldMk cId="3116950362" sldId="266"/>
        </pc:sldMkLst>
      </pc:sldChg>
      <pc:sldChg chg="modSp del mod">
        <pc:chgData name="Rich Reba" userId="8245d172-5b81-40f1-a13b-b71f02cd6700" providerId="ADAL" clId="{1963A0E1-75BB-794E-B27D-95B37052EF51}" dt="2024-10-20T16:14:29.994" v="12683" actId="2696"/>
        <pc:sldMkLst>
          <pc:docMk/>
          <pc:sldMk cId="2415387204" sldId="268"/>
        </pc:sldMkLst>
      </pc:sldChg>
      <pc:sldChg chg="modSp del mod">
        <pc:chgData name="Rich Reba" userId="8245d172-5b81-40f1-a13b-b71f02cd6700" providerId="ADAL" clId="{1963A0E1-75BB-794E-B27D-95B37052EF51}" dt="2024-10-20T16:17:44.283" v="12745" actId="2696"/>
        <pc:sldMkLst>
          <pc:docMk/>
          <pc:sldMk cId="776392155" sldId="269"/>
        </pc:sldMkLst>
      </pc:sldChg>
      <pc:sldChg chg="modSp del mod">
        <pc:chgData name="Rich Reba" userId="8245d172-5b81-40f1-a13b-b71f02cd6700" providerId="ADAL" clId="{1963A0E1-75BB-794E-B27D-95B37052EF51}" dt="2024-10-20T16:12:19.290" v="12649" actId="2696"/>
        <pc:sldMkLst>
          <pc:docMk/>
          <pc:sldMk cId="3187144136" sldId="270"/>
        </pc:sldMkLst>
      </pc:sldChg>
      <pc:sldChg chg="addSp delSp modSp mod">
        <pc:chgData name="Rich Reba" userId="8245d172-5b81-40f1-a13b-b71f02cd6700" providerId="ADAL" clId="{1963A0E1-75BB-794E-B27D-95B37052EF51}" dt="2024-10-07T11:27:46.247" v="10323" actId="20577"/>
        <pc:sldMkLst>
          <pc:docMk/>
          <pc:sldMk cId="4274695656" sldId="273"/>
        </pc:sldMkLst>
      </pc:sldChg>
      <pc:sldChg chg="modSp mod ord">
        <pc:chgData name="Rich Reba" userId="8245d172-5b81-40f1-a13b-b71f02cd6700" providerId="ADAL" clId="{1963A0E1-75BB-794E-B27D-95B37052EF51}" dt="2024-10-07T21:20:49.302" v="11765" actId="20577"/>
        <pc:sldMkLst>
          <pc:docMk/>
          <pc:sldMk cId="1656586467" sldId="274"/>
        </pc:sldMkLst>
      </pc:sldChg>
      <pc:sldChg chg="modSp mod">
        <pc:chgData name="Rich Reba" userId="8245d172-5b81-40f1-a13b-b71f02cd6700" providerId="ADAL" clId="{1963A0E1-75BB-794E-B27D-95B37052EF51}" dt="2024-10-07T21:12:27.847" v="11753" actId="20577"/>
        <pc:sldMkLst>
          <pc:docMk/>
          <pc:sldMk cId="2269987968" sldId="275"/>
        </pc:sldMkLst>
      </pc:sldChg>
      <pc:sldChg chg="modSp mod">
        <pc:chgData name="Rich Reba" userId="8245d172-5b81-40f1-a13b-b71f02cd6700" providerId="ADAL" clId="{1963A0E1-75BB-794E-B27D-95B37052EF51}" dt="2024-10-07T10:43:22.143" v="7869" actId="122"/>
        <pc:sldMkLst>
          <pc:docMk/>
          <pc:sldMk cId="1732335019" sldId="276"/>
        </pc:sldMkLst>
      </pc:sldChg>
      <pc:sldChg chg="modSp mod ord">
        <pc:chgData name="Rich Reba" userId="8245d172-5b81-40f1-a13b-b71f02cd6700" providerId="ADAL" clId="{1963A0E1-75BB-794E-B27D-95B37052EF51}" dt="2024-10-07T10:32:48.072" v="7846" actId="20577"/>
        <pc:sldMkLst>
          <pc:docMk/>
          <pc:sldMk cId="2006733346" sldId="277"/>
        </pc:sldMkLst>
      </pc:sldChg>
      <pc:sldChg chg="modSp add mod">
        <pc:chgData name="Rich Reba" userId="8245d172-5b81-40f1-a13b-b71f02cd6700" providerId="ADAL" clId="{1963A0E1-75BB-794E-B27D-95B37052EF51}" dt="2024-10-01T13:33:01.536" v="4701" actId="20577"/>
        <pc:sldMkLst>
          <pc:docMk/>
          <pc:sldMk cId="823924525" sldId="278"/>
        </pc:sldMkLst>
      </pc:sldChg>
      <pc:sldChg chg="del">
        <pc:chgData name="Rich Reba" userId="8245d172-5b81-40f1-a13b-b71f02cd6700" providerId="ADAL" clId="{1963A0E1-75BB-794E-B27D-95B37052EF51}" dt="2024-09-29T15:49:40.261" v="382" actId="2696"/>
        <pc:sldMkLst>
          <pc:docMk/>
          <pc:sldMk cId="2212015073" sldId="278"/>
        </pc:sldMkLst>
      </pc:sldChg>
      <pc:sldChg chg="addSp delSp modSp mod">
        <pc:chgData name="Rich Reba" userId="8245d172-5b81-40f1-a13b-b71f02cd6700" providerId="ADAL" clId="{1963A0E1-75BB-794E-B27D-95B37052EF51}" dt="2024-10-01T14:37:11.699" v="5719" actId="14100"/>
        <pc:sldMkLst>
          <pc:docMk/>
          <pc:sldMk cId="3641467929" sldId="279"/>
        </pc:sldMkLst>
      </pc:sldChg>
      <pc:sldChg chg="addSp delSp modSp mod">
        <pc:chgData name="Rich Reba" userId="8245d172-5b81-40f1-a13b-b71f02cd6700" providerId="ADAL" clId="{1963A0E1-75BB-794E-B27D-95B37052EF51}" dt="2024-10-05T15:01:04.594" v="7062" actId="20577"/>
        <pc:sldMkLst>
          <pc:docMk/>
          <pc:sldMk cId="2176843835" sldId="398"/>
        </pc:sldMkLst>
      </pc:sldChg>
      <pc:sldChg chg="modSp mod">
        <pc:chgData name="Rich Reba" userId="8245d172-5b81-40f1-a13b-b71f02cd6700" providerId="ADAL" clId="{1963A0E1-75BB-794E-B27D-95B37052EF51}" dt="2024-09-30T20:51:51.324" v="3079" actId="207"/>
        <pc:sldMkLst>
          <pc:docMk/>
          <pc:sldMk cId="3350860745" sldId="399"/>
        </pc:sldMkLst>
      </pc:sldChg>
      <pc:sldChg chg="modSp mod ord">
        <pc:chgData name="Rich Reba" userId="8245d172-5b81-40f1-a13b-b71f02cd6700" providerId="ADAL" clId="{1963A0E1-75BB-794E-B27D-95B37052EF51}" dt="2024-10-07T16:08:21.021" v="11590" actId="20577"/>
        <pc:sldMkLst>
          <pc:docMk/>
          <pc:sldMk cId="797649862" sldId="400"/>
        </pc:sldMkLst>
      </pc:sldChg>
      <pc:sldChg chg="modSp add mod">
        <pc:chgData name="Rich Reba" userId="8245d172-5b81-40f1-a13b-b71f02cd6700" providerId="ADAL" clId="{1963A0E1-75BB-794E-B27D-95B37052EF51}" dt="2024-10-01T03:24:45.459" v="4184" actId="20577"/>
        <pc:sldMkLst>
          <pc:docMk/>
          <pc:sldMk cId="1598126850" sldId="401"/>
        </pc:sldMkLst>
      </pc:sldChg>
      <pc:sldChg chg="modSp del mod">
        <pc:chgData name="Rich Reba" userId="8245d172-5b81-40f1-a13b-b71f02cd6700" providerId="ADAL" clId="{1963A0E1-75BB-794E-B27D-95B37052EF51}" dt="2024-09-29T15:49:40.261" v="382" actId="2696"/>
        <pc:sldMkLst>
          <pc:docMk/>
          <pc:sldMk cId="1619826082" sldId="401"/>
        </pc:sldMkLst>
      </pc:sldChg>
      <pc:sldChg chg="addSp delSp modSp add del mod">
        <pc:chgData name="Rich Reba" userId="8245d172-5b81-40f1-a13b-b71f02cd6700" providerId="ADAL" clId="{1963A0E1-75BB-794E-B27D-95B37052EF51}" dt="2024-10-09T15:43:40.995" v="11839" actId="2696"/>
        <pc:sldMkLst>
          <pc:docMk/>
          <pc:sldMk cId="1854965941" sldId="402"/>
        </pc:sldMkLst>
      </pc:sldChg>
      <pc:sldChg chg="addSp modSp add del mod">
        <pc:chgData name="Rich Reba" userId="8245d172-5b81-40f1-a13b-b71f02cd6700" providerId="ADAL" clId="{1963A0E1-75BB-794E-B27D-95B37052EF51}" dt="2024-10-01T17:07:04.241" v="5898" actId="2696"/>
        <pc:sldMkLst>
          <pc:docMk/>
          <pc:sldMk cId="3905200296" sldId="402"/>
        </pc:sldMkLst>
      </pc:sldChg>
      <pc:sldChg chg="add del">
        <pc:chgData name="Rich Reba" userId="8245d172-5b81-40f1-a13b-b71f02cd6700" providerId="ADAL" clId="{1963A0E1-75BB-794E-B27D-95B37052EF51}" dt="2024-10-01T13:49:37.782" v="4707"/>
        <pc:sldMkLst>
          <pc:docMk/>
          <pc:sldMk cId="4097666273" sldId="402"/>
        </pc:sldMkLst>
      </pc:sldChg>
      <pc:sldChg chg="add del">
        <pc:chgData name="Rich Reba" userId="8245d172-5b81-40f1-a13b-b71f02cd6700" providerId="ADAL" clId="{1963A0E1-75BB-794E-B27D-95B37052EF51}" dt="2024-10-01T13:49:31.577" v="4705"/>
        <pc:sldMkLst>
          <pc:docMk/>
          <pc:sldMk cId="4289773451" sldId="402"/>
        </pc:sldMkLst>
      </pc:sldChg>
      <pc:sldChg chg="addSp delSp modSp add mod ord">
        <pc:chgData name="Rich Reba" userId="8245d172-5b81-40f1-a13b-b71f02cd6700" providerId="ADAL" clId="{1963A0E1-75BB-794E-B27D-95B37052EF51}" dt="2024-10-01T17:04:59.882" v="5818" actId="20577"/>
        <pc:sldMkLst>
          <pc:docMk/>
          <pc:sldMk cId="1483759223" sldId="403"/>
        </pc:sldMkLst>
      </pc:sldChg>
      <pc:sldChg chg="add del">
        <pc:chgData name="Rich Reba" userId="8245d172-5b81-40f1-a13b-b71f02cd6700" providerId="ADAL" clId="{1963A0E1-75BB-794E-B27D-95B37052EF51}" dt="2024-10-01T14:13:26.705" v="5447"/>
        <pc:sldMkLst>
          <pc:docMk/>
          <pc:sldMk cId="2931257109" sldId="403"/>
        </pc:sldMkLst>
      </pc:sldChg>
      <pc:sldChg chg="add del ord">
        <pc:chgData name="Rich Reba" userId="8245d172-5b81-40f1-a13b-b71f02cd6700" providerId="ADAL" clId="{1963A0E1-75BB-794E-B27D-95B37052EF51}" dt="2024-10-01T14:18:59.474" v="5619"/>
        <pc:sldMkLst>
          <pc:docMk/>
          <pc:sldMk cId="2526827721" sldId="404"/>
        </pc:sldMkLst>
      </pc:sldChg>
      <pc:sldChg chg="add del">
        <pc:chgData name="Rich Reba" userId="8245d172-5b81-40f1-a13b-b71f02cd6700" providerId="ADAL" clId="{1963A0E1-75BB-794E-B27D-95B37052EF51}" dt="2024-10-01T14:13:26.705" v="5447"/>
        <pc:sldMkLst>
          <pc:docMk/>
          <pc:sldMk cId="2529815730" sldId="404"/>
        </pc:sldMkLst>
      </pc:sldChg>
      <pc:sldChg chg="add del">
        <pc:chgData name="Rich Reba" userId="8245d172-5b81-40f1-a13b-b71f02cd6700" providerId="ADAL" clId="{1963A0E1-75BB-794E-B27D-95B37052EF51}" dt="2024-10-01T14:19:04.385" v="5621"/>
        <pc:sldMkLst>
          <pc:docMk/>
          <pc:sldMk cId="2683848394" sldId="404"/>
        </pc:sldMkLst>
      </pc:sldChg>
      <pc:sldChg chg="modSp add mod ord">
        <pc:chgData name="Rich Reba" userId="8245d172-5b81-40f1-a13b-b71f02cd6700" providerId="ADAL" clId="{1963A0E1-75BB-794E-B27D-95B37052EF51}" dt="2024-10-01T17:04:50.882" v="5805" actId="20577"/>
        <pc:sldMkLst>
          <pc:docMk/>
          <pc:sldMk cId="3748971185" sldId="404"/>
        </pc:sldMkLst>
      </pc:sldChg>
      <pc:sldChg chg="modSp add mod ord">
        <pc:chgData name="Rich Reba" userId="8245d172-5b81-40f1-a13b-b71f02cd6700" providerId="ADAL" clId="{1963A0E1-75BB-794E-B27D-95B37052EF51}" dt="2024-10-01T17:05:08.264" v="5831" actId="20577"/>
        <pc:sldMkLst>
          <pc:docMk/>
          <pc:sldMk cId="635661509" sldId="405"/>
        </pc:sldMkLst>
      </pc:sldChg>
      <pc:sldChg chg="add del">
        <pc:chgData name="Rich Reba" userId="8245d172-5b81-40f1-a13b-b71f02cd6700" providerId="ADAL" clId="{1963A0E1-75BB-794E-B27D-95B37052EF51}" dt="2024-10-01T14:19:55.966" v="5630"/>
        <pc:sldMkLst>
          <pc:docMk/>
          <pc:sldMk cId="1031241285" sldId="405"/>
        </pc:sldMkLst>
      </pc:sldChg>
      <pc:sldChg chg="add del ord">
        <pc:chgData name="Rich Reba" userId="8245d172-5b81-40f1-a13b-b71f02cd6700" providerId="ADAL" clId="{1963A0E1-75BB-794E-B27D-95B37052EF51}" dt="2024-10-01T14:20:31.581" v="5638"/>
        <pc:sldMkLst>
          <pc:docMk/>
          <pc:sldMk cId="2041395234" sldId="405"/>
        </pc:sldMkLst>
      </pc:sldChg>
      <pc:sldChg chg="add del">
        <pc:chgData name="Rich Reba" userId="8245d172-5b81-40f1-a13b-b71f02cd6700" providerId="ADAL" clId="{1963A0E1-75BB-794E-B27D-95B37052EF51}" dt="2024-10-01T14:20:35.650" v="5640"/>
        <pc:sldMkLst>
          <pc:docMk/>
          <pc:sldMk cId="2067513960" sldId="405"/>
        </pc:sldMkLst>
      </pc:sldChg>
      <pc:sldChg chg="add del">
        <pc:chgData name="Rich Reba" userId="8245d172-5b81-40f1-a13b-b71f02cd6700" providerId="ADAL" clId="{1963A0E1-75BB-794E-B27D-95B37052EF51}" dt="2024-10-01T14:20:14.427" v="5634"/>
        <pc:sldMkLst>
          <pc:docMk/>
          <pc:sldMk cId="4157682503" sldId="405"/>
        </pc:sldMkLst>
      </pc:sldChg>
      <pc:sldChg chg="add del">
        <pc:chgData name="Rich Reba" userId="8245d172-5b81-40f1-a13b-b71f02cd6700" providerId="ADAL" clId="{1963A0E1-75BB-794E-B27D-95B37052EF51}" dt="2024-10-01T14:21:15.912" v="5648"/>
        <pc:sldMkLst>
          <pc:docMk/>
          <pc:sldMk cId="1253368825" sldId="406"/>
        </pc:sldMkLst>
      </pc:sldChg>
      <pc:sldChg chg="add del">
        <pc:chgData name="Rich Reba" userId="8245d172-5b81-40f1-a13b-b71f02cd6700" providerId="ADAL" clId="{1963A0E1-75BB-794E-B27D-95B37052EF51}" dt="2024-10-01T14:20:14.427" v="5634"/>
        <pc:sldMkLst>
          <pc:docMk/>
          <pc:sldMk cId="1545909284" sldId="406"/>
        </pc:sldMkLst>
      </pc:sldChg>
      <pc:sldChg chg="addSp modSp add mod ord">
        <pc:chgData name="Rich Reba" userId="8245d172-5b81-40f1-a13b-b71f02cd6700" providerId="ADAL" clId="{1963A0E1-75BB-794E-B27D-95B37052EF51}" dt="2024-10-01T17:05:15.525" v="5844" actId="20577"/>
        <pc:sldMkLst>
          <pc:docMk/>
          <pc:sldMk cId="2348277429" sldId="406"/>
        </pc:sldMkLst>
      </pc:sldChg>
      <pc:sldChg chg="add del">
        <pc:chgData name="Rich Reba" userId="8245d172-5b81-40f1-a13b-b71f02cd6700" providerId="ADAL" clId="{1963A0E1-75BB-794E-B27D-95B37052EF51}" dt="2024-10-01T14:19:55.966" v="5630"/>
        <pc:sldMkLst>
          <pc:docMk/>
          <pc:sldMk cId="2465269550" sldId="406"/>
        </pc:sldMkLst>
      </pc:sldChg>
      <pc:sldChg chg="add del">
        <pc:chgData name="Rich Reba" userId="8245d172-5b81-40f1-a13b-b71f02cd6700" providerId="ADAL" clId="{1963A0E1-75BB-794E-B27D-95B37052EF51}" dt="2024-10-01T14:20:14.427" v="5634"/>
        <pc:sldMkLst>
          <pc:docMk/>
          <pc:sldMk cId="129113929" sldId="407"/>
        </pc:sldMkLst>
      </pc:sldChg>
      <pc:sldChg chg="add del">
        <pc:chgData name="Rich Reba" userId="8245d172-5b81-40f1-a13b-b71f02cd6700" providerId="ADAL" clId="{1963A0E1-75BB-794E-B27D-95B37052EF51}" dt="2024-10-01T14:22:13.375" v="5662"/>
        <pc:sldMkLst>
          <pc:docMk/>
          <pc:sldMk cId="1405837596" sldId="407"/>
        </pc:sldMkLst>
      </pc:sldChg>
      <pc:sldChg chg="modSp add mod ord">
        <pc:chgData name="Rich Reba" userId="8245d172-5b81-40f1-a13b-b71f02cd6700" providerId="ADAL" clId="{1963A0E1-75BB-794E-B27D-95B37052EF51}" dt="2024-10-01T17:05:38.442" v="5881" actId="108"/>
        <pc:sldMkLst>
          <pc:docMk/>
          <pc:sldMk cId="1990316212" sldId="407"/>
        </pc:sldMkLst>
      </pc:sldChg>
      <pc:sldChg chg="add del">
        <pc:chgData name="Rich Reba" userId="8245d172-5b81-40f1-a13b-b71f02cd6700" providerId="ADAL" clId="{1963A0E1-75BB-794E-B27D-95B37052EF51}" dt="2024-10-01T14:19:55.966" v="5630"/>
        <pc:sldMkLst>
          <pc:docMk/>
          <pc:sldMk cId="2088139387" sldId="407"/>
        </pc:sldMkLst>
      </pc:sldChg>
      <pc:sldChg chg="add del">
        <pc:chgData name="Rich Reba" userId="8245d172-5b81-40f1-a13b-b71f02cd6700" providerId="ADAL" clId="{1963A0E1-75BB-794E-B27D-95B37052EF51}" dt="2024-10-01T17:06:09.596" v="5888"/>
        <pc:sldMkLst>
          <pc:docMk/>
          <pc:sldMk cId="432483071" sldId="408"/>
        </pc:sldMkLst>
      </pc:sldChg>
      <pc:sldChg chg="modSp add mod">
        <pc:chgData name="Rich Reba" userId="8245d172-5b81-40f1-a13b-b71f02cd6700" providerId="ADAL" clId="{1963A0E1-75BB-794E-B27D-95B37052EF51}" dt="2024-10-01T17:06:35.668" v="5894" actId="108"/>
        <pc:sldMkLst>
          <pc:docMk/>
          <pc:sldMk cId="1127022654" sldId="408"/>
        </pc:sldMkLst>
      </pc:sldChg>
      <pc:sldChg chg="add del">
        <pc:chgData name="Rich Reba" userId="8245d172-5b81-40f1-a13b-b71f02cd6700" providerId="ADAL" clId="{1963A0E1-75BB-794E-B27D-95B37052EF51}" dt="2024-10-01T14:19:55.966" v="5630"/>
        <pc:sldMkLst>
          <pc:docMk/>
          <pc:sldMk cId="1507390952" sldId="408"/>
        </pc:sldMkLst>
      </pc:sldChg>
      <pc:sldChg chg="add del">
        <pc:chgData name="Rich Reba" userId="8245d172-5b81-40f1-a13b-b71f02cd6700" providerId="ADAL" clId="{1963A0E1-75BB-794E-B27D-95B37052EF51}" dt="2024-10-01T14:20:14.427" v="5634"/>
        <pc:sldMkLst>
          <pc:docMk/>
          <pc:sldMk cId="1697235364" sldId="408"/>
        </pc:sldMkLst>
      </pc:sldChg>
      <pc:sldChg chg="new del">
        <pc:chgData name="Rich Reba" userId="8245d172-5b81-40f1-a13b-b71f02cd6700" providerId="ADAL" clId="{1963A0E1-75BB-794E-B27D-95B37052EF51}" dt="2024-10-01T17:05:59.382" v="5885" actId="2696"/>
        <pc:sldMkLst>
          <pc:docMk/>
          <pc:sldMk cId="2551442123" sldId="408"/>
        </pc:sldMkLst>
      </pc:sldChg>
      <pc:sldChg chg="modSp add mod">
        <pc:chgData name="Rich Reba" userId="8245d172-5b81-40f1-a13b-b71f02cd6700" providerId="ADAL" clId="{1963A0E1-75BB-794E-B27D-95B37052EF51}" dt="2024-10-09T16:00:01.105" v="12357" actId="20577"/>
        <pc:sldMkLst>
          <pc:docMk/>
          <pc:sldMk cId="401125609" sldId="409"/>
        </pc:sldMkLst>
      </pc:sldChg>
      <pc:sldChg chg="add del">
        <pc:chgData name="Rich Reba" userId="8245d172-5b81-40f1-a13b-b71f02cd6700" providerId="ADAL" clId="{1963A0E1-75BB-794E-B27D-95B37052EF51}" dt="2024-10-01T17:06:56.576" v="5896"/>
        <pc:sldMkLst>
          <pc:docMk/>
          <pc:sldMk cId="1568509553" sldId="409"/>
        </pc:sldMkLst>
      </pc:sldChg>
      <pc:sldChg chg="addSp delSp modSp add del mod ord">
        <pc:chgData name="Rich Reba" userId="8245d172-5b81-40f1-a13b-b71f02cd6700" providerId="ADAL" clId="{1963A0E1-75BB-794E-B27D-95B37052EF51}" dt="2024-10-07T09:59:21.118" v="7186" actId="2696"/>
        <pc:sldMkLst>
          <pc:docMk/>
          <pc:sldMk cId="2618599013" sldId="410"/>
        </pc:sldMkLst>
      </pc:sldChg>
      <pc:sldChg chg="add del">
        <pc:chgData name="Rich Reba" userId="8245d172-5b81-40f1-a13b-b71f02cd6700" providerId="ADAL" clId="{1963A0E1-75BB-794E-B27D-95B37052EF51}" dt="2024-10-07T10:29:21.736" v="7800" actId="2696"/>
        <pc:sldMkLst>
          <pc:docMk/>
          <pc:sldMk cId="4084429210" sldId="411"/>
        </pc:sldMkLst>
      </pc:sldChg>
      <pc:sldChg chg="addSp modSp add mod ord">
        <pc:chgData name="Rich Reba" userId="8245d172-5b81-40f1-a13b-b71f02cd6700" providerId="ADAL" clId="{1963A0E1-75BB-794E-B27D-95B37052EF51}" dt="2024-10-07T17:05:46.642" v="11730" actId="20577"/>
        <pc:sldMkLst>
          <pc:docMk/>
          <pc:sldMk cId="4221448727" sldId="412"/>
        </pc:sldMkLst>
      </pc:sldChg>
      <pc:sldChg chg="delSp modSp add del mod">
        <pc:chgData name="Rich Reba" userId="8245d172-5b81-40f1-a13b-b71f02cd6700" providerId="ADAL" clId="{1963A0E1-75BB-794E-B27D-95B37052EF51}" dt="2024-10-07T10:22:50.149" v="7766" actId="2696"/>
        <pc:sldMkLst>
          <pc:docMk/>
          <pc:sldMk cId="3608021154" sldId="413"/>
        </pc:sldMkLst>
      </pc:sldChg>
      <pc:sldChg chg="modSp add mod">
        <pc:chgData name="Rich Reba" userId="8245d172-5b81-40f1-a13b-b71f02cd6700" providerId="ADAL" clId="{1963A0E1-75BB-794E-B27D-95B37052EF51}" dt="2024-10-07T21:05:29.288" v="11751" actId="20577"/>
        <pc:sldMkLst>
          <pc:docMk/>
          <pc:sldMk cId="2432848383" sldId="414"/>
        </pc:sldMkLst>
      </pc:sldChg>
      <pc:sldChg chg="addSp delSp modSp add mod ord">
        <pc:chgData name="Rich Reba" userId="8245d172-5b81-40f1-a13b-b71f02cd6700" providerId="ADAL" clId="{1963A0E1-75BB-794E-B27D-95B37052EF51}" dt="2024-10-07T19:39:32.119" v="11731" actId="20578"/>
        <pc:sldMkLst>
          <pc:docMk/>
          <pc:sldMk cId="778364000" sldId="415"/>
        </pc:sldMkLst>
      </pc:sldChg>
      <pc:sldChg chg="addSp modSp add mod ord">
        <pc:chgData name="Rich Reba" userId="8245d172-5b81-40f1-a13b-b71f02cd6700" providerId="ADAL" clId="{1963A0E1-75BB-794E-B27D-95B37052EF51}" dt="2024-10-07T20:58:12.191" v="11740" actId="20577"/>
        <pc:sldMkLst>
          <pc:docMk/>
          <pc:sldMk cId="2033129414" sldId="416"/>
        </pc:sldMkLst>
      </pc:sldChg>
      <pc:sldChg chg="delSp modSp add del mod">
        <pc:chgData name="Rich Reba" userId="8245d172-5b81-40f1-a13b-b71f02cd6700" providerId="ADAL" clId="{1963A0E1-75BB-794E-B27D-95B37052EF51}" dt="2024-10-07T14:18:11.578" v="11064" actId="2696"/>
        <pc:sldMkLst>
          <pc:docMk/>
          <pc:sldMk cId="2209715447" sldId="416"/>
        </pc:sldMkLst>
      </pc:sldChg>
      <pc:sldChg chg="addSp delSp modSp add mod">
        <pc:chgData name="Rich Reba" userId="8245d172-5b81-40f1-a13b-b71f02cd6700" providerId="ADAL" clId="{1963A0E1-75BB-794E-B27D-95B37052EF51}" dt="2024-10-09T15:54:45.388" v="12257" actId="12"/>
        <pc:sldMkLst>
          <pc:docMk/>
          <pc:sldMk cId="311973841" sldId="417"/>
        </pc:sldMkLst>
      </pc:sldChg>
      <pc:sldChg chg="modSp add mod">
        <pc:chgData name="Rich Reba" userId="8245d172-5b81-40f1-a13b-b71f02cd6700" providerId="ADAL" clId="{1963A0E1-75BB-794E-B27D-95B37052EF51}" dt="2024-10-20T16:18:26.240" v="12752" actId="14734"/>
        <pc:sldMkLst>
          <pc:docMk/>
          <pc:sldMk cId="4015092339" sldId="418"/>
        </pc:sldMkLst>
      </pc:sldChg>
      <pc:sldChg chg="modSp add mod">
        <pc:chgData name="Rich Reba" userId="8245d172-5b81-40f1-a13b-b71f02cd6700" providerId="ADAL" clId="{1963A0E1-75BB-794E-B27D-95B37052EF51}" dt="2024-10-20T16:18:12.229" v="12751" actId="14734"/>
        <pc:sldMkLst>
          <pc:docMk/>
          <pc:sldMk cId="3381750306" sldId="419"/>
        </pc:sldMkLst>
      </pc:sldChg>
      <pc:sldChg chg="modSp add mod">
        <pc:chgData name="Rich Reba" userId="8245d172-5b81-40f1-a13b-b71f02cd6700" providerId="ADAL" clId="{1963A0E1-75BB-794E-B27D-95B37052EF51}" dt="2024-10-20T16:17:37.434" v="12744" actId="20577"/>
        <pc:sldMkLst>
          <pc:docMk/>
          <pc:sldMk cId="4209041106" sldId="420"/>
        </pc:sldMkLst>
      </pc:sldChg>
      <pc:sldChg chg="addSp modSp add del mod">
        <pc:chgData name="Rich Reba" userId="8245d172-5b81-40f1-a13b-b71f02cd6700" providerId="ADAL" clId="{1963A0E1-75BB-794E-B27D-95B37052EF51}" dt="2024-10-20T17:04:06.496" v="12944" actId="20577"/>
        <pc:sldMkLst>
          <pc:docMk/>
          <pc:sldMk cId="3765181648" sldId="421"/>
        </pc:sldMkLst>
      </pc:sldChg>
    </pc:docChg>
  </pc:docChgLst>
  <pc:docChgLst>
    <pc:chgData name="Rich Reba" userId="8245d172-5b81-40f1-a13b-b71f02cd6700" providerId="ADAL" clId="{7296F197-4178-8F4B-9E80-AA256D5E7DFB}"/>
    <pc:docChg chg="undo custSel modSld">
      <pc:chgData name="Rich Reba" userId="8245d172-5b81-40f1-a13b-b71f02cd6700" providerId="ADAL" clId="{7296F197-4178-8F4B-9E80-AA256D5E7DFB}" dt="2025-02-16T21:27:16.806" v="4" actId="20577"/>
      <pc:docMkLst>
        <pc:docMk/>
      </pc:docMkLst>
      <pc:sldChg chg="modSp mod">
        <pc:chgData name="Rich Reba" userId="8245d172-5b81-40f1-a13b-b71f02cd6700" providerId="ADAL" clId="{7296F197-4178-8F4B-9E80-AA256D5E7DFB}" dt="2025-02-16T21:27:16.806" v="4" actId="20577"/>
        <pc:sldMkLst>
          <pc:docMk/>
          <pc:sldMk cId="4221448727" sldId="412"/>
        </pc:sldMkLst>
        <pc:graphicFrameChg chg="modGraphic">
          <ac:chgData name="Rich Reba" userId="8245d172-5b81-40f1-a13b-b71f02cd6700" providerId="ADAL" clId="{7296F197-4178-8F4B-9E80-AA256D5E7DFB}" dt="2025-02-16T21:27:16.806" v="4" actId="20577"/>
          <ac:graphicFrameMkLst>
            <pc:docMk/>
            <pc:sldMk cId="4221448727" sldId="412"/>
            <ac:graphicFrameMk id="5" creationId="{869E2DC4-1E2C-B560-DF6A-BC25EE02590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EEAF72C-AE74-0F00-C29C-57990C90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21FAF84-457C-37A0-C9BA-B8D06D28A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DB586ED-56BF-00D2-7FB4-4F2E42194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2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41112D23-4AAC-3A75-5D96-B2ADC6B57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AC070A3-6067-E778-8B4A-EFC2F1AA8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BA8121-FE6D-FBA1-9CDD-269B72FD49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3315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B4E25-58E8-C718-BA6F-1901E422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D14C76FB-9A7E-4173-AE87-AF6D2152E5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9F19230E-CE2A-DF82-0359-13AEC697B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47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63966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4E60D69-CB0B-2EC8-736B-608ED2AF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6BFADA1-3D29-C401-6E52-6B760BF7C8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EAB38DF-0D08-D5EB-6E1E-01C62A754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49780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4285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866C630-D6ED-60DE-3B1D-EE34247B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4FD2ECB6-E207-5A53-8F43-20BCE094C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00F9D74-87FC-55E0-6E64-D48D3EA13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828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93634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Such as what?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9796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383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67AEAB-65AA-1A15-D83F-4D9F3A58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B497584-7621-165E-C683-33A2DFB0C9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81DF046-C68C-DB2A-F622-BD330C28E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3933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67AEAB-65AA-1A15-D83F-4D9F3A58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B497584-7621-165E-C683-33A2DFB0C9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C81DF046-C68C-DB2A-F622-BD330C28E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43856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47CDF71-034D-0406-BECE-512C13F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E0643EC1-10B7-D77D-047E-3E2758E6D7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90FD0EF-5CFE-9050-12E5-9E0F6BD03F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9530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7790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02412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D38E6667-9EA0-B46F-EA34-7E1E3D5B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EBA55BE-F27A-D6B2-D742-B94A1F9022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4840E0C-4CF2-21DC-1C04-F7CFEEBEA6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86923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1904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D54CAC3E-2D7E-53CE-B17E-1BE5BE96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4D269E9A-AD3F-2561-5F14-CD869530E4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49205300-C968-9448-BD15-9EC782A033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948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2F5C556-55B8-E0E6-F161-D65206EF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D20EB983-F39F-21C4-CFC2-71E5BDEA05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E164D73-BBDD-33F4-8D41-9B2A1319D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71515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2FB6541-D063-53B5-8C82-04241734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0E71D39-E271-BD80-EA92-8FA48E9DDC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28EC1A7-EB58-05B3-ADAC-CF4ED0B018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45758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2FDB2AF3-4D07-C802-D2DA-BA11FAC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CC90531-669B-6E06-520D-9798EF2742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F0A7277-3C2C-D4A5-A495-21497A80F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085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ADA9A9D-DA8D-313E-C7EA-81FB3C428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468FF3B-14A1-97BE-C84B-CF4C6BD7DB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CC176F6-A71A-8290-07C5-A247D3700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00156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AE57F0E-2757-CEC5-182C-94AAF17C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B4E8767C-EBFD-F952-F90F-B106D09B8A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0F502AFF-730B-1510-79FE-845A8F09E5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45386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E2389B-20BC-28BE-17DD-C7442B7B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901D355-D9B0-4941-6DE8-D42A33FD2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A26A731-D905-CACD-CC70-0AAAFAC15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047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9789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770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F95B-E730-E845-77AC-B7A0005315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82D464-90D8-07E2-6611-6A144C174F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F3F72-1851-3E3D-5506-464419AE5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B1290-ECBA-CC1E-CE23-DEDDEE7C4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22DA6-2593-5372-700A-31F656298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102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959DD-F64B-C422-D4CB-484ED1CC6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59D2D-D6CE-7825-4AE5-3181E7DD3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E29F-6576-C229-582B-81EBCFF4B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1F9C2-3467-36FD-099C-601DF6708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4BA15-4BB3-91D6-A6C5-9510ACE1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6390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179C0-A6AF-92AD-9EB6-211BCCAA3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63D69-47F0-3A90-7300-6A205B0C5B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E61A8-4055-F5D1-2A05-E38F4E62E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B26B8-62E0-E3A1-5D6E-2174C403B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A6194-9AD2-A7B8-517A-3E3A6FC3D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327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E037A-88B7-C9D6-B9BB-EB47ACDC6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6E637-562D-83B8-6C66-7C1A66F142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8E7022-C66C-849D-3F00-1F65F096E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504E1-770F-470C-F815-AB84092C9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E6DD1D-653C-8AB1-3855-FE6798EDF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3E38FE-3CD5-8976-68AA-7F634EF1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0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682C1-B36F-9FF9-E21B-0FF4EBC1B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DB958-3B3B-1610-1D2A-DF50A49D5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5660-ECFA-20EC-505F-4A8E41171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A61DAE-330C-6A49-964D-ED55686723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841A18-9382-6925-981F-509DA1903E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DD0802-B23B-767F-B467-7CD743EEF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392A63-C243-A21F-8196-8D0B7579E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CFD71E-1B64-5E5E-1AC6-3CC167FA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62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445F1-21D7-FFC1-5FB0-5CCD6442B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06242C-DF10-E4DC-E40A-8C75C0246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EBD5-B666-CAD2-4EC6-5F4AAA16C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BE3396-2820-1FDB-444F-82A6E5368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486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6420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22B5A-0B47-316F-90A4-4D3F350AF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521FA-F677-2893-3D85-8A379E220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91119F-264C-24C9-2993-358B3EF30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D3BDF6-CD4D-C4C9-42D7-898EDA149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395DF-ECA0-AA61-083A-EF7B30B0E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6A5794-E0A3-E2E4-C35D-99082A854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370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DE36D-F427-18CE-7914-A37DE4256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88A708-22C5-582E-25B4-1A3F318027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22ADC3-BEE7-C7DF-450E-CF9AA99663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66D3E-08A6-E1BA-E4DC-993571C28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CC77F5-2D29-A8BF-BF45-C3D6A305F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D2EBC7-BC3E-6086-A82B-BF01D4FA6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099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4F60D-F042-8D8E-8497-8CFBBCFEB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01D3E-32F7-6682-0E8B-3958102BA6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9F2A9-77CF-052F-D46D-B42C09A77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9F5EE-3FCD-595B-975D-5F32722D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BDFD0-6454-FE07-31EE-3686C7BDA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4563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D79422-A041-8439-1287-6DB0410C9F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10FC51-D45D-9C16-061B-F1B5E8CBF8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E5497-122D-299C-6509-91683694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D5437-6DEC-7A73-CAFA-3A897B0F0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9FB7C-20A9-BA59-B489-05173F003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681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606479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9892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749189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84470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91937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2496090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35791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20319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127704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11278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73" r:id="rId9"/>
    <p:sldLayoutId id="2147483685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10FBF6-3A20-7D5A-4EF5-84E9B3F1B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50AC5F-B73D-AC41-1A1A-5F709083B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EEF46E-C4BC-DE87-F29F-ED0AFADC29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C09AF2-51A2-8243-A29F-680495D2BD2C}" type="datetimeFigureOut">
              <a:rPr lang="en-US" smtClean="0"/>
              <a:t>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388863-D706-B0AC-E093-4DD50FF888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5B083-583A-2AD6-9009-6C3CD5A5CB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524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817226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log.ucsusa.org/doug-boucher/world-population-growth-exponential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rreba3/accelerate-exponential-success-with-the-accelrr8-framework-3ee5c429bc29" TargetMode="External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1765804/pdf/v013p0ii22.pdf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Strategy for </a:t>
            </a: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October 20, 2024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5FACCA81-B362-8D11-103C-37960FC92AA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67E1595-C197-576A-DAAB-BFE945B8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592DD1-87F5-D132-4E6D-9E6BD39D8684}"/>
              </a:ext>
            </a:extLst>
          </p:cNvPr>
          <p:cNvSpPr/>
          <p:nvPr/>
        </p:nvSpPr>
        <p:spPr>
          <a:xfrm>
            <a:off x="3230880" y="24384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CF20C096-BD53-FF2F-53DB-B3BD1758A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7B5B63BC-3120-923D-5436-DA830F4D5D8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337B15-7E23-2EDE-6CF5-D3B89F80D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Ambition and Opportunity</a:t>
            </a:r>
          </a:p>
          <a:p>
            <a:r>
              <a:rPr lang="en-US" dirty="0"/>
              <a:t>Our Center of Gravity</a:t>
            </a:r>
          </a:p>
          <a:p>
            <a:r>
              <a:rPr lang="en-US" dirty="0"/>
              <a:t>Scope of Our Services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Timeline</a:t>
            </a:r>
          </a:p>
          <a:p>
            <a:r>
              <a:rPr lang="en-US" dirty="0"/>
              <a:t>2025 Roadmap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759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72416014-568A-72C2-C240-36838970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A8F98-08DF-7CA8-6A85-AC04093DD1F0}"/>
              </a:ext>
            </a:extLst>
          </p:cNvPr>
          <p:cNvSpPr/>
          <p:nvPr/>
        </p:nvSpPr>
        <p:spPr>
          <a:xfrm>
            <a:off x="2535936" y="5298059"/>
            <a:ext cx="8936736" cy="383413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AE178B-DC1C-4AD4-89C7-BC401FC83DCD}"/>
              </a:ext>
            </a:extLst>
          </p:cNvPr>
          <p:cNvSpPr/>
          <p:nvPr/>
        </p:nvSpPr>
        <p:spPr>
          <a:xfrm>
            <a:off x="2535936" y="3429000"/>
            <a:ext cx="8936736" cy="52120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9CBDAAF-1E67-42CE-4285-599A4F8F5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Intent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9E2DC4-1E2C-B560-DF6A-BC25EE0259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87069"/>
              </p:ext>
            </p:extLst>
          </p:nvPr>
        </p:nvGraphicFramePr>
        <p:xfrm>
          <a:off x="493830" y="1788224"/>
          <a:ext cx="10978842" cy="401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4239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64603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2284063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Question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Humanity is underserved by the Tech Services industry because few providers are growing value exponentially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Tech Services industry generates $1T+ revenue annually and serves all major industries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few hyper-scalers, who grow value exponentially, are disrupting masses of traditional providers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Our founders have influenced change and grown value exponentially in the Tech Services Industry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Tech Services leaders in the US and other countries also want to grow value exponentially  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How can we scale our experience, knowledge, and influence to help the Tech Services industry, and thus humanity (including ourselves and our families), as much as we can?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731105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Idea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intend to help the Tech Services industry help humanity by continuously: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Cultivating a network of enterprising Tech Services leaders who want to grow value exponentially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Curating a living Body of Knowledge that captures our collective learnings about how to do this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Innovating across the network to advance the state of the art in growing value exponentially</a:t>
                      </a:r>
                    </a:p>
                    <a:p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will create, operate, and scale a 501(c)3 non-profit organization to carry out our intent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9B5EBED0-2DE7-7CD5-9F31-0BA4D2AE325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1448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collaborators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4B602561-35D8-AF27-76E9-EB18F18FC08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4695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A13E193B-6E0D-5D99-121F-D57275F9B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9D65519-1E22-36D7-519E-73DFD7ED0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Realizing Our Ambition</a:t>
            </a:r>
            <a:br>
              <a:rPr lang="en-US" dirty="0"/>
            </a:br>
            <a:r>
              <a:rPr lang="en-US" sz="2400" i="1" dirty="0"/>
              <a:t>Exponential improvements in Tech Services that help humanity</a:t>
            </a:r>
            <a:endParaRPr i="1" dirty="0"/>
          </a:p>
        </p:txBody>
      </p:sp>
      <p:pic>
        <p:nvPicPr>
          <p:cNvPr id="122" name="Google Shape;122;p5">
            <a:extLst>
              <a:ext uri="{FF2B5EF4-FFF2-40B4-BE49-F238E27FC236}">
                <a16:creationId xmlns:a16="http://schemas.microsoft.com/office/drawing/2014/main" id="{8AF8EFB8-4A47-E0B4-86BD-D8E4E7CE45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838199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>
            <a:extLst>
              <a:ext uri="{FF2B5EF4-FFF2-40B4-BE49-F238E27FC236}">
                <a16:creationId xmlns:a16="http://schemas.microsoft.com/office/drawing/2014/main" id="{415B24BC-64E1-1433-DCA5-9BDC0A174B64}"/>
              </a:ext>
            </a:extLst>
          </p:cNvPr>
          <p:cNvCxnSpPr/>
          <p:nvPr/>
        </p:nvCxnSpPr>
        <p:spPr>
          <a:xfrm>
            <a:off x="4186166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>
            <a:extLst>
              <a:ext uri="{FF2B5EF4-FFF2-40B4-BE49-F238E27FC236}">
                <a16:creationId xmlns:a16="http://schemas.microsoft.com/office/drawing/2014/main" id="{FAC84FB7-4F94-C6CA-9590-AC6D3B846A65}"/>
              </a:ext>
            </a:extLst>
          </p:cNvPr>
          <p:cNvCxnSpPr/>
          <p:nvPr/>
        </p:nvCxnSpPr>
        <p:spPr>
          <a:xfrm>
            <a:off x="7901059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>
            <a:extLst>
              <a:ext uri="{FF2B5EF4-FFF2-40B4-BE49-F238E27FC236}">
                <a16:creationId xmlns:a16="http://schemas.microsoft.com/office/drawing/2014/main" id="{EADA4391-F1A1-94B2-68E2-D3625B2989AA}"/>
              </a:ext>
            </a:extLst>
          </p:cNvPr>
          <p:cNvSpPr txBox="1"/>
          <p:nvPr/>
        </p:nvSpPr>
        <p:spPr>
          <a:xfrm>
            <a:off x="816934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Start Small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with Early Adopters</a:t>
            </a:r>
            <a:endParaRPr sz="1200"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159C0EA-2B86-B2BA-FE70-5EF658E93BD1}"/>
              </a:ext>
            </a:extLst>
          </p:cNvPr>
          <p:cNvSpPr txBox="1"/>
          <p:nvPr/>
        </p:nvSpPr>
        <p:spPr>
          <a:xfrm>
            <a:off x="4058567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Scale Rapidly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the Chasm</a:t>
            </a:r>
            <a:endParaRPr sz="1200" dirty="0"/>
          </a:p>
        </p:txBody>
      </p:sp>
      <p:sp>
        <p:nvSpPr>
          <p:cNvPr id="127" name="Google Shape;127;p5">
            <a:extLst>
              <a:ext uri="{FF2B5EF4-FFF2-40B4-BE49-F238E27FC236}">
                <a16:creationId xmlns:a16="http://schemas.microsoft.com/office/drawing/2014/main" id="{45152FE4-0DCF-110E-FC59-4D257CC45985}"/>
              </a:ext>
            </a:extLst>
          </p:cNvPr>
          <p:cNvSpPr txBox="1"/>
          <p:nvPr/>
        </p:nvSpPr>
        <p:spPr>
          <a:xfrm>
            <a:off x="7932954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Big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with Mainstream Adoption</a:t>
            </a:r>
            <a:endParaRPr sz="1200" dirty="0"/>
          </a:p>
        </p:txBody>
      </p:sp>
      <p:sp>
        <p:nvSpPr>
          <p:cNvPr id="128" name="Google Shape;128;p5">
            <a:extLst>
              <a:ext uri="{FF2B5EF4-FFF2-40B4-BE49-F238E27FC236}">
                <a16:creationId xmlns:a16="http://schemas.microsoft.com/office/drawing/2014/main" id="{1A94D9F5-8DEF-66F6-92BC-83D2817CA9D4}"/>
              </a:ext>
            </a:extLst>
          </p:cNvPr>
          <p:cNvSpPr txBox="1"/>
          <p:nvPr/>
        </p:nvSpPr>
        <p:spPr>
          <a:xfrm>
            <a:off x="944805" y="2812327"/>
            <a:ext cx="3241634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2020s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executing our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3-Horizon Strategy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Orienting and Learning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about the Services needed</a:t>
            </a:r>
          </a:p>
        </p:txBody>
      </p:sp>
      <p:sp>
        <p:nvSpPr>
          <p:cNvPr id="129" name="Google Shape;129;p5">
            <a:extLst>
              <a:ext uri="{FF2B5EF4-FFF2-40B4-BE49-F238E27FC236}">
                <a16:creationId xmlns:a16="http://schemas.microsoft.com/office/drawing/2014/main" id="{2BD8D817-B322-4050-3B78-636C174749BA}"/>
              </a:ext>
            </a:extLst>
          </p:cNvPr>
          <p:cNvSpPr txBox="1"/>
          <p:nvPr/>
        </p:nvSpPr>
        <p:spPr>
          <a:xfrm>
            <a:off x="4272654" y="2812327"/>
            <a:ext cx="410193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2030s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hit an inflection point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after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which growth will be self-sustaining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Scale 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our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Learnings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our Services Portfolio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>
            <a:extLst>
              <a:ext uri="{FF2B5EF4-FFF2-40B4-BE49-F238E27FC236}">
                <a16:creationId xmlns:a16="http://schemas.microsoft.com/office/drawing/2014/main" id="{C0D6B3E7-3170-A4BC-816A-9B68BE5BAEC4}"/>
              </a:ext>
            </a:extLst>
          </p:cNvPr>
          <p:cNvSpPr txBox="1"/>
          <p:nvPr/>
        </p:nvSpPr>
        <p:spPr>
          <a:xfrm>
            <a:off x="7965732" y="2812327"/>
            <a:ext cx="3650218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2040s+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materially improve Tech Services and help humanity</a:t>
            </a:r>
          </a:p>
          <a:p>
            <a:pPr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Excel at providing sophisticated Services at scale</a:t>
            </a:r>
          </a:p>
        </p:txBody>
      </p:sp>
      <p:sp>
        <p:nvSpPr>
          <p:cNvPr id="6" name="Google Shape;9;p8">
            <a:extLst>
              <a:ext uri="{FF2B5EF4-FFF2-40B4-BE49-F238E27FC236}">
                <a16:creationId xmlns:a16="http://schemas.microsoft.com/office/drawing/2014/main" id="{F32EC156-DB74-96C9-E919-C7166865293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03579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pic>
        <p:nvPicPr>
          <p:cNvPr id="3" name="Picture 2" descr="A diagram of a diagram&#10;&#10;Description automatically generated">
            <a:extLst>
              <a:ext uri="{FF2B5EF4-FFF2-40B4-BE49-F238E27FC236}">
                <a16:creationId xmlns:a16="http://schemas.microsoft.com/office/drawing/2014/main" id="{93D42F8D-BC5D-5885-D482-89EB604BB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6225" y="5173937"/>
            <a:ext cx="1187204" cy="1143000"/>
          </a:xfrm>
          <a:prstGeom prst="rect">
            <a:avLst/>
          </a:prstGeom>
        </p:spPr>
      </p:pic>
      <p:pic>
        <p:nvPicPr>
          <p:cNvPr id="5" name="Picture 4" descr="A diagram of a product management&#10;&#10;Description automatically generated">
            <a:extLst>
              <a:ext uri="{FF2B5EF4-FFF2-40B4-BE49-F238E27FC236}">
                <a16:creationId xmlns:a16="http://schemas.microsoft.com/office/drawing/2014/main" id="{28FCE3E0-8FD1-DD67-020C-49656E2D0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802" y="5173937"/>
            <a:ext cx="1130370" cy="114300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8934617-902B-81C6-1DE1-23284E481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666" y="5184862"/>
            <a:ext cx="1181100" cy="1143000"/>
          </a:xfrm>
          <a:prstGeom prst="rect">
            <a:avLst/>
          </a:prstGeom>
        </p:spPr>
      </p:pic>
      <p:pic>
        <p:nvPicPr>
          <p:cNvPr id="10" name="Picture 9" descr="A diagram of a diagram&#10;&#10;Description automatically generated">
            <a:extLst>
              <a:ext uri="{FF2B5EF4-FFF2-40B4-BE49-F238E27FC236}">
                <a16:creationId xmlns:a16="http://schemas.microsoft.com/office/drawing/2014/main" id="{E5FC8BFD-6480-5B6F-B3CC-9E12E57BE3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746" y="5173937"/>
            <a:ext cx="12128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2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Opportunity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106183"/>
              </p:ext>
            </p:extLst>
          </p:nvPr>
        </p:nvGraphicFramePr>
        <p:xfrm>
          <a:off x="558628" y="1548384"/>
          <a:ext cx="11074744" cy="47458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08610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464472">
                  <a:extLst>
                    <a:ext uri="{9D8B030D-6E8A-4147-A177-3AD203B41FA5}">
                      <a16:colId xmlns:a16="http://schemas.microsoft.com/office/drawing/2014/main" val="3883086084"/>
                    </a:ext>
                  </a:extLst>
                </a:gridCol>
              </a:tblGrid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Real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How big is the market?   </a:t>
                      </a:r>
                      <a:r>
                        <a:rPr lang="en-US" sz="1000" b="0" dirty="0"/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The Tech Services industry generates $1T+ annual revenue and serves all major industries globally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customer problem to be solved?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Hyper-scalers who harness exponential accelerators are disrupting traditional Tech Services providers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044228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need out there?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To survive and thrive, traditional Tech Services providers must also learn to harness exponential accelerators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114890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Is there a dissatisfactory state-of-affairs?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Tech Services leaders lack the resources to help traditional providers harness proven accelerators to grow exponential value at scale quickly – THUS the Tech Services industry isn’t benefiting humanity at its potential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664793"/>
                  </a:ext>
                </a:extLst>
              </a:tr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Can we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Win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Capabilities and competencies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experience helping providers grow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Assets, IP, and tech breakthroughs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The AccelRR8 Framework and associated AccelRR8 Body of Knowledge helps enterprising leaders harness proven accelerators to grow value exponentially at scale quickly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62785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Resources and relationships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relationships with many influencers who created and/or led organizations that have had a material impact on technology and other industries worldwide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3929978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sets the org apart from competitors?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Rather than trying to boil the ocean, the Consortium is focused on helping Tech Services leaders harness 5 proven accelerators which are mathematically capable of growing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8847"/>
                  </a:ext>
                </a:extLst>
              </a:tr>
              <a:tr h="414071">
                <a:tc rowSpan="5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Worth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 it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Do the unit economics work?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As a non-profit, the goal isn’t income generation for the Consortium itself.  Since the Consortium intends to remain asset-light, income is needed to cover the cost of collaboration platforms, innovation, and marketing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Can the org make money?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can accept charitable donations but cannot share profits (dividends or owner’s draws). Donations will increase as Tech Services leaders use Consortium services to grow value exponentially at scale.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248077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revenue model?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offer paid subscriptions and solicit grants from patron organizations to enhance the AccelRR8 Body of Knowledge, and collect fees in exchange for future premium non-profit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330151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How is the org going to monetize?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As Tech Services leaders make use of the Consortium’s services, they will begin growing value exponentially at scale, which will generate exponential demand for Consortium services in a virtuous cycle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59527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financial math behind the product opportunity?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make and spend very little money unless and until a critical mass of Tech Services leaders urgently believe they need to learn how to harness exponential accelerators – then financials will hockey stick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17123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FAEC2788-BD9D-9EED-BC5E-1AED8264C6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6733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F9408921-7A66-B048-FCCE-79E70E1A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88346C-64E6-5130-171F-82AB0956539C}"/>
              </a:ext>
            </a:extLst>
          </p:cNvPr>
          <p:cNvSpPr/>
          <p:nvPr/>
        </p:nvSpPr>
        <p:spPr>
          <a:xfrm>
            <a:off x="3230880" y="2916936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7FB390A-F79C-82AB-AC0A-DA11723021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256364FD-CD4B-5575-E7D2-EA4F4665E6B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5851A-A86B-94C8-AC0F-62639EF5B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Ambition and Opportunity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Our Center of Gravity</a:t>
            </a:r>
          </a:p>
          <a:p>
            <a:r>
              <a:rPr lang="en-US" dirty="0"/>
              <a:t>Scope of Our Services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Timeline</a:t>
            </a:r>
          </a:p>
          <a:p>
            <a:r>
              <a:rPr lang="en-US" dirty="0"/>
              <a:t>2025 Roadmap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971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Growing Value Exponentially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5738" y="1432244"/>
            <a:ext cx="4785198" cy="527208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4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</a:t>
            </a:r>
            <a:endParaRPr lang="en-US" sz="1600" b="1" dirty="0">
              <a:solidFill>
                <a:srgbClr val="00B05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Growing value exponentially at scale is complex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are only a few mathematically feasible ways to grow value exponentially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Harnessing these proven “value accelerators” at scale has key challenges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challenge can be overcome with proven solutions  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framework can help leaders grasp and harness these complex concepts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simplifies and gives structure to a set of proven methods used to grow value exponentially 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We’ve branded this the AccelRR8 Framework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 is at the heart of the AccelRR8 Body of Knowledge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CAB5B48-B8F8-D8B0-3363-89BF14A47DA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pic>
        <p:nvPicPr>
          <p:cNvPr id="7" name="Picture 2" descr="The World's Population Hasn't Grown Exponentially for at Least Half a  Century - Union of Concerned Scientists">
            <a:extLst>
              <a:ext uri="{FF2B5EF4-FFF2-40B4-BE49-F238E27FC236}">
                <a16:creationId xmlns:a16="http://schemas.microsoft.com/office/drawing/2014/main" id="{7CC71400-846E-6961-078F-1AB102FA76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95" t="12786" r="16346" b="10503"/>
          <a:stretch/>
        </p:blipFill>
        <p:spPr bwMode="auto">
          <a:xfrm>
            <a:off x="922074" y="3429000"/>
            <a:ext cx="3366763" cy="227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80BEE2-9E95-AF59-17B6-C4B0101721B4}"/>
              </a:ext>
            </a:extLst>
          </p:cNvPr>
          <p:cNvSpPr txBox="1"/>
          <p:nvPr/>
        </p:nvSpPr>
        <p:spPr>
          <a:xfrm>
            <a:off x="934266" y="5816875"/>
            <a:ext cx="32308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hlinkClick r:id="rId4"/>
              </a:rPr>
              <a:t>https://blog.ucsusa.org/doug-boucher/world-population-growth-exponential/</a:t>
            </a:r>
            <a:r>
              <a:rPr lang="en-US" sz="7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02DCE-3EEC-365F-FAE7-0FDDE6E595DF}"/>
              </a:ext>
            </a:extLst>
          </p:cNvPr>
          <p:cNvSpPr txBox="1"/>
          <p:nvPr/>
        </p:nvSpPr>
        <p:spPr>
          <a:xfrm>
            <a:off x="3316464" y="3596129"/>
            <a:ext cx="9845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</a:rPr>
              <a:t>Exponential</a:t>
            </a:r>
          </a:p>
          <a:p>
            <a:r>
              <a:rPr lang="en-US" sz="1200" dirty="0">
                <a:solidFill>
                  <a:srgbClr val="00B050"/>
                </a:solidFill>
              </a:rPr>
              <a:t>growth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5CE3CE36-4336-9626-6DBA-102ABC9B47EE}"/>
              </a:ext>
            </a:extLst>
          </p:cNvPr>
          <p:cNvSpPr/>
          <p:nvPr/>
        </p:nvSpPr>
        <p:spPr>
          <a:xfrm rot="5400000">
            <a:off x="-921183" y="1155372"/>
            <a:ext cx="3879503" cy="4681728"/>
          </a:xfrm>
          <a:prstGeom prst="arc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B548F-5C38-36BE-D83D-CD65407317D9}"/>
              </a:ext>
            </a:extLst>
          </p:cNvPr>
          <p:cNvSpPr txBox="1"/>
          <p:nvPr/>
        </p:nvSpPr>
        <p:spPr>
          <a:xfrm>
            <a:off x="1003452" y="3380387"/>
            <a:ext cx="491645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</a:rPr>
              <a:t>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3EB24C-C4F8-62D5-C7BB-8F168B4694C5}"/>
              </a:ext>
            </a:extLst>
          </p:cNvPr>
          <p:cNvSpPr txBox="1"/>
          <p:nvPr/>
        </p:nvSpPr>
        <p:spPr>
          <a:xfrm>
            <a:off x="709721" y="1535812"/>
            <a:ext cx="3717900" cy="1607517"/>
          </a:xfrm>
          <a:prstGeom prst="roundRect">
            <a:avLst>
              <a:gd name="adj" fmla="val 6105"/>
            </a:avLst>
          </a:prstGeom>
          <a:solidFill>
            <a:srgbClr val="00B050"/>
          </a:solidFill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CORE PREMISE</a:t>
            </a:r>
          </a:p>
          <a:p>
            <a:pPr algn="ctr"/>
            <a:endParaRPr lang="en-US" sz="1100" b="1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Harnessing 5 proven accelerators makes it mathematically feasible to grow value exponentially </a:t>
            </a:r>
          </a:p>
        </p:txBody>
      </p:sp>
    </p:spTree>
    <p:extLst>
      <p:ext uri="{BB962C8B-B14F-4D97-AF65-F5344CB8AC3E}">
        <p14:creationId xmlns:p14="http://schemas.microsoft.com/office/powerpoint/2010/main" val="235338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DCD24C-1114-7D7A-1709-C103CB1E2C74}"/>
              </a:ext>
            </a:extLst>
          </p:cNvPr>
          <p:cNvSpPr/>
          <p:nvPr/>
        </p:nvSpPr>
        <p:spPr>
          <a:xfrm>
            <a:off x="365760" y="860274"/>
            <a:ext cx="11476590" cy="5784365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oogle Shape;122;p5">
            <a:extLst>
              <a:ext uri="{FF2B5EF4-FFF2-40B4-BE49-F238E27FC236}">
                <a16:creationId xmlns:a16="http://schemas.microsoft.com/office/drawing/2014/main" id="{B6049E84-BC7F-C1AB-B422-78F31F70A28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560" t="2408" r="18812" b="2303"/>
          <a:stretch/>
        </p:blipFill>
        <p:spPr>
          <a:xfrm>
            <a:off x="1808231" y="860276"/>
            <a:ext cx="10034120" cy="549306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ound Same Side Corner Rectangle 10">
            <a:extLst>
              <a:ext uri="{FF2B5EF4-FFF2-40B4-BE49-F238E27FC236}">
                <a16:creationId xmlns:a16="http://schemas.microsoft.com/office/drawing/2014/main" id="{7C11DA72-EFBD-0F1A-B92A-EF9255F9684F}"/>
              </a:ext>
            </a:extLst>
          </p:cNvPr>
          <p:cNvSpPr/>
          <p:nvPr/>
        </p:nvSpPr>
        <p:spPr>
          <a:xfrm rot="4930812">
            <a:off x="4303519" y="3032946"/>
            <a:ext cx="2032669" cy="2986885"/>
          </a:xfrm>
          <a:prstGeom prst="round2Same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7F436B37-6158-46BC-460B-7DC101E20C15}"/>
              </a:ext>
            </a:extLst>
          </p:cNvPr>
          <p:cNvSpPr/>
          <p:nvPr/>
        </p:nvSpPr>
        <p:spPr>
          <a:xfrm rot="15730812">
            <a:off x="1078447" y="3394388"/>
            <a:ext cx="609580" cy="914400"/>
          </a:xfrm>
          <a:prstGeom prst="triangle">
            <a:avLst/>
          </a:prstGeom>
          <a:solidFill>
            <a:schemeClr val="accent2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CD48DEF0-CFF4-CCA0-D3A3-EC22169CC1A8}"/>
              </a:ext>
            </a:extLst>
          </p:cNvPr>
          <p:cNvSpPr/>
          <p:nvPr/>
        </p:nvSpPr>
        <p:spPr>
          <a:xfrm rot="15730812">
            <a:off x="1187095" y="4185510"/>
            <a:ext cx="609580" cy="914400"/>
          </a:xfrm>
          <a:prstGeom prst="triangle">
            <a:avLst/>
          </a:prstGeom>
          <a:solidFill>
            <a:schemeClr val="accent2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34D4C88F-67B1-028B-37CA-A87BF4F08173}"/>
              </a:ext>
            </a:extLst>
          </p:cNvPr>
          <p:cNvSpPr/>
          <p:nvPr/>
        </p:nvSpPr>
        <p:spPr>
          <a:xfrm rot="15730812">
            <a:off x="1295744" y="4976633"/>
            <a:ext cx="609580" cy="914400"/>
          </a:xfrm>
          <a:prstGeom prst="triangle">
            <a:avLst/>
          </a:prstGeom>
          <a:solidFill>
            <a:schemeClr val="accent2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C52D1812-78C8-C12F-0357-1A3C9C85D5A4}"/>
              </a:ext>
            </a:extLst>
          </p:cNvPr>
          <p:cNvSpPr/>
          <p:nvPr/>
        </p:nvSpPr>
        <p:spPr>
          <a:xfrm rot="15730812">
            <a:off x="1404393" y="5767755"/>
            <a:ext cx="609580" cy="914400"/>
          </a:xfrm>
          <a:prstGeom prst="triangle">
            <a:avLst/>
          </a:prstGeom>
          <a:solidFill>
            <a:schemeClr val="accent2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ound Same Side Corner Rectangle 9">
            <a:extLst>
              <a:ext uri="{FF2B5EF4-FFF2-40B4-BE49-F238E27FC236}">
                <a16:creationId xmlns:a16="http://schemas.microsoft.com/office/drawing/2014/main" id="{345CB338-FE9D-2E94-06CA-8A7C0014C110}"/>
              </a:ext>
            </a:extLst>
          </p:cNvPr>
          <p:cNvSpPr/>
          <p:nvPr/>
        </p:nvSpPr>
        <p:spPr>
          <a:xfrm rot="4930812">
            <a:off x="2408779" y="4379901"/>
            <a:ext cx="2372238" cy="748447"/>
          </a:xfrm>
          <a:prstGeom prst="round2SameRect">
            <a:avLst>
              <a:gd name="adj1" fmla="val 18579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ound Same Side Corner Rectangle 5">
            <a:extLst>
              <a:ext uri="{FF2B5EF4-FFF2-40B4-BE49-F238E27FC236}">
                <a16:creationId xmlns:a16="http://schemas.microsoft.com/office/drawing/2014/main" id="{77178BF7-C7A6-0687-8B12-7B55B4ECBA8E}"/>
              </a:ext>
            </a:extLst>
          </p:cNvPr>
          <p:cNvSpPr/>
          <p:nvPr/>
        </p:nvSpPr>
        <p:spPr>
          <a:xfrm rot="4930812">
            <a:off x="2218887" y="2874172"/>
            <a:ext cx="798548" cy="162837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 Same Side Corner Rectangle 6">
            <a:extLst>
              <a:ext uri="{FF2B5EF4-FFF2-40B4-BE49-F238E27FC236}">
                <a16:creationId xmlns:a16="http://schemas.microsoft.com/office/drawing/2014/main" id="{9B3F2FB3-06FF-20FC-EDB2-2898DA3BF7E3}"/>
              </a:ext>
            </a:extLst>
          </p:cNvPr>
          <p:cNvSpPr/>
          <p:nvPr/>
        </p:nvSpPr>
        <p:spPr>
          <a:xfrm rot="4930812">
            <a:off x="2327536" y="3665296"/>
            <a:ext cx="798548" cy="162837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Round Same Side Corner Rectangle 7">
            <a:extLst>
              <a:ext uri="{FF2B5EF4-FFF2-40B4-BE49-F238E27FC236}">
                <a16:creationId xmlns:a16="http://schemas.microsoft.com/office/drawing/2014/main" id="{CA549EBA-11CB-458B-D6B8-D379D68453ED}"/>
              </a:ext>
            </a:extLst>
          </p:cNvPr>
          <p:cNvSpPr/>
          <p:nvPr/>
        </p:nvSpPr>
        <p:spPr>
          <a:xfrm rot="4930812">
            <a:off x="2436184" y="4456418"/>
            <a:ext cx="798548" cy="162837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Round Same Side Corner Rectangle 8">
            <a:extLst>
              <a:ext uri="{FF2B5EF4-FFF2-40B4-BE49-F238E27FC236}">
                <a16:creationId xmlns:a16="http://schemas.microsoft.com/office/drawing/2014/main" id="{DE0D74F3-BDE9-2BD9-7C9E-EBF7335C1017}"/>
              </a:ext>
            </a:extLst>
          </p:cNvPr>
          <p:cNvSpPr/>
          <p:nvPr/>
        </p:nvSpPr>
        <p:spPr>
          <a:xfrm rot="4930812">
            <a:off x="2544833" y="5247541"/>
            <a:ext cx="798548" cy="162837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9B5DF5-F85A-3E9C-74D1-BFCCEFF57C6F}"/>
              </a:ext>
            </a:extLst>
          </p:cNvPr>
          <p:cNvSpPr txBox="1"/>
          <p:nvPr/>
        </p:nvSpPr>
        <p:spPr>
          <a:xfrm rot="4930812">
            <a:off x="2842707" y="4601335"/>
            <a:ext cx="1838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AccelRR8 Framework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FB63C4-B4B5-BB80-334B-EC08F61C15D7}"/>
              </a:ext>
            </a:extLst>
          </p:cNvPr>
          <p:cNvSpPr txBox="1"/>
          <p:nvPr/>
        </p:nvSpPr>
        <p:spPr>
          <a:xfrm rot="21130812">
            <a:off x="1947348" y="3430028"/>
            <a:ext cx="1293945" cy="52322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Compounding</a:t>
            </a:r>
            <a:b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Innovation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648738-9740-DFA7-C6D3-80B59FF6EC6B}"/>
              </a:ext>
            </a:extLst>
          </p:cNvPr>
          <p:cNvSpPr txBox="1"/>
          <p:nvPr/>
        </p:nvSpPr>
        <p:spPr>
          <a:xfrm rot="21130812">
            <a:off x="2284499" y="4227052"/>
            <a:ext cx="838563" cy="52322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Effects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11678D-9D6C-59E5-F887-22F1C60FFDC6}"/>
              </a:ext>
            </a:extLst>
          </p:cNvPr>
          <p:cNvSpPr txBox="1"/>
          <p:nvPr/>
        </p:nvSpPr>
        <p:spPr>
          <a:xfrm rot="21130812">
            <a:off x="2399873" y="5003421"/>
            <a:ext cx="821059" cy="52322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Viral</a:t>
            </a:r>
            <a:b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Ideation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DF4A9E-6068-91FA-C306-EA26BE507C6C}"/>
              </a:ext>
            </a:extLst>
          </p:cNvPr>
          <p:cNvSpPr txBox="1"/>
          <p:nvPr/>
        </p:nvSpPr>
        <p:spPr>
          <a:xfrm rot="21130812">
            <a:off x="2408101" y="5802185"/>
            <a:ext cx="1023998" cy="52322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Generative</a:t>
            </a:r>
            <a:b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1CEE7E-5101-B3C0-BCF9-8AB70EF24AF1}"/>
              </a:ext>
            </a:extLst>
          </p:cNvPr>
          <p:cNvSpPr txBox="1"/>
          <p:nvPr/>
        </p:nvSpPr>
        <p:spPr>
          <a:xfrm rot="21130812">
            <a:off x="506292" y="4832063"/>
            <a:ext cx="1180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Artificial</a:t>
            </a:r>
            <a:b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Intelligence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2BA1FE9-D5D5-7F8B-C266-793F8E5A331C}"/>
              </a:ext>
            </a:extLst>
          </p:cNvPr>
          <p:cNvGrpSpPr/>
          <p:nvPr/>
        </p:nvGrpSpPr>
        <p:grpSpPr>
          <a:xfrm rot="4930812">
            <a:off x="5590924" y="4009995"/>
            <a:ext cx="1452741" cy="773347"/>
            <a:chOff x="1597361" y="1126460"/>
            <a:chExt cx="1452741" cy="926592"/>
          </a:xfrm>
        </p:grpSpPr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DAF60412-398C-5370-1F9D-6278BB3A1214}"/>
                </a:ext>
              </a:extLst>
            </p:cNvPr>
            <p:cNvSpPr/>
            <p:nvPr/>
          </p:nvSpPr>
          <p:spPr>
            <a:xfrm flipH="1">
              <a:off x="1597361" y="1126460"/>
              <a:ext cx="1335887" cy="926592"/>
            </a:xfrm>
            <a:prstGeom prst="arc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035B6CBB-5706-B6BE-219D-8BFB64564E3B}"/>
                </a:ext>
              </a:extLst>
            </p:cNvPr>
            <p:cNvSpPr/>
            <p:nvPr/>
          </p:nvSpPr>
          <p:spPr>
            <a:xfrm>
              <a:off x="1714215" y="1126460"/>
              <a:ext cx="1335887" cy="926592"/>
            </a:xfrm>
            <a:prstGeom prst="arc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8913082-FDA8-32B9-6552-BD2CBFF4A362}"/>
              </a:ext>
            </a:extLst>
          </p:cNvPr>
          <p:cNvSpPr txBox="1"/>
          <p:nvPr/>
        </p:nvSpPr>
        <p:spPr>
          <a:xfrm rot="21130812">
            <a:off x="4021343" y="4272754"/>
            <a:ext cx="2032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Your change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initiative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C385A5-A8C8-8E84-0377-FE2981BEF239}"/>
              </a:ext>
            </a:extLst>
          </p:cNvPr>
          <p:cNvSpPr txBox="1"/>
          <p:nvPr/>
        </p:nvSpPr>
        <p:spPr>
          <a:xfrm>
            <a:off x="0" y="160235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Attach a rocket to your aspirations using the AccelRR8 Framework!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435F1-87C6-5032-3F4F-AEA1811B5A33}"/>
              </a:ext>
            </a:extLst>
          </p:cNvPr>
          <p:cNvSpPr txBox="1"/>
          <p:nvPr/>
        </p:nvSpPr>
        <p:spPr>
          <a:xfrm>
            <a:off x="7399580" y="6129563"/>
            <a:ext cx="1365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9E1B6F0-7BFB-FC46-9921-E82537656EFF}"/>
              </a:ext>
            </a:extLst>
          </p:cNvPr>
          <p:cNvCxnSpPr>
            <a:cxnSpLocks/>
          </p:cNvCxnSpPr>
          <p:nvPr/>
        </p:nvCxnSpPr>
        <p:spPr>
          <a:xfrm>
            <a:off x="7861071" y="6112720"/>
            <a:ext cx="481263" cy="0"/>
          </a:xfrm>
          <a:prstGeom prst="straightConnector1">
            <a:avLst/>
          </a:prstGeom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96D64EA-3749-E675-B4D1-136C59B6AB0A}"/>
              </a:ext>
            </a:extLst>
          </p:cNvPr>
          <p:cNvSpPr txBox="1"/>
          <p:nvPr/>
        </p:nvSpPr>
        <p:spPr>
          <a:xfrm>
            <a:off x="10209047" y="3998714"/>
            <a:ext cx="1365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Value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71C66EC-62F3-4E9C-CB31-5915B585F65C}"/>
              </a:ext>
            </a:extLst>
          </p:cNvPr>
          <p:cNvCxnSpPr>
            <a:cxnSpLocks/>
          </p:cNvCxnSpPr>
          <p:nvPr/>
        </p:nvCxnSpPr>
        <p:spPr>
          <a:xfrm rot="16200000">
            <a:off x="10984833" y="4169577"/>
            <a:ext cx="481263" cy="0"/>
          </a:xfrm>
          <a:prstGeom prst="straightConnector1">
            <a:avLst/>
          </a:prstGeom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F8C7B19-E1BB-3C83-9324-13FD0C543A8C}"/>
              </a:ext>
            </a:extLst>
          </p:cNvPr>
          <p:cNvSpPr txBox="1"/>
          <p:nvPr/>
        </p:nvSpPr>
        <p:spPr>
          <a:xfrm>
            <a:off x="9145265" y="2587781"/>
            <a:ext cx="13655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Accelerating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Benefits</a:t>
            </a:r>
          </a:p>
        </p:txBody>
      </p:sp>
    </p:spTree>
    <p:extLst>
      <p:ext uri="{BB962C8B-B14F-4D97-AF65-F5344CB8AC3E}">
        <p14:creationId xmlns:p14="http://schemas.microsoft.com/office/powerpoint/2010/main" val="3350860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CD7A64C-8A70-5FF5-9649-3F6CCE509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618" y="1847433"/>
            <a:ext cx="7772400" cy="3772734"/>
          </a:xfrm>
          <a:prstGeom prst="rect">
            <a:avLst/>
          </a:prstGeom>
        </p:spPr>
      </p:pic>
      <p:sp>
        <p:nvSpPr>
          <p:cNvPr id="37" name="Bent Arrow 36">
            <a:extLst>
              <a:ext uri="{FF2B5EF4-FFF2-40B4-BE49-F238E27FC236}">
                <a16:creationId xmlns:a16="http://schemas.microsoft.com/office/drawing/2014/main" id="{3FB4854E-7E49-01B3-1D9C-63CC905FFDF5}"/>
              </a:ext>
            </a:extLst>
          </p:cNvPr>
          <p:cNvSpPr/>
          <p:nvPr/>
        </p:nvSpPr>
        <p:spPr>
          <a:xfrm flipV="1">
            <a:off x="1365504" y="2523744"/>
            <a:ext cx="3059330" cy="3033324"/>
          </a:xfrm>
          <a:prstGeom prst="bentArrow">
            <a:avLst>
              <a:gd name="adj1" fmla="val 15129"/>
              <a:gd name="adj2" fmla="val 9810"/>
              <a:gd name="adj3" fmla="val 12679"/>
              <a:gd name="adj4" fmla="val 34202"/>
            </a:avLst>
          </a:pr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FEFE0-B407-D603-33A7-4AC2DE33D465}"/>
              </a:ext>
            </a:extLst>
          </p:cNvPr>
          <p:cNvSpPr txBox="1"/>
          <p:nvPr/>
        </p:nvSpPr>
        <p:spPr>
          <a:xfrm>
            <a:off x="962174" y="166910"/>
            <a:ext cx="9981835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AccelRR8 Framework helps enterprising leaders harness proven </a:t>
            </a:r>
            <a:b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accelerators to grow value exponentially at scale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844215-0CB8-825C-55FD-D1D31C0A5CF4}"/>
              </a:ext>
            </a:extLst>
          </p:cNvPr>
          <p:cNvSpPr txBox="1"/>
          <p:nvPr/>
        </p:nvSpPr>
        <p:spPr>
          <a:xfrm>
            <a:off x="2261210" y="5727084"/>
            <a:ext cx="80452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3"/>
              </a:rPr>
              <a:t>AccelRR8 Framework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is at the heart of the AccelRR8 Body of Knowledge</a:t>
            </a:r>
          </a:p>
        </p:txBody>
      </p:sp>
      <p:sp>
        <p:nvSpPr>
          <p:cNvPr id="13" name="Triangle 12">
            <a:extLst>
              <a:ext uri="{FF2B5EF4-FFF2-40B4-BE49-F238E27FC236}">
                <a16:creationId xmlns:a16="http://schemas.microsoft.com/office/drawing/2014/main" id="{6DF87722-F0F5-BCE6-F539-D7C25C49CECE}"/>
              </a:ext>
            </a:extLst>
          </p:cNvPr>
          <p:cNvSpPr/>
          <p:nvPr/>
        </p:nvSpPr>
        <p:spPr>
          <a:xfrm rot="16200000">
            <a:off x="1626620" y="1927271"/>
            <a:ext cx="505612" cy="1146869"/>
          </a:xfrm>
          <a:prstGeom prst="triangle">
            <a:avLst/>
          </a:prstGeom>
          <a:solidFill>
            <a:schemeClr val="accent2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0645CAA5-6039-B548-0ABC-2B94AB1CCE47}"/>
              </a:ext>
            </a:extLst>
          </p:cNvPr>
          <p:cNvSpPr/>
          <p:nvPr/>
        </p:nvSpPr>
        <p:spPr>
          <a:xfrm rot="16200000">
            <a:off x="1626618" y="2611866"/>
            <a:ext cx="505616" cy="1146869"/>
          </a:xfrm>
          <a:prstGeom prst="triangle">
            <a:avLst/>
          </a:prstGeom>
          <a:solidFill>
            <a:schemeClr val="accent2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1475F282-3706-E3C7-F92B-A50399953066}"/>
              </a:ext>
            </a:extLst>
          </p:cNvPr>
          <p:cNvSpPr/>
          <p:nvPr/>
        </p:nvSpPr>
        <p:spPr>
          <a:xfrm rot="16200000">
            <a:off x="1626620" y="3296462"/>
            <a:ext cx="505612" cy="1146869"/>
          </a:xfrm>
          <a:prstGeom prst="triangle">
            <a:avLst/>
          </a:prstGeom>
          <a:solidFill>
            <a:schemeClr val="accent2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364501D7-EF44-6505-37F8-A43F1BA60179}"/>
              </a:ext>
            </a:extLst>
          </p:cNvPr>
          <p:cNvSpPr/>
          <p:nvPr/>
        </p:nvSpPr>
        <p:spPr>
          <a:xfrm rot="16200000">
            <a:off x="1626622" y="3981057"/>
            <a:ext cx="505608" cy="1146869"/>
          </a:xfrm>
          <a:prstGeom prst="triangle">
            <a:avLst/>
          </a:prstGeom>
          <a:solidFill>
            <a:schemeClr val="accent2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Round Same Side Corner Rectangle 22">
            <a:extLst>
              <a:ext uri="{FF2B5EF4-FFF2-40B4-BE49-F238E27FC236}">
                <a16:creationId xmlns:a16="http://schemas.microsoft.com/office/drawing/2014/main" id="{F7BC8E2F-4E92-E532-F100-CDCEF4301CA1}"/>
              </a:ext>
            </a:extLst>
          </p:cNvPr>
          <p:cNvSpPr/>
          <p:nvPr/>
        </p:nvSpPr>
        <p:spPr>
          <a:xfrm rot="5400000">
            <a:off x="3076094" y="1500877"/>
            <a:ext cx="685800" cy="20116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C1E1FACE-C9C1-5FDB-3B33-139149CED4CC}"/>
              </a:ext>
            </a:extLst>
          </p:cNvPr>
          <p:cNvSpPr/>
          <p:nvPr/>
        </p:nvSpPr>
        <p:spPr>
          <a:xfrm rot="5400000">
            <a:off x="3076094" y="2185473"/>
            <a:ext cx="685800" cy="20116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Round Same Side Corner Rectangle 24">
            <a:extLst>
              <a:ext uri="{FF2B5EF4-FFF2-40B4-BE49-F238E27FC236}">
                <a16:creationId xmlns:a16="http://schemas.microsoft.com/office/drawing/2014/main" id="{40593D0E-5B6E-EFA3-D424-928D8E81B1E2}"/>
              </a:ext>
            </a:extLst>
          </p:cNvPr>
          <p:cNvSpPr/>
          <p:nvPr/>
        </p:nvSpPr>
        <p:spPr>
          <a:xfrm rot="5400000">
            <a:off x="3076094" y="2870068"/>
            <a:ext cx="685800" cy="20116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96AB24-FD92-2749-8CDE-BD6CDD3EA68F}"/>
              </a:ext>
            </a:extLst>
          </p:cNvPr>
          <p:cNvSpPr txBox="1"/>
          <p:nvPr/>
        </p:nvSpPr>
        <p:spPr>
          <a:xfrm>
            <a:off x="2600122" y="2281842"/>
            <a:ext cx="1622907" cy="44855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Compounding</a:t>
            </a:r>
            <a:b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Innovation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3D64B3-F80D-10C3-3102-F3F7AA704BAF}"/>
              </a:ext>
            </a:extLst>
          </p:cNvPr>
          <p:cNvSpPr txBox="1"/>
          <p:nvPr/>
        </p:nvSpPr>
        <p:spPr>
          <a:xfrm>
            <a:off x="2885699" y="2971545"/>
            <a:ext cx="1051752" cy="44855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Effects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2F18E0-0A68-CDC2-D0B3-F65F936A491A}"/>
              </a:ext>
            </a:extLst>
          </p:cNvPr>
          <p:cNvSpPr txBox="1"/>
          <p:nvPr/>
        </p:nvSpPr>
        <p:spPr>
          <a:xfrm>
            <a:off x="2896676" y="3643373"/>
            <a:ext cx="1029798" cy="44855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Viral</a:t>
            </a:r>
            <a:b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Ideation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0FD762-53C9-F353-0378-5AF9FBB3FB29}"/>
              </a:ext>
            </a:extLst>
          </p:cNvPr>
          <p:cNvSpPr txBox="1"/>
          <p:nvPr/>
        </p:nvSpPr>
        <p:spPr>
          <a:xfrm>
            <a:off x="2868319" y="5008448"/>
            <a:ext cx="1086516" cy="52322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Artificial</a:t>
            </a:r>
            <a:b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Intelligence</a:t>
            </a:r>
          </a:p>
        </p:txBody>
      </p:sp>
      <p:sp>
        <p:nvSpPr>
          <p:cNvPr id="26" name="Round Same Side Corner Rectangle 25">
            <a:extLst>
              <a:ext uri="{FF2B5EF4-FFF2-40B4-BE49-F238E27FC236}">
                <a16:creationId xmlns:a16="http://schemas.microsoft.com/office/drawing/2014/main" id="{94429268-4D28-5604-D39A-C6189783824D}"/>
              </a:ext>
            </a:extLst>
          </p:cNvPr>
          <p:cNvSpPr/>
          <p:nvPr/>
        </p:nvSpPr>
        <p:spPr>
          <a:xfrm rot="5400000">
            <a:off x="3076094" y="3554664"/>
            <a:ext cx="685800" cy="20116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4D269A-B84F-49E4-EDE4-048EA2044E94}"/>
              </a:ext>
            </a:extLst>
          </p:cNvPr>
          <p:cNvSpPr txBox="1"/>
          <p:nvPr/>
        </p:nvSpPr>
        <p:spPr>
          <a:xfrm>
            <a:off x="2769409" y="4334580"/>
            <a:ext cx="1284331" cy="44855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Generative</a:t>
            </a:r>
            <a:b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FE8FF-9CC4-0350-1477-6E938411D0F3}"/>
              </a:ext>
            </a:extLst>
          </p:cNvPr>
          <p:cNvSpPr txBox="1"/>
          <p:nvPr/>
        </p:nvSpPr>
        <p:spPr>
          <a:xfrm>
            <a:off x="2443481" y="1310770"/>
            <a:ext cx="187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If you use proven accelerators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62EAED-6EB7-C0C5-EAA9-C3F8012CE0EF}"/>
              </a:ext>
            </a:extLst>
          </p:cNvPr>
          <p:cNvSpPr txBox="1"/>
          <p:nvPr/>
        </p:nvSpPr>
        <p:spPr>
          <a:xfrm>
            <a:off x="4424834" y="1310770"/>
            <a:ext cx="1810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… you can grow value</a:t>
            </a:r>
            <a:b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exponentially,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7EC8EC-E09C-A180-48DB-5F0908FD3F04}"/>
              </a:ext>
            </a:extLst>
          </p:cNvPr>
          <p:cNvSpPr txBox="1"/>
          <p:nvPr/>
        </p:nvSpPr>
        <p:spPr>
          <a:xfrm>
            <a:off x="6235050" y="1310770"/>
            <a:ext cx="20301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… but you’ll face key </a:t>
            </a:r>
            <a:b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challenges</a:t>
            </a:r>
            <a:r>
              <a:rPr lang="en-US" sz="1200" kern="1200" dirty="0">
                <a:solidFill>
                  <a:prstClr val="black"/>
                </a:solidFill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at scale…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EA8E1B-D017-0D57-0EF0-F8F0A243316A}"/>
              </a:ext>
            </a:extLst>
          </p:cNvPr>
          <p:cNvSpPr txBox="1"/>
          <p:nvPr/>
        </p:nvSpPr>
        <p:spPr>
          <a:xfrm>
            <a:off x="8197962" y="1310770"/>
            <a:ext cx="20301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… which you can overcome</a:t>
            </a:r>
            <a:b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proven solutions.</a:t>
            </a:r>
          </a:p>
        </p:txBody>
      </p:sp>
    </p:spTree>
    <p:extLst>
      <p:ext uri="{BB962C8B-B14F-4D97-AF65-F5344CB8AC3E}">
        <p14:creationId xmlns:p14="http://schemas.microsoft.com/office/powerpoint/2010/main" val="2176843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2CFED0-82F7-3857-91C0-8295E3D55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9E67006-FB22-3E51-1C43-10DE8E8FD432}"/>
              </a:ext>
            </a:extLst>
          </p:cNvPr>
          <p:cNvSpPr/>
          <p:nvPr/>
        </p:nvSpPr>
        <p:spPr>
          <a:xfrm>
            <a:off x="3230880" y="34290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6CA4E44-8C6C-7A11-9AF1-DBDA4F1A9D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E5478777-DA64-9B83-8C03-24B5170685D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FF06AE-D06F-A2CC-7814-895F8CA31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Ambition and Opportunity</a:t>
            </a:r>
          </a:p>
          <a:p>
            <a:r>
              <a:rPr lang="en-US" dirty="0"/>
              <a:t>Our Center of Gravity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Scope of Our Services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Timeline</a:t>
            </a:r>
          </a:p>
          <a:p>
            <a:r>
              <a:rPr lang="en-US" dirty="0"/>
              <a:t>2025 Roadmap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5661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Orientation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47671" y="1683815"/>
            <a:ext cx="8208266" cy="7689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GOAL-ORIENTED </a:t>
            </a:r>
            <a:r>
              <a:rPr lang="en-US" sz="3200" b="1" i="1" dirty="0">
                <a:solidFill>
                  <a:srgbClr val="C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US" sz="32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ROLE-ORIENTED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CAB5B48-B8F8-D8B0-3363-89BF14A47DA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7573EF5-2EDE-3029-94B8-8CDE23805E90}"/>
              </a:ext>
            </a:extLst>
          </p:cNvPr>
          <p:cNvSpPr/>
          <p:nvPr/>
        </p:nvSpPr>
        <p:spPr>
          <a:xfrm>
            <a:off x="1127734" y="3383878"/>
            <a:ext cx="2209802" cy="220980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800" b="1" dirty="0"/>
              <a:t>GOAL</a:t>
            </a:r>
          </a:p>
          <a:p>
            <a:pPr algn="ctr"/>
            <a:r>
              <a:rPr lang="en-US" dirty="0"/>
              <a:t> </a:t>
            </a:r>
          </a:p>
          <a:p>
            <a:pPr algn="ctr"/>
            <a:r>
              <a:rPr lang="en-US" dirty="0"/>
              <a:t>Help Tech Services </a:t>
            </a:r>
            <a:br>
              <a:rPr lang="en-US" dirty="0"/>
            </a:br>
            <a:r>
              <a:rPr lang="en-US" dirty="0"/>
              <a:t>Industry leaders </a:t>
            </a:r>
            <a:br>
              <a:rPr lang="en-US" dirty="0"/>
            </a:br>
            <a:r>
              <a:rPr lang="en-US" dirty="0"/>
              <a:t>Accelerate Success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12D584-8E54-6286-A42E-E88EB914FDC1}"/>
              </a:ext>
            </a:extLst>
          </p:cNvPr>
          <p:cNvSpPr/>
          <p:nvPr/>
        </p:nvSpPr>
        <p:spPr>
          <a:xfrm rot="5400000">
            <a:off x="4183062" y="-1127719"/>
            <a:ext cx="3609306" cy="1123299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44BE4F-6245-ED2D-EEE6-CD7C1A4521AE}"/>
              </a:ext>
            </a:extLst>
          </p:cNvPr>
          <p:cNvSpPr txBox="1"/>
          <p:nvPr/>
        </p:nvSpPr>
        <p:spPr>
          <a:xfrm>
            <a:off x="3337536" y="2990294"/>
            <a:ext cx="54361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Many Roles Share In This Goal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0DCA-A02B-4158-4AF7-6D7C44F38FEF}"/>
              </a:ext>
            </a:extLst>
          </p:cNvPr>
          <p:cNvSpPr txBox="1"/>
          <p:nvPr/>
        </p:nvSpPr>
        <p:spPr>
          <a:xfrm>
            <a:off x="3337536" y="3664673"/>
            <a:ext cx="81964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20650" indent="-120650">
              <a:buFont typeface="Arial" panose="020B0604020202020204" pitchFamily="34" charset="0"/>
              <a:buChar char="•"/>
            </a:pPr>
            <a:r>
              <a:rPr lang="en-US" dirty="0"/>
              <a:t>Product / Innovation / Technology Leaders are often directly responsible for helping their</a:t>
            </a:r>
            <a:br>
              <a:rPr lang="en-US" dirty="0"/>
            </a:br>
            <a:r>
              <a:rPr lang="en-US" dirty="0"/>
              <a:t>enterprises accelerate value; this Consortium could become their de facto community</a:t>
            </a:r>
          </a:p>
          <a:p>
            <a:pPr marL="120650" indent="-120650">
              <a:buFont typeface="Arial" panose="020B0604020202020204" pitchFamily="34" charset="0"/>
              <a:buChar char="•"/>
            </a:pPr>
            <a:endParaRPr lang="en-US" dirty="0"/>
          </a:p>
          <a:p>
            <a:pPr marL="120650" indent="-120650">
              <a:buFont typeface="Arial" panose="020B0604020202020204" pitchFamily="34" charset="0"/>
              <a:buChar char="•"/>
            </a:pPr>
            <a:r>
              <a:rPr lang="en-US" dirty="0"/>
              <a:t>However, </a:t>
            </a:r>
            <a:r>
              <a:rPr lang="en-US" b="1" dirty="0"/>
              <a:t>this isn’t a “CPO / CTO / CIO Consortium”</a:t>
            </a:r>
            <a:r>
              <a:rPr lang="en-US" dirty="0"/>
              <a:t> – it’s for any enterprising leader involved in </a:t>
            </a:r>
            <a:br>
              <a:rPr lang="en-US" dirty="0"/>
            </a:br>
            <a:r>
              <a:rPr lang="en-US" dirty="0"/>
              <a:t>helping their enterprises harness proven accelerators to </a:t>
            </a:r>
            <a:r>
              <a:rPr lang="en-US" b="1" dirty="0">
                <a:solidFill>
                  <a:srgbClr val="00B050"/>
                </a:solidFill>
              </a:rPr>
              <a:t>grow value exponentially at scale</a:t>
            </a:r>
          </a:p>
          <a:p>
            <a:pPr marL="120650" indent="-120650">
              <a:buFont typeface="Arial" panose="020B0604020202020204" pitchFamily="34" charset="0"/>
              <a:buChar char="•"/>
            </a:pPr>
            <a:endParaRPr lang="en-US" dirty="0"/>
          </a:p>
          <a:p>
            <a:pPr marL="120650" indent="-120650">
              <a:buFont typeface="Arial" panose="020B0604020202020204" pitchFamily="34" charset="0"/>
              <a:buChar char="•"/>
            </a:pPr>
            <a:r>
              <a:rPr lang="en-US" dirty="0"/>
              <a:t>Other leaders (Marketing, Sales, Operations, HR, Finance, Legal, etc.) also work with / support </a:t>
            </a:r>
            <a:br>
              <a:rPr lang="en-US" dirty="0"/>
            </a:br>
            <a:r>
              <a:rPr lang="en-US" dirty="0"/>
              <a:t>their enterprise’s products / innovations / technologies to help accelerate value</a:t>
            </a:r>
          </a:p>
          <a:p>
            <a:pPr marL="120650" indent="-1206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126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Peers</a:t>
            </a:r>
            <a:endParaRPr dirty="0"/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CAB5B48-B8F8-D8B0-3363-89BF14A47DA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A794A3-D78C-B966-F5D5-7A882C213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520919"/>
              </p:ext>
            </p:extLst>
          </p:nvPr>
        </p:nvGraphicFramePr>
        <p:xfrm>
          <a:off x="129323" y="1574795"/>
          <a:ext cx="11794453" cy="43068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674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40131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5930041"/>
                    </a:ext>
                  </a:extLst>
                </a:gridCol>
                <a:gridCol w="4217416">
                  <a:extLst>
                    <a:ext uri="{9D8B030D-6E8A-4147-A177-3AD203B41FA5}">
                      <a16:colId xmlns:a16="http://schemas.microsoft.com/office/drawing/2014/main" val="1874632665"/>
                    </a:ext>
                  </a:extLst>
                </a:gridCol>
              </a:tblGrid>
              <a:tr h="72949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Similar Non-Profits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How We’re Similar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20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Our Intent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85271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network and develop important skills that can help them advance in their career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Help Tech Services leaders network and practice growing value exponentially at scale together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138730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curate a Body of Knowledge proven helpful in doing complex work most leaders must do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align on authoritative practices for growing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925551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use important technologies and know-how to help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grow value exponentially with material benefit to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0396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improve the tech services industry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grow value exponentially with material benefit to their industry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8850557"/>
                  </a:ext>
                </a:extLst>
              </a:tr>
            </a:tbl>
          </a:graphicData>
        </a:graphic>
      </p:graphicFrame>
      <p:pic>
        <p:nvPicPr>
          <p:cNvPr id="1028" name="Picture 4" descr="Toastmasters International -Logo and Design Elements">
            <a:extLst>
              <a:ext uri="{FF2B5EF4-FFF2-40B4-BE49-F238E27FC236}">
                <a16:creationId xmlns:a16="http://schemas.microsoft.com/office/drawing/2014/main" id="{F2FBAC28-01AC-81F3-75E0-948EBC9F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36" y="2499816"/>
            <a:ext cx="2063074" cy="410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MI Project Management Institute Logo PNG vector in SVG, PDF, AI, CDR format">
            <a:extLst>
              <a:ext uri="{FF2B5EF4-FFF2-40B4-BE49-F238E27FC236}">
                <a16:creationId xmlns:a16="http://schemas.microsoft.com/office/drawing/2014/main" id="{2136F508-9909-76DB-E345-E40EB6279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5" t="32778" r="8165" b="32778"/>
          <a:stretch/>
        </p:blipFill>
        <p:spPr bwMode="auto">
          <a:xfrm>
            <a:off x="609986" y="3415940"/>
            <a:ext cx="1982174" cy="6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I for Good - All Year Always Online">
            <a:extLst>
              <a:ext uri="{FF2B5EF4-FFF2-40B4-BE49-F238E27FC236}">
                <a16:creationId xmlns:a16="http://schemas.microsoft.com/office/drawing/2014/main" id="{57B0734D-BE0E-D5FA-AC6A-C87310AA2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3" y="4446275"/>
            <a:ext cx="2100522" cy="61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The New TSIA Portal: Bringing Proprietary Insights to Professionals">
            <a:extLst>
              <a:ext uri="{FF2B5EF4-FFF2-40B4-BE49-F238E27FC236}">
                <a16:creationId xmlns:a16="http://schemas.microsoft.com/office/drawing/2014/main" id="{B51E3085-C2E4-EDC0-0FA4-21B534177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323" y="5342122"/>
            <a:ext cx="1387502" cy="35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3924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Services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2542657"/>
              </p:ext>
            </p:extLst>
          </p:nvPr>
        </p:nvGraphicFramePr>
        <p:xfrm>
          <a:off x="838199" y="1428007"/>
          <a:ext cx="10329673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91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169152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connects a global AccelRR8 professional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to network and practice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growing value exponentially at scale together, to </a:t>
                      </a:r>
                      <a:r>
                        <a:rPr lang="en-US" sz="1200" dirty="0"/>
                        <a:t>accelerate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Due to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value for all collaborators grows exponentially as their numbers grow linearly.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Viral Ideation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facilitates viral ideation across the AccelRR8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rapidly share ideas and align on authoritative best practices for growing value exponentially at scale</a:t>
                      </a:r>
                      <a:r>
                        <a:rPr lang="en-US" sz="1200" dirty="0"/>
                        <a:t>.  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High-value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ideas go viral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propagating exponentially fast and wide across the network.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Successful ideas are added via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learning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to the AccelRR8 Body of Knowledge, curated with the help of expert advisors.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Compounding    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Innovation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enterprises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develops innovative solutions to vexing industry challenges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 enterprises grow value exponentially at scale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200" dirty="0"/>
                        <a:t>accelerating material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Patrons finance and support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compounding innovation,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provided by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teams supported by </a:t>
                      </a: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AI,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to develop exponential solutions that address priority industry challenges, advance the state-of-the-art, and benefit humanity.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FAEC2788-BD9D-9EED-BC5E-1AED8264C6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97649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AE61F-C7FD-048D-F56B-F4A65ECD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87B305FC-4EA6-B2EF-7B32-59203C748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Model (1/2)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02158CA-58E9-99E5-1F52-3C3731523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137622"/>
              </p:ext>
            </p:extLst>
          </p:nvPr>
        </p:nvGraphicFramePr>
        <p:xfrm>
          <a:off x="472467" y="1792224"/>
          <a:ext cx="10978842" cy="4169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34074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614476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We fulfill our PURPOSE…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Helping Tech Services industry leaders work together to 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accelerate success</a:t>
                      </a: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for themselves, their industry, and all humanity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…and actualize our VISION…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 Services industry leaders everywhere enjoying exponential success in their industry while helping humanity live increasingly better lives</a:t>
                      </a:r>
                      <a:endParaRPr lang="en-US" sz="14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…as we accomplish our MISSION…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Help enterprising Tech Services industry leaders harness proven accelerators</a:t>
                      </a: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to 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grow value exponentially at scale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144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…by providing focused SERVICES…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Professional Networking, Open Knowledge Sharing, and Industry Innovation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91181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…that harness </a:t>
                      </a:r>
                      <a:br>
                        <a:rPr lang="en-US" sz="2000" b="1" dirty="0"/>
                      </a:br>
                      <a:r>
                        <a:rPr lang="en-US" sz="2000" b="1" dirty="0"/>
                        <a:t>EXPONENTIAL ACCELERATORS.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Compounding Innovation, Network Effects, Viral Ideation, and Generative Learning, all of which are “Powered By” Artificial Intelligence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D57AE71C-2FC9-1FBC-19D6-92E0039AEF7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32848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AE61F-C7FD-048D-F56B-F4A65ECD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87B305FC-4EA6-B2EF-7B32-59203C748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Model (2/2)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02158CA-58E9-99E5-1F52-3C3731523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226057"/>
              </p:ext>
            </p:extLst>
          </p:nvPr>
        </p:nvGraphicFramePr>
        <p:xfrm>
          <a:off x="554790" y="1458974"/>
          <a:ext cx="10978842" cy="481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19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932688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WHO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Enterprising leaders in the Tech Services industry who are aligned with our values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MISSION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 Help enterprising Tech Services industry leaders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harness proven accelerators </a:t>
                      </a:r>
                      <a:r>
                        <a:rPr lang="en-US" sz="14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 grow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WHEN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Now and the foreseeable future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7836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WHERE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Based in the US, benefiting all legally addressable locations globally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166022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WHY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PURPOSE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Helping Tech Services industry leaders work together to </a:t>
                      </a: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accelerate success</a:t>
                      </a:r>
                      <a:r>
                        <a:rPr lang="en-US" dirty="0"/>
                        <a:t> for themselves, their industry, and all humanity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VISION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</a:t>
                      </a:r>
                      <a:r>
                        <a:rPr lang="en-US" sz="1400" dirty="0">
                          <a:effectLst/>
                          <a:latin typeface="Helvetica Neue" panose="02000503000000020004" pitchFamily="2" charset="0"/>
                        </a:rPr>
                        <a:t>Tech Services industry leaders everywhere enjoying exponential success in their industry while helping humanity live increasingly better lives</a:t>
                      </a:r>
                    </a:p>
                    <a:p>
                      <a:pPr marL="0" indent="0">
                        <a:buNone/>
                      </a:pPr>
                      <a:endParaRPr lang="en-US" sz="1400" dirty="0">
                        <a:effectLst/>
                        <a:latin typeface="Helvetica Neue" panose="02000503000000020004" pitchFamily="2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AMBITION: </a:t>
                      </a:r>
                      <a:r>
                        <a:rPr lang="en-US" sz="1400" dirty="0"/>
                        <a:t>Be the consortium that Tech Services industry leaders credit with 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generating exponential improvements in industry effectiveness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  <a:tr h="8723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HOW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SERVICES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</a:t>
                      </a:r>
                      <a:r>
                        <a:rPr lang="en-US" sz="1400" dirty="0">
                          <a:effectLst/>
                          <a:latin typeface="Helvetica Neue" panose="02000503000000020004" pitchFamily="2" charset="0"/>
                        </a:rPr>
                        <a:t>Professional Networking, Open Knowledge Sharing, and Industry Innovation</a:t>
                      </a:r>
                    </a:p>
                    <a:p>
                      <a:pPr marL="0" indent="0">
                        <a:buNone/>
                      </a:pPr>
                      <a:endParaRPr lang="en-US" dirty="0"/>
                    </a:p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EXPONENTIAL ACCELERATORS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dirty="0"/>
                        <a:t>  Compounding Innovation, Network Effects, Viral Ideation, and Generative Learning, all of which are “Powered By” Artificial Intelligence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645691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D57AE71C-2FC9-1FBC-19D6-92E0039AEF7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88822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1A7DFDB-5F7C-17E5-3D2D-59A526F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31CE66-9A8C-CD7A-3B1E-AACECB19FDC5}"/>
              </a:ext>
            </a:extLst>
          </p:cNvPr>
          <p:cNvSpPr/>
          <p:nvPr/>
        </p:nvSpPr>
        <p:spPr>
          <a:xfrm>
            <a:off x="3230880" y="397691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B36FBA8C-8062-DC9B-B335-7924A05FB1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0A81DB07-1D33-EC9D-0BAF-6CBE9A3C7F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75EEE6-C4D2-41AC-5ADA-44567F64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Ambition and Opportunity</a:t>
            </a:r>
          </a:p>
          <a:p>
            <a:r>
              <a:rPr lang="en-US" dirty="0"/>
              <a:t>Our Center of Gravity</a:t>
            </a:r>
          </a:p>
          <a:p>
            <a:r>
              <a:rPr lang="en-US" dirty="0"/>
              <a:t>Scope of Our Services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Success Factors</a:t>
            </a:r>
          </a:p>
          <a:p>
            <a:r>
              <a:rPr lang="en-US" dirty="0"/>
              <a:t>3-Horizon Timeline</a:t>
            </a:r>
          </a:p>
          <a:p>
            <a:r>
              <a:rPr lang="en-US" dirty="0"/>
              <a:t>2025 Roadmap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7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Success Factors</a:t>
            </a:r>
            <a:endParaRPr dirty="0"/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FAEC2788-BD9D-9EED-BC5E-1AED8264C6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4C0F19-B23F-926A-2ED3-6B3394974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737618"/>
              </p:ext>
            </p:extLst>
          </p:nvPr>
        </p:nvGraphicFramePr>
        <p:xfrm>
          <a:off x="192345" y="1803131"/>
          <a:ext cx="10844464" cy="44407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13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00310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161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Desirable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Enterprising leaders want to grow value exponentially, but few know how to do it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Stakeholders appreciate and want to associate with our values and culture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26796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Viable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is goal-oriented and focused (not trying to boil the ocean)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have the required leadership and know-how to spark exponential growth and impact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Minimal investment is needed to achieve initial success (asset-light with low overhead costs), which gives us time and flexibility to experiment, learn, and adjust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7732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Sustainable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core premise – </a:t>
                      </a:r>
                      <a:r>
                        <a:rPr lang="en-US" b="1" i="1" dirty="0">
                          <a:solidFill>
                            <a:srgbClr val="00B050"/>
                          </a:solidFill>
                        </a:rPr>
                        <a:t>harnessing 5 proven accelerators makes it mathematically feasible to grow value exponentially </a:t>
                      </a:r>
                      <a:r>
                        <a:rPr lang="en-US" dirty="0"/>
                        <a:t>– is enduring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still be relevant in decades even as AI, Quantum Computing, etc. advance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6120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Impactful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will harness proven accelerators to grow our own value exponentially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own success will be a key proof point of our core premise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As we gain credibility, we will create a virtuous cycle of exponential growth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Consumable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Becoming and remaining a collaborator, subscriber, and/or patron organization must be easy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987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Values</a:t>
            </a:r>
            <a:br>
              <a:rPr lang="en-US" dirty="0"/>
            </a:br>
            <a:r>
              <a:rPr lang="en-US" sz="2400" i="1" dirty="0"/>
              <a:t>Stakeholders appreciate and want to associate with our values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753516"/>
              </p:ext>
            </p:extLst>
          </p:nvPr>
        </p:nvGraphicFramePr>
        <p:xfrm>
          <a:off x="179831" y="2011680"/>
          <a:ext cx="10744201" cy="42184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099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693425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Helping Humanity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Making a meaningful contribution to our local and global community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Delighting Customers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Exceeding our collaborators’ and patrons’ expectations and making them happy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Supporting Colleagues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Empathizing with and respecting those who help us in our job, career, and vocations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3396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Accelerating Success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Harnessing proven accelerators to continuously innovate, collaborate, ideate, learn, use AI, and grow value exponentially (we “drink our own champagne”)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884849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Being Trustworthy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Holding leaders accountable for ethical, legal, and financial responsibilities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FAEC2788-BD9D-9EED-BC5E-1AED8264C6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2335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689FB53-34E6-6D2E-A27A-7455602E4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D96EFA8-3456-DD1D-DE7A-A34ADC061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Working with AccelRR8 LLC</a:t>
            </a:r>
            <a:br>
              <a:rPr lang="en-US" dirty="0"/>
            </a:br>
            <a:r>
              <a:rPr lang="en-US" sz="2400" i="1" dirty="0"/>
              <a:t>Stakeholders appreciate and want to associate with our values</a:t>
            </a:r>
            <a:endParaRPr dirty="0"/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4AE0829C-5062-BA46-E8AF-7AF2F6F341D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ECDCE81-629D-78C2-7157-705559E61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995" y="1670404"/>
            <a:ext cx="11010901" cy="4676167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sz="16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BEING TRUSTWORTHY </a:t>
            </a: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means we must be transparent about our ethical relationship with AccelRR8 LLC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AccelRR8 LLC is an independent for-profit business that is not an affiliate of the AccelRR8 Consortium Non-Profit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is a patron whose employees and associates are collaborators in the AccelRR8 Consortium Non-Profit</a:t>
            </a:r>
            <a:endParaRPr lang="en-US" sz="14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AccelRR8 LLC has granted an unlimited use license of the AccelRR8 Brand to the AccelRR8 Consortium Non-Profit in perpetuity without expiration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owns the AccelRR8 brand and its associated assets, including but not limited to logos, designs, tag lines, and templates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AccelRR8 LLC markets the AccelRR8 brand as Rich Reba’s personal brand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 the AccelRR8 Consortium Non-Profit succeeds, it will create demand for Non-Profit and For-Profit services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Leaders who want to grow value exponentially themselves (“DIY”) can avail themselves of the Non-Profit’s services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Leaders who want additional help growing value exponentially can get it from For-Profit businesses such as AccelRR8 LLC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the early days, if AccelRR8 LLC is seeing increased demand, it will indicate the Non-Profit is creating value for leaders because they are willing to pay to get help growing value exponentially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Consortium Non-Profit will continuously evaluate its strategy as it succeeds, for example: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acquire AccelRR8 LLC and operate similarly to OpenAI, where the non-profit owns the for-profit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maintain a symbiotic but independent relationship with AccelRR8 LLC similarly to SAP and the ASUG non-profit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It may re-brand, in which case AccelRR8 LLC will hopefully remain one of many patrons</a:t>
            </a:r>
          </a:p>
        </p:txBody>
      </p:sp>
    </p:spTree>
    <p:extLst>
      <p:ext uri="{BB962C8B-B14F-4D97-AF65-F5344CB8AC3E}">
        <p14:creationId xmlns:p14="http://schemas.microsoft.com/office/powerpoint/2010/main" val="7783640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B3980C4-4BE6-07DA-F1CD-3DD244140CAB}"/>
              </a:ext>
            </a:extLst>
          </p:cNvPr>
          <p:cNvSpPr/>
          <p:nvPr/>
        </p:nvSpPr>
        <p:spPr>
          <a:xfrm>
            <a:off x="6181344" y="2411775"/>
            <a:ext cx="4800346" cy="3693319"/>
          </a:xfrm>
          <a:prstGeom prst="rect">
            <a:avLst/>
          </a:prstGeom>
          <a:solidFill>
            <a:srgbClr val="00B050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FAEC2788-BD9D-9EED-BC5E-1AED8264C6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7CE555-DC28-09F5-F651-023C8D84D38F}"/>
              </a:ext>
            </a:extLst>
          </p:cNvPr>
          <p:cNvSpPr txBox="1"/>
          <p:nvPr/>
        </p:nvSpPr>
        <p:spPr>
          <a:xfrm>
            <a:off x="838197" y="1690688"/>
            <a:ext cx="84399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effectLst/>
                <a:latin typeface="-apple-system"/>
              </a:rPr>
              <a:t>Our consortium aspires to a </a:t>
            </a:r>
            <a:r>
              <a:rPr lang="en-US" sz="1800" b="1" i="0" dirty="0">
                <a:solidFill>
                  <a:srgbClr val="00B050"/>
                </a:solidFill>
                <a:effectLst/>
                <a:latin typeface="-apple-system"/>
              </a:rPr>
              <a:t>Generative Culture </a:t>
            </a:r>
            <a:r>
              <a:rPr lang="en-US" sz="1800" b="0" i="0" dirty="0">
                <a:effectLst/>
                <a:latin typeface="-apple-system"/>
              </a:rPr>
              <a:t>as introduced by </a:t>
            </a:r>
            <a:r>
              <a:rPr lang="en-US" sz="1800" b="0" i="0" dirty="0" err="1">
                <a:effectLst/>
                <a:latin typeface="-apple-system"/>
              </a:rPr>
              <a:t>Westrum</a:t>
            </a:r>
            <a:r>
              <a:rPr lang="en-US" sz="1800" b="0" i="0" dirty="0">
                <a:effectLst/>
                <a:latin typeface="-apple-system"/>
              </a:rPr>
              <a:t> in </a:t>
            </a:r>
            <a:r>
              <a:rPr lang="en-US" sz="1800" b="0" i="0" dirty="0">
                <a:effectLst/>
                <a:latin typeface="-apple-system"/>
                <a:hlinkClick r:id="rId3"/>
              </a:rPr>
              <a:t>https://www.ncbi.nlm.nih.gov/pmc/articles/PMC1765804/pdf/v013p0ii22.pdf</a:t>
            </a:r>
            <a:r>
              <a:rPr lang="en-US" sz="1800" b="0" i="0" dirty="0">
                <a:effectLst/>
                <a:latin typeface="-apple-system"/>
              </a:rPr>
              <a:t>  </a:t>
            </a:r>
          </a:p>
          <a:p>
            <a:endParaRPr lang="en-US" sz="1800" dirty="0">
              <a:latin typeface="-apple-system"/>
            </a:endParaRPr>
          </a:p>
        </p:txBody>
      </p:sp>
      <p:sp>
        <p:nvSpPr>
          <p:cNvPr id="9" name="Google Shape;96;p2">
            <a:extLst>
              <a:ext uri="{FF2B5EF4-FFF2-40B4-BE49-F238E27FC236}">
                <a16:creationId xmlns:a16="http://schemas.microsoft.com/office/drawing/2014/main" id="{B00CB9DB-EFD6-82D4-90BF-BD3A581BEA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Culture</a:t>
            </a:r>
            <a:br>
              <a:rPr lang="en-US" dirty="0"/>
            </a:br>
            <a:r>
              <a:rPr lang="en-US" sz="2400" i="1" dirty="0"/>
              <a:t>Stakeholders appreciate and want to associate with our culture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A6B20D-A028-3BF6-3B0C-33E8F4D45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773" y="2411775"/>
            <a:ext cx="4800346" cy="27848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24DB58-D516-15BE-6A13-E14149AC10C7}"/>
              </a:ext>
            </a:extLst>
          </p:cNvPr>
          <p:cNvSpPr txBox="1"/>
          <p:nvPr/>
        </p:nvSpPr>
        <p:spPr>
          <a:xfrm>
            <a:off x="6327649" y="2411775"/>
            <a:ext cx="46573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chemeClr val="bg1"/>
                </a:solidFill>
                <a:effectLst/>
                <a:latin typeface="-apple-system"/>
              </a:rPr>
              <a:t>Characteristics of our culture: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Performance oriented (not power oriented)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High cooperation (not low)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Messengers are trained (not shot)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Risks are shared (not shirked)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Bridging is encouraged (not discouraged)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Failure leads to inquiry (not scapegoating)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Novelty is implemented (not crushed) </a:t>
            </a:r>
          </a:p>
          <a:p>
            <a:pPr marL="285750" indent="-285750">
              <a:buFontTx/>
              <a:buChar char="-"/>
            </a:pPr>
            <a:endParaRPr lang="en-US" sz="1800" dirty="0">
              <a:solidFill>
                <a:schemeClr val="bg1"/>
              </a:solidFill>
              <a:latin typeface="-apple-system"/>
            </a:endParaRPr>
          </a:p>
          <a:p>
            <a:r>
              <a:rPr lang="en-US" sz="1800" b="1" i="0" dirty="0">
                <a:solidFill>
                  <a:schemeClr val="bg1"/>
                </a:solidFill>
                <a:effectLst/>
                <a:latin typeface="-apple-system"/>
              </a:rPr>
              <a:t>Implies: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Diversity is welcome (not unwelcome)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Environment is safe (not hostile)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bg1"/>
                </a:solidFill>
                <a:effectLst/>
                <a:latin typeface="-apple-system"/>
              </a:rPr>
              <a:t>People are nice (not a-holes)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96A24-9AAA-1766-963B-CCC6F06E411C}"/>
              </a:ext>
            </a:extLst>
          </p:cNvPr>
          <p:cNvSpPr/>
          <p:nvPr/>
        </p:nvSpPr>
        <p:spPr>
          <a:xfrm>
            <a:off x="3889248" y="2804160"/>
            <a:ext cx="1572768" cy="2011680"/>
          </a:xfrm>
          <a:prstGeom prst="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467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DBF112E5-0A58-8713-4CE1-EEFD2BF4B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C65DFE9-3AA4-76F9-0B9B-BC121D089C33}"/>
              </a:ext>
            </a:extLst>
          </p:cNvPr>
          <p:cNvSpPr/>
          <p:nvPr/>
        </p:nvSpPr>
        <p:spPr>
          <a:xfrm>
            <a:off x="3230880" y="4476782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1CE29ECE-0529-3775-CA56-8524C23B37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2C6C1327-5F69-A48B-8F52-9C41FBC1033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BE8DA7C-F70F-DAFA-61AA-BE49B816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Ambition and Opportunity</a:t>
            </a:r>
          </a:p>
          <a:p>
            <a:r>
              <a:rPr lang="en-US" dirty="0"/>
              <a:t>Our Center of Gravity</a:t>
            </a:r>
          </a:p>
          <a:p>
            <a:r>
              <a:rPr lang="en-US" dirty="0"/>
              <a:t>Scope of Our Services</a:t>
            </a:r>
          </a:p>
          <a:p>
            <a:r>
              <a:rPr lang="en-US" dirty="0"/>
              <a:t>Success Factors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3-Horizon Timeline</a:t>
            </a:r>
          </a:p>
          <a:p>
            <a:r>
              <a:rPr lang="en-US" dirty="0"/>
              <a:t>2025 Roadmap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3162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1:  2024-2025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2:  2026-2027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3:  2028-2030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 Organizations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 Organizations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 Organizations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6" name="Google Shape;9;p8">
            <a:extLst>
              <a:ext uri="{FF2B5EF4-FFF2-40B4-BE49-F238E27FC236}">
                <a16:creationId xmlns:a16="http://schemas.microsoft.com/office/drawing/2014/main" id="{CF348359-6A33-94C2-7023-E826A712A5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1D3DE-C547-6D2F-36A4-B895D0EFE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3FDC1CF0-9080-B700-A3DD-FABBDF64DF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Leadership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F256E9-2562-2DB8-B11B-ABE07084E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369831"/>
              </p:ext>
            </p:extLst>
          </p:nvPr>
        </p:nvGraphicFramePr>
        <p:xfrm>
          <a:off x="410934" y="1560399"/>
          <a:ext cx="11258552" cy="39503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23370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Founding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Horizons 2 and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200 Global Chief Product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10,000+ employees, governed $1B+ annual investment, and consolidated 100+ offerings to stabilize the merger of tech giants HP-E and CSC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500 Global Chief Digital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Digital Transformation mobilizing 50,000+ employees to generate exponentially better products, services, financials, and inspiration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Current Consulting Business Owner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Holds CPO, AI, and Agile certifications from Kellogg, MIT, NVIDIA, and Scaled Agile 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Formalize Board of Directors and Advisory Boards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Identify consortium leaders for: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Products (Consortium Services)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Demand Generation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Customer Acquisition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Service Fulfillment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additional consortium leaders for Integration, People, Finance, Technology, 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Property, and Responsibility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581D35DC-2D2E-4B81-D251-A66615F9BC3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3" name="Google Shape;110;p4" descr="Rich Reba">
            <a:extLst>
              <a:ext uri="{FF2B5EF4-FFF2-40B4-BE49-F238E27FC236}">
                <a16:creationId xmlns:a16="http://schemas.microsoft.com/office/drawing/2014/main" id="{823E1205-2460-7723-EC56-A1AB9E9926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2514" y="2044138"/>
            <a:ext cx="1163927" cy="11639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374FE3-BA22-E0E5-6980-B36DA85CD2EF}"/>
              </a:ext>
            </a:extLst>
          </p:cNvPr>
          <p:cNvSpPr txBox="1"/>
          <p:nvPr/>
        </p:nvSpPr>
        <p:spPr>
          <a:xfrm>
            <a:off x="1798021" y="2174695"/>
            <a:ext cx="13837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Rich Reba</a:t>
            </a:r>
          </a:p>
          <a:p>
            <a:r>
              <a:rPr lang="en-US" sz="2000" dirty="0"/>
              <a:t>President</a:t>
            </a:r>
          </a:p>
        </p:txBody>
      </p:sp>
    </p:spTree>
    <p:extLst>
      <p:ext uri="{BB962C8B-B14F-4D97-AF65-F5344CB8AC3E}">
        <p14:creationId xmlns:p14="http://schemas.microsoft.com/office/powerpoint/2010/main" val="37651816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E3204CB1-B8BD-9DC7-0760-805743329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DE011D4-C7DC-F1B6-D621-610E79DFE0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Services and Benefits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5B1283-057C-D1F9-667A-3EEBAC74B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206129"/>
              </p:ext>
            </p:extLst>
          </p:nvPr>
        </p:nvGraphicFramePr>
        <p:xfrm>
          <a:off x="410934" y="1560399"/>
          <a:ext cx="11370131" cy="39426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152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243943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265714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3028951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get exposure to other professionals with a common interest in helping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impress potential clients and employers by contributing to a non-profit that benefits the tech services industry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bounce relevant ideas off the consortium network, and benefit from ideas shared by others in the network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Consortium leaders and paid subscribers impress potential clients and employers by helping to curate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Paid subscribers impress potential clients and employers by publishing synopses of potential challenges, and exponential solutions to priority challenges,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Paid subscribers publish synopses of proven exponential solutions to priority challenges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586848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Patron organizations begin investing to explore potential solutions for priority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Patron organizations invest to scale proven solutions for priority challenges across the industry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462B9D62-4B92-3A8C-DA14-A225E2194D1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5092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66EE5AE-C5CE-93B0-55EF-D1BEC8C36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F34D7B2E-C24E-2FC1-6042-2C0F5A4C2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Building Momentum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7F50A2-0C5F-7265-363E-DF79C62015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940965"/>
              </p:ext>
            </p:extLst>
          </p:nvPr>
        </p:nvGraphicFramePr>
        <p:xfrm>
          <a:off x="410934" y="1560399"/>
          <a:ext cx="11258552" cy="31822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0218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14553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2866752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meet with friends to establish the initial consortium network and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Launch the consortium on LinkedIn with a critical mass of consortium collaborators who begin identifying potential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initial collaborators reach out to colleagues to expand the network to 1,000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invite a subset of influencers to participate in advisory boards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advisory board members identify 3 initial patron organizations who make grants to fund Industry Innovation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Leader helps collaborators reach out to colleagues to triple the size of the network to 3,000 members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Open Knowledge Sharing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paid subscribers to develop the AccelRR8 Body of Knowledge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 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 organizations and paid subscribers to explore potential exponential solutions to priority challenges 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 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advertise the impact the consortium is beginning to have on the industry, expanding to 30 patrons and 10,000 collaborators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A837E304-B0E0-78B0-2263-1A31EE4658E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1750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4DA6CD27-9E25-727A-BAF4-DE5B8187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A7EE97C-9354-67AA-BD7E-DF3C7509E1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Finance and Responsibility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C1DA23-72BB-F2F4-A1A5-6F5D3E4CFD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630152"/>
              </p:ext>
            </p:extLst>
          </p:nvPr>
        </p:nvGraphicFramePr>
        <p:xfrm>
          <a:off x="410934" y="1560399"/>
          <a:ext cx="11258552" cy="27844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1450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5610062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801584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invests to register AccelRR8 Consortium as a non-profit organization in Maryland, file taxes, and ensure compliance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Leadership positions and activities are filled by volunteers who donate time/money/resources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3 organizations become initial patrons by making modest grants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enrolls a subset of collaborators as paid subscribers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persuades 10 organizations to become patrons by making modest grants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Initial funds are used for marketing and to explore potential exponential solutions to priority Tech Services industry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persuades 30 organizations to become patrons by making grants in a tiered structure (diamond, gold, silver, etc.)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grant funds to scale proven exponential solutions 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fund media and analyst relations activities 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Certain leadership, marketing, and support activities are filled by paid employees on a part-time or full-time basis depending on the nature and criticality of the work (e.g., treasury, compliance)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7FEDDB3B-2B33-FC16-9957-17D50DC8B78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90411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C7E20A72-1F42-3D0E-9456-12A7AB8AC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39B931-8CE4-CC21-08BD-2A59B12D8989}"/>
              </a:ext>
            </a:extLst>
          </p:cNvPr>
          <p:cNvSpPr/>
          <p:nvPr/>
        </p:nvSpPr>
        <p:spPr>
          <a:xfrm>
            <a:off x="3230880" y="4976654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B0782174-04F8-634B-0B2E-FA04203AE6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2F718659-9E92-DB57-5D05-71670796977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8E8A7B6-C8A3-91B1-C3A0-85015C8AA2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Ambition and Opportunity</a:t>
            </a:r>
          </a:p>
          <a:p>
            <a:r>
              <a:rPr lang="en-US" dirty="0"/>
              <a:t>Our Center of Gravity</a:t>
            </a:r>
          </a:p>
          <a:p>
            <a:r>
              <a:rPr lang="en-US" dirty="0"/>
              <a:t>Scope of Our Services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Timeline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2025 Roadmap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0226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859826"/>
              </p:ext>
            </p:extLst>
          </p:nvPr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9738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CF0030E-C778-6057-7F00-D6449781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13A3A61-4044-D39A-7839-F3AEFE0C2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2025 Roadmap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55B0BF-5869-4C17-DDB9-4330FF90D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198416"/>
              </p:ext>
            </p:extLst>
          </p:nvPr>
        </p:nvGraphicFramePr>
        <p:xfrm>
          <a:off x="410934" y="1560399"/>
          <a:ext cx="11370132" cy="48515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2025 Q1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2025 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900682">
                <a:tc>
                  <a:txBody>
                    <a:bodyPr/>
                    <a:lstStyle/>
                    <a:p>
                      <a:r>
                        <a:rPr lang="en-US" sz="2000" b="1" dirty="0"/>
                        <a:t>All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1597007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Collaborators to 100 via the Board of Directors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Groups)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Collaborators to 300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Collaborators to 300 and then to 1,000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TSIA leaders how they help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E1AC71C2-3A98-1EDD-95E0-0996A2B5338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125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46832</TotalTime>
  <Words>4053</Words>
  <Application>Microsoft Macintosh PowerPoint</Application>
  <PresentationFormat>Widescreen</PresentationFormat>
  <Paragraphs>503</Paragraphs>
  <Slides>30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-apple-system</vt:lpstr>
      <vt:lpstr>Aptos</vt:lpstr>
      <vt:lpstr>Aptos Display</vt:lpstr>
      <vt:lpstr>Arial</vt:lpstr>
      <vt:lpstr>Calibri</vt:lpstr>
      <vt:lpstr>Helvetica Neue</vt:lpstr>
      <vt:lpstr>Wingdings</vt:lpstr>
      <vt:lpstr>Office Theme</vt:lpstr>
      <vt:lpstr>1_Office Theme</vt:lpstr>
      <vt:lpstr>2_Office Theme</vt:lpstr>
      <vt:lpstr>  Organizational Strategy for  AccelRR8 Consortium NonProfit </vt:lpstr>
      <vt:lpstr>AccelRR8 Consortium Strategy</vt:lpstr>
      <vt:lpstr>Consortium Intent</vt:lpstr>
      <vt:lpstr>Consortium Ambition</vt:lpstr>
      <vt:lpstr>Realizing Our Ambition Exponential improvements in Tech Services that help humanity</vt:lpstr>
      <vt:lpstr>Consortium Opportunity</vt:lpstr>
      <vt:lpstr>AccelRR8 Consortium Strategy</vt:lpstr>
      <vt:lpstr>Growing Value Exponentially</vt:lpstr>
      <vt:lpstr>PowerPoint Presentation</vt:lpstr>
      <vt:lpstr>PowerPoint Presentation</vt:lpstr>
      <vt:lpstr>AccelRR8 Consortium Strategy</vt:lpstr>
      <vt:lpstr>Consortium Orientation</vt:lpstr>
      <vt:lpstr>Consortium Peers</vt:lpstr>
      <vt:lpstr>Consortium Services</vt:lpstr>
      <vt:lpstr>Consortium Model (1/2)</vt:lpstr>
      <vt:lpstr>Consortium Model (2/2)</vt:lpstr>
      <vt:lpstr>AccelRR8 Consortium Strategy</vt:lpstr>
      <vt:lpstr>Consortium Success Factors</vt:lpstr>
      <vt:lpstr>Consortium Values Stakeholders appreciate and want to associate with our values</vt:lpstr>
      <vt:lpstr>Working with AccelRR8 LLC Stakeholders appreciate and want to associate with our values</vt:lpstr>
      <vt:lpstr>Consortium Culture Stakeholders appreciate and want to associate with our culture</vt:lpstr>
      <vt:lpstr>AccelRR8 Consortium Strategy</vt:lpstr>
      <vt:lpstr>Consortium 3-Horizon Impact Strategy Exponential Improvements in the Tech Services Industry</vt:lpstr>
      <vt:lpstr>Consortium Leadership</vt:lpstr>
      <vt:lpstr>Services and Benefits</vt:lpstr>
      <vt:lpstr>Building Momentum</vt:lpstr>
      <vt:lpstr>Finance and Responsibility</vt:lpstr>
      <vt:lpstr>AccelRR8 Consortium Strategy</vt:lpstr>
      <vt:lpstr>PowerPoint Presentation</vt:lpstr>
      <vt:lpstr>2025 Roadmap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152</cp:revision>
  <cp:lastPrinted>2024-10-01T14:48:34Z</cp:lastPrinted>
  <dcterms:created xsi:type="dcterms:W3CDTF">2023-08-22T19:09:59Z</dcterms:created>
  <dcterms:modified xsi:type="dcterms:W3CDTF">2025-02-16T21:27:20Z</dcterms:modified>
</cp:coreProperties>
</file>