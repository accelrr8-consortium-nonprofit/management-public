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403" r:id="rId3"/>
    <p:sldId id="412" r:id="rId4"/>
    <p:sldId id="273" r:id="rId5"/>
    <p:sldId id="416" r:id="rId6"/>
    <p:sldId id="404" r:id="rId7"/>
    <p:sldId id="277" r:id="rId8"/>
    <p:sldId id="262" r:id="rId9"/>
    <p:sldId id="405" r:id="rId10"/>
    <p:sldId id="275" r:id="rId11"/>
    <p:sldId id="278" r:id="rId12"/>
    <p:sldId id="406" r:id="rId13"/>
    <p:sldId id="274" r:id="rId14"/>
    <p:sldId id="41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E8E5638-AF02-574F-973A-0BA5E742AE27}">
          <p14:sldIdLst>
            <p14:sldId id="256"/>
          </p14:sldIdLst>
        </p14:section>
        <p14:section name="Intent and Ambition" id="{FFA9F242-8AD8-EF42-8D73-529595A2924A}">
          <p14:sldIdLst>
            <p14:sldId id="403"/>
            <p14:sldId id="412"/>
            <p14:sldId id="273"/>
            <p14:sldId id="416"/>
          </p14:sldIdLst>
        </p14:section>
        <p14:section name="Consortium Opportunity" id="{05194138-A3ED-064B-861C-0547F49986DE}">
          <p14:sldIdLst>
            <p14:sldId id="404"/>
            <p14:sldId id="277"/>
            <p14:sldId id="262"/>
          </p14:sldIdLst>
        </p14:section>
        <p14:section name="Success Factors" id="{A8607958-67BE-0D41-AF22-F251A2EEF798}">
          <p14:sldIdLst>
            <p14:sldId id="405"/>
            <p14:sldId id="275"/>
            <p14:sldId id="278"/>
          </p14:sldIdLst>
        </p14:section>
        <p14:section name="3-Horizon Roadmap for the 2020s" id="{BDC3B2AF-CB8F-1E49-8E65-5336AA748889}">
          <p14:sldIdLst>
            <p14:sldId id="406"/>
            <p14:sldId id="274"/>
            <p14:sldId id="418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5" roundtripDataSignature="AMtx7mhwEp+Eio5qReXqYqUwMP31HB0A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DD2A7E-913D-4848-8702-F40BD19E1117}" v="38" dt="2026-08-14T19:45:02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72"/>
    <p:restoredTop sz="96203"/>
  </p:normalViewPr>
  <p:slideViewPr>
    <p:cSldViewPr snapToGrid="0">
      <p:cViewPr varScale="1">
        <p:scale>
          <a:sx n="142" d="100"/>
          <a:sy n="142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 Reba" userId="55db41ab6eb3f845" providerId="LiveId" clId="{0E19DA16-244C-5B50-BE0F-52911DD4CA7E}"/>
    <pc:docChg chg="undo redo custSel addSld delSld modSld sldOrd delMainMaster delSection modSection">
      <pc:chgData name="Rich Reba" userId="55db41ab6eb3f845" providerId="LiveId" clId="{0E19DA16-244C-5B50-BE0F-52911DD4CA7E}" dt="2026-08-14T19:45:05.395" v="1318" actId="20577"/>
      <pc:docMkLst>
        <pc:docMk/>
      </pc:docMkLst>
      <pc:sldChg chg="delSp modSp mod">
        <pc:chgData name="Rich Reba" userId="55db41ab6eb3f845" providerId="LiveId" clId="{0E19DA16-244C-5B50-BE0F-52911DD4CA7E}" dt="2026-08-06T18:58:24.758" v="730" actId="478"/>
        <pc:sldMkLst>
          <pc:docMk/>
          <pc:sldMk cId="0" sldId="256"/>
        </pc:sldMkLst>
        <pc:spChg chg="mod">
          <ac:chgData name="Rich Reba" userId="55db41ab6eb3f845" providerId="LiveId" clId="{0E19DA16-244C-5B50-BE0F-52911DD4CA7E}" dt="2026-08-06T17:16:55.137" v="137" actId="20577"/>
          <ac:spMkLst>
            <pc:docMk/>
            <pc:sldMk cId="0" sldId="256"/>
            <ac:spMk id="91" creationId="{00000000-0000-0000-0000-000000000000}"/>
          </ac:spMkLst>
        </pc:spChg>
      </pc:sldChg>
      <pc:sldChg chg="delSp mod">
        <pc:chgData name="Rich Reba" userId="55db41ab6eb3f845" providerId="LiveId" clId="{0E19DA16-244C-5B50-BE0F-52911DD4CA7E}" dt="2026-08-06T18:58:44.221" v="737" actId="478"/>
        <pc:sldMkLst>
          <pc:docMk/>
          <pc:sldMk cId="2353389302" sldId="262"/>
        </pc:sldMkLst>
      </pc:sldChg>
      <pc:sldChg chg="delSp modSp mod">
        <pc:chgData name="Rich Reba" userId="55db41ab6eb3f845" providerId="LiveId" clId="{0E19DA16-244C-5B50-BE0F-52911DD4CA7E}" dt="2026-08-06T18:58:32.405" v="733" actId="478"/>
        <pc:sldMkLst>
          <pc:docMk/>
          <pc:sldMk cId="4274695656" sldId="273"/>
        </pc:sldMkLst>
        <pc:spChg chg="mod">
          <ac:chgData name="Rich Reba" userId="55db41ab6eb3f845" providerId="LiveId" clId="{0E19DA16-244C-5B50-BE0F-52911DD4CA7E}" dt="2026-08-06T16:49:37.012" v="11" actId="20577"/>
          <ac:spMkLst>
            <pc:docMk/>
            <pc:sldMk cId="4274695656" sldId="273"/>
            <ac:spMk id="4" creationId="{BDC3AF1A-7A80-3B3D-294A-E26C982690C3}"/>
          </ac:spMkLst>
        </pc:spChg>
      </pc:sldChg>
      <pc:sldChg chg="delSp modSp mod">
        <pc:chgData name="Rich Reba" userId="55db41ab6eb3f845" providerId="LiveId" clId="{0E19DA16-244C-5B50-BE0F-52911DD4CA7E}" dt="2026-08-06T18:59:28.154" v="750" actId="478"/>
        <pc:sldMkLst>
          <pc:docMk/>
          <pc:sldMk cId="1656586467" sldId="274"/>
        </pc:sldMkLst>
        <pc:spChg chg="mod">
          <ac:chgData name="Rich Reba" userId="55db41ab6eb3f845" providerId="LiveId" clId="{0E19DA16-244C-5B50-BE0F-52911DD4CA7E}" dt="2026-08-06T16:55:26.775" v="37" actId="20577"/>
          <ac:spMkLst>
            <pc:docMk/>
            <pc:sldMk cId="1656586467" sldId="274"/>
            <ac:spMk id="125" creationId="{00000000-0000-0000-0000-000000000000}"/>
          </ac:spMkLst>
        </pc:spChg>
        <pc:spChg chg="mod">
          <ac:chgData name="Rich Reba" userId="55db41ab6eb3f845" providerId="LiveId" clId="{0E19DA16-244C-5B50-BE0F-52911DD4CA7E}" dt="2026-08-06T16:55:29.948" v="38" actId="20577"/>
          <ac:spMkLst>
            <pc:docMk/>
            <pc:sldMk cId="1656586467" sldId="274"/>
            <ac:spMk id="126" creationId="{00000000-0000-0000-0000-000000000000}"/>
          </ac:spMkLst>
        </pc:spChg>
        <pc:spChg chg="mod">
          <ac:chgData name="Rich Reba" userId="55db41ab6eb3f845" providerId="LiveId" clId="{0E19DA16-244C-5B50-BE0F-52911DD4CA7E}" dt="2026-08-06T16:55:32.778" v="39" actId="20577"/>
          <ac:spMkLst>
            <pc:docMk/>
            <pc:sldMk cId="1656586467" sldId="274"/>
            <ac:spMk id="127" creationId="{00000000-0000-0000-0000-000000000000}"/>
          </ac:spMkLst>
        </pc:spChg>
        <pc:spChg chg="mod">
          <ac:chgData name="Rich Reba" userId="55db41ab6eb3f845" providerId="LiveId" clId="{0E19DA16-244C-5B50-BE0F-52911DD4CA7E}" dt="2026-08-06T16:55:49.115" v="78" actId="20577"/>
          <ac:spMkLst>
            <pc:docMk/>
            <pc:sldMk cId="1656586467" sldId="274"/>
            <ac:spMk id="128" creationId="{00000000-0000-0000-0000-000000000000}"/>
          </ac:spMkLst>
        </pc:spChg>
        <pc:spChg chg="mod">
          <ac:chgData name="Rich Reba" userId="55db41ab6eb3f845" providerId="LiveId" clId="{0E19DA16-244C-5B50-BE0F-52911DD4CA7E}" dt="2026-08-06T16:55:51.450" v="80" actId="20577"/>
          <ac:spMkLst>
            <pc:docMk/>
            <pc:sldMk cId="1656586467" sldId="274"/>
            <ac:spMk id="129" creationId="{00000000-0000-0000-0000-000000000000}"/>
          </ac:spMkLst>
        </pc:spChg>
        <pc:spChg chg="mod">
          <ac:chgData name="Rich Reba" userId="55db41ab6eb3f845" providerId="LiveId" clId="{0E19DA16-244C-5B50-BE0F-52911DD4CA7E}" dt="2026-08-06T16:55:53.624" v="82" actId="20577"/>
          <ac:spMkLst>
            <pc:docMk/>
            <pc:sldMk cId="1656586467" sldId="274"/>
            <ac:spMk id="130" creationId="{00000000-0000-0000-0000-000000000000}"/>
          </ac:spMkLst>
        </pc:spChg>
      </pc:sldChg>
      <pc:sldChg chg="delSp modSp mod">
        <pc:chgData name="Rich Reba" userId="55db41ab6eb3f845" providerId="LiveId" clId="{0E19DA16-244C-5B50-BE0F-52911DD4CA7E}" dt="2026-08-14T12:36:12.470" v="1291"/>
        <pc:sldMkLst>
          <pc:docMk/>
          <pc:sldMk cId="2269987968" sldId="275"/>
        </pc:sldMkLst>
        <pc:spChg chg="mod">
          <ac:chgData name="Rich Reba" userId="55db41ab6eb3f845" providerId="LiveId" clId="{0E19DA16-244C-5B50-BE0F-52911DD4CA7E}" dt="2026-08-14T12:36:12.470" v="1291"/>
          <ac:spMkLst>
            <pc:docMk/>
            <pc:sldMk cId="2269987968" sldId="275"/>
            <ac:spMk id="96" creationId="{00000000-0000-0000-0000-000000000000}"/>
          </ac:spMkLst>
        </pc:spChg>
        <pc:graphicFrameChg chg="modGraphic">
          <ac:chgData name="Rich Reba" userId="55db41ab6eb3f845" providerId="LiveId" clId="{0E19DA16-244C-5B50-BE0F-52911DD4CA7E}" dt="2026-08-06T18:46:46.167" v="416" actId="20577"/>
          <ac:graphicFrameMkLst>
            <pc:docMk/>
            <pc:sldMk cId="2269987968" sldId="275"/>
            <ac:graphicFrameMk id="3" creationId="{9D4C0F19-B23F-926A-2ED3-6B3394974333}"/>
          </ac:graphicFrameMkLst>
        </pc:graphicFrameChg>
      </pc:sldChg>
      <pc:sldChg chg="delSp modSp mod ord">
        <pc:chgData name="Rich Reba" userId="55db41ab6eb3f845" providerId="LiveId" clId="{0E19DA16-244C-5B50-BE0F-52911DD4CA7E}" dt="2026-08-14T12:35:41.701" v="1290"/>
        <pc:sldMkLst>
          <pc:docMk/>
          <pc:sldMk cId="2006733346" sldId="277"/>
        </pc:sldMkLst>
        <pc:spChg chg="mod">
          <ac:chgData name="Rich Reba" userId="55db41ab6eb3f845" providerId="LiveId" clId="{0E19DA16-244C-5B50-BE0F-52911DD4CA7E}" dt="2026-08-14T12:35:41.701" v="1290"/>
          <ac:spMkLst>
            <pc:docMk/>
            <pc:sldMk cId="2006733346" sldId="277"/>
            <ac:spMk id="96" creationId="{00000000-0000-0000-0000-000000000000}"/>
          </ac:spMkLst>
        </pc:spChg>
        <pc:graphicFrameChg chg="modGraphic">
          <ac:chgData name="Rich Reba" userId="55db41ab6eb3f845" providerId="LiveId" clId="{0E19DA16-244C-5B50-BE0F-52911DD4CA7E}" dt="2026-08-06T16:50:36.865" v="15" actId="20577"/>
          <ac:graphicFrameMkLst>
            <pc:docMk/>
            <pc:sldMk cId="2006733346" sldId="277"/>
            <ac:graphicFrameMk id="5" creationId="{4B70F3A5-8062-29A2-30D0-2783CB3DFCCA}"/>
          </ac:graphicFrameMkLst>
        </pc:graphicFrameChg>
      </pc:sldChg>
      <pc:sldChg chg="addSp delSp modSp mod ord">
        <pc:chgData name="Rich Reba" userId="55db41ab6eb3f845" providerId="LiveId" clId="{0E19DA16-244C-5B50-BE0F-52911DD4CA7E}" dt="2026-08-06T19:10:48.376" v="1135" actId="20578"/>
        <pc:sldMkLst>
          <pc:docMk/>
          <pc:sldMk cId="823924525" sldId="278"/>
        </pc:sldMkLst>
        <pc:graphicFrameChg chg="mod modGraphic">
          <ac:chgData name="Rich Reba" userId="55db41ab6eb3f845" providerId="LiveId" clId="{0E19DA16-244C-5B50-BE0F-52911DD4CA7E}" dt="2026-08-06T19:04:41.257" v="1121" actId="20577"/>
          <ac:graphicFrameMkLst>
            <pc:docMk/>
            <pc:sldMk cId="823924525" sldId="278"/>
            <ac:graphicFrameMk id="7" creationId="{3AA794A3-D78C-B966-F5D5-7A882C213354}"/>
          </ac:graphicFrameMkLst>
        </pc:graphicFrameChg>
        <pc:picChg chg="mod">
          <ac:chgData name="Rich Reba" userId="55db41ab6eb3f845" providerId="LiveId" clId="{0E19DA16-244C-5B50-BE0F-52911DD4CA7E}" dt="2026-08-06T18:49:39.081" v="422" actId="1076"/>
          <ac:picMkLst>
            <pc:docMk/>
            <pc:sldMk cId="823924525" sldId="278"/>
            <ac:picMk id="1028" creationId="{F2FBAC28-01AC-81F3-75E0-948EBC9FCB9D}"/>
          </ac:picMkLst>
        </pc:picChg>
        <pc:picChg chg="add mod">
          <ac:chgData name="Rich Reba" userId="55db41ab6eb3f845" providerId="LiveId" clId="{0E19DA16-244C-5B50-BE0F-52911DD4CA7E}" dt="2026-08-06T18:53:12.164" v="529" actId="14100"/>
          <ac:picMkLst>
            <pc:docMk/>
            <pc:sldMk cId="823924525" sldId="278"/>
            <ac:picMk id="1030" creationId="{3ECAF82E-5374-0B4F-1B87-BE9366670338}"/>
          </ac:picMkLst>
        </pc:picChg>
        <pc:picChg chg="add mod">
          <ac:chgData name="Rich Reba" userId="55db41ab6eb3f845" providerId="LiveId" clId="{0E19DA16-244C-5B50-BE0F-52911DD4CA7E}" dt="2026-08-06T18:58:00.693" v="728" actId="1076"/>
          <ac:picMkLst>
            <pc:docMk/>
            <pc:sldMk cId="823924525" sldId="278"/>
            <ac:picMk id="1032" creationId="{9412F3F4-9961-A04B-F29F-AE70F881BF9D}"/>
          </ac:picMkLst>
        </pc:picChg>
        <pc:picChg chg="mod">
          <ac:chgData name="Rich Reba" userId="55db41ab6eb3f845" providerId="LiveId" clId="{0E19DA16-244C-5B50-BE0F-52911DD4CA7E}" dt="2026-08-06T18:56:50.945" v="723" actId="1076"/>
          <ac:picMkLst>
            <pc:docMk/>
            <pc:sldMk cId="823924525" sldId="278"/>
            <ac:picMk id="1036" creationId="{2136F508-9909-76DB-E345-E40EB6279973}"/>
          </ac:picMkLst>
        </pc:picChg>
        <pc:picChg chg="mod">
          <ac:chgData name="Rich Reba" userId="55db41ab6eb3f845" providerId="LiveId" clId="{0E19DA16-244C-5B50-BE0F-52911DD4CA7E}" dt="2026-08-06T18:58:04.460" v="729" actId="1076"/>
          <ac:picMkLst>
            <pc:docMk/>
            <pc:sldMk cId="823924525" sldId="278"/>
            <ac:picMk id="1038" creationId="{57B0734D-BE0E-D5FA-AC6A-C87310AA285C}"/>
          </ac:picMkLst>
        </pc:picChg>
      </pc:sldChg>
      <pc:sldChg chg="delSp modSp mod">
        <pc:chgData name="Rich Reba" userId="55db41ab6eb3f845" providerId="LiveId" clId="{0E19DA16-244C-5B50-BE0F-52911DD4CA7E}" dt="2026-08-14T12:37:00.218" v="1293" actId="14100"/>
        <pc:sldMkLst>
          <pc:docMk/>
          <pc:sldMk cId="1483759223" sldId="403"/>
        </pc:sldMkLst>
        <pc:spChg chg="mod">
          <ac:chgData name="Rich Reba" userId="55db41ab6eb3f845" providerId="LiveId" clId="{0E19DA16-244C-5B50-BE0F-52911DD4CA7E}" dt="2026-08-14T12:36:44.113" v="1292"/>
          <ac:spMkLst>
            <pc:docMk/>
            <pc:sldMk cId="1483759223" sldId="403"/>
            <ac:spMk id="6" creationId="{F4337B15-7E23-2EDE-6CF5-D3B89F80D6EE}"/>
          </ac:spMkLst>
        </pc:spChg>
        <pc:spChg chg="mod">
          <ac:chgData name="Rich Reba" userId="55db41ab6eb3f845" providerId="LiveId" clId="{0E19DA16-244C-5B50-BE0F-52911DD4CA7E}" dt="2026-08-14T12:37:00.218" v="1293" actId="14100"/>
          <ac:spMkLst>
            <pc:docMk/>
            <pc:sldMk cId="1483759223" sldId="403"/>
            <ac:spMk id="9" creationId="{FC592DD1-87F5-D132-4E6D-9E6BD39D8684}"/>
          </ac:spMkLst>
        </pc:spChg>
      </pc:sldChg>
      <pc:sldChg chg="delSp modSp mod">
        <pc:chgData name="Rich Reba" userId="55db41ab6eb3f845" providerId="LiveId" clId="{0E19DA16-244C-5B50-BE0F-52911DD4CA7E}" dt="2026-08-14T12:37:09.645" v="1294" actId="14100"/>
        <pc:sldMkLst>
          <pc:docMk/>
          <pc:sldMk cId="3748971185" sldId="404"/>
        </pc:sldMkLst>
        <pc:spChg chg="mod">
          <ac:chgData name="Rich Reba" userId="55db41ab6eb3f845" providerId="LiveId" clId="{0E19DA16-244C-5B50-BE0F-52911DD4CA7E}" dt="2026-08-14T12:36:44.113" v="1292"/>
          <ac:spMkLst>
            <pc:docMk/>
            <pc:sldMk cId="3748971185" sldId="404"/>
            <ac:spMk id="6" creationId="{9B95851A-A86B-94C8-AC0F-62639EF5B78F}"/>
          </ac:spMkLst>
        </pc:spChg>
        <pc:spChg chg="mod">
          <ac:chgData name="Rich Reba" userId="55db41ab6eb3f845" providerId="LiveId" clId="{0E19DA16-244C-5B50-BE0F-52911DD4CA7E}" dt="2026-08-14T12:37:09.645" v="1294" actId="14100"/>
          <ac:spMkLst>
            <pc:docMk/>
            <pc:sldMk cId="3748971185" sldId="404"/>
            <ac:spMk id="9" creationId="{4888346C-64E6-5130-171F-82AB0956539C}"/>
          </ac:spMkLst>
        </pc:spChg>
      </pc:sldChg>
      <pc:sldChg chg="delSp modSp mod ord">
        <pc:chgData name="Rich Reba" userId="55db41ab6eb3f845" providerId="LiveId" clId="{0E19DA16-244C-5B50-BE0F-52911DD4CA7E}" dt="2026-08-14T12:37:20.962" v="1295" actId="14100"/>
        <pc:sldMkLst>
          <pc:docMk/>
          <pc:sldMk cId="635661509" sldId="405"/>
        </pc:sldMkLst>
        <pc:spChg chg="mod">
          <ac:chgData name="Rich Reba" userId="55db41ab6eb3f845" providerId="LiveId" clId="{0E19DA16-244C-5B50-BE0F-52911DD4CA7E}" dt="2026-08-14T12:36:44.113" v="1292"/>
          <ac:spMkLst>
            <pc:docMk/>
            <pc:sldMk cId="635661509" sldId="405"/>
            <ac:spMk id="6" creationId="{E2FF06AE-D06F-A2CC-7814-895F8CA31E06}"/>
          </ac:spMkLst>
        </pc:spChg>
        <pc:spChg chg="mod">
          <ac:chgData name="Rich Reba" userId="55db41ab6eb3f845" providerId="LiveId" clId="{0E19DA16-244C-5B50-BE0F-52911DD4CA7E}" dt="2026-08-14T12:37:20.962" v="1295" actId="14100"/>
          <ac:spMkLst>
            <pc:docMk/>
            <pc:sldMk cId="635661509" sldId="405"/>
            <ac:spMk id="9" creationId="{19E67006-FB22-3E51-1C43-10DE8E8FD432}"/>
          </ac:spMkLst>
        </pc:spChg>
      </pc:sldChg>
      <pc:sldChg chg="delSp modSp mod ord">
        <pc:chgData name="Rich Reba" userId="55db41ab6eb3f845" providerId="LiveId" clId="{0E19DA16-244C-5B50-BE0F-52911DD4CA7E}" dt="2026-08-14T12:37:33.595" v="1296" actId="14100"/>
        <pc:sldMkLst>
          <pc:docMk/>
          <pc:sldMk cId="2348277429" sldId="406"/>
        </pc:sldMkLst>
        <pc:spChg chg="mod">
          <ac:chgData name="Rich Reba" userId="55db41ab6eb3f845" providerId="LiveId" clId="{0E19DA16-244C-5B50-BE0F-52911DD4CA7E}" dt="2026-08-14T12:36:44.113" v="1292"/>
          <ac:spMkLst>
            <pc:docMk/>
            <pc:sldMk cId="2348277429" sldId="406"/>
            <ac:spMk id="6" creationId="{A775EEE6-C4D2-41AC-5ADA-44567F646CBC}"/>
          </ac:spMkLst>
        </pc:spChg>
        <pc:spChg chg="mod">
          <ac:chgData name="Rich Reba" userId="55db41ab6eb3f845" providerId="LiveId" clId="{0E19DA16-244C-5B50-BE0F-52911DD4CA7E}" dt="2026-08-14T12:37:33.595" v="1296" actId="14100"/>
          <ac:spMkLst>
            <pc:docMk/>
            <pc:sldMk cId="2348277429" sldId="406"/>
            <ac:spMk id="9" creationId="{5531CE66-9A8C-CD7A-3B1E-AACECB19FDC5}"/>
          </ac:spMkLst>
        </pc:spChg>
      </pc:sldChg>
      <pc:sldChg chg="delSp mod">
        <pc:chgData name="Rich Reba" userId="55db41ab6eb3f845" providerId="LiveId" clId="{0E19DA16-244C-5B50-BE0F-52911DD4CA7E}" dt="2026-08-06T18:58:29.737" v="732" actId="478"/>
        <pc:sldMkLst>
          <pc:docMk/>
          <pc:sldMk cId="4221448727" sldId="412"/>
        </pc:sldMkLst>
      </pc:sldChg>
      <pc:sldChg chg="delSp mod">
        <pc:chgData name="Rich Reba" userId="55db41ab6eb3f845" providerId="LiveId" clId="{0E19DA16-244C-5B50-BE0F-52911DD4CA7E}" dt="2026-08-06T18:58:36.383" v="734" actId="478"/>
        <pc:sldMkLst>
          <pc:docMk/>
          <pc:sldMk cId="2033129414" sldId="416"/>
        </pc:sldMkLst>
      </pc:sldChg>
      <pc:sldChg chg="addSp modSp add mod">
        <pc:chgData name="Rich Reba" userId="55db41ab6eb3f845" providerId="LiveId" clId="{0E19DA16-244C-5B50-BE0F-52911DD4CA7E}" dt="2026-08-14T19:45:05.395" v="1318" actId="20577"/>
        <pc:sldMkLst>
          <pc:docMk/>
          <pc:sldMk cId="3955824805" sldId="418"/>
        </pc:sldMkLst>
        <pc:spChg chg="add mod">
          <ac:chgData name="Rich Reba" userId="55db41ab6eb3f845" providerId="LiveId" clId="{0E19DA16-244C-5B50-BE0F-52911DD4CA7E}" dt="2026-08-14T19:44:34.315" v="1306" actId="2085"/>
          <ac:spMkLst>
            <pc:docMk/>
            <pc:sldMk cId="3955824805" sldId="418"/>
            <ac:spMk id="2" creationId="{ED98FCF8-CC99-548F-CF88-C67D15D697A4}"/>
          </ac:spMkLst>
        </pc:spChg>
        <pc:spChg chg="add mod">
          <ac:chgData name="Rich Reba" userId="55db41ab6eb3f845" providerId="LiveId" clId="{0E19DA16-244C-5B50-BE0F-52911DD4CA7E}" dt="2026-08-14T19:44:43.177" v="1309" actId="20577"/>
          <ac:spMkLst>
            <pc:docMk/>
            <pc:sldMk cId="3955824805" sldId="418"/>
            <ac:spMk id="3" creationId="{E3589252-6570-575A-164F-CA5FE013D01B}"/>
          </ac:spMkLst>
        </pc:spChg>
        <pc:spChg chg="add mod">
          <ac:chgData name="Rich Reba" userId="55db41ab6eb3f845" providerId="LiveId" clId="{0E19DA16-244C-5B50-BE0F-52911DD4CA7E}" dt="2026-08-14T19:44:49.883" v="1312" actId="20577"/>
          <ac:spMkLst>
            <pc:docMk/>
            <pc:sldMk cId="3955824805" sldId="418"/>
            <ac:spMk id="4" creationId="{F62977F1-FBE7-3164-8735-A9F4C63A9779}"/>
          </ac:spMkLst>
        </pc:spChg>
        <pc:spChg chg="add mod">
          <ac:chgData name="Rich Reba" userId="55db41ab6eb3f845" providerId="LiveId" clId="{0E19DA16-244C-5B50-BE0F-52911DD4CA7E}" dt="2026-08-14T19:44:56.619" v="1315" actId="20577"/>
          <ac:spMkLst>
            <pc:docMk/>
            <pc:sldMk cId="3955824805" sldId="418"/>
            <ac:spMk id="5" creationId="{F1846E38-7555-6EFB-EADE-E580F1C8185D}"/>
          </ac:spMkLst>
        </pc:spChg>
        <pc:spChg chg="add mod">
          <ac:chgData name="Rich Reba" userId="55db41ab6eb3f845" providerId="LiveId" clId="{0E19DA16-244C-5B50-BE0F-52911DD4CA7E}" dt="2026-08-14T19:45:05.395" v="1318" actId="20577"/>
          <ac:spMkLst>
            <pc:docMk/>
            <pc:sldMk cId="3955824805" sldId="418"/>
            <ac:spMk id="7" creationId="{E79BAC72-9A8F-A76A-0C60-2900991432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EEAF72C-AE74-0F00-C29C-57990C904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21FAF84-457C-37A0-C9BA-B8D06D28A3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DB586ED-56BF-00D2-7FB4-4F2E421946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2127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1112D23-4AAC-3A75-5D96-B2ADC6B57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1AC070A3-6067-E778-8B4A-EFC2F1AA8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1EBA8121-FE6D-FBA1-9CDD-269B72FD49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3315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8078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75B4E25-58E8-C718-BA6F-1901E4227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>
            <a:extLst>
              <a:ext uri="{FF2B5EF4-FFF2-40B4-BE49-F238E27FC236}">
                <a16:creationId xmlns:a16="http://schemas.microsoft.com/office/drawing/2014/main" id="{D14C76FB-9A7E-4173-AE87-AF6D2152E5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9F19230E-CE2A-DF82-0359-13AEC697B1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9479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14E60D69-CB0B-2EC8-736B-608ED2AFD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6BFADA1-3D29-C401-6E52-6B760BF7C8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EAB38DF-0D08-D5EB-6E1E-01C62A754E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4978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6396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4285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866C630-D6ED-60DE-3B1D-EE34247B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4FD2ECB6-E207-5A53-8F43-20BCE094C8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00F9D74-87FC-55E0-6E64-D48D3EA13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6828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7790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Such as what?</a:t>
            </a: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9796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747CDF71-034D-0406-BECE-512C13FB6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E0643EC1-10B7-D77D-047E-3E2758E6D7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790FD0EF-5CFE-9050-12E5-9E0F6BD03F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79530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8562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our most important near-term Product priorities</a:t>
            </a:r>
          </a:p>
        </p:txBody>
      </p:sp>
    </p:spTree>
    <p:extLst>
      <p:ext uri="{BB962C8B-B14F-4D97-AF65-F5344CB8AC3E}">
        <p14:creationId xmlns:p14="http://schemas.microsoft.com/office/powerpoint/2010/main" val="1523806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93725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9789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14D81E-56A4-A0A2-279F-38C8B334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09AF2-51A2-8243-A29F-680495D2BD2C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6CC58C-80F3-655C-2597-7F3B6D317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13EB0-DD69-7589-AA19-77F3D50D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7FD95-7936-6347-9F0B-72114436E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33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73" r:id="rId9"/>
    <p:sldLayoutId id="2147483674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blog.ucsusa.org/doug-boucher/world-population-growth-exponential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524000" y="2785676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Organizational Strategy for </a:t>
            </a:r>
            <a:br>
              <a:rPr lang="en-US" dirty="0"/>
            </a:br>
            <a:r>
              <a:rPr lang="en-US" dirty="0"/>
              <a:t>AccelRR8 Consortium NonProfit</a:t>
            </a:r>
            <a:br>
              <a:rPr lang="en-US" dirty="0"/>
            </a:br>
            <a:endParaRPr sz="40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79337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Rich Reba, President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August 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A67E1595-C197-576A-DAAB-BFE945B84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C592DD1-87F5-D132-4E6D-9E6BD39D8684}"/>
              </a:ext>
            </a:extLst>
          </p:cNvPr>
          <p:cNvSpPr/>
          <p:nvPr/>
        </p:nvSpPr>
        <p:spPr>
          <a:xfrm>
            <a:off x="3230879" y="2438400"/>
            <a:ext cx="6402977" cy="5242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CF20C096-BD53-FF2F-53DB-B3BD1758A2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AccelRR8 Consortium Strategy</a:t>
            </a:r>
            <a:endParaRPr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337B15-7E23-2EDE-6CF5-D3B89F80D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0880" y="1825625"/>
            <a:ext cx="7461504" cy="4351338"/>
          </a:xfrm>
        </p:spPr>
        <p:txBody>
          <a:bodyPr/>
          <a:lstStyle/>
          <a:p>
            <a:endParaRPr lang="en-US" dirty="0"/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Realizing Our Long Term Ambition</a:t>
            </a:r>
          </a:p>
          <a:p>
            <a:r>
              <a:rPr lang="en-US" dirty="0"/>
              <a:t>Staying Focused On Our Opportunity</a:t>
            </a:r>
          </a:p>
          <a:p>
            <a:r>
              <a:rPr lang="en-US" dirty="0"/>
              <a:t>Doing What It Takes To Succeed</a:t>
            </a:r>
          </a:p>
          <a:p>
            <a:r>
              <a:rPr lang="en-US" dirty="0"/>
              <a:t>Executing Our 3-Horizon Strategy</a:t>
            </a:r>
          </a:p>
        </p:txBody>
      </p:sp>
    </p:spTree>
    <p:extLst>
      <p:ext uri="{BB962C8B-B14F-4D97-AF65-F5344CB8AC3E}">
        <p14:creationId xmlns:p14="http://schemas.microsoft.com/office/powerpoint/2010/main" val="1483759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72416014-568A-72C2-C240-36838970C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BA8F98-08DF-7CA8-6A85-AC04093DD1F0}"/>
              </a:ext>
            </a:extLst>
          </p:cNvPr>
          <p:cNvSpPr/>
          <p:nvPr/>
        </p:nvSpPr>
        <p:spPr>
          <a:xfrm>
            <a:off x="2535936" y="5298059"/>
            <a:ext cx="8936736" cy="38341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AE178B-DC1C-4AD4-89C7-BC401FC83DCD}"/>
              </a:ext>
            </a:extLst>
          </p:cNvPr>
          <p:cNvSpPr/>
          <p:nvPr/>
        </p:nvSpPr>
        <p:spPr>
          <a:xfrm>
            <a:off x="2535936" y="3429000"/>
            <a:ext cx="8936736" cy="52120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A9CBDAAF-1E67-42CE-4285-599A4F8F55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Intent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9E2DC4-1E2C-B560-DF6A-BC25EE025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687069"/>
              </p:ext>
            </p:extLst>
          </p:nvPr>
        </p:nvGraphicFramePr>
        <p:xfrm>
          <a:off x="493830" y="1788224"/>
          <a:ext cx="10978842" cy="4015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4239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964603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228406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Our Big Question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Humanity is underserved by the Tech Services industry because few providers are growing value exponentially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Tech Services industry generates $1T+ revenue annually and serves all major industries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 few hyper-scalers, who grow value exponentially, are disrupting masses of traditional providers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Our founders have influenced change and grown value exponentially in the Tech Services Industry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Tech Services leaders in the US and other countries also want to grow value exponentially  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How can we scale our experience, knowledge, and influence to help the Tech Services industry, and thus humanity (including ourselves and our families), as much as we can?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173110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Our Big Idea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We intend to help the Tech Services industry help humanity by continuously: </a:t>
                      </a:r>
                    </a:p>
                    <a:p>
                      <a:pPr marL="2857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Cultivating a network of enterprising Tech Services leaders who want to grow value exponentially </a:t>
                      </a:r>
                    </a:p>
                    <a:p>
                      <a:pPr marL="2857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Curating a living Body of Knowledge that captures our collective learnings about how to do this</a:t>
                      </a:r>
                    </a:p>
                    <a:p>
                      <a:pPr marL="2857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Innovating across the network to advance the state of the art in growing value exponentially</a:t>
                      </a:r>
                    </a:p>
                    <a:p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We will create, operate, and scale a 501(c)3 non-profit organization to carry out our intent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448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Ambition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3AF1A-7A80-3B3D-294A-E26C98269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Who we are</a:t>
            </a:r>
          </a:p>
          <a:p>
            <a:r>
              <a:rPr lang="en-US" sz="1800" dirty="0"/>
              <a:t>Technology Services Industry Consortium </a:t>
            </a:r>
          </a:p>
          <a:p>
            <a:r>
              <a:rPr lang="en-US" sz="1800" dirty="0"/>
              <a:t>Founded in December 2023</a:t>
            </a:r>
          </a:p>
          <a:p>
            <a:r>
              <a:rPr lang="en-US" sz="1800" dirty="0"/>
              <a:t>Non-Profit Organization registered in Maryland</a:t>
            </a:r>
          </a:p>
          <a:p>
            <a:r>
              <a:rPr lang="en-US" sz="1800" dirty="0"/>
              <a:t>Rich Reba, President, is a former Fortune 200 </a:t>
            </a:r>
            <a:br>
              <a:rPr lang="en-US" sz="1800" dirty="0"/>
            </a:br>
            <a:r>
              <a:rPr lang="en-US" sz="1800" dirty="0"/>
              <a:t>C-suite Executive and Tech Consulting GM with current certifications (AI, Agile, CPO, etc.)</a:t>
            </a:r>
          </a:p>
          <a:p>
            <a:r>
              <a:rPr lang="en-US" sz="1800" dirty="0"/>
              <a:t>Licensed to use Rich Reba’s personal AccelRR8 brand, owned by AccelRR8 LLC</a:t>
            </a:r>
          </a:p>
          <a:p>
            <a:r>
              <a:rPr lang="en-US" sz="1800" dirty="0"/>
              <a:t>AccelRR8 LLC, a for-profit company, is not an affiliate.  It is a patron whose employees and associates are participants in the consortium</a:t>
            </a:r>
          </a:p>
          <a:p>
            <a:r>
              <a:rPr lang="en-US" sz="1800" dirty="0"/>
              <a:t>Asset-light with very low overhead costs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CB550-ECF5-EE2D-D835-8F66E64FAB2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198" y="1825625"/>
            <a:ext cx="5576779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What we want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Mission</a:t>
            </a:r>
            <a:r>
              <a:rPr lang="en-US" sz="1800" dirty="0"/>
              <a:t> is to </a:t>
            </a:r>
            <a:r>
              <a:rPr lang="en-US" sz="1800" dirty="0">
                <a:solidFill>
                  <a:schemeClr val="tx1"/>
                </a:solidFill>
              </a:rPr>
              <a:t>help enterprising Tech Services industry leaders harness proven accelerators</a:t>
            </a:r>
            <a:r>
              <a:rPr lang="en-US" sz="1800" dirty="0"/>
              <a:t> to </a:t>
            </a:r>
            <a:r>
              <a:rPr lang="en-US" sz="1800" b="1" dirty="0">
                <a:solidFill>
                  <a:srgbClr val="00B050"/>
                </a:solidFill>
              </a:rPr>
              <a:t>grow value exponentially at scale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Purpose</a:t>
            </a:r>
            <a:r>
              <a:rPr lang="en-US" sz="1800" b="1" dirty="0"/>
              <a:t> </a:t>
            </a:r>
            <a:r>
              <a:rPr lang="en-US" sz="1800" dirty="0"/>
              <a:t>is helping Tech Services industry leaders work together </a:t>
            </a:r>
            <a:r>
              <a:rPr lang="en-US" sz="1800" b="1" dirty="0">
                <a:solidFill>
                  <a:srgbClr val="00B050"/>
                </a:solidFill>
              </a:rPr>
              <a:t>to accelerate success</a:t>
            </a:r>
            <a:r>
              <a:rPr lang="en-US" sz="1800" dirty="0"/>
              <a:t> for themselves, their industry, and all humanity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Vision</a:t>
            </a:r>
            <a:r>
              <a:rPr lang="en-US" sz="1800" dirty="0"/>
              <a:t> is Tech Services industry leaders everywhere enjoying exponential success in their industry while helping humanity live increasingly better lives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Ambition</a:t>
            </a:r>
            <a:r>
              <a:rPr lang="en-US" sz="1800" dirty="0"/>
              <a:t> is to be the consortium that Tech Services industry leaders credit with </a:t>
            </a:r>
            <a:r>
              <a:rPr lang="en-US" sz="1800" b="1" dirty="0">
                <a:solidFill>
                  <a:srgbClr val="00B050"/>
                </a:solidFill>
              </a:rPr>
              <a:t>generating exponential improvements in industry effectiveness and impact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695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A13E193B-6E0D-5D99-121F-D57275F9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>
            <a:extLst>
              <a:ext uri="{FF2B5EF4-FFF2-40B4-BE49-F238E27FC236}">
                <a16:creationId xmlns:a16="http://schemas.microsoft.com/office/drawing/2014/main" id="{D9D65519-1E22-36D7-519E-73DFD7ED03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199" y="142503"/>
            <a:ext cx="8950569" cy="1595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Realizing Our Ambition</a:t>
            </a:r>
            <a:br>
              <a:rPr lang="en-US" dirty="0"/>
            </a:br>
            <a:r>
              <a:rPr lang="en-US" sz="2400" i="1" dirty="0"/>
              <a:t>Exponential improvements in Tech Services that help humanity</a:t>
            </a:r>
            <a:endParaRPr i="1" dirty="0"/>
          </a:p>
        </p:txBody>
      </p:sp>
      <p:pic>
        <p:nvPicPr>
          <p:cNvPr id="122" name="Google Shape;122;p5">
            <a:extLst>
              <a:ext uri="{FF2B5EF4-FFF2-40B4-BE49-F238E27FC236}">
                <a16:creationId xmlns:a16="http://schemas.microsoft.com/office/drawing/2014/main" id="{8AF8EFB8-4A47-E0B4-86BD-D8E4E7CE45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408" r="18813"/>
          <a:stretch/>
        </p:blipFill>
        <p:spPr>
          <a:xfrm>
            <a:off x="838199" y="2076056"/>
            <a:ext cx="10565973" cy="4362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5">
            <a:extLst>
              <a:ext uri="{FF2B5EF4-FFF2-40B4-BE49-F238E27FC236}">
                <a16:creationId xmlns:a16="http://schemas.microsoft.com/office/drawing/2014/main" id="{415B24BC-64E1-1433-DCA5-9BDC0A174B64}"/>
              </a:ext>
            </a:extLst>
          </p:cNvPr>
          <p:cNvCxnSpPr/>
          <p:nvPr/>
        </p:nvCxnSpPr>
        <p:spPr>
          <a:xfrm>
            <a:off x="4186166" y="2076056"/>
            <a:ext cx="0" cy="436267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24" name="Google Shape;124;p5">
            <a:extLst>
              <a:ext uri="{FF2B5EF4-FFF2-40B4-BE49-F238E27FC236}">
                <a16:creationId xmlns:a16="http://schemas.microsoft.com/office/drawing/2014/main" id="{FAC84FB7-4F94-C6CA-9590-AC6D3B846A65}"/>
              </a:ext>
            </a:extLst>
          </p:cNvPr>
          <p:cNvCxnSpPr/>
          <p:nvPr/>
        </p:nvCxnSpPr>
        <p:spPr>
          <a:xfrm>
            <a:off x="7901059" y="2076056"/>
            <a:ext cx="0" cy="436267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5">
            <a:extLst>
              <a:ext uri="{FF2B5EF4-FFF2-40B4-BE49-F238E27FC236}">
                <a16:creationId xmlns:a16="http://schemas.microsoft.com/office/drawing/2014/main" id="{EADA4391-F1A1-94B2-68E2-D3625B2989AA}"/>
              </a:ext>
            </a:extLst>
          </p:cNvPr>
          <p:cNvSpPr txBox="1"/>
          <p:nvPr/>
        </p:nvSpPr>
        <p:spPr>
          <a:xfrm>
            <a:off x="816934" y="2076056"/>
            <a:ext cx="324163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Start Small</a:t>
            </a:r>
            <a:b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Early Adopters</a:t>
            </a:r>
            <a:endParaRPr sz="1200" dirty="0"/>
          </a:p>
        </p:txBody>
      </p:sp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0159C0EA-2B86-B2BA-FE70-5EF658E93BD1}"/>
              </a:ext>
            </a:extLst>
          </p:cNvPr>
          <p:cNvSpPr txBox="1"/>
          <p:nvPr/>
        </p:nvSpPr>
        <p:spPr>
          <a:xfrm>
            <a:off x="4058567" y="2076056"/>
            <a:ext cx="40019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Scale Rapidly</a:t>
            </a:r>
            <a:b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Across the Chasm</a:t>
            </a:r>
            <a:endParaRPr sz="1200" dirty="0"/>
          </a:p>
        </p:txBody>
      </p:sp>
      <p:sp>
        <p:nvSpPr>
          <p:cNvPr id="127" name="Google Shape;127;p5">
            <a:extLst>
              <a:ext uri="{FF2B5EF4-FFF2-40B4-BE49-F238E27FC236}">
                <a16:creationId xmlns:a16="http://schemas.microsoft.com/office/drawing/2014/main" id="{45152FE4-0DCF-110E-FC59-4D257CC45985}"/>
              </a:ext>
            </a:extLst>
          </p:cNvPr>
          <p:cNvSpPr txBox="1"/>
          <p:nvPr/>
        </p:nvSpPr>
        <p:spPr>
          <a:xfrm>
            <a:off x="7932954" y="2076056"/>
            <a:ext cx="344995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 Big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with Mainstream Adoption</a:t>
            </a:r>
            <a:endParaRPr sz="1200" dirty="0"/>
          </a:p>
        </p:txBody>
      </p:sp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1A94D9F5-8DEF-66F6-92BC-83D2817CA9D4}"/>
              </a:ext>
            </a:extLst>
          </p:cNvPr>
          <p:cNvSpPr txBox="1"/>
          <p:nvPr/>
        </p:nvSpPr>
        <p:spPr>
          <a:xfrm>
            <a:off x="944805" y="2812327"/>
            <a:ext cx="3241634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2020s</a:t>
            </a: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are executing our </a:t>
            </a:r>
            <a:b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3-Horizon Strategy</a:t>
            </a: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are Orienting and Learning</a:t>
            </a:r>
            <a:b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about the Services needed</a:t>
            </a:r>
          </a:p>
        </p:txBody>
      </p:sp>
      <p:sp>
        <p:nvSpPr>
          <p:cNvPr id="129" name="Google Shape;129;p5">
            <a:extLst>
              <a:ext uri="{FF2B5EF4-FFF2-40B4-BE49-F238E27FC236}">
                <a16:creationId xmlns:a16="http://schemas.microsoft.com/office/drawing/2014/main" id="{2BD8D817-B322-4050-3B78-636C174749BA}"/>
              </a:ext>
            </a:extLst>
          </p:cNvPr>
          <p:cNvSpPr txBox="1"/>
          <p:nvPr/>
        </p:nvSpPr>
        <p:spPr>
          <a:xfrm>
            <a:off x="4272654" y="2812327"/>
            <a:ext cx="410193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2030s</a:t>
            </a: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will hit an inflection point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after</a:t>
            </a:r>
            <a:b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which growth will be self-sustaining</a:t>
            </a: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will Scale 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 </a:t>
            </a: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Learnings</a:t>
            </a:r>
            <a:b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across our Services Portfolio</a:t>
            </a: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C0D6B3E7-3170-A4BC-816A-9B68BE5BAEC4}"/>
              </a:ext>
            </a:extLst>
          </p:cNvPr>
          <p:cNvSpPr txBox="1"/>
          <p:nvPr/>
        </p:nvSpPr>
        <p:spPr>
          <a:xfrm>
            <a:off x="7965732" y="2812327"/>
            <a:ext cx="3650218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2040s+</a:t>
            </a: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will materially improve Tech Services and help humanity</a:t>
            </a:r>
          </a:p>
          <a:p>
            <a:pPr>
              <a:buClr>
                <a:schemeClr val="lt1"/>
              </a:buClr>
              <a:buSzPts val="1800"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will Excel at providing sophisticated Services at scale</a:t>
            </a:r>
          </a:p>
        </p:txBody>
      </p:sp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93D42F8D-BC5D-5885-D482-89EB604BB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6225" y="5173937"/>
            <a:ext cx="1187204" cy="1143000"/>
          </a:xfrm>
          <a:prstGeom prst="rect">
            <a:avLst/>
          </a:prstGeom>
        </p:spPr>
      </p:pic>
      <p:pic>
        <p:nvPicPr>
          <p:cNvPr id="5" name="Picture 4" descr="A diagram of a product management&#10;&#10;Description automatically generated">
            <a:extLst>
              <a:ext uri="{FF2B5EF4-FFF2-40B4-BE49-F238E27FC236}">
                <a16:creationId xmlns:a16="http://schemas.microsoft.com/office/drawing/2014/main" id="{28FCE3E0-8FD1-DD67-020C-49656E2D0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1802" y="5173937"/>
            <a:ext cx="1130370" cy="1143000"/>
          </a:xfrm>
          <a:prstGeom prst="rect">
            <a:avLst/>
          </a:prstGeom>
        </p:spPr>
      </p:pic>
      <p:pic>
        <p:nvPicPr>
          <p:cNvPr id="8" name="Picture 7" descr="A diagram of a diagram&#10;&#10;Description automatically generated">
            <a:extLst>
              <a:ext uri="{FF2B5EF4-FFF2-40B4-BE49-F238E27FC236}">
                <a16:creationId xmlns:a16="http://schemas.microsoft.com/office/drawing/2014/main" id="{78934617-902B-81C6-1DE1-23284E4816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4666" y="5184862"/>
            <a:ext cx="1181100" cy="1143000"/>
          </a:xfrm>
          <a:prstGeom prst="rect">
            <a:avLst/>
          </a:prstGeom>
        </p:spPr>
      </p:pic>
      <p:pic>
        <p:nvPicPr>
          <p:cNvPr id="10" name="Picture 9" descr="A diagram of a diagram&#10;&#10;Description automatically generated">
            <a:extLst>
              <a:ext uri="{FF2B5EF4-FFF2-40B4-BE49-F238E27FC236}">
                <a16:creationId xmlns:a16="http://schemas.microsoft.com/office/drawing/2014/main" id="{E5FC8BFD-6480-5B6F-B3CC-9E12E57BE3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746" y="5173937"/>
            <a:ext cx="121285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129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9408921-7A66-B048-FCCE-79E70E1A0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88346C-64E6-5130-171F-82AB0956539C}"/>
              </a:ext>
            </a:extLst>
          </p:cNvPr>
          <p:cNvSpPr/>
          <p:nvPr/>
        </p:nvSpPr>
        <p:spPr>
          <a:xfrm>
            <a:off x="3230879" y="2916936"/>
            <a:ext cx="6402977" cy="5242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A7FB390A-F79C-82AB-AC0A-DA11723021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AccelRR8 Consortium Strategy</a:t>
            </a:r>
            <a:endParaRPr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95851A-A86B-94C8-AC0F-62639EF5B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0880" y="1825625"/>
            <a:ext cx="7461504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Realizing Our Long Term Ambition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Staying Focused On Our Opportunity</a:t>
            </a:r>
          </a:p>
          <a:p>
            <a:r>
              <a:rPr lang="en-US" dirty="0"/>
              <a:t>Doing What It Takes To Succeed</a:t>
            </a:r>
          </a:p>
          <a:p>
            <a:r>
              <a:rPr lang="en-US" dirty="0"/>
              <a:t>Executing Our 3-Horizon Strategy</a:t>
            </a:r>
          </a:p>
        </p:txBody>
      </p:sp>
    </p:spTree>
    <p:extLst>
      <p:ext uri="{BB962C8B-B14F-4D97-AF65-F5344CB8AC3E}">
        <p14:creationId xmlns:p14="http://schemas.microsoft.com/office/powerpoint/2010/main" val="374897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Staying Focused On Our Opportunity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507964"/>
              </p:ext>
            </p:extLst>
          </p:nvPr>
        </p:nvGraphicFramePr>
        <p:xfrm>
          <a:off x="558628" y="1548384"/>
          <a:ext cx="11074744" cy="47458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172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  <a:gridCol w="6464472">
                  <a:extLst>
                    <a:ext uri="{9D8B030D-6E8A-4147-A177-3AD203B41FA5}">
                      <a16:colId xmlns:a16="http://schemas.microsoft.com/office/drawing/2014/main" val="3883086084"/>
                    </a:ext>
                  </a:extLst>
                </a:gridCol>
              </a:tblGrid>
              <a:tr h="254813">
                <a:tc rowSpan="4">
                  <a:txBody>
                    <a:bodyPr/>
                    <a:lstStyle/>
                    <a:p>
                      <a:r>
                        <a:rPr lang="en-US" sz="2000" b="1" dirty="0"/>
                        <a:t>Is it </a:t>
                      </a:r>
                      <a:br>
                        <a:rPr lang="en-US" sz="2000" b="1" dirty="0"/>
                      </a:br>
                      <a:r>
                        <a:rPr lang="en-US" sz="2000" b="1" dirty="0">
                          <a:solidFill>
                            <a:srgbClr val="00B050"/>
                          </a:solidFill>
                        </a:rPr>
                        <a:t>Real</a:t>
                      </a:r>
                      <a:r>
                        <a:rPr lang="en-US" sz="2000" b="1" dirty="0"/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1" dirty="0"/>
                        <a:t>How big is the market?   </a:t>
                      </a:r>
                      <a:r>
                        <a:rPr lang="en-US" sz="1000" b="0" dirty="0"/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0" dirty="0"/>
                        <a:t>The Tech Services industry generates $1T+ annual revenue and serves all major industries globally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2548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1" dirty="0"/>
                        <a:t>Is there a real customer problem to be solved?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0" dirty="0"/>
                        <a:t>Hyper-scalers who harness exponential accelerators are disrupting traditional Tech Services providers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044228"/>
                  </a:ext>
                </a:extLst>
              </a:tr>
              <a:tr h="2548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1" dirty="0"/>
                        <a:t>Is there a real need out there?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0" dirty="0"/>
                        <a:t>To survive and thrive, traditional Tech Services providers must also learn to harness exponential accelerators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114890"/>
                  </a:ext>
                </a:extLst>
              </a:tr>
              <a:tr h="414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Is there a dissatisfactory state-of-affairs?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Tech Services leaders lack the resources to help traditional providers harness proven accelerators to grow exponential value at scale quickly – THUS the Tech Services industry isn’t benefiting humanity at its potential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664793"/>
                  </a:ext>
                </a:extLst>
              </a:tr>
              <a:tr h="254813">
                <a:tc rowSpan="4"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Can we </a:t>
                      </a:r>
                      <a:r>
                        <a:rPr lang="en-US" sz="2000" b="1" dirty="0">
                          <a:solidFill>
                            <a:srgbClr val="00B050"/>
                          </a:solidFill>
                        </a:rPr>
                        <a:t>Win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1" dirty="0"/>
                        <a:t>Capabilities and competencies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Consortium leaders have experience helping providers grow value exponentially at scale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640372"/>
                  </a:ext>
                </a:extLst>
              </a:tr>
              <a:tr h="414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Assets, IP, and tech breakthroughs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The AccelRR8 Framework and associated AccelRR8 Body of Knowledge helps enterprising leaders harness proven accelerators to grow value exponentially at scale quickly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627854"/>
                  </a:ext>
                </a:extLst>
              </a:tr>
              <a:tr h="414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1" dirty="0"/>
                        <a:t>Resources and relationships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Consortium leaders have relationships with many influencers who created and/or led organizations that have had a material impact on technology and other industries worldwide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929978"/>
                  </a:ext>
                </a:extLst>
              </a:tr>
              <a:tr h="414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What sets the org apart from competitors?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Rather than trying to boil the ocean, the Consortium is focused on helping Tech Services leaders harness 5 proven accelerators which are mathematically capable of growing value exponentially at scale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8847"/>
                  </a:ext>
                </a:extLst>
              </a:tr>
              <a:tr h="414071">
                <a:tc rowSpan="5">
                  <a:txBody>
                    <a:bodyPr/>
                    <a:lstStyle/>
                    <a:p>
                      <a:r>
                        <a:rPr lang="en-US" sz="2000" b="1" dirty="0"/>
                        <a:t>Is it </a:t>
                      </a:r>
                      <a:br>
                        <a:rPr lang="en-US" sz="2000" b="1" dirty="0"/>
                      </a:br>
                      <a:r>
                        <a:rPr lang="en-US" sz="2000" b="1" dirty="0">
                          <a:solidFill>
                            <a:srgbClr val="00B050"/>
                          </a:solidFill>
                        </a:rPr>
                        <a:t>Worth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it</a:t>
                      </a:r>
                      <a:r>
                        <a:rPr lang="en-US" sz="2000" b="1" dirty="0"/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1" dirty="0"/>
                        <a:t>Do the unit economics work?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As a non-profit, the goal isn’t income generation for the Consortium itself.  Since the Consortium intends to remain asset-light, income is needed to cover the cost of collaboration platforms, innovation, and marketing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414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 dirty="0"/>
                        <a:t>Can the org make money?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The Consortium can accept charitable donations but cannot share profits (dividends or owner’s draws). Donations will increase as Tech Services leaders use Consortium services to grow value exponentially at scale.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248077"/>
                  </a:ext>
                </a:extLst>
              </a:tr>
              <a:tr h="414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 dirty="0"/>
                        <a:t>What is the revenue model?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The Consortium will offer paid subscriptions and solicit grants from patrons to enhance the AccelRR8 Body of Knowledge, and collect fees in exchange for future premium non-profit services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330151"/>
                  </a:ext>
                </a:extLst>
              </a:tr>
              <a:tr h="414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How is the org going to monetize?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As Tech Services leaders make use of the Consortium’s services, they will begin growing value exponentially at scale, which will generate exponential demand for Consortium services in a virtuous cycle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595274"/>
                  </a:ext>
                </a:extLst>
              </a:tr>
              <a:tr h="414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 dirty="0"/>
                        <a:t>What is the financial math behind the product opportunity?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The Consortium will make and spend very little money unless and until a critical mass of Tech Services leaders urgently believe they need to learn how to harness exponential accelerators – then financials will hockey stick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817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733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Growing Value Exponentially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3AF1A-7A80-3B3D-294A-E26C98269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35738" y="1432244"/>
            <a:ext cx="4785198" cy="527208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AccelRR8 Framework</a:t>
            </a:r>
            <a:endParaRPr lang="en-US" sz="1600" b="1" dirty="0">
              <a:solidFill>
                <a:srgbClr val="00B05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Growing value exponentially at scale is complex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are only a few mathematically feasible ways to grow value exponentially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Harnessing these proven “value accelerators” at scale has key challenges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Each challenge can be overcome with proven solutions  </a:t>
            </a:r>
            <a:b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framework can help leaders grasp and harness these complex concepts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simplifies and gives structure to a set of proven methods used to grow value exponentially 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We’ve branded this the AccelRR8 Framework</a:t>
            </a:r>
            <a:b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AccelRR8 Framework is at the heart of the AccelRR8 Body of Knowledge</a:t>
            </a:r>
          </a:p>
        </p:txBody>
      </p:sp>
      <p:pic>
        <p:nvPicPr>
          <p:cNvPr id="7" name="Picture 2" descr="The World's Population Hasn't Grown Exponentially for at Least Half a  Century - Union of Concerned Scientists">
            <a:extLst>
              <a:ext uri="{FF2B5EF4-FFF2-40B4-BE49-F238E27FC236}">
                <a16:creationId xmlns:a16="http://schemas.microsoft.com/office/drawing/2014/main" id="{7CC71400-846E-6961-078F-1AB102FA76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5" t="12786" r="16346" b="10503"/>
          <a:stretch/>
        </p:blipFill>
        <p:spPr bwMode="auto">
          <a:xfrm>
            <a:off x="922074" y="3429000"/>
            <a:ext cx="3366763" cy="227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80BEE2-9E95-AF59-17B6-C4B0101721B4}"/>
              </a:ext>
            </a:extLst>
          </p:cNvPr>
          <p:cNvSpPr txBox="1"/>
          <p:nvPr/>
        </p:nvSpPr>
        <p:spPr>
          <a:xfrm>
            <a:off x="934266" y="5816875"/>
            <a:ext cx="3230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hlinkClick r:id="rId4"/>
              </a:rPr>
              <a:t>https://blog.ucsusa.org/doug-boucher/world-population-growth-exponential/</a:t>
            </a:r>
            <a:r>
              <a:rPr lang="en-US" sz="700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02DCE-3EEC-365F-FAE7-0FDDE6E595DF}"/>
              </a:ext>
            </a:extLst>
          </p:cNvPr>
          <p:cNvSpPr txBox="1"/>
          <p:nvPr/>
        </p:nvSpPr>
        <p:spPr>
          <a:xfrm>
            <a:off x="3316464" y="3596129"/>
            <a:ext cx="98456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Exponential</a:t>
            </a:r>
          </a:p>
          <a:p>
            <a:r>
              <a:rPr lang="en-US" sz="1200" dirty="0">
                <a:solidFill>
                  <a:srgbClr val="00B050"/>
                </a:solidFill>
              </a:rPr>
              <a:t>growth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5CE3CE36-4336-9626-6DBA-102ABC9B47EE}"/>
              </a:ext>
            </a:extLst>
          </p:cNvPr>
          <p:cNvSpPr/>
          <p:nvPr/>
        </p:nvSpPr>
        <p:spPr>
          <a:xfrm rot="5400000">
            <a:off x="-921183" y="1155372"/>
            <a:ext cx="3879503" cy="4681728"/>
          </a:xfrm>
          <a:prstGeom prst="arc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CB548F-5C38-36BE-D83D-CD65407317D9}"/>
              </a:ext>
            </a:extLst>
          </p:cNvPr>
          <p:cNvSpPr txBox="1"/>
          <p:nvPr/>
        </p:nvSpPr>
        <p:spPr>
          <a:xfrm>
            <a:off x="1003452" y="3380387"/>
            <a:ext cx="491645" cy="230832"/>
          </a:xfrm>
          <a:prstGeom prst="rect">
            <a:avLst/>
          </a:prstGeom>
          <a:solidFill>
            <a:schemeClr val="bg1"/>
          </a:solidFill>
        </p:spPr>
        <p:txBody>
          <a:bodyPr wrap="square" lIns="0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</a:rPr>
              <a:t>Value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3EB24C-C4F8-62D5-C7BB-8F168B4694C5}"/>
              </a:ext>
            </a:extLst>
          </p:cNvPr>
          <p:cNvSpPr txBox="1"/>
          <p:nvPr/>
        </p:nvSpPr>
        <p:spPr>
          <a:xfrm>
            <a:off x="709721" y="1535812"/>
            <a:ext cx="3717900" cy="1607517"/>
          </a:xfrm>
          <a:prstGeom prst="roundRect">
            <a:avLst>
              <a:gd name="adj" fmla="val 6105"/>
            </a:avLst>
          </a:prstGeom>
          <a:solidFill>
            <a:srgbClr val="00B050"/>
          </a:solidFill>
        </p:spPr>
        <p:txBody>
          <a:bodyPr wrap="square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CORE PREMISE</a:t>
            </a:r>
          </a:p>
          <a:p>
            <a:pPr algn="ctr"/>
            <a:endParaRPr lang="en-US" sz="1100" b="1" dirty="0">
              <a:solidFill>
                <a:schemeClr val="bg1"/>
              </a:solidFill>
            </a:endParaRPr>
          </a:p>
          <a:p>
            <a:pPr algn="ctr"/>
            <a:r>
              <a:rPr lang="en-US" sz="1800" dirty="0">
                <a:solidFill>
                  <a:schemeClr val="bg1"/>
                </a:solidFill>
              </a:rPr>
              <a:t>Harnessing 5 proven accelerators makes it mathematically feasible to grow value exponentially </a:t>
            </a:r>
          </a:p>
        </p:txBody>
      </p:sp>
    </p:spTree>
    <p:extLst>
      <p:ext uri="{BB962C8B-B14F-4D97-AF65-F5344CB8AC3E}">
        <p14:creationId xmlns:p14="http://schemas.microsoft.com/office/powerpoint/2010/main" val="2353389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222CFED0-82F7-3857-91C0-8295E3D5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E67006-FB22-3E51-1C43-10DE8E8FD432}"/>
              </a:ext>
            </a:extLst>
          </p:cNvPr>
          <p:cNvSpPr/>
          <p:nvPr/>
        </p:nvSpPr>
        <p:spPr>
          <a:xfrm>
            <a:off x="3230879" y="3429000"/>
            <a:ext cx="6402977" cy="5242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66CA4E44-8C6C-7A11-9AF1-DBDA4F1A9D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AccelRR8 Consortium Strategy</a:t>
            </a:r>
            <a:endParaRPr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FF06AE-D06F-A2CC-7814-895F8CA31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0880" y="1825625"/>
            <a:ext cx="7461504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Realizing Our Long Term Ambition</a:t>
            </a:r>
          </a:p>
          <a:p>
            <a:r>
              <a:rPr lang="en-US" dirty="0"/>
              <a:t>Staying Focused On Our Opportunity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Doing What It Takes To Succeed</a:t>
            </a:r>
          </a:p>
          <a:p>
            <a:r>
              <a:rPr lang="en-US" dirty="0"/>
              <a:t>Executing Our 3-Horizon Strategy</a:t>
            </a:r>
          </a:p>
        </p:txBody>
      </p:sp>
    </p:spTree>
    <p:extLst>
      <p:ext uri="{BB962C8B-B14F-4D97-AF65-F5344CB8AC3E}">
        <p14:creationId xmlns:p14="http://schemas.microsoft.com/office/powerpoint/2010/main" val="635661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Doing What It Takes To Succeed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4C0F19-B23F-926A-2ED3-6B3394974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283046"/>
              </p:ext>
            </p:extLst>
          </p:nvPr>
        </p:nvGraphicFramePr>
        <p:xfrm>
          <a:off x="192345" y="1803131"/>
          <a:ext cx="10844464" cy="45375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1362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003102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71611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Desirable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dirty="0"/>
                        <a:t>Enterprising leaders want to grow value exponentially, but few know how to do it</a:t>
                      </a:r>
                    </a:p>
                    <a:p>
                      <a:pPr marL="119063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dirty="0"/>
                        <a:t>Stakeholders appreciate and want to associate with our values and culture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126796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Viable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dirty="0"/>
                        <a:t>The Consortium is goal-oriented and focused (not trying to boil the ocean)</a:t>
                      </a:r>
                    </a:p>
                    <a:p>
                      <a:pPr marL="119063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dirty="0"/>
                        <a:t>We have the required leadership and know-how to spark exponential growth and impact</a:t>
                      </a:r>
                    </a:p>
                    <a:p>
                      <a:pPr marL="119063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dirty="0"/>
                        <a:t>We will learn from other successful non-profit organizations who offer similar services</a:t>
                      </a:r>
                    </a:p>
                    <a:p>
                      <a:pPr marL="119063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dirty="0"/>
                        <a:t>Minimal investment is needed to achieve initial success (asset-light with low overhead costs), which gives us time and flexibility to experiment, learn, and adjust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9640372"/>
                  </a:ext>
                </a:extLst>
              </a:tr>
              <a:tr h="87732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Sustainable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dirty="0"/>
                        <a:t>Our core premise – </a:t>
                      </a:r>
                      <a:r>
                        <a:rPr lang="en-US" b="1" i="1" dirty="0">
                          <a:solidFill>
                            <a:srgbClr val="00B050"/>
                          </a:solidFill>
                        </a:rPr>
                        <a:t>harnessing 5 proven accelerators makes it mathematically feasible to grow value exponentially </a:t>
                      </a:r>
                      <a:r>
                        <a:rPr lang="en-US" dirty="0"/>
                        <a:t>– is enduring</a:t>
                      </a:r>
                    </a:p>
                    <a:p>
                      <a:pPr marL="119063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dirty="0"/>
                        <a:t>We will still be relevant in decades even as AI, Quantum Computing, etc. advance exponentially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101435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Impactful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dirty="0"/>
                        <a:t>The Consortium will harness proven accelerators to grow our own value exponentially</a:t>
                      </a:r>
                    </a:p>
                    <a:p>
                      <a:pPr marL="119063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dirty="0"/>
                        <a:t>Our own success will be a key proof point of our core premise</a:t>
                      </a:r>
                    </a:p>
                    <a:p>
                      <a:pPr marL="119063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dirty="0"/>
                        <a:t>As we gain credibility, we will create a virtuous cycle of exponential growth and impact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  <a:tr h="661737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Consumable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dirty="0"/>
                        <a:t>Becoming and remaining a subscriber, patron, and/or consortium leader must be easy</a:t>
                      </a:r>
                    </a:p>
                    <a:p>
                      <a:pPr marL="119063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dirty="0"/>
                        <a:t>The net value delivered by fee-based services / features must be self-evident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5022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987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Peers</a:t>
            </a:r>
            <a:endParaRPr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A794A3-D78C-B966-F5D5-7A882C213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355199"/>
              </p:ext>
            </p:extLst>
          </p:nvPr>
        </p:nvGraphicFramePr>
        <p:xfrm>
          <a:off x="129323" y="1574795"/>
          <a:ext cx="11794453" cy="44529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67445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4401312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15930041"/>
                    </a:ext>
                  </a:extLst>
                </a:gridCol>
                <a:gridCol w="4217416">
                  <a:extLst>
                    <a:ext uri="{9D8B030D-6E8A-4147-A177-3AD203B41FA5}">
                      <a16:colId xmlns:a16="http://schemas.microsoft.com/office/drawing/2014/main" val="1874632665"/>
                    </a:ext>
                  </a:extLst>
                </a:gridCol>
              </a:tblGrid>
              <a:tr h="65851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Similar Non-Profits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How We’re Similar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Our Intent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769744"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bring together stakeholders to connect and empower humanity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Mentor a critical mass of Tech Services leaders on leading a movement that grows value exponentially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6261144"/>
                  </a:ext>
                </a:extLst>
              </a:tr>
              <a:tr h="769744"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help leaders network and develop important skills that can help them advance in their career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Help Tech Services leaders network and practice growing value exponentially at scale together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9640372"/>
                  </a:ext>
                </a:extLst>
              </a:tr>
              <a:tr h="823268"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curate a Body of Knowledge proven helpful in doing complex work most leaders must do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 Tech Services leaders align on authoritative practices for growing value exponentially at scale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835494"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help people and organizations get the most value out of their investments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 Tech Services leaders learn generatively how to solving vexing enterprise challenges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  <a:tr h="596139"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help leaders use Artificial Intelligence technologies and know-how to help humanity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Help Tech Services leaders use AI ethically and responsibly to help their industry and humanity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8850557"/>
                  </a:ext>
                </a:extLst>
              </a:tr>
            </a:tbl>
          </a:graphicData>
        </a:graphic>
      </p:graphicFrame>
      <p:pic>
        <p:nvPicPr>
          <p:cNvPr id="1028" name="Picture 4" descr="Toastmasters International -Logo and Design Elements">
            <a:extLst>
              <a:ext uri="{FF2B5EF4-FFF2-40B4-BE49-F238E27FC236}">
                <a16:creationId xmlns:a16="http://schemas.microsoft.com/office/drawing/2014/main" id="{F2FBAC28-01AC-81F3-75E0-948EBC9FC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36" y="3183943"/>
            <a:ext cx="2063074" cy="410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MI Project Management Institute Logo PNG vector in SVG, PDF, AI, CDR format">
            <a:extLst>
              <a:ext uri="{FF2B5EF4-FFF2-40B4-BE49-F238E27FC236}">
                <a16:creationId xmlns:a16="http://schemas.microsoft.com/office/drawing/2014/main" id="{2136F508-9909-76DB-E345-E40EB62799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5" t="32778" r="8165" b="32778"/>
          <a:stretch/>
        </p:blipFill>
        <p:spPr bwMode="auto">
          <a:xfrm>
            <a:off x="609986" y="3863068"/>
            <a:ext cx="1982174" cy="61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I for Good - All Year Always Online">
            <a:extLst>
              <a:ext uri="{FF2B5EF4-FFF2-40B4-BE49-F238E27FC236}">
                <a16:creationId xmlns:a16="http://schemas.microsoft.com/office/drawing/2014/main" id="{57B0734D-BE0E-D5FA-AC6A-C87310AA2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3" y="5409896"/>
            <a:ext cx="2100522" cy="61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ECAF82E-5374-0B4F-1B87-BE9366670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937" y="2175973"/>
            <a:ext cx="806272" cy="80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SUG logo ">
            <a:extLst>
              <a:ext uri="{FF2B5EF4-FFF2-40B4-BE49-F238E27FC236}">
                <a16:creationId xmlns:a16="http://schemas.microsoft.com/office/drawing/2014/main" id="{9412F3F4-9961-A04B-F29F-AE70F881B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665" y="4613806"/>
            <a:ext cx="1326816" cy="796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3924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31A7DFDB-5F7C-17E5-3D2D-59A526FE1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31CE66-9A8C-CD7A-3B1E-AACECB19FDC5}"/>
              </a:ext>
            </a:extLst>
          </p:cNvPr>
          <p:cNvSpPr/>
          <p:nvPr/>
        </p:nvSpPr>
        <p:spPr>
          <a:xfrm>
            <a:off x="3230879" y="3976910"/>
            <a:ext cx="6402977" cy="5242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B36FBA8C-8062-DC9B-B335-7924A05FB1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AccelRR8 Consortium Strategy</a:t>
            </a:r>
            <a:endParaRPr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75EEE6-C4D2-41AC-5ADA-44567F646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0880" y="1825625"/>
            <a:ext cx="7461504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Realizing Our Long Term Ambition</a:t>
            </a:r>
          </a:p>
          <a:p>
            <a:r>
              <a:rPr lang="en-US" dirty="0"/>
              <a:t>Staying Focused On Our Opportunity</a:t>
            </a:r>
          </a:p>
          <a:p>
            <a:r>
              <a:rPr lang="en-US" dirty="0"/>
              <a:t>Doing What It Takes To Succeed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Executing Our 3-Horizon Strategy</a:t>
            </a:r>
          </a:p>
        </p:txBody>
      </p:sp>
    </p:spTree>
    <p:extLst>
      <p:ext uri="{BB962C8B-B14F-4D97-AF65-F5344CB8AC3E}">
        <p14:creationId xmlns:p14="http://schemas.microsoft.com/office/powerpoint/2010/main" val="2348277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>
            <a:spLocks noGrp="1"/>
          </p:cNvSpPr>
          <p:nvPr>
            <p:ph type="title"/>
          </p:nvPr>
        </p:nvSpPr>
        <p:spPr>
          <a:xfrm>
            <a:off x="838199" y="142503"/>
            <a:ext cx="8950569" cy="1595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3-Horizon Impact Strategy</a:t>
            </a:r>
            <a:br>
              <a:rPr lang="en-US" dirty="0"/>
            </a:br>
            <a:r>
              <a:rPr lang="en-US" sz="2400" i="1" dirty="0"/>
              <a:t>Exponential Improvements in the Tech Services Industry</a:t>
            </a:r>
            <a:endParaRPr i="1" dirty="0"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t="2408" r="18813"/>
          <a:stretch/>
        </p:blipFill>
        <p:spPr>
          <a:xfrm>
            <a:off x="1073220" y="2076056"/>
            <a:ext cx="10565973" cy="4362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5"/>
          <p:cNvCxnSpPr/>
          <p:nvPr/>
        </p:nvCxnSpPr>
        <p:spPr>
          <a:xfrm>
            <a:off x="4421187" y="2076056"/>
            <a:ext cx="0" cy="436267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24" name="Google Shape;124;p5"/>
          <p:cNvCxnSpPr/>
          <p:nvPr/>
        </p:nvCxnSpPr>
        <p:spPr>
          <a:xfrm>
            <a:off x="8136080" y="2076056"/>
            <a:ext cx="0" cy="436267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5"/>
          <p:cNvSpPr txBox="1"/>
          <p:nvPr/>
        </p:nvSpPr>
        <p:spPr>
          <a:xfrm>
            <a:off x="1051955" y="2076056"/>
            <a:ext cx="324163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Pack a Snowball</a:t>
            </a:r>
            <a:b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HORIZON 1</a:t>
            </a:r>
            <a:endParaRPr sz="1200" dirty="0"/>
          </a:p>
        </p:txBody>
      </p:sp>
      <p:sp>
        <p:nvSpPr>
          <p:cNvPr id="126" name="Google Shape;126;p5"/>
          <p:cNvSpPr txBox="1"/>
          <p:nvPr/>
        </p:nvSpPr>
        <p:spPr>
          <a:xfrm>
            <a:off x="4293588" y="2076056"/>
            <a:ext cx="40019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Roll it Downhill</a:t>
            </a:r>
            <a:b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HORIZON 2</a:t>
            </a:r>
            <a:endParaRPr sz="1200" dirty="0"/>
          </a:p>
        </p:txBody>
      </p:sp>
      <p:sp>
        <p:nvSpPr>
          <p:cNvPr id="127" name="Google Shape;127;p5"/>
          <p:cNvSpPr txBox="1"/>
          <p:nvPr/>
        </p:nvSpPr>
        <p:spPr>
          <a:xfrm>
            <a:off x="8167975" y="2076056"/>
            <a:ext cx="344995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Trigger an Avalanche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HORIZON 3</a:t>
            </a:r>
            <a:endParaRPr sz="1200" dirty="0"/>
          </a:p>
        </p:txBody>
      </p:sp>
      <p:sp>
        <p:nvSpPr>
          <p:cNvPr id="128" name="Google Shape;128;p5"/>
          <p:cNvSpPr txBox="1"/>
          <p:nvPr/>
        </p:nvSpPr>
        <p:spPr>
          <a:xfrm>
            <a:off x="1179826" y="2812327"/>
            <a:ext cx="3241634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 Effects:  </a:t>
            </a:r>
            <a:b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1,000 Subscribers</a:t>
            </a: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Viral Ideation:  </a:t>
            </a:r>
            <a:b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 Viral Ideas</a:t>
            </a: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Generative Learning:  Prioritize Industry Challenges</a:t>
            </a: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Compounding Innovation:</a:t>
            </a:r>
            <a:b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3 Patrons</a:t>
            </a:r>
          </a:p>
        </p:txBody>
      </p:sp>
      <p:sp>
        <p:nvSpPr>
          <p:cNvPr id="129" name="Google Shape;129;p5"/>
          <p:cNvSpPr txBox="1"/>
          <p:nvPr/>
        </p:nvSpPr>
        <p:spPr>
          <a:xfrm>
            <a:off x="4507675" y="2812327"/>
            <a:ext cx="4101935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 Effects:  </a:t>
            </a:r>
            <a:b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3,000 Subscribers</a:t>
            </a: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Viral Ideation:  </a:t>
            </a:r>
            <a:b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30 Viral Ideas</a:t>
            </a: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Generative Learning:  Explore Exponential Solutions to Challenges</a:t>
            </a:r>
            <a:endParaRPr lang="en-US" sz="1800" dirty="0"/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Compounding Innovation:</a:t>
            </a:r>
            <a:b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10 Patrons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8200753" y="2812327"/>
            <a:ext cx="3650218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 Effects: </a:t>
            </a:r>
            <a:b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10,000 Subscribers</a:t>
            </a: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Viral Ideation:  </a:t>
            </a:r>
            <a:b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100 Viral Ideas</a:t>
            </a: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Generative Learning:  Scale Solutions Across the Industry</a:t>
            </a:r>
            <a:endParaRPr lang="en-US" sz="1800" dirty="0"/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Compounding Innovation:</a:t>
            </a:r>
            <a:b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30 Patrons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73F706-F21B-C4E5-89FE-6AD1081A3B22}"/>
              </a:ext>
            </a:extLst>
          </p:cNvPr>
          <p:cNvSpPr txBox="1"/>
          <p:nvPr/>
        </p:nvSpPr>
        <p:spPr>
          <a:xfrm>
            <a:off x="1197995" y="1551355"/>
            <a:ext cx="10451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exponential improvements in Tech Services industry production inputs will yield exponentially better industry outputs and </a:t>
            </a:r>
            <a:br>
              <a:rPr lang="en-US" dirty="0"/>
            </a:br>
            <a:r>
              <a:rPr lang="en-US" dirty="0"/>
              <a:t>outcomes. This will become more self-evident as each exponential solution is proven and then scaled virally across the industry.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40E7CC-A43F-F841-1206-B147ACBCCB27}"/>
              </a:ext>
            </a:extLst>
          </p:cNvPr>
          <p:cNvSpPr/>
          <p:nvPr/>
        </p:nvSpPr>
        <p:spPr>
          <a:xfrm>
            <a:off x="144411" y="2812327"/>
            <a:ext cx="938205" cy="6676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Professional Networking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064C34-40EA-C253-0D0E-C0C13C469F4C}"/>
              </a:ext>
            </a:extLst>
          </p:cNvPr>
          <p:cNvSpPr/>
          <p:nvPr/>
        </p:nvSpPr>
        <p:spPr>
          <a:xfrm>
            <a:off x="144411" y="3624698"/>
            <a:ext cx="938205" cy="10748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Open Knowledge Sharing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D20BC-CB04-64F2-3AD7-DD7C18E0B798}"/>
              </a:ext>
            </a:extLst>
          </p:cNvPr>
          <p:cNvSpPr/>
          <p:nvPr/>
        </p:nvSpPr>
        <p:spPr>
          <a:xfrm>
            <a:off x="144411" y="4844223"/>
            <a:ext cx="938205" cy="11073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Industry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Innovation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383E72-5712-6890-5BCF-A96C3035781E}"/>
              </a:ext>
            </a:extLst>
          </p:cNvPr>
          <p:cNvSpPr txBox="1"/>
          <p:nvPr/>
        </p:nvSpPr>
        <p:spPr>
          <a:xfrm>
            <a:off x="257598" y="2493747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1656586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A191-60DA-7178-4AA9-712BCB1CC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96;p2">
            <a:extLst>
              <a:ext uri="{FF2B5EF4-FFF2-40B4-BE49-F238E27FC236}">
                <a16:creationId xmlns:a16="http://schemas.microsoft.com/office/drawing/2014/main" id="{278CDA1C-9746-8737-E977-E13F1843DD8E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Consortium Priorities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4400"/>
              <a:buFont typeface="Calibri"/>
              <a:buNone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Using our own Framework to grow Consortium value exponentially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251142-AFE9-20A0-A16F-3C7CBAEA2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7" y="2726901"/>
            <a:ext cx="4757057" cy="2565080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6474217-ABEC-A6EA-9151-B71EFE80D53F}"/>
              </a:ext>
            </a:extLst>
          </p:cNvPr>
          <p:cNvGraphicFramePr>
            <a:graphicFrameLocks noGrp="1"/>
          </p:cNvGraphicFramePr>
          <p:nvPr/>
        </p:nvGraphicFramePr>
        <p:xfrm>
          <a:off x="6901107" y="2423595"/>
          <a:ext cx="3855286" cy="35278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5286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748583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q"/>
                        <a:tabLst/>
                        <a:defRPr/>
                      </a:pPr>
                      <a:r>
                        <a:rPr kumimoji="0" lang="en-US" sz="1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Arial"/>
                          <a:sym typeface="Arial"/>
                        </a:rPr>
                        <a:t>To improve our services and be credible, we should use Lean Product Management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728133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itchFamily="2" charset="2"/>
                        <a:buChar char="q"/>
                        <a:tabLst/>
                        <a:defRPr/>
                      </a:pPr>
                      <a:r>
                        <a:rPr kumimoji="0" lang="en-US" sz="1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Arial"/>
                          <a:sym typeface="Arial"/>
                        </a:rPr>
                        <a:t>To connect our network and be credible, we should use the right Collaboration Platforms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9640372"/>
                  </a:ext>
                </a:extLst>
              </a:tr>
              <a:tr h="704954"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q"/>
                        <a:tabLst/>
                      </a:pPr>
                      <a:r>
                        <a:rPr kumimoji="0" lang="en-US" sz="1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Arial"/>
                          <a:sym typeface="Arial"/>
                        </a:rPr>
                        <a:t>To go viral, we must win advocacy from credible industry influencers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683579"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q"/>
                        <a:tabLst/>
                      </a:pPr>
                      <a:r>
                        <a:rPr kumimoji="0" lang="en-US" sz="1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Arial"/>
                          <a:sym typeface="Arial"/>
                        </a:rPr>
                        <a:t>To scale quickly, we should learn from leaders experienced in similar non-profits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  <a:tr h="662613"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q"/>
                        <a:tabLst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Aptos" panose="02110004020202020204"/>
                          <a:ea typeface="+mn-ea"/>
                        </a:rPr>
                        <a:t>To help us scale and be credible, we must experiment with and practice using AI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5022269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7F7FEC5-E4F2-4640-BABB-2DC3CF664665}"/>
              </a:ext>
            </a:extLst>
          </p:cNvPr>
          <p:cNvSpPr txBox="1"/>
          <p:nvPr/>
        </p:nvSpPr>
        <p:spPr>
          <a:xfrm>
            <a:off x="7195646" y="1843223"/>
            <a:ext cx="31905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What we need to do now to grow 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Consortium value exponentially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10F0D5E-B3A7-C15F-E7E4-FB9BC83DE9A2}"/>
              </a:ext>
            </a:extLst>
          </p:cNvPr>
          <p:cNvCxnSpPr/>
          <p:nvPr/>
        </p:nvCxnSpPr>
        <p:spPr>
          <a:xfrm flipV="1">
            <a:off x="6096000" y="2423595"/>
            <a:ext cx="805107" cy="746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D61CF38-CCAA-9867-0AC2-DE2EF1BC6EC9}"/>
              </a:ext>
            </a:extLst>
          </p:cNvPr>
          <p:cNvCxnSpPr>
            <a:cxnSpLocks/>
          </p:cNvCxnSpPr>
          <p:nvPr/>
        </p:nvCxnSpPr>
        <p:spPr>
          <a:xfrm flipV="1">
            <a:off x="6096000" y="3169920"/>
            <a:ext cx="805107" cy="3779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6F35091-77BE-6B3B-00CA-FB1DD33B1F6A}"/>
              </a:ext>
            </a:extLst>
          </p:cNvPr>
          <p:cNvCxnSpPr>
            <a:cxnSpLocks/>
          </p:cNvCxnSpPr>
          <p:nvPr/>
        </p:nvCxnSpPr>
        <p:spPr>
          <a:xfrm>
            <a:off x="6096000" y="3897827"/>
            <a:ext cx="8051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629667B-249A-E98D-36A0-56DA92AFC590}"/>
              </a:ext>
            </a:extLst>
          </p:cNvPr>
          <p:cNvCxnSpPr>
            <a:cxnSpLocks/>
          </p:cNvCxnSpPr>
          <p:nvPr/>
        </p:nvCxnSpPr>
        <p:spPr>
          <a:xfrm>
            <a:off x="6096000" y="4259072"/>
            <a:ext cx="805107" cy="3467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F55AE74-C89D-D93F-9786-D18B80792D69}"/>
              </a:ext>
            </a:extLst>
          </p:cNvPr>
          <p:cNvCxnSpPr>
            <a:cxnSpLocks/>
          </p:cNvCxnSpPr>
          <p:nvPr/>
        </p:nvCxnSpPr>
        <p:spPr>
          <a:xfrm>
            <a:off x="6096000" y="4603383"/>
            <a:ext cx="805107" cy="6861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717EBB-9B32-6ADB-6B3E-3C8E82766FFA}"/>
              </a:ext>
            </a:extLst>
          </p:cNvPr>
          <p:cNvCxnSpPr>
            <a:cxnSpLocks/>
          </p:cNvCxnSpPr>
          <p:nvPr/>
        </p:nvCxnSpPr>
        <p:spPr>
          <a:xfrm>
            <a:off x="6096000" y="4970272"/>
            <a:ext cx="805107" cy="9811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ED98FCF8-CC99-548F-CF88-C67D15D697A4}"/>
              </a:ext>
            </a:extLst>
          </p:cNvPr>
          <p:cNvSpPr/>
          <p:nvPr/>
        </p:nvSpPr>
        <p:spPr>
          <a:xfrm>
            <a:off x="10781571" y="2623360"/>
            <a:ext cx="346794" cy="34679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3589252-6570-575A-164F-CA5FE013D01B}"/>
              </a:ext>
            </a:extLst>
          </p:cNvPr>
          <p:cNvSpPr/>
          <p:nvPr/>
        </p:nvSpPr>
        <p:spPr>
          <a:xfrm>
            <a:off x="10781571" y="3358896"/>
            <a:ext cx="346794" cy="34679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62977F1-FBE7-3164-8735-A9F4C63A9779}"/>
              </a:ext>
            </a:extLst>
          </p:cNvPr>
          <p:cNvSpPr/>
          <p:nvPr/>
        </p:nvSpPr>
        <p:spPr>
          <a:xfrm>
            <a:off x="10781571" y="4085675"/>
            <a:ext cx="346794" cy="34679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846E38-7555-6EFB-EADE-E580F1C8185D}"/>
              </a:ext>
            </a:extLst>
          </p:cNvPr>
          <p:cNvSpPr/>
          <p:nvPr/>
        </p:nvSpPr>
        <p:spPr>
          <a:xfrm>
            <a:off x="10781571" y="4773037"/>
            <a:ext cx="346794" cy="34679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9BAC72-9A8F-A76A-0C60-2900991432F8}"/>
              </a:ext>
            </a:extLst>
          </p:cNvPr>
          <p:cNvSpPr/>
          <p:nvPr/>
        </p:nvSpPr>
        <p:spPr>
          <a:xfrm>
            <a:off x="10781571" y="5455724"/>
            <a:ext cx="346794" cy="34679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55824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47412</TotalTime>
  <Words>1752</Words>
  <Application>Microsoft Macintosh PowerPoint</Application>
  <PresentationFormat>Widescreen</PresentationFormat>
  <Paragraphs>207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Wingdings</vt:lpstr>
      <vt:lpstr>Office Theme</vt:lpstr>
      <vt:lpstr>  Organizational Strategy for  AccelRR8 Consortium NonProfit </vt:lpstr>
      <vt:lpstr>AccelRR8 Consortium Strategy</vt:lpstr>
      <vt:lpstr>Consortium Intent</vt:lpstr>
      <vt:lpstr>Consortium Ambition</vt:lpstr>
      <vt:lpstr>Realizing Our Ambition Exponential improvements in Tech Services that help humanity</vt:lpstr>
      <vt:lpstr>AccelRR8 Consortium Strategy</vt:lpstr>
      <vt:lpstr>Staying Focused On Our Opportunity</vt:lpstr>
      <vt:lpstr>Growing Value Exponentially</vt:lpstr>
      <vt:lpstr>AccelRR8 Consortium Strategy</vt:lpstr>
      <vt:lpstr>Consortium Doing What It Takes To Succeed</vt:lpstr>
      <vt:lpstr>Consortium Peers</vt:lpstr>
      <vt:lpstr>AccelRR8 Consortium Strategy</vt:lpstr>
      <vt:lpstr>Consortium 3-Horizon Impact Strategy Exponential Improvements in the Tech Services Industry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Digital Architect Consulting Services</dc:title>
  <dc:creator>Rich Reba</dc:creator>
  <cp:lastModifiedBy>Rich Reba</cp:lastModifiedBy>
  <cp:revision>152</cp:revision>
  <cp:lastPrinted>2024-10-01T14:48:34Z</cp:lastPrinted>
  <dcterms:created xsi:type="dcterms:W3CDTF">2023-08-22T19:09:59Z</dcterms:created>
  <dcterms:modified xsi:type="dcterms:W3CDTF">2026-08-14T19:45:10Z</dcterms:modified>
</cp:coreProperties>
</file>