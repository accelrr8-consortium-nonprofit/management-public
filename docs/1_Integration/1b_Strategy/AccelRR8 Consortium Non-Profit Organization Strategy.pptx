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403" r:id="rId3"/>
    <p:sldId id="412" r:id="rId4"/>
    <p:sldId id="273" r:id="rId5"/>
    <p:sldId id="416" r:id="rId6"/>
    <p:sldId id="404" r:id="rId7"/>
    <p:sldId id="277" r:id="rId8"/>
    <p:sldId id="262" r:id="rId9"/>
    <p:sldId id="405" r:id="rId10"/>
    <p:sldId id="275" r:id="rId11"/>
    <p:sldId id="278" r:id="rId12"/>
    <p:sldId id="406" r:id="rId13"/>
    <p:sldId id="274" r:id="rId14"/>
    <p:sldId id="418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Intent and Ambition" id="{FFA9F242-8AD8-EF42-8D73-529595A2924A}">
          <p14:sldIdLst>
            <p14:sldId id="403"/>
            <p14:sldId id="412"/>
            <p14:sldId id="273"/>
            <p14:sldId id="416"/>
          </p14:sldIdLst>
        </p14:section>
        <p14:section name="Consortium Opportunity" id="{05194138-A3ED-064B-861C-0547F49986DE}">
          <p14:sldIdLst>
            <p14:sldId id="404"/>
            <p14:sldId id="277"/>
            <p14:sldId id="262"/>
          </p14:sldIdLst>
        </p14:section>
        <p14:section name="Success Factors" id="{A8607958-67BE-0D41-AF22-F251A2EEF798}">
          <p14:sldIdLst>
            <p14:sldId id="405"/>
            <p14:sldId id="275"/>
            <p14:sldId id="278"/>
          </p14:sldIdLst>
        </p14:section>
        <p14:section name="3-Horizon Roadmap for the 2020s" id="{BDC3B2AF-CB8F-1E49-8E65-5336AA748889}">
          <p14:sldIdLst>
            <p14:sldId id="406"/>
            <p14:sldId id="274"/>
            <p14:sldId id="418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D2A7E-913D-4848-8702-F40BD19E1117}" v="34" dt="2026-08-14T12:38:39.5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42"/>
    <p:restoredTop sz="96203"/>
  </p:normalViewPr>
  <p:slideViewPr>
    <p:cSldViewPr snapToGrid="0">
      <p:cViewPr varScale="1">
        <p:scale>
          <a:sx n="118" d="100"/>
          <a:sy n="118" d="100"/>
        </p:scale>
        <p:origin x="22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redo custSel addSld delSld modSld sldOrd delMainMaster delSection modSection">
      <pc:chgData name="Rich Reba" userId="55db41ab6eb3f845" providerId="LiveId" clId="{0E19DA16-244C-5B50-BE0F-52911DD4CA7E}" dt="2026-08-14T12:38:39.547" v="1297"/>
      <pc:docMkLst>
        <pc:docMk/>
      </pc:docMkLst>
      <pc:sldChg chg="delSp modSp mod">
        <pc:chgData name="Rich Reba" userId="55db41ab6eb3f845" providerId="LiveId" clId="{0E19DA16-244C-5B50-BE0F-52911DD4CA7E}" dt="2026-08-06T18:58:24.758" v="730" actId="478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17:16:55.137" v="137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18:58:44.221" v="737" actId="478"/>
        <pc:sldMkLst>
          <pc:docMk/>
          <pc:sldMk cId="2353389302" sldId="262"/>
        </pc:sldMkLst>
      </pc:sldChg>
      <pc:sldChg chg="delSp modSp mod">
        <pc:chgData name="Rich Reba" userId="55db41ab6eb3f845" providerId="LiveId" clId="{0E19DA16-244C-5B50-BE0F-52911DD4CA7E}" dt="2026-08-06T18:58:32.405" v="733" actId="478"/>
        <pc:sldMkLst>
          <pc:docMk/>
          <pc:sldMk cId="4274695656" sldId="273"/>
        </pc:sldMkLst>
        <pc:spChg chg="mod">
          <ac:chgData name="Rich Reba" userId="55db41ab6eb3f845" providerId="LiveId" clId="{0E19DA16-244C-5B50-BE0F-52911DD4CA7E}" dt="2026-08-06T16:49:37.012" v="11" actId="20577"/>
          <ac:spMkLst>
            <pc:docMk/>
            <pc:sldMk cId="4274695656" sldId="273"/>
            <ac:spMk id="4" creationId="{BDC3AF1A-7A80-3B3D-294A-E26C982690C3}"/>
          </ac:spMkLst>
        </pc:spChg>
      </pc:sldChg>
      <pc:sldChg chg="delSp modSp mod">
        <pc:chgData name="Rich Reba" userId="55db41ab6eb3f845" providerId="LiveId" clId="{0E19DA16-244C-5B50-BE0F-52911DD4CA7E}" dt="2026-08-06T18:59:28.154" v="750" actId="478"/>
        <pc:sldMkLst>
          <pc:docMk/>
          <pc:sldMk cId="1656586467" sldId="274"/>
        </pc:sldMkLst>
        <pc:spChg chg="mod">
          <ac:chgData name="Rich Reba" userId="55db41ab6eb3f845" providerId="LiveId" clId="{0E19DA16-244C-5B50-BE0F-52911DD4CA7E}" dt="2026-08-06T16:55:26.775" v="37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29.948" v="38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32.778" v="39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49.115" v="78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1.450" v="80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3.624" v="82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14T12:36:12.470" v="1291"/>
        <pc:sldMkLst>
          <pc:docMk/>
          <pc:sldMk cId="2269987968" sldId="275"/>
        </pc:sldMkLst>
        <pc:spChg chg="mod">
          <ac:chgData name="Rich Reba" userId="55db41ab6eb3f845" providerId="LiveId" clId="{0E19DA16-244C-5B50-BE0F-52911DD4CA7E}" dt="2026-08-14T12:36:12.470" v="1291"/>
          <ac:spMkLst>
            <pc:docMk/>
            <pc:sldMk cId="2269987968" sldId="275"/>
            <ac:spMk id="96" creationId="{00000000-0000-0000-0000-000000000000}"/>
          </ac:spMkLst>
        </pc:spChg>
        <pc:graphicFrameChg chg="modGraphic">
          <ac:chgData name="Rich Reba" userId="55db41ab6eb3f845" providerId="LiveId" clId="{0E19DA16-244C-5B50-BE0F-52911DD4CA7E}" dt="2026-08-06T18:46:46.167" v="416" actId="20577"/>
          <ac:graphicFrameMkLst>
            <pc:docMk/>
            <pc:sldMk cId="2269987968" sldId="275"/>
            <ac:graphicFrameMk id="3" creationId="{9D4C0F19-B23F-926A-2ED3-6B3394974333}"/>
          </ac:graphicFrameMkLst>
        </pc:graphicFrameChg>
      </pc:sldChg>
      <pc:sldChg chg="delSp modSp mod ord">
        <pc:chgData name="Rich Reba" userId="55db41ab6eb3f845" providerId="LiveId" clId="{0E19DA16-244C-5B50-BE0F-52911DD4CA7E}" dt="2026-08-14T12:35:41.701" v="1290"/>
        <pc:sldMkLst>
          <pc:docMk/>
          <pc:sldMk cId="2006733346" sldId="277"/>
        </pc:sldMkLst>
        <pc:spChg chg="mod">
          <ac:chgData name="Rich Reba" userId="55db41ab6eb3f845" providerId="LiveId" clId="{0E19DA16-244C-5B50-BE0F-52911DD4CA7E}" dt="2026-08-14T12:35:41.701" v="1290"/>
          <ac:spMkLst>
            <pc:docMk/>
            <pc:sldMk cId="2006733346" sldId="277"/>
            <ac:spMk id="96" creationId="{00000000-0000-0000-0000-000000000000}"/>
          </ac:spMkLst>
        </pc:spChg>
        <pc:graphicFrameChg chg="modGraphic">
          <ac:chgData name="Rich Reba" userId="55db41ab6eb3f845" providerId="LiveId" clId="{0E19DA16-244C-5B50-BE0F-52911DD4CA7E}" dt="2026-08-06T16:50:36.865" v="15" actId="20577"/>
          <ac:graphicFrameMkLst>
            <pc:docMk/>
            <pc:sldMk cId="2006733346" sldId="277"/>
            <ac:graphicFrameMk id="5" creationId="{4B70F3A5-8062-29A2-30D0-2783CB3DFCCA}"/>
          </ac:graphicFrameMkLst>
        </pc:graphicFrameChg>
      </pc:sldChg>
      <pc:sldChg chg="addSp delSp modSp mod ord">
        <pc:chgData name="Rich Reba" userId="55db41ab6eb3f845" providerId="LiveId" clId="{0E19DA16-244C-5B50-BE0F-52911DD4CA7E}" dt="2026-08-06T19:10:48.376" v="1135" actId="20578"/>
        <pc:sldMkLst>
          <pc:docMk/>
          <pc:sldMk cId="823924525" sldId="278"/>
        </pc:sldMkLst>
        <pc:graphicFrameChg chg="mod modGraphic">
          <ac:chgData name="Rich Reba" userId="55db41ab6eb3f845" providerId="LiveId" clId="{0E19DA16-244C-5B50-BE0F-52911DD4CA7E}" dt="2026-08-06T19:04:41.257" v="1121" actId="20577"/>
          <ac:graphicFrameMkLst>
            <pc:docMk/>
            <pc:sldMk cId="823924525" sldId="278"/>
            <ac:graphicFrameMk id="7" creationId="{3AA794A3-D78C-B966-F5D5-7A882C213354}"/>
          </ac:graphicFrameMkLst>
        </pc:graphicFrameChg>
        <pc:picChg chg="mod">
          <ac:chgData name="Rich Reba" userId="55db41ab6eb3f845" providerId="LiveId" clId="{0E19DA16-244C-5B50-BE0F-52911DD4CA7E}" dt="2026-08-06T18:49:39.081" v="422" actId="1076"/>
          <ac:picMkLst>
            <pc:docMk/>
            <pc:sldMk cId="823924525" sldId="278"/>
            <ac:picMk id="1028" creationId="{F2FBAC28-01AC-81F3-75E0-948EBC9FCB9D}"/>
          </ac:picMkLst>
        </pc:picChg>
        <pc:picChg chg="add mod">
          <ac:chgData name="Rich Reba" userId="55db41ab6eb3f845" providerId="LiveId" clId="{0E19DA16-244C-5B50-BE0F-52911DD4CA7E}" dt="2026-08-06T18:53:12.164" v="529" actId="14100"/>
          <ac:picMkLst>
            <pc:docMk/>
            <pc:sldMk cId="823924525" sldId="278"/>
            <ac:picMk id="1030" creationId="{3ECAF82E-5374-0B4F-1B87-BE9366670338}"/>
          </ac:picMkLst>
        </pc:picChg>
        <pc:picChg chg="add mod">
          <ac:chgData name="Rich Reba" userId="55db41ab6eb3f845" providerId="LiveId" clId="{0E19DA16-244C-5B50-BE0F-52911DD4CA7E}" dt="2026-08-06T18:58:00.693" v="728" actId="1076"/>
          <ac:picMkLst>
            <pc:docMk/>
            <pc:sldMk cId="823924525" sldId="278"/>
            <ac:picMk id="1032" creationId="{9412F3F4-9961-A04B-F29F-AE70F881BF9D}"/>
          </ac:picMkLst>
        </pc:picChg>
        <pc:picChg chg="mod">
          <ac:chgData name="Rich Reba" userId="55db41ab6eb3f845" providerId="LiveId" clId="{0E19DA16-244C-5B50-BE0F-52911DD4CA7E}" dt="2026-08-06T18:56:50.945" v="723" actId="1076"/>
          <ac:picMkLst>
            <pc:docMk/>
            <pc:sldMk cId="823924525" sldId="278"/>
            <ac:picMk id="1036" creationId="{2136F508-9909-76DB-E345-E40EB6279973}"/>
          </ac:picMkLst>
        </pc:picChg>
        <pc:picChg chg="mod">
          <ac:chgData name="Rich Reba" userId="55db41ab6eb3f845" providerId="LiveId" clId="{0E19DA16-244C-5B50-BE0F-52911DD4CA7E}" dt="2026-08-06T18:58:04.460" v="729" actId="1076"/>
          <ac:picMkLst>
            <pc:docMk/>
            <pc:sldMk cId="823924525" sldId="278"/>
            <ac:picMk id="1038" creationId="{57B0734D-BE0E-D5FA-AC6A-C87310AA285C}"/>
          </ac:picMkLst>
        </pc:picChg>
      </pc:sldChg>
      <pc:sldChg chg="delSp modSp mod">
        <pc:chgData name="Rich Reba" userId="55db41ab6eb3f845" providerId="LiveId" clId="{0E19DA16-244C-5B50-BE0F-52911DD4CA7E}" dt="2026-08-14T12:37:00.218" v="1293" actId="14100"/>
        <pc:sldMkLst>
          <pc:docMk/>
          <pc:sldMk cId="1483759223" sldId="403"/>
        </pc:sldMkLst>
        <pc:spChg chg="mod">
          <ac:chgData name="Rich Reba" userId="55db41ab6eb3f845" providerId="LiveId" clId="{0E19DA16-244C-5B50-BE0F-52911DD4CA7E}" dt="2026-08-14T12:36:44.113" v="1292"/>
          <ac:spMkLst>
            <pc:docMk/>
            <pc:sldMk cId="1483759223" sldId="403"/>
            <ac:spMk id="6" creationId="{F4337B15-7E23-2EDE-6CF5-D3B89F80D6EE}"/>
          </ac:spMkLst>
        </pc:spChg>
        <pc:spChg chg="mod">
          <ac:chgData name="Rich Reba" userId="55db41ab6eb3f845" providerId="LiveId" clId="{0E19DA16-244C-5B50-BE0F-52911DD4CA7E}" dt="2026-08-14T12:37:00.218" v="1293" actId="14100"/>
          <ac:spMkLst>
            <pc:docMk/>
            <pc:sldMk cId="1483759223" sldId="403"/>
            <ac:spMk id="9" creationId="{FC592DD1-87F5-D132-4E6D-9E6BD39D8684}"/>
          </ac:spMkLst>
        </pc:spChg>
      </pc:sldChg>
      <pc:sldChg chg="delSp modSp mod">
        <pc:chgData name="Rich Reba" userId="55db41ab6eb3f845" providerId="LiveId" clId="{0E19DA16-244C-5B50-BE0F-52911DD4CA7E}" dt="2026-08-14T12:37:09.645" v="1294" actId="14100"/>
        <pc:sldMkLst>
          <pc:docMk/>
          <pc:sldMk cId="3748971185" sldId="404"/>
        </pc:sldMkLst>
        <pc:spChg chg="mod">
          <ac:chgData name="Rich Reba" userId="55db41ab6eb3f845" providerId="LiveId" clId="{0E19DA16-244C-5B50-BE0F-52911DD4CA7E}" dt="2026-08-14T12:36:44.113" v="1292"/>
          <ac:spMkLst>
            <pc:docMk/>
            <pc:sldMk cId="3748971185" sldId="404"/>
            <ac:spMk id="6" creationId="{9B95851A-A86B-94C8-AC0F-62639EF5B78F}"/>
          </ac:spMkLst>
        </pc:spChg>
        <pc:spChg chg="mod">
          <ac:chgData name="Rich Reba" userId="55db41ab6eb3f845" providerId="LiveId" clId="{0E19DA16-244C-5B50-BE0F-52911DD4CA7E}" dt="2026-08-14T12:37:09.645" v="1294" actId="14100"/>
          <ac:spMkLst>
            <pc:docMk/>
            <pc:sldMk cId="3748971185" sldId="404"/>
            <ac:spMk id="9" creationId="{4888346C-64E6-5130-171F-82AB0956539C}"/>
          </ac:spMkLst>
        </pc:spChg>
      </pc:sldChg>
      <pc:sldChg chg="delSp modSp mod ord">
        <pc:chgData name="Rich Reba" userId="55db41ab6eb3f845" providerId="LiveId" clId="{0E19DA16-244C-5B50-BE0F-52911DD4CA7E}" dt="2026-08-14T12:37:20.962" v="1295" actId="14100"/>
        <pc:sldMkLst>
          <pc:docMk/>
          <pc:sldMk cId="635661509" sldId="405"/>
        </pc:sldMkLst>
        <pc:spChg chg="mod">
          <ac:chgData name="Rich Reba" userId="55db41ab6eb3f845" providerId="LiveId" clId="{0E19DA16-244C-5B50-BE0F-52911DD4CA7E}" dt="2026-08-14T12:36:44.113" v="1292"/>
          <ac:spMkLst>
            <pc:docMk/>
            <pc:sldMk cId="635661509" sldId="405"/>
            <ac:spMk id="6" creationId="{E2FF06AE-D06F-A2CC-7814-895F8CA31E06}"/>
          </ac:spMkLst>
        </pc:spChg>
        <pc:spChg chg="mod">
          <ac:chgData name="Rich Reba" userId="55db41ab6eb3f845" providerId="LiveId" clId="{0E19DA16-244C-5B50-BE0F-52911DD4CA7E}" dt="2026-08-14T12:37:20.962" v="1295" actId="14100"/>
          <ac:spMkLst>
            <pc:docMk/>
            <pc:sldMk cId="635661509" sldId="405"/>
            <ac:spMk id="9" creationId="{19E67006-FB22-3E51-1C43-10DE8E8FD432}"/>
          </ac:spMkLst>
        </pc:spChg>
      </pc:sldChg>
      <pc:sldChg chg="delSp modSp mod ord">
        <pc:chgData name="Rich Reba" userId="55db41ab6eb3f845" providerId="LiveId" clId="{0E19DA16-244C-5B50-BE0F-52911DD4CA7E}" dt="2026-08-14T12:37:33.595" v="1296" actId="14100"/>
        <pc:sldMkLst>
          <pc:docMk/>
          <pc:sldMk cId="2348277429" sldId="406"/>
        </pc:sldMkLst>
        <pc:spChg chg="mod">
          <ac:chgData name="Rich Reba" userId="55db41ab6eb3f845" providerId="LiveId" clId="{0E19DA16-244C-5B50-BE0F-52911DD4CA7E}" dt="2026-08-14T12:36:44.113" v="1292"/>
          <ac:spMkLst>
            <pc:docMk/>
            <pc:sldMk cId="2348277429" sldId="406"/>
            <ac:spMk id="6" creationId="{A775EEE6-C4D2-41AC-5ADA-44567F646CBC}"/>
          </ac:spMkLst>
        </pc:spChg>
        <pc:spChg chg="mod">
          <ac:chgData name="Rich Reba" userId="55db41ab6eb3f845" providerId="LiveId" clId="{0E19DA16-244C-5B50-BE0F-52911DD4CA7E}" dt="2026-08-14T12:37:33.595" v="1296" actId="14100"/>
          <ac:spMkLst>
            <pc:docMk/>
            <pc:sldMk cId="2348277429" sldId="406"/>
            <ac:spMk id="9" creationId="{5531CE66-9A8C-CD7A-3B1E-AACECB19FDC5}"/>
          </ac:spMkLst>
        </pc:spChg>
      </pc:sldChg>
      <pc:sldChg chg="delSp mod">
        <pc:chgData name="Rich Reba" userId="55db41ab6eb3f845" providerId="LiveId" clId="{0E19DA16-244C-5B50-BE0F-52911DD4CA7E}" dt="2026-08-06T18:58:29.737" v="732" actId="478"/>
        <pc:sldMkLst>
          <pc:docMk/>
          <pc:sldMk cId="4221448727" sldId="412"/>
        </pc:sldMkLst>
      </pc:sldChg>
      <pc:sldChg chg="delSp mod">
        <pc:chgData name="Rich Reba" userId="55db41ab6eb3f845" providerId="LiveId" clId="{0E19DA16-244C-5B50-BE0F-52911DD4CA7E}" dt="2026-08-06T18:58:36.383" v="734" actId="478"/>
        <pc:sldMkLst>
          <pc:docMk/>
          <pc:sldMk cId="2033129414" sldId="416"/>
        </pc:sldMkLst>
      </pc:sldChg>
      <pc:sldChg chg="add">
        <pc:chgData name="Rich Reba" userId="55db41ab6eb3f845" providerId="LiveId" clId="{0E19DA16-244C-5B50-BE0F-52911DD4CA7E}" dt="2026-08-14T12:38:39.547" v="1297"/>
        <pc:sldMkLst>
          <pc:docMk/>
          <pc:sldMk cId="3955824805" sldId="41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most important near-term Product priorities</a:t>
            </a:r>
          </a:p>
        </p:txBody>
      </p:sp>
    </p:spTree>
    <p:extLst>
      <p:ext uri="{BB962C8B-B14F-4D97-AF65-F5344CB8AC3E}">
        <p14:creationId xmlns:p14="http://schemas.microsoft.com/office/powerpoint/2010/main" val="1523806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33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  <p:sldLayoutId id="2147483674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79" y="2438400"/>
            <a:ext cx="6402977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Realizing Our Long Term Ambition</a:t>
            </a:r>
          </a:p>
          <a:p>
            <a:r>
              <a:rPr lang="en-US" dirty="0"/>
              <a:t>Staying Focused On Our Opportunity</a:t>
            </a:r>
          </a:p>
          <a:p>
            <a:r>
              <a:rPr lang="en-US" dirty="0"/>
              <a:t>Doing What It Takes To Succeed</a:t>
            </a:r>
          </a:p>
          <a:p>
            <a:r>
              <a:rPr lang="en-US" dirty="0"/>
              <a:t>Executing Our 3-Horizon Strategy</a:t>
            </a:r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79" y="2916936"/>
            <a:ext cx="6402977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Realizing Our Long Term Ambition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Staying Focused On Our Opportunity</a:t>
            </a:r>
          </a:p>
          <a:p>
            <a:r>
              <a:rPr lang="en-US" dirty="0"/>
              <a:t>Doing What It Takes To Succeed</a:t>
            </a:r>
          </a:p>
          <a:p>
            <a:r>
              <a:rPr lang="en-US" dirty="0"/>
              <a:t>Executing Our 3-Horizon Strategy</a:t>
            </a:r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Staying Focused On Our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507964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79" y="3429000"/>
            <a:ext cx="6402977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Realizing Our Long Term Ambition</a:t>
            </a:r>
          </a:p>
          <a:p>
            <a:r>
              <a:rPr lang="en-US" dirty="0"/>
              <a:t>Staying Focused On Our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Doing What It Takes To Succeed</a:t>
            </a:r>
          </a:p>
          <a:p>
            <a:r>
              <a:rPr lang="en-US" dirty="0"/>
              <a:t>Executing Our 3-Horizon Strategy</a:t>
            </a:r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Doing What It Takes To Succeed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83046"/>
              </p:ext>
            </p:extLst>
          </p:nvPr>
        </p:nvGraphicFramePr>
        <p:xfrm>
          <a:off x="192345" y="1803131"/>
          <a:ext cx="10844464" cy="4537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learn from other successful non-profit organizations who offer similar services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143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1737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subscriber, patron, and/or consortium leader must be easy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net value delivered by fee-based services / features must be self-evident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55199"/>
              </p:ext>
            </p:extLst>
          </p:nvPr>
        </p:nvGraphicFramePr>
        <p:xfrm>
          <a:off x="129323" y="1574795"/>
          <a:ext cx="11794453" cy="44529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65851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bring together stakeholders to connect and empower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Mentor a critical mass of Tech Services leaders on leading a movement that grows value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6261144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23268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549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people and organizations get the most value out of their investments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learn generatively how to solving vexing enterprise challenges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596139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Artificial Intelligence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Help Tech Services leaders use AI ethically and responsibly to help their industry and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3183943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863068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5409896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ECAF82E-5374-0B4F-1B87-BE9366670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37" y="2175973"/>
            <a:ext cx="806272" cy="80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UG logo ">
            <a:extLst>
              <a:ext uri="{FF2B5EF4-FFF2-40B4-BE49-F238E27FC236}">
                <a16:creationId xmlns:a16="http://schemas.microsoft.com/office/drawing/2014/main" id="{9412F3F4-9961-A04B-F29F-AE70F881B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5" y="4613806"/>
            <a:ext cx="1326816" cy="79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79" y="3976910"/>
            <a:ext cx="6402977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Realizing Our Long Term Ambition</a:t>
            </a:r>
          </a:p>
          <a:p>
            <a:r>
              <a:rPr lang="en-US" dirty="0"/>
              <a:t>Staying Focused On Our Opportunity</a:t>
            </a:r>
          </a:p>
          <a:p>
            <a:r>
              <a:rPr lang="en-US" dirty="0"/>
              <a:t>Doing What It Takes To Succeed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Executing Our 3-Horizon Strategy</a:t>
            </a:r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82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46985</TotalTime>
  <Words>1747</Words>
  <Application>Microsoft Macintosh PowerPoint</Application>
  <PresentationFormat>Widescreen</PresentationFormat>
  <Paragraphs>202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Wingdings</vt:lpstr>
      <vt:lpstr>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AccelRR8 Consortium Strategy</vt:lpstr>
      <vt:lpstr>Staying Focused On Our Opportunity</vt:lpstr>
      <vt:lpstr>Growing Value Exponentially</vt:lpstr>
      <vt:lpstr>AccelRR8 Consortium Strategy</vt:lpstr>
      <vt:lpstr>Consortium Doing What It Takes To Succeed</vt:lpstr>
      <vt:lpstr>Consortium Peers</vt:lpstr>
      <vt:lpstr>AccelRR8 Consortium Strategy</vt:lpstr>
      <vt:lpstr>Consortium 3-Horizon Impact Strategy Exponential Improvements in the Tech Services Industry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2026-08-14T12:38:43Z</dcterms:modified>
</cp:coreProperties>
</file>