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401" r:id="rId3"/>
    <p:sldId id="400" r:id="rId4"/>
    <p:sldId id="414" r:id="rId5"/>
    <p:sldId id="263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5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9"/>
    <p:restoredTop sz="96203"/>
  </p:normalViewPr>
  <p:slideViewPr>
    <p:cSldViewPr snapToGrid="0">
      <p:cViewPr varScale="1">
        <p:scale>
          <a:sx n="118" d="100"/>
          <a:sy n="118" d="100"/>
        </p:scale>
        <p:origin x="22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4" Type="http://schemas.openxmlformats.org/officeDocument/2006/relationships/slide" Target="slides/slide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9363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83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C67AEAB-65AA-1A15-D83F-4D9F3A58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B497584-7621-165E-C683-33A2DFB0C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81DF046-C68C-DB2A-F622-BD330C28E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3933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C67AEAB-65AA-1A15-D83F-4D9F3A58D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B497584-7621-165E-C683-33A2DFB0C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81DF046-C68C-DB2A-F622-BD330C28E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385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Operating Model for </a:t>
            </a: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Rich Reba, President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Orientation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7671" y="1683815"/>
            <a:ext cx="8208266" cy="7689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GOAL-ORIENTED </a:t>
            </a:r>
            <a:r>
              <a:rPr lang="en-US" sz="3200" b="1" i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3200" b="1" dirty="0">
                <a:solidFill>
                  <a:srgbClr val="00B05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ROLE-ORIENTED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7573EF5-2EDE-3029-94B8-8CDE23805E90}"/>
              </a:ext>
            </a:extLst>
          </p:cNvPr>
          <p:cNvSpPr/>
          <p:nvPr/>
        </p:nvSpPr>
        <p:spPr>
          <a:xfrm>
            <a:off x="1127734" y="3383878"/>
            <a:ext cx="2209802" cy="220980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800" b="1" dirty="0"/>
              <a:t>GOAL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Help Tech Services </a:t>
            </a:r>
            <a:br>
              <a:rPr lang="en-US" dirty="0"/>
            </a:br>
            <a:r>
              <a:rPr lang="en-US" dirty="0"/>
              <a:t>Industry leaders </a:t>
            </a:r>
            <a:br>
              <a:rPr lang="en-US" dirty="0"/>
            </a:br>
            <a:r>
              <a:rPr lang="en-US" dirty="0"/>
              <a:t>Accelerate Success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12D584-8E54-6286-A42E-E88EB914FDC1}"/>
              </a:ext>
            </a:extLst>
          </p:cNvPr>
          <p:cNvSpPr/>
          <p:nvPr/>
        </p:nvSpPr>
        <p:spPr>
          <a:xfrm rot="5400000">
            <a:off x="4183062" y="-1127719"/>
            <a:ext cx="3609306" cy="1123299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44BE4F-6245-ED2D-EEE6-CD7C1A4521AE}"/>
              </a:ext>
            </a:extLst>
          </p:cNvPr>
          <p:cNvSpPr txBox="1"/>
          <p:nvPr/>
        </p:nvSpPr>
        <p:spPr>
          <a:xfrm>
            <a:off x="3337536" y="2990294"/>
            <a:ext cx="54361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Many Roles Share In This Goal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B0DCA-A02B-4158-4AF7-6D7C44F38FEF}"/>
              </a:ext>
            </a:extLst>
          </p:cNvPr>
          <p:cNvSpPr txBox="1"/>
          <p:nvPr/>
        </p:nvSpPr>
        <p:spPr>
          <a:xfrm>
            <a:off x="3337536" y="3664673"/>
            <a:ext cx="81964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dirty="0"/>
              <a:t>Product / Innovation / Technology Leaders are often directly responsible for helping their</a:t>
            </a:r>
            <a:br>
              <a:rPr lang="en-US" dirty="0"/>
            </a:br>
            <a:r>
              <a:rPr lang="en-US" dirty="0"/>
              <a:t>enterprises accelerate value; this Consortium could become their de facto community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endParaRPr lang="en-US" dirty="0"/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dirty="0"/>
              <a:t>However, </a:t>
            </a:r>
            <a:r>
              <a:rPr lang="en-US" b="1" dirty="0"/>
              <a:t>this isn’t a “CPO / CTO / CIO Consortium”</a:t>
            </a:r>
            <a:r>
              <a:rPr lang="en-US" dirty="0"/>
              <a:t> – it’s for any enterprising leader involved in </a:t>
            </a:r>
            <a:br>
              <a:rPr lang="en-US" dirty="0"/>
            </a:br>
            <a:r>
              <a:rPr lang="en-US" dirty="0"/>
              <a:t>helping their enterprises harness proven accelerators to </a:t>
            </a:r>
            <a:r>
              <a:rPr lang="en-US" b="1" dirty="0">
                <a:solidFill>
                  <a:srgbClr val="00B050"/>
                </a:solidFill>
              </a:rPr>
              <a:t>grow value exponentially at scale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endParaRPr lang="en-US" dirty="0"/>
          </a:p>
          <a:p>
            <a:pPr marL="120650" indent="-120650">
              <a:buFont typeface="Arial" panose="020B0604020202020204" pitchFamily="34" charset="0"/>
              <a:buChar char="•"/>
            </a:pPr>
            <a:r>
              <a:rPr lang="en-US" dirty="0"/>
              <a:t>Other leaders (Marketing, Sales, Operations, HR, Finance, Legal, etc.) also work with / support </a:t>
            </a:r>
            <a:br>
              <a:rPr lang="en-US" dirty="0"/>
            </a:br>
            <a:r>
              <a:rPr lang="en-US" dirty="0"/>
              <a:t>their enterprise’s products / innovations / technologies to help accelerate value</a:t>
            </a:r>
          </a:p>
          <a:p>
            <a:pPr marL="120650" indent="-1206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12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Services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061286"/>
              </p:ext>
            </p:extLst>
          </p:nvPr>
        </p:nvGraphicFramePr>
        <p:xfrm>
          <a:off x="838199" y="1428007"/>
          <a:ext cx="10329673" cy="4928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9113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  <a:gridCol w="6169152">
                  <a:extLst>
                    <a:ext uri="{9D8B030D-6E8A-4147-A177-3AD203B41FA5}">
                      <a16:colId xmlns:a16="http://schemas.microsoft.com/office/drawing/2014/main" val="766325045"/>
                    </a:ext>
                  </a:extLst>
                </a:gridCol>
              </a:tblGrid>
              <a:tr h="315537">
                <a:tc>
                  <a:txBody>
                    <a:bodyPr/>
                    <a:lstStyle/>
                    <a:p>
                      <a:r>
                        <a:rPr lang="en-US" sz="1400" b="1" dirty="0"/>
                        <a:t>Service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Accelerators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970526"/>
                  </a:ext>
                </a:extLst>
              </a:tr>
              <a:tr h="137615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Professional Networking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Network Effects</a:t>
                      </a:r>
                    </a:p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AI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enterprising leaders involved or interested in the Tech Services industry</a:t>
                      </a:r>
                      <a:b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THIS SERVICE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connects a global AccelRR8 professional network, supported by </a:t>
                      </a:r>
                      <a:r>
                        <a:rPr lang="en-US" sz="1200" b="1" i="0" u="none" strike="noStrike" cap="none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AI</a:t>
                      </a:r>
                      <a:b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THAT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helps leaders to network and practice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growing value exponentially at scale together, to </a:t>
                      </a:r>
                      <a:r>
                        <a:rPr lang="en-US" sz="1200" dirty="0"/>
                        <a:t>accelerate success for themselves, their industry, and all humanity.  </a:t>
                      </a:r>
                    </a:p>
                    <a:p>
                      <a:pPr marL="119063" lvl="2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Due to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network effects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, value for all collaborators grows exponentially as their numbers grow linearly.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1658013">
                <a:tc>
                  <a:txBody>
                    <a:bodyPr/>
                    <a:lstStyle/>
                    <a:p>
                      <a:r>
                        <a:rPr lang="en-US" sz="2000" b="1" dirty="0"/>
                        <a:t>Open Knowledge Sharing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Viral Ideation</a:t>
                      </a:r>
                    </a:p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Generative </a:t>
                      </a:r>
                      <a:br>
                        <a:rPr lang="en-US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Learning</a:t>
                      </a:r>
                    </a:p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AI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enterprising leaders involved or interested in the Tech Services industry</a:t>
                      </a:r>
                      <a:b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THIS SERVICE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facilitates viral ideation across the AccelRR8 network, supported by </a:t>
                      </a:r>
                      <a:r>
                        <a:rPr lang="en-US" sz="1200" b="1" i="0" u="none" strike="noStrike" cap="none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AI</a:t>
                      </a:r>
                      <a:b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THAT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helps leaders rapidly share ideas and align on authoritative best practices for growing value exponentially at scale</a:t>
                      </a:r>
                      <a:r>
                        <a:rPr lang="en-US" sz="1200" dirty="0"/>
                        <a:t>.  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119063" lvl="2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High-value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ideas go viral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, propagating exponentially fast and wide across the network.  </a:t>
                      </a:r>
                    </a:p>
                    <a:p>
                      <a:pPr marL="119063" lvl="2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Successful ideas are added via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generative learning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to the AccelRR8 Body of Knowledge, curated with the help of expert advisors.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1578641">
                <a:tc>
                  <a:txBody>
                    <a:bodyPr/>
                    <a:lstStyle/>
                    <a:p>
                      <a:r>
                        <a:rPr lang="en-US" sz="2000" b="1" dirty="0"/>
                        <a:t>Industry</a:t>
                      </a:r>
                    </a:p>
                    <a:p>
                      <a:r>
                        <a:rPr lang="en-US" sz="2000" b="1" dirty="0"/>
                        <a:t>Innovation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Compounding     </a:t>
                      </a:r>
                      <a:br>
                        <a:rPr lang="en-US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Innovation</a:t>
                      </a:r>
                    </a:p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Generative </a:t>
                      </a:r>
                      <a:br>
                        <a:rPr lang="en-US" b="1" dirty="0">
                          <a:solidFill>
                            <a:srgbClr val="00B050"/>
                          </a:solidFill>
                        </a:rPr>
                      </a:b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Learning</a:t>
                      </a:r>
                    </a:p>
                    <a:p>
                      <a:pPr marL="119063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AI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9063" lvl="2" indent="-119063"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enterprising leaders involved or interested in the Tech Services industry</a:t>
                      </a:r>
                      <a:b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THIS SERVICE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develops innovative solutions to vexing industry challenges</a:t>
                      </a:r>
                      <a:b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THAT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help leaders grow value exponentially at scale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200" dirty="0"/>
                        <a:t>accelerating material success for themselves, their industry, and all humanity.  </a:t>
                      </a:r>
                    </a:p>
                    <a:p>
                      <a:pPr marL="119063" lvl="2" indent="-119063"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Patrons finance and support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compounding innovation,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provided by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generative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teams supported by 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AI,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 to develop exponential solutions that address priority industry challenges, advance the state-of-the-art, and benefit humanity.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64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92AE61F-C7FD-048D-F56B-F4A65ECD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7B305FC-4EA6-B2EF-7B32-59203C748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Model (1/2)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2158CA-58E9-99E5-1F52-3C3731523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137622"/>
              </p:ext>
            </p:extLst>
          </p:nvPr>
        </p:nvGraphicFramePr>
        <p:xfrm>
          <a:off x="472467" y="1792224"/>
          <a:ext cx="10978842" cy="4169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4074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614476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814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We fulfill our PURPOSE…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Helping Tech Services industry leaders work together to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accelerate success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themselves, their industry, and all humanity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814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…and actualize our VISION…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 Services industry leaders everywhere enjoying exponential success in their industry while helping humanity live increasingly better lives</a:t>
                      </a:r>
                      <a:endParaRPr lang="en-US" sz="1400" b="1" i="0" u="none" strike="noStrike" cap="none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814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…as we accomplish our MISSION…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 enterprising Tech Services industry leaders harness proven accelerators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grow value exponentially at scale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81446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…by providing focused SERVICES…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Professional Networking, Open Knowledge Sharing, and Industry Innovation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91181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…that harness </a:t>
                      </a:r>
                      <a:br>
                        <a:rPr lang="en-US" sz="2000" b="1" dirty="0"/>
                      </a:br>
                      <a:r>
                        <a:rPr lang="en-US" sz="2000" b="1" dirty="0"/>
                        <a:t>EXPONENTIAL ACCELERATORS.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Compounding Innovation, Network Effects, Viral Ideation, and Generative Learning, all of which are “Powered By” Artificial Intelligence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4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92AE61F-C7FD-048D-F56B-F4A65ECD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87B305FC-4EA6-B2EF-7B32-59203C748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Model (2/2)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2158CA-58E9-99E5-1F52-3C3731523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26057"/>
              </p:ext>
            </p:extLst>
          </p:nvPr>
        </p:nvGraphicFramePr>
        <p:xfrm>
          <a:off x="554790" y="1458974"/>
          <a:ext cx="10978842" cy="48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1962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47836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WHO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Enterprising leaders in the Tech Services industry who are aligned with our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47836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WHAT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MISSION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dirty="0"/>
                        <a:t>   Help enterprising Tech Services industry leaders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harness proven accelerators </a:t>
                      </a:r>
                      <a:r>
                        <a:rPr lang="en-US" sz="1400" b="1" i="0" u="none" strike="noStrike" cap="none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 grow value exponentially at scale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47836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WHEN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Now and the foreseeable future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47836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WHERE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Based in the US, benefiting all legally addressable locations globally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166022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WHY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PURPOSE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dirty="0"/>
                        <a:t>  Helping Tech Services industry leaders work together to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accelerate success</a:t>
                      </a:r>
                      <a:r>
                        <a:rPr lang="en-US" dirty="0"/>
                        <a:t> for themselves, their industry, and all humanity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VISION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dirty="0"/>
                        <a:t>  </a:t>
                      </a:r>
                      <a:r>
                        <a:rPr lang="en-US" sz="1400" dirty="0">
                          <a:effectLst/>
                          <a:latin typeface="Helvetica Neue" panose="02000503000000020004" pitchFamily="2" charset="0"/>
                        </a:rPr>
                        <a:t>Tech Services industry leaders everywhere enjoying exponential success in their industry while helping humanity live increasingly better lives</a:t>
                      </a:r>
                    </a:p>
                    <a:p>
                      <a:pPr marL="0" indent="0">
                        <a:buNone/>
                      </a:pPr>
                      <a:endParaRPr lang="en-US" sz="1400" dirty="0">
                        <a:effectLst/>
                        <a:latin typeface="Helvetica Neue" panose="02000503000000020004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AMBITION: </a:t>
                      </a:r>
                      <a:r>
                        <a:rPr lang="en-US" sz="1400" dirty="0"/>
                        <a:t>Be the consortium that Tech Services industry leaders credit with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generating exponential improvements in industry effectiveness and impact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  <a:tr h="87231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HOW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SERVICES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dirty="0"/>
                        <a:t>  </a:t>
                      </a:r>
                      <a:r>
                        <a:rPr lang="en-US" sz="1400" dirty="0">
                          <a:effectLst/>
                          <a:latin typeface="Helvetica Neue" panose="02000503000000020004" pitchFamily="2" charset="0"/>
                        </a:rPr>
                        <a:t>Professional Networking, Open Knowledge Sharing, and Industry Innovation</a:t>
                      </a:r>
                    </a:p>
                    <a:p>
                      <a:pPr marL="0" indent="0">
                        <a:buNone/>
                      </a:pPr>
                      <a:endParaRPr lang="en-US" dirty="0"/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EXPONENTIAL ACCELERATORS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dirty="0"/>
                        <a:t>  Compounding Innovation, Network Effects, Viral Ideation, and Generative Learning, all of which are “Powered By” Artificial Intelligence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6456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82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46989</TotalTime>
  <Words>668</Words>
  <Application>Microsoft Macintosh PowerPoint</Application>
  <PresentationFormat>Widescreen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Helvetica Neue</vt:lpstr>
      <vt:lpstr>Office Theme</vt:lpstr>
      <vt:lpstr>  Operating Model for  AccelRR8 Consortium NonProfit </vt:lpstr>
      <vt:lpstr>Consortium Orientation</vt:lpstr>
      <vt:lpstr>Consortium Services</vt:lpstr>
      <vt:lpstr>Consortium Model (1/2)</vt:lpstr>
      <vt:lpstr>Consortium Model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153</cp:revision>
  <cp:lastPrinted>2024-10-01T14:48:34Z</cp:lastPrinted>
  <dcterms:created xsi:type="dcterms:W3CDTF">2023-08-22T19:09:59Z</dcterms:created>
  <dcterms:modified xsi:type="dcterms:W3CDTF">2026-08-06T19:26:48Z</dcterms:modified>
</cp:coreProperties>
</file>