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73" r:id="rId3"/>
    <p:sldId id="276" r:id="rId4"/>
    <p:sldId id="415" r:id="rId5"/>
    <p:sldId id="279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5" roundtripDataSignature="AMtx7mhwEp+Eio5qReXqYqUwMP31HB0A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E8D294-6C36-FC4A-874A-F3BACE264DF3}" v="1" dt="2026-08-06T19:39:22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59"/>
    <p:restoredTop sz="96203"/>
  </p:normalViewPr>
  <p:slideViewPr>
    <p:cSldViewPr snapToGrid="0">
      <p:cViewPr varScale="1">
        <p:scale>
          <a:sx n="143" d="100"/>
          <a:sy n="143" d="100"/>
        </p:scale>
        <p:origin x="4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36" Type="http://schemas.openxmlformats.org/officeDocument/2006/relationships/presProps" Target="presProps.xml"/><Relationship Id="rId4" Type="http://schemas.openxmlformats.org/officeDocument/2006/relationships/slide" Target="slides/slide3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8078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0241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38E6667-9EA0-B46F-EA34-7E1E3D5B7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6EBA55BE-F27A-D6B2-D742-B94A1F9022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24840E0C-4CF2-21DC-1C04-F7CFEEBEA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8692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8190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93725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mc/articles/PMC1765804/pdf/v013p0ii22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524000" y="2785676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US" dirty="0"/>
            </a:br>
            <a:r>
              <a:rPr lang="en-US" dirty="0"/>
              <a:t>Purpose and Credo for </a:t>
            </a:r>
            <a:br>
              <a:rPr lang="en-US" dirty="0"/>
            </a:br>
            <a:r>
              <a:rPr lang="en-US" dirty="0"/>
              <a:t>AccelRR8 Consortium NonProfit</a:t>
            </a:r>
            <a:br>
              <a:rPr lang="en-US" dirty="0"/>
            </a:br>
            <a:endParaRPr sz="40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79337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Rich Reba, President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August 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Ambition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3AF1A-7A80-3B3D-294A-E26C98269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Who we are</a:t>
            </a:r>
          </a:p>
          <a:p>
            <a:r>
              <a:rPr lang="en-US" sz="1800" dirty="0"/>
              <a:t>Technology Services Industry Consortium </a:t>
            </a:r>
          </a:p>
          <a:p>
            <a:r>
              <a:rPr lang="en-US" sz="1800" dirty="0"/>
              <a:t>Founded in December 2023</a:t>
            </a:r>
          </a:p>
          <a:p>
            <a:r>
              <a:rPr lang="en-US" sz="1800" dirty="0"/>
              <a:t>Non-Profit Organization registered in Maryland</a:t>
            </a:r>
          </a:p>
          <a:p>
            <a:r>
              <a:rPr lang="en-US" sz="1800" dirty="0"/>
              <a:t>Rich Reba, President, is a former Fortune 200 </a:t>
            </a:r>
            <a:br>
              <a:rPr lang="en-US" sz="1800" dirty="0"/>
            </a:br>
            <a:r>
              <a:rPr lang="en-US" sz="1800" dirty="0"/>
              <a:t>C-suite Executive and Tech Consulting GM with current certifications (AI, Agile, CPO, etc.)</a:t>
            </a:r>
          </a:p>
          <a:p>
            <a:r>
              <a:rPr lang="en-US" sz="1800" dirty="0"/>
              <a:t>Licensed to use Rich Reba’s personal AccelRR8 brand, owned by AccelRR8 LLC</a:t>
            </a:r>
          </a:p>
          <a:p>
            <a:r>
              <a:rPr lang="en-US" sz="1800" dirty="0"/>
              <a:t>AccelRR8 LLC, a for-profit company, is not an affiliate.  It is a patron whose employees and associates are participants in the consortium</a:t>
            </a:r>
          </a:p>
          <a:p>
            <a:r>
              <a:rPr lang="en-US" sz="1800" dirty="0"/>
              <a:t>Asset-light with very low overhead costs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CB550-ECF5-EE2D-D835-8F66E64FAB2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198" y="1825625"/>
            <a:ext cx="5576779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What we want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Mission</a:t>
            </a:r>
            <a:r>
              <a:rPr lang="en-US" sz="1800" dirty="0"/>
              <a:t> is to </a:t>
            </a:r>
            <a:r>
              <a:rPr lang="en-US" sz="1800" dirty="0">
                <a:solidFill>
                  <a:schemeClr val="tx1"/>
                </a:solidFill>
              </a:rPr>
              <a:t>help enterprising Tech Services industry leaders harness proven accelerators</a:t>
            </a:r>
            <a:r>
              <a:rPr lang="en-US" sz="1800" dirty="0"/>
              <a:t> to </a:t>
            </a:r>
            <a:r>
              <a:rPr lang="en-US" sz="1800" b="1" dirty="0">
                <a:solidFill>
                  <a:srgbClr val="00B050"/>
                </a:solidFill>
              </a:rPr>
              <a:t>grow value exponentially at scale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Purpose</a:t>
            </a:r>
            <a:r>
              <a:rPr lang="en-US" sz="1800" b="1" dirty="0"/>
              <a:t> </a:t>
            </a:r>
            <a:r>
              <a:rPr lang="en-US" sz="1800" dirty="0"/>
              <a:t>is helping Tech Services industry leaders work together </a:t>
            </a:r>
            <a:r>
              <a:rPr lang="en-US" sz="1800" b="1" dirty="0">
                <a:solidFill>
                  <a:srgbClr val="00B050"/>
                </a:solidFill>
              </a:rPr>
              <a:t>to accelerate success</a:t>
            </a:r>
            <a:r>
              <a:rPr lang="en-US" sz="1800" dirty="0"/>
              <a:t> for themselves, their industry, and all humanity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Vision</a:t>
            </a:r>
            <a:r>
              <a:rPr lang="en-US" sz="1800" dirty="0"/>
              <a:t> is Tech Services industry leaders everywhere enjoying exponential success in their industry while helping humanity live increasingly better lives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Ambition</a:t>
            </a:r>
            <a:r>
              <a:rPr lang="en-US" sz="1800" dirty="0"/>
              <a:t> is to be the consortium that Tech Services industry leaders credit with </a:t>
            </a:r>
            <a:r>
              <a:rPr lang="en-US" sz="1800" b="1" dirty="0">
                <a:solidFill>
                  <a:srgbClr val="00B050"/>
                </a:solidFill>
              </a:rPr>
              <a:t>generating exponential improvements in industry effectiveness and impact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695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Values</a:t>
            </a:r>
            <a:br>
              <a:rPr lang="en-US" dirty="0"/>
            </a:br>
            <a:r>
              <a:rPr lang="en-US" sz="2400" i="1" dirty="0"/>
              <a:t>Stakeholders appreciate and want to associate with our values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753516"/>
              </p:ext>
            </p:extLst>
          </p:nvPr>
        </p:nvGraphicFramePr>
        <p:xfrm>
          <a:off x="179831" y="2011680"/>
          <a:ext cx="10744201" cy="42184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9945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6934256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8333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Helping Humanity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Making a meaningful contribution to our local and global community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8333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Delighting Customers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Exceeding our collaborators’ and patrons’ expectations and making them happy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89640372"/>
                  </a:ext>
                </a:extLst>
              </a:tr>
              <a:tr h="8333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Supporting Colleagues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Empathizing with and respecting those who help us in our job, career, and vocations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83339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Accelerating Success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Harnessing proven accelerators to continuously innovate, collaborate, ideate, learn, use AI, and grow value exponentially (we “drink our own champagne”)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  <a:tr h="88484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Being Trustworthy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Holding leaders accountable for ethical, legal, and financial responsibilities 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5022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335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8689FB53-34E6-6D2E-A27A-7455602E4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6D96EFA8-3456-DD1D-DE7A-A34ADC0618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Working with AccelRR8 LLC</a:t>
            </a:r>
            <a:br>
              <a:rPr lang="en-US" dirty="0"/>
            </a:br>
            <a:r>
              <a:rPr lang="en-US" sz="2400" i="1" dirty="0"/>
              <a:t>Stakeholders appreciate and want to associate with our values</a:t>
            </a:r>
            <a:endParaRPr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ECDCE81-629D-78C2-7157-705559E61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995" y="1670404"/>
            <a:ext cx="11010901" cy="4676167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sz="16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BEING TRUSTWORTHY </a:t>
            </a:r>
            <a: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means we must be transparent about our ethical relationship with AccelRR8 LLC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AccelRR8 LLC is an independent for-profit business that is not an affiliate of the AccelRR8 Consortium Non-Profit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AccelRR8 LLC is a patron whose employees and associates are collaborators in the AccelRR8 Consortium Non-Profit</a:t>
            </a:r>
            <a:endParaRPr lang="en-US" sz="1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AccelRR8 LLC has granted an unlimited use license of the AccelRR8 Brand to the AccelRR8 Consortium Non-Profit in perpetuity without expiration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AccelRR8 LLC owns the AccelRR8 brand and its associated assets, including but not limited to logos, designs, tag lines, and templates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AccelRR8 LLC markets the AccelRR8 brand as Rich Reba’s personal brand</a:t>
            </a:r>
            <a:b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the AccelRR8 Consortium Non-Profit succeeds, it will create demand for Non-Profit and For-Profit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Leaders who want to grow value exponentially themselves (“DIY”) can avail themselves of the Non-Profit’s services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Leaders who want additional help growing value exponentially can get it from For-Profit businesses such as AccelRR8 LLC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the early days, if AccelRR8 LLC is seeing increased demand, it will indicate the Non-Profit is creating value for leaders because they are willing to pay to get help growing value exponentially</a:t>
            </a:r>
            <a:b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AccelRR8 Consortium Non-Profit will continuously evaluate its strategy as it succeeds, for 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It may acquire AccelRR8 LLC and operate similarly to OpenAI, where the non-profit owns the for-profit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It may maintain a symbiotic but independent relationship with AccelRR8 LLC similarly to SAP and the ASUG non-profit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It may re-brand, in which case AccelRR8 LLC will hopefully remain one of many patrons</a:t>
            </a:r>
          </a:p>
        </p:txBody>
      </p:sp>
    </p:spTree>
    <p:extLst>
      <p:ext uri="{BB962C8B-B14F-4D97-AF65-F5344CB8AC3E}">
        <p14:creationId xmlns:p14="http://schemas.microsoft.com/office/powerpoint/2010/main" val="77836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3980C4-4BE6-07DA-F1CD-3DD244140CAB}"/>
              </a:ext>
            </a:extLst>
          </p:cNvPr>
          <p:cNvSpPr/>
          <p:nvPr/>
        </p:nvSpPr>
        <p:spPr>
          <a:xfrm>
            <a:off x="6181344" y="2411775"/>
            <a:ext cx="4800346" cy="3693319"/>
          </a:xfrm>
          <a:prstGeom prst="rect">
            <a:avLst/>
          </a:prstGeom>
          <a:solidFill>
            <a:srgbClr val="00B05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7CE555-DC28-09F5-F651-023C8D84D38F}"/>
              </a:ext>
            </a:extLst>
          </p:cNvPr>
          <p:cNvSpPr txBox="1"/>
          <p:nvPr/>
        </p:nvSpPr>
        <p:spPr>
          <a:xfrm>
            <a:off x="838197" y="1690688"/>
            <a:ext cx="84399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  <a:latin typeface="-apple-system"/>
              </a:rPr>
              <a:t>Our consortium aspires to a </a:t>
            </a:r>
            <a:r>
              <a:rPr lang="en-US" sz="1800" b="1" i="0" dirty="0">
                <a:solidFill>
                  <a:srgbClr val="00B050"/>
                </a:solidFill>
                <a:effectLst/>
                <a:latin typeface="-apple-system"/>
              </a:rPr>
              <a:t>Generative Culture </a:t>
            </a:r>
            <a:r>
              <a:rPr lang="en-US" sz="1800" b="0" i="0" dirty="0">
                <a:effectLst/>
                <a:latin typeface="-apple-system"/>
              </a:rPr>
              <a:t>as introduced by </a:t>
            </a:r>
            <a:r>
              <a:rPr lang="en-US" sz="1800" b="0" i="0" dirty="0" err="1">
                <a:effectLst/>
                <a:latin typeface="-apple-system"/>
              </a:rPr>
              <a:t>Westrum</a:t>
            </a:r>
            <a:r>
              <a:rPr lang="en-US" sz="1800" b="0" i="0" dirty="0">
                <a:effectLst/>
                <a:latin typeface="-apple-system"/>
              </a:rPr>
              <a:t> in </a:t>
            </a:r>
            <a:r>
              <a:rPr lang="en-US" sz="1800" b="0" i="0" dirty="0">
                <a:effectLst/>
                <a:latin typeface="-apple-system"/>
                <a:hlinkClick r:id="rId3"/>
              </a:rPr>
              <a:t>https://www.ncbi.nlm.nih.gov/pmc/articles/PMC1765804/pdf/v013p0ii22.pdf</a:t>
            </a:r>
            <a:r>
              <a:rPr lang="en-US" sz="1800" b="0" i="0" dirty="0">
                <a:effectLst/>
                <a:latin typeface="-apple-system"/>
              </a:rPr>
              <a:t>  </a:t>
            </a:r>
          </a:p>
          <a:p>
            <a:endParaRPr lang="en-US" sz="1800" dirty="0">
              <a:latin typeface="-apple-system"/>
            </a:endParaRPr>
          </a:p>
        </p:txBody>
      </p:sp>
      <p:sp>
        <p:nvSpPr>
          <p:cNvPr id="9" name="Google Shape;96;p2">
            <a:extLst>
              <a:ext uri="{FF2B5EF4-FFF2-40B4-BE49-F238E27FC236}">
                <a16:creationId xmlns:a16="http://schemas.microsoft.com/office/drawing/2014/main" id="{B00CB9DB-EFD6-82D4-90BF-BD3A581BEA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Consortium Culture</a:t>
            </a:r>
            <a:br>
              <a:rPr lang="en-US" dirty="0"/>
            </a:br>
            <a:r>
              <a:rPr lang="en-US" sz="2400" i="1" dirty="0"/>
              <a:t>Stakeholders appreciate and want to associate with our culture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A6B20D-A028-3BF6-3B0C-33E8F4D45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773" y="2411775"/>
            <a:ext cx="4800346" cy="2784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24DB58-D516-15BE-6A13-E14149AC10C7}"/>
              </a:ext>
            </a:extLst>
          </p:cNvPr>
          <p:cNvSpPr txBox="1"/>
          <p:nvPr/>
        </p:nvSpPr>
        <p:spPr>
          <a:xfrm>
            <a:off x="6327649" y="2411775"/>
            <a:ext cx="465734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chemeClr val="bg1"/>
                </a:solidFill>
                <a:effectLst/>
                <a:latin typeface="-apple-system"/>
              </a:rPr>
              <a:t>Characteristics of our culture: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-apple-system"/>
              </a:rPr>
              <a:t>Performance oriented (not power oriented)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-apple-system"/>
              </a:rPr>
              <a:t>High cooperation (not low)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-apple-system"/>
              </a:rPr>
              <a:t>Messengers are trained (not shot)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-apple-system"/>
              </a:rPr>
              <a:t>Risks are shared (not shirked)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-apple-system"/>
              </a:rPr>
              <a:t>Bridging is encouraged (not discouraged)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-apple-system"/>
              </a:rPr>
              <a:t>Failure leads to inquiry (not scapegoating)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-apple-system"/>
              </a:rPr>
              <a:t>Novelty is implemented (not crushed) </a:t>
            </a:r>
          </a:p>
          <a:p>
            <a:pPr marL="285750" indent="-285750">
              <a:buFontTx/>
              <a:buChar char="-"/>
            </a:pPr>
            <a:endParaRPr lang="en-US" sz="1800" dirty="0">
              <a:solidFill>
                <a:schemeClr val="bg1"/>
              </a:solidFill>
              <a:latin typeface="-apple-system"/>
            </a:endParaRPr>
          </a:p>
          <a:p>
            <a:r>
              <a:rPr lang="en-US" sz="1800" b="1" i="0" dirty="0">
                <a:solidFill>
                  <a:schemeClr val="bg1"/>
                </a:solidFill>
                <a:effectLst/>
                <a:latin typeface="-apple-system"/>
              </a:rPr>
              <a:t>Implies: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-apple-system"/>
              </a:rPr>
              <a:t>Diversity is welcome (not unwelcome)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-apple-system"/>
              </a:rPr>
              <a:t>Environment is safe (not hostile)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bg1"/>
                </a:solidFill>
                <a:effectLst/>
                <a:latin typeface="-apple-system"/>
              </a:rPr>
              <a:t>People are nice (not a-holes)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96A24-9AAA-1766-963B-CCC6F06E411C}"/>
              </a:ext>
            </a:extLst>
          </p:cNvPr>
          <p:cNvSpPr/>
          <p:nvPr/>
        </p:nvSpPr>
        <p:spPr>
          <a:xfrm>
            <a:off x="3889248" y="2804160"/>
            <a:ext cx="1572768" cy="2011680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67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46979</TotalTime>
  <Words>689</Words>
  <Application>Microsoft Macintosh PowerPoint</Application>
  <PresentationFormat>Widescreen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-apple-system</vt:lpstr>
      <vt:lpstr>Arial</vt:lpstr>
      <vt:lpstr>Calibri</vt:lpstr>
      <vt:lpstr>Office Theme</vt:lpstr>
      <vt:lpstr> Purpose and Credo for  AccelRR8 Consortium NonProfit </vt:lpstr>
      <vt:lpstr>Consortium Ambition</vt:lpstr>
      <vt:lpstr>Consortium Values Stakeholders appreciate and want to associate with our values</vt:lpstr>
      <vt:lpstr>Working with AccelRR8 LLC Stakeholders appreciate and want to associate with our values</vt:lpstr>
      <vt:lpstr>Consortium Culture Stakeholders appreciate and want to associate with our culture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Digital Architect Consulting Services</dc:title>
  <dc:creator>Rich Reba</dc:creator>
  <cp:lastModifiedBy>Rich Reba</cp:lastModifiedBy>
  <cp:revision>153</cp:revision>
  <cp:lastPrinted>2024-10-01T14:48:34Z</cp:lastPrinted>
  <dcterms:created xsi:type="dcterms:W3CDTF">2023-08-22T19:09:59Z</dcterms:created>
  <dcterms:modified xsi:type="dcterms:W3CDTF">2026-08-06T19:40:22Z</dcterms:modified>
</cp:coreProperties>
</file>