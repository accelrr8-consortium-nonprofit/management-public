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80" r:id="rId4"/>
    <p:sldId id="274" r:id="rId5"/>
    <p:sldId id="421" r:id="rId6"/>
    <p:sldId id="418" r:id="rId7"/>
    <p:sldId id="419" r:id="rId8"/>
    <p:sldId id="420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hwEp+Eio5qReXqYqUwMP31HB0A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1"/>
    <p:restoredTop sz="95738"/>
  </p:normalViewPr>
  <p:slideViewPr>
    <p:cSldViewPr snapToGrid="0">
      <p:cViewPr varScale="1">
        <p:scale>
          <a:sx n="135" d="100"/>
          <a:sy n="135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 Reba" userId="55db41ab6eb3f845" providerId="LiveId" clId="{0E19DA16-244C-5B50-BE0F-52911DD4CA7E}"/>
    <pc:docChg chg="undo custSel modSld">
      <pc:chgData name="Rich Reba" userId="55db41ab6eb3f845" providerId="LiveId" clId="{0E19DA16-244C-5B50-BE0F-52911DD4CA7E}" dt="2026-09-08T14:27:15.031" v="542" actId="20577"/>
      <pc:docMkLst>
        <pc:docMk/>
      </pc:docMkLst>
      <pc:sldChg chg="delSp modSp mod">
        <pc:chgData name="Rich Reba" userId="55db41ab6eb3f845" providerId="LiveId" clId="{0E19DA16-244C-5B50-BE0F-52911DD4CA7E}" dt="2026-08-10T12:06:55.065" v="522" actId="478"/>
        <pc:sldMkLst>
          <pc:docMk/>
          <pc:sldMk cId="0" sldId="256"/>
        </pc:sldMkLst>
      </pc:sldChg>
      <pc:sldChg chg="delSp mod">
        <pc:chgData name="Rich Reba" userId="55db41ab6eb3f845" providerId="LiveId" clId="{0E19DA16-244C-5B50-BE0F-52911DD4CA7E}" dt="2026-08-10T12:06:52.373" v="521" actId="478"/>
        <pc:sldMkLst>
          <pc:docMk/>
          <pc:sldMk cId="0" sldId="257"/>
        </pc:sldMkLst>
      </pc:sldChg>
      <pc:sldChg chg="delSp modSp mod">
        <pc:chgData name="Rich Reba" userId="55db41ab6eb3f845" providerId="LiveId" clId="{0E19DA16-244C-5B50-BE0F-52911DD4CA7E}" dt="2026-09-08T14:27:15.031" v="542" actId="20577"/>
        <pc:sldMkLst>
          <pc:docMk/>
          <pc:sldMk cId="1656586467" sldId="274"/>
        </pc:sldMkLst>
        <pc:spChg chg="mod">
          <ac:chgData name="Rich Reba" userId="55db41ab6eb3f845" providerId="LiveId" clId="{0E19DA16-244C-5B50-BE0F-52911DD4CA7E}" dt="2026-09-08T14:27:04.873" v="533" actId="20577"/>
          <ac:spMkLst>
            <pc:docMk/>
            <pc:sldMk cId="1656586467" sldId="274"/>
            <ac:spMk id="125" creationId="{00000000-0000-0000-0000-000000000000}"/>
          </ac:spMkLst>
        </pc:spChg>
        <pc:spChg chg="mod">
          <ac:chgData name="Rich Reba" userId="55db41ab6eb3f845" providerId="LiveId" clId="{0E19DA16-244C-5B50-BE0F-52911DD4CA7E}" dt="2026-09-08T14:27:09.388" v="538" actId="20577"/>
          <ac:spMkLst>
            <pc:docMk/>
            <pc:sldMk cId="1656586467" sldId="274"/>
            <ac:spMk id="126" creationId="{00000000-0000-0000-0000-000000000000}"/>
          </ac:spMkLst>
        </pc:spChg>
        <pc:spChg chg="mod">
          <ac:chgData name="Rich Reba" userId="55db41ab6eb3f845" providerId="LiveId" clId="{0E19DA16-244C-5B50-BE0F-52911DD4CA7E}" dt="2026-09-08T14:27:15.031" v="542" actId="20577"/>
          <ac:spMkLst>
            <pc:docMk/>
            <pc:sldMk cId="1656586467" sldId="274"/>
            <ac:spMk id="127" creationId="{00000000-0000-0000-0000-000000000000}"/>
          </ac:spMkLst>
        </pc:spChg>
      </pc:sldChg>
      <pc:sldChg chg="delSp modSp mod">
        <pc:chgData name="Rich Reba" userId="55db41ab6eb3f845" providerId="LiveId" clId="{0E19DA16-244C-5B50-BE0F-52911DD4CA7E}" dt="2026-08-10T12:06:48.887" v="520" actId="478"/>
        <pc:sldMkLst>
          <pc:docMk/>
          <pc:sldMk cId="3472351846" sldId="280"/>
        </pc:sldMkLst>
      </pc:sldChg>
      <pc:sldChg chg="delSp modSp mod">
        <pc:chgData name="Rich Reba" userId="55db41ab6eb3f845" providerId="LiveId" clId="{0E19DA16-244C-5B50-BE0F-52911DD4CA7E}" dt="2026-08-10T12:07:12.357" v="525" actId="478"/>
        <pc:sldMkLst>
          <pc:docMk/>
          <pc:sldMk cId="4015092339" sldId="418"/>
        </pc:sldMkLst>
      </pc:sldChg>
      <pc:sldChg chg="delSp modSp mod">
        <pc:chgData name="Rich Reba" userId="55db41ab6eb3f845" providerId="LiveId" clId="{0E19DA16-244C-5B50-BE0F-52911DD4CA7E}" dt="2026-08-10T12:07:16.759" v="526" actId="478"/>
        <pc:sldMkLst>
          <pc:docMk/>
          <pc:sldMk cId="3381750306" sldId="419"/>
        </pc:sldMkLst>
      </pc:sldChg>
      <pc:sldChg chg="delSp modSp mod">
        <pc:chgData name="Rich Reba" userId="55db41ab6eb3f845" providerId="LiveId" clId="{0E19DA16-244C-5B50-BE0F-52911DD4CA7E}" dt="2026-08-10T12:07:20.066" v="527" actId="478"/>
        <pc:sldMkLst>
          <pc:docMk/>
          <pc:sldMk cId="4209041106" sldId="420"/>
        </pc:sldMkLst>
      </pc:sldChg>
      <pc:sldChg chg="delSp modSp mod">
        <pc:chgData name="Rich Reba" userId="55db41ab6eb3f845" providerId="LiveId" clId="{0E19DA16-244C-5B50-BE0F-52911DD4CA7E}" dt="2026-08-10T12:07:07.331" v="524" actId="478"/>
        <pc:sldMkLst>
          <pc:docMk/>
          <pc:sldMk cId="3765181648" sldId="42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8078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85629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A2F5C556-55B8-E0E6-F161-D65206EF4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D20EB983-F39F-21C4-CFC2-71E5BDEA05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7E164D73-BBDD-33F4-8D41-9B2A1319D4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71515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82FB6541-D063-53B5-8C82-04241734F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30E71D39-E271-BD80-EA92-8FA48E9DDC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228EC1A7-EB58-05B3-ADAC-CF4ED0B018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45758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2FDB2AF3-4D07-C802-D2DA-BA11FACAF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8CC90531-669B-6E06-520D-9798EF2742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8F0A7277-3C2C-D4A5-A495-21497A80F7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20851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5ADA9A9D-DA8D-313E-C7EA-81FB3C428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8468FF3B-14A1-97BE-C84B-CF4C6BD7DB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1CC176F6-A71A-8290-07C5-A247D37007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0015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1724" y="-27804"/>
            <a:ext cx="12252960" cy="22428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9"/>
          <p:cNvSpPr/>
          <p:nvPr/>
        </p:nvSpPr>
        <p:spPr>
          <a:xfrm>
            <a:off x="10036908" y="136525"/>
            <a:ext cx="1914769" cy="131640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9"/>
          <p:cNvSpPr txBox="1">
            <a:spLocks noGrp="1"/>
          </p:cNvSpPr>
          <p:nvPr>
            <p:ph type="ctrTitle"/>
          </p:nvPr>
        </p:nvSpPr>
        <p:spPr>
          <a:xfrm>
            <a:off x="1524000" y="2215660"/>
            <a:ext cx="9144000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ubTitle" idx="1"/>
          </p:nvPr>
        </p:nvSpPr>
        <p:spPr>
          <a:xfrm>
            <a:off x="1524000" y="4223361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6095" y="227868"/>
            <a:ext cx="1649044" cy="11337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893725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5183188" y="1594339"/>
            <a:ext cx="6172200" cy="42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>
            <a:spLocks noGrp="1"/>
          </p:cNvSpPr>
          <p:nvPr>
            <p:ph type="pic" idx="2"/>
          </p:nvPr>
        </p:nvSpPr>
        <p:spPr>
          <a:xfrm>
            <a:off x="5183188" y="1594338"/>
            <a:ext cx="6172200" cy="4266712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7704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8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023232" y="136525"/>
            <a:ext cx="1914769" cy="131640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1325526" y="2785676"/>
            <a:ext cx="9540948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Organizational Plan for </a:t>
            </a:r>
            <a:br>
              <a:rPr lang="en-US" dirty="0"/>
            </a:br>
            <a:r>
              <a:rPr lang="en-US" dirty="0"/>
              <a:t>AccelRR8 Consortium Non-Profit</a:t>
            </a:r>
            <a:br>
              <a:rPr lang="en-US" dirty="0"/>
            </a:br>
            <a:endParaRPr sz="4000"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524000" y="479337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Rich Reba, President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August 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Contents</a:t>
            </a:r>
            <a:endParaRPr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dirty="0"/>
              <a:t>Ambition</a:t>
            </a: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dirty="0"/>
              <a:t>Impact Strategy</a:t>
            </a: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dirty="0"/>
              <a:t>Leadership</a:t>
            </a: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dirty="0"/>
              <a:t>Offerings &amp; Benefits</a:t>
            </a: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dirty="0"/>
              <a:t>Building Momentum</a:t>
            </a: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dirty="0"/>
              <a:t>Finance &amp; Responsibility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Consortium Ambition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C3AF1A-7A80-3B3D-294A-E26C98269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dirty="0"/>
              <a:t>Who we are</a:t>
            </a:r>
          </a:p>
          <a:p>
            <a:r>
              <a:rPr lang="en-US" sz="1800" dirty="0"/>
              <a:t>Technology Services Industry Consortium </a:t>
            </a:r>
          </a:p>
          <a:p>
            <a:r>
              <a:rPr lang="en-US" sz="1800" dirty="0"/>
              <a:t>Founded in December 2023</a:t>
            </a:r>
          </a:p>
          <a:p>
            <a:r>
              <a:rPr lang="en-US" sz="1800" dirty="0"/>
              <a:t>Non-Profit Organization registered in Maryland</a:t>
            </a:r>
          </a:p>
          <a:p>
            <a:r>
              <a:rPr lang="en-US" sz="1800" dirty="0"/>
              <a:t>Rich Reba, President, is a former Fortune 200 </a:t>
            </a:r>
            <a:br>
              <a:rPr lang="en-US" sz="1800" dirty="0"/>
            </a:br>
            <a:r>
              <a:rPr lang="en-US" sz="1800" dirty="0"/>
              <a:t>C-suite Executive and Tech Consulting GM with current certifications (AI, Agile, CPO, etc.)</a:t>
            </a:r>
          </a:p>
          <a:p>
            <a:r>
              <a:rPr lang="en-US" sz="1800" dirty="0"/>
              <a:t>Licensed to use Rich Reba’s personal AccelRR8 brand, owned by AccelRR8 LLC</a:t>
            </a:r>
          </a:p>
          <a:p>
            <a:r>
              <a:rPr lang="en-US" sz="1800" dirty="0"/>
              <a:t>AccelRR8 LLC, a for-profit company, is not an affiliate.  It is a patron whose employees and associates are participants in the consortium</a:t>
            </a:r>
          </a:p>
          <a:p>
            <a:r>
              <a:rPr lang="en-US" sz="1800" dirty="0"/>
              <a:t>Asset-light with very low overhead costs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DCB550-ECF5-EE2D-D835-8F66E64FAB2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198" y="1825625"/>
            <a:ext cx="5576779" cy="435133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What we want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Mission</a:t>
            </a:r>
            <a:r>
              <a:rPr lang="en-US" sz="1800" dirty="0"/>
              <a:t> is to </a:t>
            </a:r>
            <a:r>
              <a:rPr lang="en-US" sz="1800" dirty="0">
                <a:solidFill>
                  <a:schemeClr val="tx1"/>
                </a:solidFill>
              </a:rPr>
              <a:t>help enterprising Tech Services industry leaders harness proven accelerators</a:t>
            </a:r>
            <a:r>
              <a:rPr lang="en-US" sz="1800" dirty="0"/>
              <a:t> to </a:t>
            </a:r>
            <a:r>
              <a:rPr lang="en-US" sz="1800" b="1" dirty="0">
                <a:solidFill>
                  <a:srgbClr val="00B050"/>
                </a:solidFill>
              </a:rPr>
              <a:t>grow value exponentially at scale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Purpose</a:t>
            </a:r>
            <a:r>
              <a:rPr lang="en-US" sz="1800" b="1" dirty="0"/>
              <a:t> </a:t>
            </a:r>
            <a:r>
              <a:rPr lang="en-US" sz="1800" dirty="0"/>
              <a:t>is helping Tech Services industry leaders work together </a:t>
            </a:r>
            <a:r>
              <a:rPr lang="en-US" sz="1800" b="1" dirty="0">
                <a:solidFill>
                  <a:srgbClr val="00B050"/>
                </a:solidFill>
              </a:rPr>
              <a:t>to accelerate success</a:t>
            </a:r>
            <a:r>
              <a:rPr lang="en-US" sz="1800" dirty="0"/>
              <a:t> for themselves, their industry, and all humanity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Vision</a:t>
            </a:r>
            <a:r>
              <a:rPr lang="en-US" sz="1800" dirty="0"/>
              <a:t> is Tech Services industry leaders everywhere enjoying exponential success in their industry while helping humanity live increasingly better lives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Ambition</a:t>
            </a:r>
            <a:r>
              <a:rPr lang="en-US" sz="1800" dirty="0"/>
              <a:t> is to be the consortium that Tech Services industry leaders credit with </a:t>
            </a:r>
            <a:r>
              <a:rPr lang="en-US" sz="1800" b="1" dirty="0">
                <a:solidFill>
                  <a:srgbClr val="00B050"/>
                </a:solidFill>
              </a:rPr>
              <a:t>generating exponential improvements in industry effectiveness and impact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351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>
            <a:spLocks noGrp="1"/>
          </p:cNvSpPr>
          <p:nvPr>
            <p:ph type="title"/>
          </p:nvPr>
        </p:nvSpPr>
        <p:spPr>
          <a:xfrm>
            <a:off x="838199" y="142503"/>
            <a:ext cx="8950569" cy="1595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Consortium 3-Horizon Impact Strategy</a:t>
            </a:r>
            <a:br>
              <a:rPr lang="en-US" dirty="0"/>
            </a:br>
            <a:r>
              <a:rPr lang="en-US" sz="2400" i="1" dirty="0"/>
              <a:t>Exponential Improvements in the Tech Services Industry</a:t>
            </a:r>
            <a:endParaRPr i="1" dirty="0"/>
          </a:p>
        </p:txBody>
      </p:sp>
      <p:pic>
        <p:nvPicPr>
          <p:cNvPr id="122" name="Google Shape;122;p5"/>
          <p:cNvPicPr preferRelativeResize="0"/>
          <p:nvPr/>
        </p:nvPicPr>
        <p:blipFill rotWithShape="1">
          <a:blip r:embed="rId3">
            <a:alphaModFix/>
          </a:blip>
          <a:srcRect t="2408" r="18813"/>
          <a:stretch/>
        </p:blipFill>
        <p:spPr>
          <a:xfrm>
            <a:off x="1073220" y="2076056"/>
            <a:ext cx="10565973" cy="4362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5"/>
          <p:cNvCxnSpPr/>
          <p:nvPr/>
        </p:nvCxnSpPr>
        <p:spPr>
          <a:xfrm>
            <a:off x="4421187" y="2076056"/>
            <a:ext cx="0" cy="4362675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24" name="Google Shape;124;p5"/>
          <p:cNvCxnSpPr/>
          <p:nvPr/>
        </p:nvCxnSpPr>
        <p:spPr>
          <a:xfrm>
            <a:off x="8136080" y="2076056"/>
            <a:ext cx="0" cy="4362675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25" name="Google Shape;125;p5"/>
          <p:cNvSpPr txBox="1"/>
          <p:nvPr/>
        </p:nvSpPr>
        <p:spPr>
          <a:xfrm>
            <a:off x="1051955" y="2076056"/>
            <a:ext cx="324163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Launch</a:t>
            </a:r>
            <a:br>
              <a:rPr 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HORIZON 1</a:t>
            </a:r>
            <a:endParaRPr sz="1200" dirty="0"/>
          </a:p>
        </p:txBody>
      </p:sp>
      <p:sp>
        <p:nvSpPr>
          <p:cNvPr id="126" name="Google Shape;126;p5"/>
          <p:cNvSpPr txBox="1"/>
          <p:nvPr/>
        </p:nvSpPr>
        <p:spPr>
          <a:xfrm>
            <a:off x="4293588" y="2076056"/>
            <a:ext cx="40019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Climb</a:t>
            </a:r>
            <a:br>
              <a:rPr 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HORIZON 2</a:t>
            </a:r>
            <a:endParaRPr sz="1200" dirty="0"/>
          </a:p>
        </p:txBody>
      </p:sp>
      <p:sp>
        <p:nvSpPr>
          <p:cNvPr id="127" name="Google Shape;127;p5"/>
          <p:cNvSpPr txBox="1"/>
          <p:nvPr/>
        </p:nvSpPr>
        <p:spPr>
          <a:xfrm>
            <a:off x="8167975" y="2076056"/>
            <a:ext cx="344995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Soar</a:t>
            </a:r>
            <a:endParaRPr lang="en-US" sz="2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HORIZON 3</a:t>
            </a:r>
            <a:endParaRPr sz="1200" dirty="0"/>
          </a:p>
        </p:txBody>
      </p:sp>
      <p:sp>
        <p:nvSpPr>
          <p:cNvPr id="128" name="Google Shape;128;p5"/>
          <p:cNvSpPr txBox="1"/>
          <p:nvPr/>
        </p:nvSpPr>
        <p:spPr>
          <a:xfrm>
            <a:off x="1179826" y="2812327"/>
            <a:ext cx="3241634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Network Effects:  </a:t>
            </a:r>
            <a:b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1,000 Subscribers</a:t>
            </a: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Viral Ideation:  </a:t>
            </a:r>
            <a:b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 Viral Ideas</a:t>
            </a:r>
            <a:endParaRPr lang="en-US"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endParaRPr lang="en-US"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Generative Learning:  Prioritize Industry Challenges</a:t>
            </a:r>
            <a:endParaRPr lang="en-US"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lt1"/>
              </a:solidFill>
              <a:latin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Compounding Innovation:</a:t>
            </a:r>
            <a:b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</a:b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3 Patrons</a:t>
            </a:r>
          </a:p>
        </p:txBody>
      </p:sp>
      <p:sp>
        <p:nvSpPr>
          <p:cNvPr id="129" name="Google Shape;129;p5"/>
          <p:cNvSpPr txBox="1"/>
          <p:nvPr/>
        </p:nvSpPr>
        <p:spPr>
          <a:xfrm>
            <a:off x="4507675" y="2812327"/>
            <a:ext cx="4101935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Network Effects:  </a:t>
            </a:r>
            <a:b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3,000 Subscribers</a:t>
            </a: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Viral Ideation:  </a:t>
            </a:r>
            <a:b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30 Viral Ideas</a:t>
            </a:r>
            <a:endParaRPr lang="en-US"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</a:pPr>
            <a:endParaRPr lang="en-US"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Generative Learning:  Explore Exponential Solutions to Challenges</a:t>
            </a:r>
            <a:endParaRPr lang="en-US" sz="1800" dirty="0"/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lt1"/>
              </a:solidFill>
              <a:latin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Compounding Innovation:</a:t>
            </a:r>
            <a:b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</a:b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10 Patrons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lt1"/>
              </a:solidFill>
              <a:latin typeface="Calibri"/>
              <a:cs typeface="Calibri"/>
              <a:sym typeface="Calibri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en-US"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8200753" y="2812327"/>
            <a:ext cx="3650218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Network Effects: </a:t>
            </a:r>
            <a:b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10,000 Subscribers</a:t>
            </a: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Viral Ideation:  </a:t>
            </a:r>
            <a:b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100 Viral Ideas</a:t>
            </a:r>
            <a:endParaRPr lang="en-US"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</a:pPr>
            <a:endParaRPr lang="en-US"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Generative Learning:  Scale Solutions Across the Industry</a:t>
            </a:r>
            <a:endParaRPr lang="en-US" sz="1800" dirty="0"/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lt1"/>
              </a:solidFill>
              <a:latin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Compounding Innovation:</a:t>
            </a:r>
            <a:b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</a:b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30 Patrons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en-US"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73F706-F21B-C4E5-89FE-6AD1081A3B22}"/>
              </a:ext>
            </a:extLst>
          </p:cNvPr>
          <p:cNvSpPr txBox="1"/>
          <p:nvPr/>
        </p:nvSpPr>
        <p:spPr>
          <a:xfrm>
            <a:off x="1197995" y="1551355"/>
            <a:ext cx="10451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These exponential improvements in Tech Services industry production inputs will yield exponentially better industry outputs and </a:t>
            </a:r>
            <a:br>
              <a:rPr lang="en-US" dirty="0"/>
            </a:br>
            <a:r>
              <a:rPr lang="en-US" dirty="0"/>
              <a:t>outcomes. This will become more self-evident as each exponential solution is proven and then scaled virally across the industry.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40E7CC-A43F-F841-1206-B147ACBCCB27}"/>
              </a:ext>
            </a:extLst>
          </p:cNvPr>
          <p:cNvSpPr/>
          <p:nvPr/>
        </p:nvSpPr>
        <p:spPr>
          <a:xfrm>
            <a:off x="144411" y="2812327"/>
            <a:ext cx="938205" cy="6676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Professional Networking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064C34-40EA-C253-0D0E-C0C13C469F4C}"/>
              </a:ext>
            </a:extLst>
          </p:cNvPr>
          <p:cNvSpPr/>
          <p:nvPr/>
        </p:nvSpPr>
        <p:spPr>
          <a:xfrm>
            <a:off x="144411" y="3624698"/>
            <a:ext cx="938205" cy="10748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Open Knowledge Sharing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FD20BC-CB04-64F2-3AD7-DD7C18E0B798}"/>
              </a:ext>
            </a:extLst>
          </p:cNvPr>
          <p:cNvSpPr/>
          <p:nvPr/>
        </p:nvSpPr>
        <p:spPr>
          <a:xfrm>
            <a:off x="144411" y="4844223"/>
            <a:ext cx="938205" cy="11073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Industry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Innovation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383E72-5712-6890-5BCF-A96C3035781E}"/>
              </a:ext>
            </a:extLst>
          </p:cNvPr>
          <p:cNvSpPr txBox="1"/>
          <p:nvPr/>
        </p:nvSpPr>
        <p:spPr>
          <a:xfrm>
            <a:off x="257598" y="2493747"/>
            <a:ext cx="6751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Services</a:t>
            </a:r>
          </a:p>
        </p:txBody>
      </p:sp>
    </p:spTree>
    <p:extLst>
      <p:ext uri="{BB962C8B-B14F-4D97-AF65-F5344CB8AC3E}">
        <p14:creationId xmlns:p14="http://schemas.microsoft.com/office/powerpoint/2010/main" val="1656586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3921D3DE-C547-6D2F-36A4-B895D0EFE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3FDC1CF0-9080-B700-A3DD-FABBDF64DF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Consortium Leadership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DF256E9-2562-2DB8-B11B-ABE07084E4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494638"/>
              </p:ext>
            </p:extLst>
          </p:nvPr>
        </p:nvGraphicFramePr>
        <p:xfrm>
          <a:off x="410934" y="1560399"/>
          <a:ext cx="11258552" cy="75852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33706">
                  <a:extLst>
                    <a:ext uri="{9D8B030D-6E8A-4147-A177-3AD203B41FA5}">
                      <a16:colId xmlns:a16="http://schemas.microsoft.com/office/drawing/2014/main" val="766325045"/>
                    </a:ext>
                  </a:extLst>
                </a:gridCol>
                <a:gridCol w="2414016">
                  <a:extLst>
                    <a:ext uri="{9D8B030D-6E8A-4147-A177-3AD203B41FA5}">
                      <a16:colId xmlns:a16="http://schemas.microsoft.com/office/drawing/2014/main" val="1110042766"/>
                    </a:ext>
                  </a:extLst>
                </a:gridCol>
                <a:gridCol w="2610830">
                  <a:extLst>
                    <a:ext uri="{9D8B030D-6E8A-4147-A177-3AD203B41FA5}">
                      <a16:colId xmlns:a16="http://schemas.microsoft.com/office/drawing/2014/main" val="133755"/>
                    </a:ext>
                  </a:extLst>
                </a:gridCol>
              </a:tblGrid>
              <a:tr h="315537">
                <a:tc>
                  <a:txBody>
                    <a:bodyPr/>
                    <a:lstStyle/>
                    <a:p>
                      <a:r>
                        <a:rPr lang="en-US" b="1" dirty="0"/>
                        <a:t>Founding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Horizon 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Horizons 2 and 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4970526"/>
                  </a:ext>
                </a:extLst>
              </a:tr>
              <a:tr h="3634848">
                <a:tc>
                  <a:txBody>
                    <a:bodyPr/>
                    <a:lstStyle/>
                    <a:p>
                      <a:pPr marL="171450" lvl="2" indent="-171450"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1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71450" lvl="2" indent="-171450"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1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71450" lvl="2" indent="-171450"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1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71450" lvl="2" indent="-171450"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1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71450" lvl="2" indent="-171450"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1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71450" lvl="2" indent="-171450"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1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71450" lvl="2" indent="-171450"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1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71450" lvl="2" indent="-171450"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1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71450" lvl="2" indent="-171450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Former Fortune 200 Global Chief Product Officer</a:t>
                      </a:r>
                      <a:b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</a:b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Led 10,000+ employees, governed $1B+ annual investment, and consolidated 100+ offerings to stabilize the merger of tech giants HP-E and CSC</a:t>
                      </a:r>
                    </a:p>
                    <a:p>
                      <a:pPr marL="171450" lvl="2" indent="-171450"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71450" lvl="2" indent="-171450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Former Fortune 500 Global Chief Digital Officer</a:t>
                      </a:r>
                      <a:b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</a:b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Led Digital Transformation mobilizing 50,000+ employees to generate exponentially better products, services, financials, and inspiration</a:t>
                      </a:r>
                    </a:p>
                    <a:p>
                      <a:pPr marL="171450" lvl="2" indent="-171450"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71450" lvl="2" indent="-171450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Current Consulting Business Owner</a:t>
                      </a:r>
                      <a:b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</a:b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Holds CPO, AI, and Agile certifications from Kellogg, MIT, NVIDIA, and Scaled Agile 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lvl="2" indent="-171450">
                        <a:buFont typeface="Wingdings" pitchFamily="2" charset="2"/>
                        <a:buChar char="ü"/>
                        <a:tabLst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Formalize Board of Directors</a:t>
                      </a:r>
                    </a:p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Identify consortium leaders for Value Creation:</a:t>
                      </a:r>
                    </a:p>
                    <a:p>
                      <a:pPr marL="400050" lvl="2" indent="-171450">
                        <a:buFont typeface="Wingdings" pitchFamily="2" charset="2"/>
                        <a:buChar char="ü"/>
                        <a:tabLst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Products (Consortium Services)</a:t>
                      </a:r>
                    </a:p>
                    <a:p>
                      <a:pPr marL="400050" lvl="2" indent="-171450">
                        <a:buFont typeface="Wingdings" pitchFamily="2" charset="2"/>
                        <a:buChar char="ü"/>
                        <a:tabLst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Demand Generation</a:t>
                      </a:r>
                    </a:p>
                    <a:p>
                      <a:pPr marL="349250" lvl="2" indent="-120650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Beneficiaries Engagement</a:t>
                      </a:r>
                    </a:p>
                    <a:p>
                      <a:pPr marL="349250" lvl="2" indent="-120650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Delivery of Services</a:t>
                      </a:r>
                    </a:p>
                    <a:p>
                      <a:pPr marL="349250" lvl="2" indent="-120650"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119063" marR="0" lvl="2" indent="-1190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Identify consortium leaders for Products (Services):</a:t>
                      </a:r>
                    </a:p>
                    <a:p>
                      <a:pPr marL="346075" marR="0" lvl="2" indent="-1079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Professional Networking</a:t>
                      </a:r>
                    </a:p>
                    <a:p>
                      <a:pPr marL="346075" marR="0" lvl="2" indent="-1079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Open Knowledge Sharing</a:t>
                      </a:r>
                    </a:p>
                    <a:p>
                      <a:pPr marL="346075" marR="0" lvl="2" indent="-1079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Industry Innovation</a:t>
                      </a:r>
                    </a:p>
                    <a:p>
                      <a:pPr marL="349250" lvl="2" indent="-120650"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9063" marR="0" lvl="2" indent="-1190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Identify consortium leaders for Integration:</a:t>
                      </a:r>
                    </a:p>
                    <a:p>
                      <a:pPr marL="346075" marR="0" lvl="2" indent="-1079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Governance</a:t>
                      </a:r>
                    </a:p>
                    <a:p>
                      <a:pPr marL="346075" marR="0" lvl="2" indent="-1079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Strategy</a:t>
                      </a:r>
                    </a:p>
                    <a:p>
                      <a:pPr marL="346075" marR="0" lvl="2" indent="-1079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Operations</a:t>
                      </a:r>
                    </a:p>
                    <a:p>
                      <a:pPr marL="346075" marR="0" lvl="2" indent="-1079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Responsibility</a:t>
                      </a:r>
                    </a:p>
                    <a:p>
                      <a:pPr marL="346075" marR="0" lvl="2" indent="-1079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19063" marR="0" lvl="2" indent="-1095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Identify consortium leaders for Capital:</a:t>
                      </a:r>
                    </a:p>
                    <a:p>
                      <a:pPr marL="346075" marR="0" lvl="2" indent="-1079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People</a:t>
                      </a:r>
                    </a:p>
                    <a:p>
                      <a:pPr marL="346075" marR="0" lvl="2" indent="-1079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Finance</a:t>
                      </a:r>
                    </a:p>
                    <a:p>
                      <a:pPr marL="346075" marR="0" lvl="2" indent="-1079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Technology </a:t>
                      </a:r>
                    </a:p>
                    <a:p>
                      <a:pPr marL="346075" marR="0" lvl="2" indent="-1079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Property</a:t>
                      </a:r>
                    </a:p>
                    <a:p>
                      <a:pPr marL="119063" marR="0" lvl="2" indent="-1190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2717509"/>
                  </a:ext>
                </a:extLst>
              </a:tr>
              <a:tr h="3634848">
                <a:tc>
                  <a:txBody>
                    <a:bodyPr/>
                    <a:lstStyle/>
                    <a:p>
                      <a:pPr marL="171450" lvl="2" indent="-171450"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9063" marR="0" lvl="2" indent="-1190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91060025"/>
                  </a:ext>
                </a:extLst>
              </a:tr>
            </a:tbl>
          </a:graphicData>
        </a:graphic>
      </p:graphicFrame>
      <p:pic>
        <p:nvPicPr>
          <p:cNvPr id="3" name="Google Shape;110;p4" descr="Rich Reba">
            <a:extLst>
              <a:ext uri="{FF2B5EF4-FFF2-40B4-BE49-F238E27FC236}">
                <a16:creationId xmlns:a16="http://schemas.microsoft.com/office/drawing/2014/main" id="{823E1205-2460-7723-EC56-A1AB9E99260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2514" y="2044138"/>
            <a:ext cx="1163927" cy="116392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374FE3-BA22-E0E5-6980-B36DA85CD2EF}"/>
              </a:ext>
            </a:extLst>
          </p:cNvPr>
          <p:cNvSpPr txBox="1"/>
          <p:nvPr/>
        </p:nvSpPr>
        <p:spPr>
          <a:xfrm>
            <a:off x="1798021" y="2174695"/>
            <a:ext cx="13837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Rich Reba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President</a:t>
            </a:r>
          </a:p>
        </p:txBody>
      </p:sp>
    </p:spTree>
    <p:extLst>
      <p:ext uri="{BB962C8B-B14F-4D97-AF65-F5344CB8AC3E}">
        <p14:creationId xmlns:p14="http://schemas.microsoft.com/office/powerpoint/2010/main" val="3765181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E3204CB1-B8BD-9DC7-0760-805743329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5DE011D4-C7DC-F1B6-D621-610E79DFE0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Services and Benefits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35B1283-057C-D1F9-667A-3EEBAC74BD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426390"/>
              </p:ext>
            </p:extLst>
          </p:nvPr>
        </p:nvGraphicFramePr>
        <p:xfrm>
          <a:off x="410934" y="1560399"/>
          <a:ext cx="11370131" cy="39426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31523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3243943">
                  <a:extLst>
                    <a:ext uri="{9D8B030D-6E8A-4147-A177-3AD203B41FA5}">
                      <a16:colId xmlns:a16="http://schemas.microsoft.com/office/drawing/2014/main" val="766325045"/>
                    </a:ext>
                  </a:extLst>
                </a:gridCol>
                <a:gridCol w="3265714">
                  <a:extLst>
                    <a:ext uri="{9D8B030D-6E8A-4147-A177-3AD203B41FA5}">
                      <a16:colId xmlns:a16="http://schemas.microsoft.com/office/drawing/2014/main" val="1110042766"/>
                    </a:ext>
                  </a:extLst>
                </a:gridCol>
                <a:gridCol w="3028951">
                  <a:extLst>
                    <a:ext uri="{9D8B030D-6E8A-4147-A177-3AD203B41FA5}">
                      <a16:colId xmlns:a16="http://schemas.microsoft.com/office/drawing/2014/main" val="133755"/>
                    </a:ext>
                  </a:extLst>
                </a:gridCol>
              </a:tblGrid>
              <a:tr h="315537">
                <a:tc>
                  <a:txBody>
                    <a:bodyPr/>
                    <a:lstStyle/>
                    <a:p>
                      <a:r>
                        <a:rPr lang="en-US" sz="1400" b="1" dirty="0"/>
                        <a:t>Service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Horizon 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Horizon 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Horizon 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4970526"/>
                  </a:ext>
                </a:extLst>
              </a:tr>
              <a:tr h="723820">
                <a:tc>
                  <a:txBody>
                    <a:bodyPr/>
                    <a:lstStyle/>
                    <a:p>
                      <a:r>
                        <a:rPr lang="en-US" sz="2000" b="1" dirty="0"/>
                        <a:t>Professional Networking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Subscribers get exposure to other professionals with a common interest in helping the tech services industry</a:t>
                      </a:r>
                    </a:p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Subscribers impress potential clients and employers by contributing to a non-profit that benefits the tech services industry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9063" marR="0" lvl="2" indent="-1190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2717509"/>
                  </a:ext>
                </a:extLst>
              </a:tr>
              <a:tr h="1128631">
                <a:tc>
                  <a:txBody>
                    <a:bodyPr/>
                    <a:lstStyle/>
                    <a:p>
                      <a:r>
                        <a:rPr lang="en-US" sz="2000" b="1" dirty="0"/>
                        <a:t>Open Knowledge Sharing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Subscribers bounce relevant ideas off the consortium network, and benefit from ideas shared by others in the network</a:t>
                      </a:r>
                    </a:p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Consortium leaders and subscribers impress potential clients and employers by helping to curate the AccelRR8 Body of Knowledge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9063" marR="0" lvl="2" indent="-11906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Subscribers impress potential clients and employers by publishing synopses of potential challenges, and exponential solutions to priority challenges, in the AccelRR8 Body of Knowledge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9063" marR="0" lvl="2" indent="-1190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Subscribers publish synopses of proven exponential solutions to priority challenges in the AccelRR8 Body of Knowledge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9640372"/>
                  </a:ext>
                </a:extLst>
              </a:tr>
              <a:tr h="586848">
                <a:tc>
                  <a:txBody>
                    <a:bodyPr/>
                    <a:lstStyle/>
                    <a:p>
                      <a:r>
                        <a:rPr lang="en-US" sz="2000" b="1" dirty="0"/>
                        <a:t>Industry</a:t>
                      </a:r>
                    </a:p>
                    <a:p>
                      <a:r>
                        <a:rPr lang="en-US" sz="2000" b="1" dirty="0"/>
                        <a:t>Innovation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9063" marR="0" lvl="2" indent="-11906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Patrons begin investing to explore potential solutions for priority challenges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9063" marR="0" lvl="2" indent="-1190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Patrons invest to scale proven solutions for priority challenges across the industry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7728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5092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166EE5AE-C5CE-93B0-55EF-D1BEC8C36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F34D7B2E-C24E-2FC1-6042-2C0F5A4C22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Building Momentum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17F50A2-0C5F-7265-363E-DF79C62015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958662"/>
              </p:ext>
            </p:extLst>
          </p:nvPr>
        </p:nvGraphicFramePr>
        <p:xfrm>
          <a:off x="410934" y="1560399"/>
          <a:ext cx="11258552" cy="31822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02186">
                  <a:extLst>
                    <a:ext uri="{9D8B030D-6E8A-4147-A177-3AD203B41FA5}">
                      <a16:colId xmlns:a16="http://schemas.microsoft.com/office/drawing/2014/main" val="766325045"/>
                    </a:ext>
                  </a:extLst>
                </a:gridCol>
                <a:gridCol w="3145536">
                  <a:extLst>
                    <a:ext uri="{9D8B030D-6E8A-4147-A177-3AD203B41FA5}">
                      <a16:colId xmlns:a16="http://schemas.microsoft.com/office/drawing/2014/main" val="1110042766"/>
                    </a:ext>
                  </a:extLst>
                </a:gridCol>
                <a:gridCol w="2610830">
                  <a:extLst>
                    <a:ext uri="{9D8B030D-6E8A-4147-A177-3AD203B41FA5}">
                      <a16:colId xmlns:a16="http://schemas.microsoft.com/office/drawing/2014/main" val="133755"/>
                    </a:ext>
                  </a:extLst>
                </a:gridCol>
              </a:tblGrid>
              <a:tr h="315537">
                <a:tc>
                  <a:txBody>
                    <a:bodyPr/>
                    <a:lstStyle/>
                    <a:p>
                      <a:r>
                        <a:rPr lang="en-US" b="1" dirty="0"/>
                        <a:t>Horizon 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Horizon 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Horizon 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4970526"/>
                  </a:ext>
                </a:extLst>
              </a:tr>
              <a:tr h="2866752">
                <a:tc>
                  <a:txBody>
                    <a:bodyPr/>
                    <a:lstStyle/>
                    <a:p>
                      <a:pPr marL="171450" lvl="2" indent="-171450">
                        <a:buFont typeface="Wingdings" pitchFamily="2" charset="2"/>
                        <a:buChar char="ü"/>
                        <a:tabLst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Rich Reba meet with friends to establish the initial consortium network and Board of Directors</a:t>
                      </a:r>
                    </a:p>
                    <a:p>
                      <a:pPr marL="171450" lvl="2" indent="-171450">
                        <a:buFont typeface="Wingdings" pitchFamily="2" charset="2"/>
                        <a:buChar char="ü"/>
                        <a:tabLst/>
                      </a:pPr>
                      <a:endParaRPr lang="en-US" sz="12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71450" lvl="2" indent="-171450">
                        <a:buFont typeface="Wingdings" pitchFamily="2" charset="2"/>
                        <a:buChar char="ü"/>
                        <a:tabLst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Launch the consortium on LinkedIn with a critical mass of consortium collaborators who begin identifying potential challenges</a:t>
                      </a:r>
                    </a:p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Board Directors and initial collaborators reach out to colleagues to expand the network to 1,000</a:t>
                      </a:r>
                    </a:p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Board Directors invite a subset of influencers to participate in advisory boards</a:t>
                      </a:r>
                    </a:p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Board Directors and advisory board members identify 3 initial patron organizations who make grants to fund Industry Innovation</a:t>
                      </a:r>
                    </a:p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Professional Networking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Leader helps collaborators reach out to colleagues to triple the size of the network to 3,000 members</a:t>
                      </a:r>
                    </a:p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Open Knowledge Sharing Leader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works with patrons and subscribers to develop the AccelRR8 Body of Knowledge</a:t>
                      </a:r>
                    </a:p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Industry Innovation Leader 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works with patrons and subscribers to explore potential exponential solutions to priority challenges </a:t>
                      </a:r>
                    </a:p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9063" marR="0" lvl="2" indent="-1190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Product Leader </a:t>
                      </a: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uses donations and grants to advertise the impact the consortium is beginning to have on the industry, expanding to 30 patrons and 10,000 collaborators</a:t>
                      </a:r>
                    </a:p>
                    <a:p>
                      <a:pPr marL="119063" marR="0" lvl="2" indent="-1190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19063" marR="0" lvl="2" indent="-1190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2717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1750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4DA6CD27-9E25-727A-BAF4-DE5B81878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2A7EE97C-9354-67AA-BD7E-DF3C7509E1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Finance and Responsibility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AC1DA23-72BB-F2F4-A1A5-6F5D3E4CFD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775509"/>
              </p:ext>
            </p:extLst>
          </p:nvPr>
        </p:nvGraphicFramePr>
        <p:xfrm>
          <a:off x="410934" y="1560399"/>
          <a:ext cx="11258552" cy="27844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1450">
                  <a:extLst>
                    <a:ext uri="{9D8B030D-6E8A-4147-A177-3AD203B41FA5}">
                      <a16:colId xmlns:a16="http://schemas.microsoft.com/office/drawing/2014/main" val="766325045"/>
                    </a:ext>
                  </a:extLst>
                </a:gridCol>
                <a:gridCol w="2987040">
                  <a:extLst>
                    <a:ext uri="{9D8B030D-6E8A-4147-A177-3AD203B41FA5}">
                      <a16:colId xmlns:a16="http://schemas.microsoft.com/office/drawing/2014/main" val="1110042766"/>
                    </a:ext>
                  </a:extLst>
                </a:gridCol>
                <a:gridCol w="5610062">
                  <a:extLst>
                    <a:ext uri="{9D8B030D-6E8A-4147-A177-3AD203B41FA5}">
                      <a16:colId xmlns:a16="http://schemas.microsoft.com/office/drawing/2014/main" val="133755"/>
                    </a:ext>
                  </a:extLst>
                </a:gridCol>
              </a:tblGrid>
              <a:tr h="315537">
                <a:tc>
                  <a:txBody>
                    <a:bodyPr/>
                    <a:lstStyle/>
                    <a:p>
                      <a:r>
                        <a:rPr lang="en-US" b="1" dirty="0"/>
                        <a:t>Horizon 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Horizon 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Horizon 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4970526"/>
                  </a:ext>
                </a:extLst>
              </a:tr>
              <a:tr h="1801584">
                <a:tc>
                  <a:txBody>
                    <a:bodyPr/>
                    <a:lstStyle/>
                    <a:p>
                      <a:pPr marL="171450" lvl="2" indent="-171450">
                        <a:buFont typeface="Wingdings" pitchFamily="2" charset="2"/>
                        <a:buChar char="ü"/>
                        <a:tabLst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Rich Reba invests to register AccelRR8 Consortium as a non-profit organization in Maryland, file taxes, and ensure compliance</a:t>
                      </a:r>
                    </a:p>
                    <a:p>
                      <a:pPr marL="171450" lvl="2" indent="-171450">
                        <a:buFont typeface="Wingdings" pitchFamily="2" charset="2"/>
                        <a:buChar char="ü"/>
                        <a:tabLst/>
                      </a:pPr>
                      <a:endParaRPr lang="en-US" sz="12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71450" lvl="2" indent="-171450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Leadership positions and activities are filled by volunteers who donate time / money / resources / energy</a:t>
                      </a:r>
                    </a:p>
                    <a:p>
                      <a:pPr marL="171450" lvl="2" indent="-171450"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71450" lvl="2" indent="-171450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 organizations become initial patrons by making modest grants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Professional Networking Leader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enrolls a subset of subscribers as paid subscribers</a:t>
                      </a:r>
                    </a:p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Industry Innovation Leader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persuades 10 organizations to become patrons by making modest grants</a:t>
                      </a:r>
                    </a:p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Initial funds are used for demand generation and to explore potential exponential solutions to priority Tech Services industry challenges</a:t>
                      </a:r>
                    </a:p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9063" marR="0" lvl="2" indent="-1190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Industry Innovation Leader </a:t>
                      </a: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persuades 30 organizations to become patrons by making grants in a tiered structure (diamond, gold, silver, etc.)</a:t>
                      </a:r>
                    </a:p>
                    <a:p>
                      <a:pPr marL="119063" marR="0" lvl="2" indent="-1190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19063" marR="0" lvl="2" indent="-1190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Industry Innovation Leader </a:t>
                      </a: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uses grant funds to scale proven exponential solutions </a:t>
                      </a:r>
                    </a:p>
                    <a:p>
                      <a:pPr marL="119063" marR="0" lvl="2" indent="-1190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19063" marR="0" lvl="2" indent="-1190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Product Leader </a:t>
                      </a: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uses donations and grants to fund demand generation activities with media and influencers</a:t>
                      </a:r>
                    </a:p>
                    <a:p>
                      <a:pPr marL="119063" marR="0" lvl="2" indent="-1190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19063" marR="0" lvl="2" indent="-1190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Certain leadership, marketing, and support activities are filled by paid employees on a part-time or full-time basis depending on the nature and criticality of the work (e.g., treasury, compliance)</a:t>
                      </a:r>
                    </a:p>
                    <a:p>
                      <a:pPr marL="119063" marR="0" lvl="2" indent="-1190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endParaRPr lang="en-US" sz="12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2717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9041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13185</TotalTime>
  <Words>1009</Words>
  <Application>Microsoft Macintosh PowerPoint</Application>
  <PresentationFormat>Widescreen</PresentationFormat>
  <Paragraphs>159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Office Theme</vt:lpstr>
      <vt:lpstr>  Organizational Plan for  AccelRR8 Consortium Non-Profit </vt:lpstr>
      <vt:lpstr>Contents</vt:lpstr>
      <vt:lpstr>Consortium Ambition</vt:lpstr>
      <vt:lpstr>Consortium 3-Horizon Impact Strategy Exponential Improvements in the Tech Services Industry</vt:lpstr>
      <vt:lpstr>Consortium Leadership</vt:lpstr>
      <vt:lpstr>Services and Benefits</vt:lpstr>
      <vt:lpstr>Building Momentum</vt:lpstr>
      <vt:lpstr>Finance and Responsibility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for Digital Architect Consulting Services</dc:title>
  <dc:creator>Rich Reba</dc:creator>
  <cp:lastModifiedBy>Rich Reba</cp:lastModifiedBy>
  <cp:revision>172</cp:revision>
  <dcterms:created xsi:type="dcterms:W3CDTF">2023-08-22T19:09:59Z</dcterms:created>
  <dcterms:modified xsi:type="dcterms:W3CDTF">2026-09-08T14:27:16Z</dcterms:modified>
</cp:coreProperties>
</file>