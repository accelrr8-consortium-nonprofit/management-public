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80" r:id="rId4"/>
    <p:sldId id="274" r:id="rId5"/>
    <p:sldId id="421" r:id="rId6"/>
    <p:sldId id="418" r:id="rId7"/>
    <p:sldId id="419" r:id="rId8"/>
    <p:sldId id="420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042BD1-3682-2948-BF46-D110B0AEEC3F}" v="3" dt="2026-08-06T16:33:07.2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5753"/>
  </p:normalViewPr>
  <p:slideViewPr>
    <p:cSldViewPr snapToGrid="0">
      <p:cViewPr varScale="1">
        <p:scale>
          <a:sx n="117" d="100"/>
          <a:sy n="117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custSel modSld">
      <pc:chgData name="Rich Reba" userId="55db41ab6eb3f845" providerId="LiveId" clId="{0E19DA16-244C-5B50-BE0F-52911DD4CA7E}" dt="2026-08-06T16:41:43.287" v="519" actId="20577"/>
      <pc:docMkLst>
        <pc:docMk/>
      </pc:docMkLst>
      <pc:sldChg chg="modSp mod">
        <pc:chgData name="Rich Reba" userId="55db41ab6eb3f845" providerId="LiveId" clId="{0E19DA16-244C-5B50-BE0F-52911DD4CA7E}" dt="2026-08-06T16:20:55.520" v="9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16:20:55.520" v="9" actId="20577"/>
          <ac:spMkLst>
            <pc:docMk/>
            <pc:sldMk cId="0" sldId="256"/>
            <ac:spMk id="91" creationId="{00000000-0000-0000-0000-000000000000}"/>
          </ac:spMkLst>
        </pc:spChg>
      </pc:sldChg>
      <pc:sldChg chg="modSp mod">
        <pc:chgData name="Rich Reba" userId="55db41ab6eb3f845" providerId="LiveId" clId="{0E19DA16-244C-5B50-BE0F-52911DD4CA7E}" dt="2026-08-06T16:40:50.057" v="505" actId="20577"/>
        <pc:sldMkLst>
          <pc:docMk/>
          <pc:sldMk cId="1656586467" sldId="274"/>
        </pc:sldMkLst>
        <pc:spChg chg="mod">
          <ac:chgData name="Rich Reba" userId="55db41ab6eb3f845" providerId="LiveId" clId="{0E19DA16-244C-5B50-BE0F-52911DD4CA7E}" dt="2026-08-06T16:21:32.989" v="10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21:37.712" v="11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21:42.694" v="12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40:44.419" v="501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40:47.360" v="503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40:50.057" v="505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modSp mod">
        <pc:chgData name="Rich Reba" userId="55db41ab6eb3f845" providerId="LiveId" clId="{0E19DA16-244C-5B50-BE0F-52911DD4CA7E}" dt="2026-08-06T16:41:43.287" v="519" actId="20577"/>
        <pc:sldMkLst>
          <pc:docMk/>
          <pc:sldMk cId="3472351846" sldId="280"/>
        </pc:sldMkLst>
        <pc:spChg chg="mod">
          <ac:chgData name="Rich Reba" userId="55db41ab6eb3f845" providerId="LiveId" clId="{0E19DA16-244C-5B50-BE0F-52911DD4CA7E}" dt="2026-08-06T16:41:04.023" v="517" actId="20577"/>
          <ac:spMkLst>
            <pc:docMk/>
            <pc:sldMk cId="3472351846" sldId="280"/>
            <ac:spMk id="4" creationId="{BDC3AF1A-7A80-3B3D-294A-E26C982690C3}"/>
          </ac:spMkLst>
        </pc:spChg>
        <pc:spChg chg="mod">
          <ac:chgData name="Rich Reba" userId="55db41ab6eb3f845" providerId="LiveId" clId="{0E19DA16-244C-5B50-BE0F-52911DD4CA7E}" dt="2026-08-06T16:41:43.287" v="519" actId="20577"/>
          <ac:spMkLst>
            <pc:docMk/>
            <pc:sldMk cId="3472351846" sldId="280"/>
            <ac:spMk id="5" creationId="{27DCB550-ECF5-EE2D-D835-8F66E64FAB2B}"/>
          </ac:spMkLst>
        </pc:spChg>
      </pc:sldChg>
      <pc:sldChg chg="modSp mod">
        <pc:chgData name="Rich Reba" userId="55db41ab6eb3f845" providerId="LiveId" clId="{0E19DA16-244C-5B50-BE0F-52911DD4CA7E}" dt="2026-08-06T16:28:21.663" v="199" actId="20577"/>
        <pc:sldMkLst>
          <pc:docMk/>
          <pc:sldMk cId="4015092339" sldId="418"/>
        </pc:sldMkLst>
        <pc:graphicFrameChg chg="modGraphic">
          <ac:chgData name="Rich Reba" userId="55db41ab6eb3f845" providerId="LiveId" clId="{0E19DA16-244C-5B50-BE0F-52911DD4CA7E}" dt="2026-08-06T16:28:21.663" v="199" actId="20577"/>
          <ac:graphicFrameMkLst>
            <pc:docMk/>
            <pc:sldMk cId="4015092339" sldId="418"/>
            <ac:graphicFrameMk id="5" creationId="{235B1283-057C-D1F9-667A-3EEBAC74BD47}"/>
          </ac:graphicFrameMkLst>
        </pc:graphicFrameChg>
      </pc:sldChg>
      <pc:sldChg chg="modSp mod">
        <pc:chgData name="Rich Reba" userId="55db41ab6eb3f845" providerId="LiveId" clId="{0E19DA16-244C-5B50-BE0F-52911DD4CA7E}" dt="2026-08-06T16:29:27.860" v="215" actId="20577"/>
        <pc:sldMkLst>
          <pc:docMk/>
          <pc:sldMk cId="3381750306" sldId="419"/>
        </pc:sldMkLst>
        <pc:graphicFrameChg chg="modGraphic">
          <ac:chgData name="Rich Reba" userId="55db41ab6eb3f845" providerId="LiveId" clId="{0E19DA16-244C-5B50-BE0F-52911DD4CA7E}" dt="2026-08-06T16:29:27.860" v="215" actId="20577"/>
          <ac:graphicFrameMkLst>
            <pc:docMk/>
            <pc:sldMk cId="3381750306" sldId="419"/>
            <ac:graphicFrameMk id="5" creationId="{417F50A2-0C5F-7265-363E-DF79C62015E0}"/>
          </ac:graphicFrameMkLst>
        </pc:graphicFrameChg>
      </pc:sldChg>
      <pc:sldChg chg="modSp mod">
        <pc:chgData name="Rich Reba" userId="55db41ab6eb3f845" providerId="LiveId" clId="{0E19DA16-244C-5B50-BE0F-52911DD4CA7E}" dt="2026-08-06T16:31:55.906" v="324" actId="20577"/>
        <pc:sldMkLst>
          <pc:docMk/>
          <pc:sldMk cId="4209041106" sldId="420"/>
        </pc:sldMkLst>
        <pc:graphicFrameChg chg="mod modGraphic">
          <ac:chgData name="Rich Reba" userId="55db41ab6eb3f845" providerId="LiveId" clId="{0E19DA16-244C-5B50-BE0F-52911DD4CA7E}" dt="2026-08-06T16:31:55.906" v="324" actId="20577"/>
          <ac:graphicFrameMkLst>
            <pc:docMk/>
            <pc:sldMk cId="4209041106" sldId="420"/>
            <ac:graphicFrameMk id="5" creationId="{4AC1DA23-72BB-F2F4-A1A5-6F5D3E4CFD56}"/>
          </ac:graphicFrameMkLst>
        </pc:graphicFrameChg>
      </pc:sldChg>
      <pc:sldChg chg="modSp mod">
        <pc:chgData name="Rich Reba" userId="55db41ab6eb3f845" providerId="LiveId" clId="{0E19DA16-244C-5B50-BE0F-52911DD4CA7E}" dt="2026-08-06T16:33:58.650" v="466" actId="20577"/>
        <pc:sldMkLst>
          <pc:docMk/>
          <pc:sldMk cId="3765181648" sldId="421"/>
        </pc:sldMkLst>
        <pc:graphicFrameChg chg="mod modGraphic">
          <ac:chgData name="Rich Reba" userId="55db41ab6eb3f845" providerId="LiveId" clId="{0E19DA16-244C-5B50-BE0F-52911DD4CA7E}" dt="2026-08-06T16:33:58.650" v="466" actId="20577"/>
          <ac:graphicFrameMkLst>
            <pc:docMk/>
            <pc:sldMk cId="3765181648" sldId="421"/>
            <ac:graphicFrameMk id="5" creationId="{2DF256E9-2562-2DB8-B11B-ABE07084E41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2F5C556-55B8-E0E6-F161-D65206EF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0EB983-F39F-21C4-CFC2-71E5BDEA05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E164D73-BBDD-33F4-8D41-9B2A1319D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7151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2FB6541-D063-53B5-8C82-04241734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0E71D39-E271-BD80-EA92-8FA48E9DDC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8EC1A7-EB58-05B3-ADAC-CF4ED0B0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4575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FDB2AF3-4D07-C802-D2DA-BA11FAC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CC90531-669B-6E06-520D-9798EF274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F0A7277-3C2C-D4A5-A495-21497A80F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085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ADA9A9D-DA8D-313E-C7EA-81FB3C428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468FF3B-14A1-97BE-C84B-CF4C6BD7DB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CC176F6-A71A-8290-07C5-A247D370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001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770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325526" y="2785676"/>
            <a:ext cx="9540948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Plan for </a:t>
            </a:r>
            <a:br>
              <a:rPr lang="en-US" dirty="0"/>
            </a:br>
            <a:r>
              <a:rPr lang="en-US" dirty="0"/>
              <a:t>AccelRR8 Consortium Non-Profit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00C41C28-1F72-7447-74D3-F57B36646C5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Contents</a:t>
            </a:r>
            <a:endParaRPr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Ambition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Impact Strategy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Leadership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Offerings &amp; Benefits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Building Momentum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Finance &amp; Responsibility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2F16A1F0-E195-BF45-032B-42BF906BEC9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4B602561-35D8-AF27-76E9-EB18F18FC08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51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6" name="Google Shape;9;p8">
            <a:extLst>
              <a:ext uri="{FF2B5EF4-FFF2-40B4-BE49-F238E27FC236}">
                <a16:creationId xmlns:a16="http://schemas.microsoft.com/office/drawing/2014/main" id="{CF348359-6A33-94C2-7023-E826A712A5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1D3DE-C547-6D2F-36A4-B895D0EFE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3FDC1CF0-9080-B700-A3DD-FABBDF64DF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Leadership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F256E9-2562-2DB8-B11B-ABE07084E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494638"/>
              </p:ext>
            </p:extLst>
          </p:nvPr>
        </p:nvGraphicFramePr>
        <p:xfrm>
          <a:off x="410934" y="1560399"/>
          <a:ext cx="11258552" cy="7585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23370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Founding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Horizons 2 and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200 Global Chief Product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10,000+ employees, governed $1B+ annual investment, and consolidated 100+ offerings to stabilize the merger of tech giants HP-E and CSC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500 Global Chief Digital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Digital Transformation mobilizing 50,000+ employees to generate exponentially better products, services, financials, and inspiration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Current Consulting Business Owner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Holds CPO, AI, and Agile certifications from Kellogg, MIT, NVIDIA, and Scaled Agile 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Formalize Board of Directors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Identify consortium leaders for Value Creation:</a:t>
                      </a:r>
                    </a:p>
                    <a:p>
                      <a:pPr marL="4000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Products (Consortium Services)</a:t>
                      </a:r>
                    </a:p>
                    <a:p>
                      <a:pPr marL="4000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Demand Generation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Beneficiaries Engagement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Delivery of Services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Products (Services):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Professional Networking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Open Knowledge Sharing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Integration: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Governance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Strategy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Operations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Responsibility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095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Capital: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People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Finance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Technology 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Property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91060025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581D35DC-2D2E-4B81-D251-A66615F9BC3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3" name="Google Shape;110;p4" descr="Rich Reba">
            <a:extLst>
              <a:ext uri="{FF2B5EF4-FFF2-40B4-BE49-F238E27FC236}">
                <a16:creationId xmlns:a16="http://schemas.microsoft.com/office/drawing/2014/main" id="{823E1205-2460-7723-EC56-A1AB9E9926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2514" y="2044138"/>
            <a:ext cx="1163927" cy="11639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374FE3-BA22-E0E5-6980-B36DA85CD2EF}"/>
              </a:ext>
            </a:extLst>
          </p:cNvPr>
          <p:cNvSpPr txBox="1"/>
          <p:nvPr/>
        </p:nvSpPr>
        <p:spPr>
          <a:xfrm>
            <a:off x="1798021" y="2174695"/>
            <a:ext cx="13837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Rich Reba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President</a:t>
            </a:r>
          </a:p>
        </p:txBody>
      </p:sp>
    </p:spTree>
    <p:extLst>
      <p:ext uri="{BB962C8B-B14F-4D97-AF65-F5344CB8AC3E}">
        <p14:creationId xmlns:p14="http://schemas.microsoft.com/office/powerpoint/2010/main" val="3765181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E3204CB1-B8BD-9DC7-0760-805743329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DE011D4-C7DC-F1B6-D621-610E79DFE0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Services and Benefits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B1283-057C-D1F9-667A-3EEBAC74B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426390"/>
              </p:ext>
            </p:extLst>
          </p:nvPr>
        </p:nvGraphicFramePr>
        <p:xfrm>
          <a:off x="410934" y="1560399"/>
          <a:ext cx="11370131" cy="39426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152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243943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265714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3028951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get exposure to other professionals with a common interest in helping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impress potential clients and employers by contributing to a non-profit that benefits the tech services industry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bounce relevant ideas off the consortium network, and benefit from ideas shared by others in the network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Consortium leaders and subscribers impress potential clients and employers by helping to curate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Subscribers impress potential clients and employers by publishing synopses of potential challenges, and exponential solutions to priority challenges,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publish synopses of proven exponential solutions to priority challenges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586848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Patrons begin investing to explore potential solutions for priority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Patrons invest to scale proven solutions for priority challenges across the industry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462B9D62-4B92-3A8C-DA14-A225E2194D1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5092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66EE5AE-C5CE-93B0-55EF-D1BEC8C36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F34D7B2E-C24E-2FC1-6042-2C0F5A4C2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Building Momentum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7F50A2-0C5F-7265-363E-DF79C6201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958662"/>
              </p:ext>
            </p:extLst>
          </p:nvPr>
        </p:nvGraphicFramePr>
        <p:xfrm>
          <a:off x="410934" y="1560399"/>
          <a:ext cx="11258552" cy="31822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0218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14553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2866752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meet with friends to establish the initial consortium network and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Launch the consortium on LinkedIn with a critical mass of consortium collaborators who begin identifying potential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initial collaborators reach out to colleagues to expand the network to 1,000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invite a subset of influencers to participate in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advisory board members identify 3 initial patron organizations who make grants to fund Industry Innovation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Leader helps collaborators reach out to colleagues to triple the size of the network to 3,000 members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Open Knowledge Sharing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patrons and subscribers to develop the AccelRR8 Body of Knowledge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 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patrons and subscribers to explore potential exponential solutions to priority challenges 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 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advertise the impact the consortium is beginning to have on the industry, expanding to 30 patrons and 10,000 collaborators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A837E304-B0E0-78B0-2263-1A31EE4658E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175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4DA6CD27-9E25-727A-BAF4-DE5B8187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A7EE97C-9354-67AA-BD7E-DF3C7509E1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Finance and Responsibility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C1DA23-72BB-F2F4-A1A5-6F5D3E4CFD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775509"/>
              </p:ext>
            </p:extLst>
          </p:nvPr>
        </p:nvGraphicFramePr>
        <p:xfrm>
          <a:off x="410934" y="1560399"/>
          <a:ext cx="11258552" cy="27844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1450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5610062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801584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invests to register AccelRR8 Consortium as a non-profit organization in Maryland, file taxes, and ensure compliance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Leadership positions and activities are filled by volunteers who donate time / money / resources / energy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3 organizations become initial patrons by making modest grants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enrolls a subset of subscribers as paid subscribers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persuades 10 organizations to become patrons by making modest grants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Initial funds are used for demand generation and to explore potential exponential solutions to priority Tech Services industry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persuades 30 organizations to become patrons by making grants in a tiered structure (diamond, gold, silver, etc.)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grant funds to scale proven exponential solutions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fund demand generation activities with media and influencers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Certain leadership, marketing, and support activities are filled by paid employees on a part-time or full-time basis depending on the nature and criticality of the work (e.g., treasury, compliance)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7FEDDB3B-2B33-FC16-9957-17D50DC8B78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9041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13185</TotalTime>
  <Words>1047</Words>
  <Application>Microsoft Macintosh PowerPoint</Application>
  <PresentationFormat>Widescreen</PresentationFormat>
  <Paragraphs>167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  Organizational Plan for  AccelRR8 Consortium Non-Profit </vt:lpstr>
      <vt:lpstr>Contents</vt:lpstr>
      <vt:lpstr>Consortium Ambition</vt:lpstr>
      <vt:lpstr>Consortium 3-Horizon Impact Strategy Exponential Improvements in the Tech Services Industry</vt:lpstr>
      <vt:lpstr>Consortium Leadership</vt:lpstr>
      <vt:lpstr>Services and Benefits</vt:lpstr>
      <vt:lpstr>Building Momentum</vt:lpstr>
      <vt:lpstr>Finance and Responsibility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172</cp:revision>
  <dcterms:created xsi:type="dcterms:W3CDTF">2023-08-22T19:09:59Z</dcterms:created>
  <dcterms:modified xsi:type="dcterms:W3CDTF">2026-08-06T16:41:48Z</dcterms:modified>
</cp:coreProperties>
</file>